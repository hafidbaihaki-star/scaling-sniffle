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63" r:id="rId13"/>
    <p:sldId id="270" r:id="rId14"/>
    <p:sldId id="271" r:id="rId15"/>
    <p:sldId id="272" r:id="rId16"/>
    <p:sldId id="265" r:id="rId17"/>
    <p:sldId id="264" r:id="rId18"/>
    <p:sldId id="273" r:id="rId19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96" y="-30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A008D3EC-9998-4FBD-B121-1601B871A8B9}" type="datetimeFigureOut">
              <a:rPr lang="id-ID" smtClean="0"/>
              <a:t>27/04/2011</a:t>
            </a:fld>
            <a:endParaRPr lang="id-ID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id-ID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6417916-9D30-4414-A417-C6DEBFF11C85}" type="slidenum">
              <a:rPr lang="id-ID" smtClean="0"/>
              <a:t>‹#›</a:t>
            </a:fld>
            <a:endParaRPr lang="id-ID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556792"/>
            <a:ext cx="8136903" cy="3368665"/>
          </a:xfrm>
        </p:spPr>
        <p:txBody>
          <a:bodyPr/>
          <a:lstStyle/>
          <a:p>
            <a:pPr marL="182880" indent="0" algn="ctr">
              <a:buNone/>
            </a:pPr>
            <a:r>
              <a:rPr lang="id-ID" dirty="0">
                <a:effectLst/>
              </a:rPr>
              <a:t>The Cost of Quality &amp; Accounting for Production Losses</a:t>
            </a:r>
            <a:br>
              <a:rPr lang="id-ID" dirty="0">
                <a:effectLst/>
              </a:rPr>
            </a:b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7664" y="5157192"/>
            <a:ext cx="7406640" cy="504056"/>
          </a:xfrm>
        </p:spPr>
        <p:txBody>
          <a:bodyPr/>
          <a:lstStyle/>
          <a:p>
            <a:pPr algn="r"/>
            <a:r>
              <a:rPr lang="id-ID" dirty="0" smtClean="0"/>
              <a:t>Gedung I STAN, April 2011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60866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b="1" dirty="0">
                <a:effectLst/>
              </a:rPr>
              <a:t>The Cost of </a:t>
            </a:r>
            <a:r>
              <a:rPr lang="id-ID" b="1" dirty="0" smtClean="0">
                <a:effectLst/>
              </a:rPr>
              <a:t>Quality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Prevention Costs: Cost s incurred to </a:t>
            </a:r>
            <a:r>
              <a:rPr lang="id-ID" b="1" dirty="0"/>
              <a:t>prevent</a:t>
            </a:r>
            <a:r>
              <a:rPr lang="id-ID" dirty="0"/>
              <a:t> product failure.</a:t>
            </a:r>
          </a:p>
          <a:p>
            <a:r>
              <a:rPr lang="id-ID" dirty="0"/>
              <a:t>Appraisal Costs: Costs incurred to </a:t>
            </a:r>
            <a:r>
              <a:rPr lang="id-ID" b="1" dirty="0"/>
              <a:t>detect </a:t>
            </a:r>
            <a:r>
              <a:rPr lang="id-ID" dirty="0"/>
              <a:t>product failure.</a:t>
            </a:r>
          </a:p>
          <a:p>
            <a:r>
              <a:rPr lang="id-ID" dirty="0"/>
              <a:t>Failure Costs: Costs incurred when </a:t>
            </a:r>
            <a:r>
              <a:rPr lang="id-ID" b="1" dirty="0"/>
              <a:t>a product fails</a:t>
            </a:r>
            <a:r>
              <a:rPr lang="id-ID" dirty="0" smtClean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30057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sz="4000" b="1" dirty="0">
                <a:effectLst/>
              </a:rPr>
              <a:t>Total Quality Managemnet (TQM</a:t>
            </a:r>
            <a:r>
              <a:rPr lang="id-ID" sz="4000" b="1" dirty="0" smtClean="0">
                <a:effectLst/>
              </a:rPr>
              <a:t>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id-ID" dirty="0"/>
              <a:t>Characteristics:</a:t>
            </a:r>
          </a:p>
          <a:p>
            <a:r>
              <a:rPr lang="id-ID" dirty="0"/>
              <a:t>The company’s objective </a:t>
            </a:r>
            <a:r>
              <a:rPr lang="id-ID" dirty="0" smtClean="0"/>
              <a:t>is </a:t>
            </a:r>
            <a:r>
              <a:rPr lang="id-ID" dirty="0"/>
              <a:t>to serve its customers.</a:t>
            </a:r>
          </a:p>
          <a:p>
            <a:r>
              <a:rPr lang="id-ID" dirty="0"/>
              <a:t>Top Management provides an active leadership role in quality improvement</a:t>
            </a:r>
          </a:p>
          <a:p>
            <a:r>
              <a:rPr lang="id-ID" dirty="0"/>
              <a:t>All employees are actively involved in quality management</a:t>
            </a:r>
          </a:p>
          <a:p>
            <a:r>
              <a:rPr lang="id-ID" dirty="0"/>
              <a:t>Having a system of identifying &amp; developing quality problem solutions.</a:t>
            </a:r>
          </a:p>
          <a:p>
            <a:r>
              <a:rPr lang="id-ID" dirty="0"/>
              <a:t>Placing a high value on its employees and recognition for achievement</a:t>
            </a:r>
            <a:r>
              <a:rPr lang="id-ID" dirty="0" smtClean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6584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sz="4000" b="1" dirty="0">
                <a:effectLst/>
              </a:rPr>
              <a:t>Continuous Quality </a:t>
            </a:r>
            <a:r>
              <a:rPr lang="id-ID" sz="4000" b="1" dirty="0" smtClean="0">
                <a:effectLst/>
              </a:rPr>
              <a:t>Improvement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The constant effort of both management &amp; employees to work together to maintain that quality </a:t>
            </a:r>
            <a:r>
              <a:rPr lang="id-ID" dirty="0" smtClean="0"/>
              <a:t>improvement </a:t>
            </a:r>
            <a:r>
              <a:rPr lang="id-ID" dirty="0"/>
              <a:t>must be a continuous process.</a:t>
            </a:r>
          </a:p>
          <a:p>
            <a:r>
              <a:rPr lang="id-ID" dirty="0"/>
              <a:t>The best way to reduce total quality costs is to reduce the lack of quality.</a:t>
            </a:r>
          </a:p>
          <a:p>
            <a:r>
              <a:rPr lang="id-ID" dirty="0"/>
              <a:t>A better approach to quality improvement is to concentrate on prevention &amp; performance appraisal.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09974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sz="4000" b="1" dirty="0">
                <a:effectLst/>
              </a:rPr>
              <a:t>Accounting for Production Losses in a Job Order Costing </a:t>
            </a:r>
            <a:r>
              <a:rPr lang="id-ID" dirty="0">
                <a:effectLst/>
              </a:rPr>
              <a:t/>
            </a:r>
            <a:br>
              <a:rPr lang="id-ID" dirty="0">
                <a:effectLst/>
              </a:rPr>
            </a:b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id-ID" dirty="0"/>
              <a:t>Production losses in a job order cost system include:</a:t>
            </a:r>
          </a:p>
          <a:p>
            <a:r>
              <a:rPr lang="id-ID" dirty="0"/>
              <a:t>Scrap </a:t>
            </a:r>
            <a:r>
              <a:rPr lang="id-ID" dirty="0">
                <a:sym typeface="Wingdings"/>
              </a:rPr>
              <a:t></a:t>
            </a:r>
            <a:r>
              <a:rPr lang="id-ID" dirty="0"/>
              <a:t> filings/trimmings remaining after processing materials; defective materials; &amp; broken parts.</a:t>
            </a:r>
          </a:p>
          <a:p>
            <a:r>
              <a:rPr lang="id-ID" dirty="0"/>
              <a:t>Spoilage </a:t>
            </a:r>
            <a:r>
              <a:rPr lang="id-ID" dirty="0">
                <a:sym typeface="Wingdings"/>
              </a:rPr>
              <a:t></a:t>
            </a:r>
            <a:r>
              <a:rPr lang="id-ID" dirty="0"/>
              <a:t> Partially or fully completed units that are defective in some way.</a:t>
            </a:r>
          </a:p>
          <a:p>
            <a:r>
              <a:rPr lang="id-ID" dirty="0"/>
              <a:t>Rework </a:t>
            </a:r>
            <a:r>
              <a:rPr lang="id-ID" dirty="0">
                <a:sym typeface="Wingdings"/>
              </a:rPr>
              <a:t></a:t>
            </a:r>
            <a:r>
              <a:rPr lang="id-ID" dirty="0"/>
              <a:t> Process of correcting defective goods.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3193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4082"/>
          </a:xfrm>
        </p:spPr>
        <p:txBody>
          <a:bodyPr>
            <a:normAutofit fontScale="90000"/>
          </a:bodyPr>
          <a:lstStyle/>
          <a:p>
            <a:r>
              <a:rPr lang="id-ID" b="1" dirty="0">
                <a:effectLst/>
              </a:rPr>
              <a:t>Accounting for </a:t>
            </a:r>
            <a:r>
              <a:rPr lang="id-ID" b="1" dirty="0" smtClean="0">
                <a:effectLst/>
              </a:rPr>
              <a:t>SCRAP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980728"/>
            <a:ext cx="7498080" cy="4800600"/>
          </a:xfrm>
        </p:spPr>
        <p:txBody>
          <a:bodyPr/>
          <a:lstStyle/>
          <a:p>
            <a:pPr marL="82296" indent="0">
              <a:buNone/>
            </a:pPr>
            <a:r>
              <a:rPr lang="id-ID" sz="2400" dirty="0"/>
              <a:t>Various alternatives of accounting approach at the time of sale scrap:</a:t>
            </a:r>
          </a:p>
          <a:p>
            <a:endParaRPr lang="id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500379"/>
              </p:ext>
            </p:extLst>
          </p:nvPr>
        </p:nvGraphicFramePr>
        <p:xfrm>
          <a:off x="1619672" y="1772816"/>
          <a:ext cx="7200800" cy="453650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525577"/>
                <a:gridCol w="2642775"/>
                <a:gridCol w="4032448"/>
              </a:tblGrid>
              <a:tr h="3351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</a:rPr>
                        <a:t>NO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APPROACH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JOURNAL ENTYRY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50328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id-ID" sz="1600">
                          <a:effectLst/>
                        </a:rPr>
                        <a:t> 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Accumulated in Scrap Sales &amp; closed directly to Income Summary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Cash (or </a:t>
                      </a:r>
                      <a:r>
                        <a:rPr lang="id-ID" sz="1600" dirty="0" smtClean="0">
                          <a:effectLst/>
                        </a:rPr>
                        <a:t>AR)</a:t>
                      </a:r>
                      <a:r>
                        <a:rPr lang="id-ID" sz="1600" baseline="0" dirty="0" smtClean="0">
                          <a:effectLst/>
                        </a:rPr>
                        <a:t>                        </a:t>
                      </a:r>
                      <a:r>
                        <a:rPr lang="id-ID" sz="1600" dirty="0" smtClean="0">
                          <a:effectLst/>
                        </a:rPr>
                        <a:t>xxx</a:t>
                      </a:r>
                      <a:endParaRPr lang="id-ID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baseline="0" dirty="0" smtClean="0">
                          <a:effectLst/>
                        </a:rPr>
                        <a:t>     </a:t>
                      </a:r>
                      <a:r>
                        <a:rPr lang="id-ID" sz="1600" dirty="0" smtClean="0">
                          <a:effectLst/>
                        </a:rPr>
                        <a:t>Scrap </a:t>
                      </a:r>
                      <a:r>
                        <a:rPr lang="id-ID" sz="1600" dirty="0">
                          <a:effectLst/>
                        </a:rPr>
                        <a:t>Sales (or other </a:t>
                      </a:r>
                      <a:r>
                        <a:rPr lang="id-ID" sz="1600" dirty="0" smtClean="0">
                          <a:effectLst/>
                        </a:rPr>
                        <a:t>income)</a:t>
                      </a:r>
                      <a:r>
                        <a:rPr lang="id-ID" sz="1600" baseline="0" dirty="0" smtClean="0">
                          <a:effectLst/>
                        </a:rPr>
                        <a:t>     </a:t>
                      </a:r>
                      <a:r>
                        <a:rPr lang="id-ID" sz="1600" dirty="0" smtClean="0">
                          <a:effectLst/>
                        </a:rPr>
                        <a:t>xxx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50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2.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Credited to COGS</a:t>
                      </a:r>
                    </a:p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(Reducing the cost charged againts sales)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Cash (or </a:t>
                      </a:r>
                      <a:r>
                        <a:rPr lang="id-ID" sz="1600" dirty="0" smtClean="0">
                          <a:effectLst/>
                        </a:rPr>
                        <a:t>AR)</a:t>
                      </a:r>
                      <a:r>
                        <a:rPr lang="id-ID" sz="1600" baseline="0" dirty="0" smtClean="0">
                          <a:effectLst/>
                        </a:rPr>
                        <a:t>                        </a:t>
                      </a:r>
                      <a:r>
                        <a:rPr lang="id-ID" sz="1600" dirty="0" smtClean="0">
                          <a:effectLst/>
                        </a:rPr>
                        <a:t>xxx</a:t>
                      </a:r>
                      <a:endParaRPr lang="id-ID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baseline="0" dirty="0" smtClean="0">
                          <a:effectLst/>
                        </a:rPr>
                        <a:t>     </a:t>
                      </a:r>
                      <a:r>
                        <a:rPr lang="id-ID" sz="1600" dirty="0" smtClean="0">
                          <a:effectLst/>
                        </a:rPr>
                        <a:t>COGS                                            xxx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50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3.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Credited to FOH Control </a:t>
                      </a:r>
                    </a:p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(reducing the cost of FOH)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Cash (or </a:t>
                      </a:r>
                      <a:r>
                        <a:rPr lang="id-ID" sz="1600" dirty="0" smtClean="0">
                          <a:effectLst/>
                        </a:rPr>
                        <a:t>AR)</a:t>
                      </a:r>
                      <a:r>
                        <a:rPr lang="id-ID" sz="1600" dirty="0">
                          <a:effectLst/>
                        </a:rPr>
                        <a:t>	</a:t>
                      </a:r>
                      <a:r>
                        <a:rPr lang="id-ID" sz="1600" dirty="0" smtClean="0">
                          <a:effectLst/>
                        </a:rPr>
                        <a:t>             xxx</a:t>
                      </a:r>
                      <a:endParaRPr lang="id-ID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</a:rPr>
                        <a:t>     FOH </a:t>
                      </a:r>
                      <a:r>
                        <a:rPr lang="id-ID" sz="1600" dirty="0">
                          <a:effectLst/>
                        </a:rPr>
                        <a:t>Control 	</a:t>
                      </a:r>
                      <a:r>
                        <a:rPr lang="id-ID" sz="1600" baseline="0" dirty="0" smtClean="0">
                          <a:effectLst/>
                        </a:rPr>
                        <a:t>                            </a:t>
                      </a:r>
                      <a:r>
                        <a:rPr lang="id-ID" sz="1600" dirty="0" smtClean="0">
                          <a:effectLst/>
                        </a:rPr>
                        <a:t>xxx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50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4.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Directly traceable to an individual job (reducing material cost)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Cash (or </a:t>
                      </a:r>
                      <a:r>
                        <a:rPr lang="id-ID" sz="1600" dirty="0" smtClean="0">
                          <a:effectLst/>
                        </a:rPr>
                        <a:t>AR)</a:t>
                      </a:r>
                      <a:r>
                        <a:rPr lang="id-ID" sz="1600" dirty="0">
                          <a:effectLst/>
                        </a:rPr>
                        <a:t>	</a:t>
                      </a:r>
                      <a:r>
                        <a:rPr lang="id-ID" sz="1600" dirty="0" smtClean="0">
                          <a:effectLst/>
                        </a:rPr>
                        <a:t>             xxx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baseline="0" dirty="0" smtClean="0">
                          <a:effectLst/>
                        </a:rPr>
                        <a:t>      </a:t>
                      </a:r>
                      <a:r>
                        <a:rPr lang="id-ID" sz="1600" dirty="0" smtClean="0">
                          <a:effectLst/>
                        </a:rPr>
                        <a:t>WIP 	     	           	            xxx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84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4082"/>
          </a:xfrm>
        </p:spPr>
        <p:txBody>
          <a:bodyPr>
            <a:normAutofit fontScale="90000"/>
          </a:bodyPr>
          <a:lstStyle/>
          <a:p>
            <a:r>
              <a:rPr lang="id-ID" b="1" dirty="0">
                <a:effectLst/>
              </a:rPr>
              <a:t>Accounting for Spoiled </a:t>
            </a:r>
            <a:r>
              <a:rPr lang="id-ID" b="1" dirty="0" smtClean="0">
                <a:effectLst/>
              </a:rPr>
              <a:t>Goods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908720"/>
            <a:ext cx="7498080" cy="1224136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r>
              <a:rPr lang="id-ID" b="1" dirty="0"/>
              <a:t>Spoilage caused by the customer</a:t>
            </a:r>
            <a:endParaRPr lang="id-ID" dirty="0"/>
          </a:p>
          <a:p>
            <a:pPr marL="82296" indent="0">
              <a:buNone/>
            </a:pPr>
            <a:r>
              <a:rPr lang="id-ID" dirty="0"/>
              <a:t>PT X manufactures 1,000 chairs for customer. After the first 100 chairs are completed, the customer change design spesification. (100 unusable chairs can be sold at $10, total $1,000)  </a:t>
            </a:r>
          </a:p>
          <a:p>
            <a:pPr marL="82296" indent="0">
              <a:buNone/>
            </a:pPr>
            <a:endParaRPr lang="id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899174"/>
              </p:ext>
            </p:extLst>
          </p:nvPr>
        </p:nvGraphicFramePr>
        <p:xfrm>
          <a:off x="1691680" y="2204864"/>
          <a:ext cx="7056784" cy="4332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5066"/>
                <a:gridCol w="3033166"/>
                <a:gridCol w="3508552"/>
              </a:tblGrid>
              <a:tr h="25472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Cost data for Job 123: 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</a:tr>
              <a:tr h="1018879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Materials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Direct Labor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u="sng" dirty="0">
                          <a:effectLst/>
                        </a:rPr>
                        <a:t>FOH                  </a:t>
                      </a:r>
                      <a:endParaRPr lang="id-ID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Total Job cost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$22,000</a:t>
                      </a: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    5,500</a:t>
                      </a: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u="sng">
                          <a:effectLst/>
                        </a:rPr>
                        <a:t>  11,000</a:t>
                      </a:r>
                      <a:endParaRPr lang="id-ID" sz="1600">
                        <a:effectLst/>
                      </a:endParaRP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$38,500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5472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 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</a:tr>
              <a:tr h="254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</a:rPr>
                        <a:t>NO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Transaction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JOURNAL ENTYRY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764159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id-ID" sz="1600">
                          <a:effectLst/>
                        </a:rPr>
                        <a:t> 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Record Job’s completion &amp; shipment to customer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Spoiled Goods </a:t>
                      </a:r>
                      <a:r>
                        <a:rPr lang="id-ID" sz="1600" dirty="0" smtClean="0">
                          <a:effectLst/>
                        </a:rPr>
                        <a:t>Inventory  </a:t>
                      </a:r>
                      <a:r>
                        <a:rPr lang="id-ID" sz="1600" dirty="0">
                          <a:effectLst/>
                        </a:rPr>
                        <a:t>1,000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35785" algn="l"/>
                        </a:tabLst>
                      </a:pPr>
                      <a:r>
                        <a:rPr lang="id-ID" sz="1600" dirty="0">
                          <a:effectLst/>
                        </a:rPr>
                        <a:t>COGS                          </a:t>
                      </a:r>
                      <a:r>
                        <a:rPr lang="id-ID" sz="1600" dirty="0" smtClean="0">
                          <a:effectLst/>
                        </a:rPr>
                        <a:t>37,500</a:t>
                      </a:r>
                      <a:endParaRPr lang="id-ID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2249805" algn="l"/>
                          <a:tab pos="2300605" algn="l"/>
                        </a:tabLst>
                      </a:pPr>
                      <a:r>
                        <a:rPr lang="id-ID" sz="1600" dirty="0">
                          <a:effectLst/>
                        </a:rPr>
                        <a:t>	WIP		    </a:t>
                      </a:r>
                      <a:r>
                        <a:rPr lang="id-ID" sz="1600" dirty="0" smtClean="0">
                          <a:effectLst/>
                        </a:rPr>
                        <a:t>     38,500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764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2.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Selling the job 123 at 150% </a:t>
                      </a:r>
                    </a:p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(150% x $37,500)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Cash (or </a:t>
                      </a:r>
                      <a:r>
                        <a:rPr lang="id-ID" sz="1600" dirty="0" smtClean="0">
                          <a:effectLst/>
                        </a:rPr>
                        <a:t>AR)                 56,250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baseline="0" dirty="0" smtClean="0">
                          <a:effectLst/>
                        </a:rPr>
                        <a:t>        </a:t>
                      </a:r>
                      <a:r>
                        <a:rPr lang="id-ID" sz="1600" dirty="0" smtClean="0">
                          <a:effectLst/>
                        </a:rPr>
                        <a:t>Sales              </a:t>
                      </a:r>
                      <a:r>
                        <a:rPr lang="id-ID" sz="1600" baseline="0" dirty="0" smtClean="0">
                          <a:effectLst/>
                        </a:rPr>
                        <a:t>                    </a:t>
                      </a:r>
                      <a:r>
                        <a:rPr lang="id-ID" sz="1600" dirty="0" smtClean="0">
                          <a:effectLst/>
                        </a:rPr>
                        <a:t>56,250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764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3.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When spoiled goods are sold </a:t>
                      </a:r>
                      <a:endParaRPr lang="id-ID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Cash (or </a:t>
                      </a:r>
                      <a:r>
                        <a:rPr lang="id-ID" sz="1600" dirty="0" smtClean="0">
                          <a:effectLst/>
                        </a:rPr>
                        <a:t>AR)                  </a:t>
                      </a:r>
                      <a:r>
                        <a:rPr lang="id-ID" sz="1600" dirty="0">
                          <a:effectLst/>
                        </a:rPr>
                        <a:t>1,000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baseline="0" dirty="0" smtClean="0">
                          <a:effectLst/>
                        </a:rPr>
                        <a:t>        </a:t>
                      </a:r>
                      <a:r>
                        <a:rPr lang="id-ID" sz="1600" dirty="0" smtClean="0">
                          <a:effectLst/>
                        </a:rPr>
                        <a:t>Sales          </a:t>
                      </a:r>
                      <a:r>
                        <a:rPr lang="id-ID" sz="1600" dirty="0">
                          <a:effectLst/>
                        </a:rPr>
                        <a:t>	             </a:t>
                      </a:r>
                      <a:r>
                        <a:rPr lang="id-ID" sz="1600" dirty="0" smtClean="0">
                          <a:effectLst/>
                        </a:rPr>
                        <a:t>      1,000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98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4082"/>
          </a:xfrm>
        </p:spPr>
        <p:txBody>
          <a:bodyPr>
            <a:normAutofit fontScale="90000"/>
          </a:bodyPr>
          <a:lstStyle/>
          <a:p>
            <a:r>
              <a:rPr lang="id-ID" b="1" dirty="0">
                <a:effectLst/>
              </a:rPr>
              <a:t>Accounting for Spoiled </a:t>
            </a:r>
            <a:r>
              <a:rPr lang="id-ID" b="1" dirty="0" smtClean="0">
                <a:effectLst/>
              </a:rPr>
              <a:t>Goods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908720"/>
            <a:ext cx="7498080" cy="1008112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id-ID" b="1" dirty="0"/>
              <a:t>Spoilage caused by an Internal Failure</a:t>
            </a:r>
            <a:endParaRPr lang="id-ID" dirty="0"/>
          </a:p>
          <a:p>
            <a:pPr marL="82296" indent="0">
              <a:buNone/>
            </a:pPr>
            <a:r>
              <a:rPr lang="id-ID" dirty="0"/>
              <a:t>Total cost of 100 spoiled chairs @$35 is $3,500, but only sold @$10, total $1,000.  </a:t>
            </a:r>
          </a:p>
          <a:p>
            <a:pPr marL="82296" indent="0">
              <a:buNone/>
            </a:pPr>
            <a:endParaRPr lang="id-ID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319878"/>
              </p:ext>
            </p:extLst>
          </p:nvPr>
        </p:nvGraphicFramePr>
        <p:xfrm>
          <a:off x="1691680" y="1988840"/>
          <a:ext cx="6912767" cy="4248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6064"/>
                <a:gridCol w="2520280"/>
                <a:gridCol w="3816423"/>
              </a:tblGrid>
              <a:tr h="350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1" dirty="0" smtClean="0">
                          <a:effectLst/>
                        </a:rPr>
                        <a:t>NO</a:t>
                      </a:r>
                      <a:endParaRPr lang="id-ID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1">
                          <a:effectLst/>
                        </a:rPr>
                        <a:t>Transaction</a:t>
                      </a:r>
                      <a:endParaRPr lang="id-ID" sz="18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</a:rPr>
                        <a:t>JOURNAL ENTYRY</a:t>
                      </a:r>
                      <a:endParaRPr lang="id-ID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780159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id-ID" sz="1800" b="0">
                          <a:effectLst/>
                        </a:rPr>
                        <a:t> </a:t>
                      </a:r>
                      <a:endParaRPr lang="id-ID" sz="1800" b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>
                          <a:effectLst/>
                        </a:rPr>
                        <a:t>Record Job’s completion &amp; shipment to customer</a:t>
                      </a:r>
                      <a:endParaRPr lang="id-ID" sz="1800" b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 dirty="0">
                          <a:effectLst/>
                        </a:rPr>
                        <a:t>Spoiled Goods </a:t>
                      </a:r>
                      <a:r>
                        <a:rPr lang="id-ID" sz="1800" b="0" dirty="0" smtClean="0">
                          <a:effectLst/>
                        </a:rPr>
                        <a:t>Inventory  1,000</a:t>
                      </a:r>
                      <a:endParaRPr lang="id-ID" sz="1800" b="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915795" algn="l"/>
                        </a:tabLst>
                      </a:pPr>
                      <a:r>
                        <a:rPr lang="id-ID" sz="1800" b="0" dirty="0">
                          <a:effectLst/>
                        </a:rPr>
                        <a:t>FOH Control	</a:t>
                      </a:r>
                      <a:r>
                        <a:rPr lang="id-ID" sz="1800" b="0" dirty="0" smtClean="0">
                          <a:effectLst/>
                        </a:rPr>
                        <a:t>         2,500</a:t>
                      </a:r>
                      <a:endParaRPr lang="id-ID" sz="1800" b="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35785" algn="l"/>
                        </a:tabLst>
                      </a:pPr>
                      <a:r>
                        <a:rPr lang="id-ID" sz="1800" b="0" dirty="0">
                          <a:effectLst/>
                        </a:rPr>
                        <a:t>COGS                            </a:t>
                      </a:r>
                      <a:r>
                        <a:rPr lang="id-ID" sz="1800" b="0" dirty="0" smtClean="0">
                          <a:effectLst/>
                        </a:rPr>
                        <a:t>35,000</a:t>
                      </a:r>
                      <a:endParaRPr lang="id-ID" sz="1800" b="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2249805" algn="l"/>
                          <a:tab pos="2300605" algn="l"/>
                        </a:tabLst>
                      </a:pPr>
                      <a:r>
                        <a:rPr lang="id-ID" sz="1800" b="0" dirty="0">
                          <a:effectLst/>
                        </a:rPr>
                        <a:t>	WIP		    </a:t>
                      </a:r>
                      <a:r>
                        <a:rPr lang="id-ID" sz="1800" b="0" dirty="0" smtClean="0">
                          <a:effectLst/>
                        </a:rPr>
                        <a:t>        38,500</a:t>
                      </a:r>
                      <a:endParaRPr lang="id-ID" sz="1800" b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59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>
                          <a:effectLst/>
                        </a:rPr>
                        <a:t>2.</a:t>
                      </a:r>
                      <a:endParaRPr lang="id-ID" sz="1800" b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>
                          <a:effectLst/>
                        </a:rPr>
                        <a:t>Selling the job 123 at 150% </a:t>
                      </a:r>
                    </a:p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>
                          <a:effectLst/>
                        </a:rPr>
                        <a:t>(150% x $35,000)</a:t>
                      </a:r>
                      <a:endParaRPr lang="id-ID" sz="1800" b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 dirty="0">
                          <a:effectLst/>
                        </a:rPr>
                        <a:t>Cash (or </a:t>
                      </a:r>
                      <a:r>
                        <a:rPr lang="id-ID" sz="1800" b="0" dirty="0" smtClean="0">
                          <a:effectLst/>
                        </a:rPr>
                        <a:t>AR)                   52,500</a:t>
                      </a:r>
                      <a:endParaRPr lang="id-ID" sz="1800" b="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 dirty="0" smtClean="0">
                          <a:effectLst/>
                        </a:rPr>
                        <a:t>        Sales             </a:t>
                      </a:r>
                      <a:r>
                        <a:rPr lang="id-ID" sz="1800" b="0" dirty="0">
                          <a:effectLst/>
                        </a:rPr>
                        <a:t>		   </a:t>
                      </a:r>
                      <a:r>
                        <a:rPr lang="id-ID" sz="1800" b="0" baseline="0" dirty="0" smtClean="0">
                          <a:effectLst/>
                        </a:rPr>
                        <a:t> </a:t>
                      </a:r>
                      <a:r>
                        <a:rPr lang="id-ID" sz="1800" b="0" dirty="0" smtClean="0">
                          <a:effectLst/>
                        </a:rPr>
                        <a:t>52,500</a:t>
                      </a:r>
                      <a:endParaRPr lang="id-ID" sz="1800" b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59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>
                          <a:effectLst/>
                        </a:rPr>
                        <a:t>3.</a:t>
                      </a:r>
                      <a:endParaRPr lang="id-ID" sz="1800" b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>
                          <a:effectLst/>
                        </a:rPr>
                        <a:t>When spoiled goods are sold </a:t>
                      </a:r>
                      <a:endParaRPr lang="id-ID" sz="1800" b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 dirty="0">
                          <a:effectLst/>
                        </a:rPr>
                        <a:t>Cash (or </a:t>
                      </a:r>
                      <a:r>
                        <a:rPr lang="id-ID" sz="1800" b="0" dirty="0" smtClean="0">
                          <a:effectLst/>
                        </a:rPr>
                        <a:t>AR)                    1,000</a:t>
                      </a:r>
                      <a:endParaRPr lang="id-ID" sz="1800" b="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b="0" baseline="0" dirty="0" smtClean="0">
                          <a:effectLst/>
                        </a:rPr>
                        <a:t>        </a:t>
                      </a:r>
                      <a:r>
                        <a:rPr lang="id-ID" sz="1800" b="0" dirty="0" smtClean="0">
                          <a:effectLst/>
                        </a:rPr>
                        <a:t>Sales         </a:t>
                      </a:r>
                      <a:r>
                        <a:rPr lang="id-ID" sz="1800" b="0" dirty="0">
                          <a:effectLst/>
                        </a:rPr>
                        <a:t>		</a:t>
                      </a:r>
                      <a:r>
                        <a:rPr lang="id-ID" sz="1800" b="0" dirty="0" smtClean="0">
                          <a:effectLst/>
                        </a:rPr>
                        <a:t>      1,000</a:t>
                      </a:r>
                      <a:endParaRPr lang="id-ID" sz="1800" b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56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4082"/>
          </a:xfrm>
        </p:spPr>
        <p:txBody>
          <a:bodyPr>
            <a:normAutofit fontScale="90000"/>
          </a:bodyPr>
          <a:lstStyle/>
          <a:p>
            <a:r>
              <a:rPr lang="id-ID" b="1" dirty="0">
                <a:effectLst/>
              </a:rPr>
              <a:t>Accounting for Rework</a:t>
            </a:r>
            <a:endParaRPr lang="id-ID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908720"/>
            <a:ext cx="7498080" cy="1008112"/>
          </a:xfrm>
        </p:spPr>
        <p:txBody>
          <a:bodyPr>
            <a:noAutofit/>
          </a:bodyPr>
          <a:lstStyle/>
          <a:p>
            <a:pPr marL="82296" indent="0">
              <a:buNone/>
            </a:pPr>
            <a:r>
              <a:rPr lang="id-ID" sz="2000" b="1" dirty="0"/>
              <a:t>Rework Caused by the Customer</a:t>
            </a:r>
            <a:endParaRPr lang="id-ID" sz="2000" dirty="0"/>
          </a:p>
          <a:p>
            <a:pPr marL="82296" indent="0">
              <a:buNone/>
            </a:pPr>
            <a:r>
              <a:rPr lang="id-ID" sz="1800" dirty="0"/>
              <a:t>PT X manufactures 200 trailers for customer. Before shipment, the customer need heavier suspension springs costing @$40 &amp; taking ½ hout to install. </a:t>
            </a:r>
          </a:p>
          <a:p>
            <a:pPr marL="82296" indent="0">
              <a:buNone/>
            </a:pPr>
            <a:endParaRPr lang="id-ID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547033"/>
              </p:ext>
            </p:extLst>
          </p:nvPr>
        </p:nvGraphicFramePr>
        <p:xfrm>
          <a:off x="1691680" y="2132858"/>
          <a:ext cx="7056784" cy="3960437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4392488"/>
                <a:gridCol w="2664296"/>
              </a:tblGrid>
              <a:tr h="347389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Initial Cost data for Job 900: </a:t>
                      </a:r>
                      <a:endParaRPr lang="id-ID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</a:tr>
              <a:tr h="14591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Materials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Direct Labor (2,000 hours @$10)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u="sng" dirty="0">
                          <a:effectLst/>
                        </a:rPr>
                        <a:t>Applied FOH ($40per DLH)                  </a:t>
                      </a:r>
                      <a:endParaRPr lang="id-ID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Total Job cost</a:t>
                      </a:r>
                      <a:endParaRPr lang="id-ID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$100,000</a:t>
                      </a: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    20,000</a:t>
                      </a: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u="sng" dirty="0">
                          <a:effectLst/>
                        </a:rPr>
                        <a:t>  80,000</a:t>
                      </a:r>
                      <a:endParaRPr lang="id-ID" sz="1800" dirty="0">
                        <a:effectLst/>
                      </a:endParaRP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$200,000</a:t>
                      </a:r>
                      <a:endParaRPr lang="id-ID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47389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 </a:t>
                      </a:r>
                      <a:endParaRPr lang="id-ID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</a:tr>
              <a:tr h="347389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Rework Cost data for Job 900: </a:t>
                      </a:r>
                      <a:endParaRPr lang="id-ID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</a:tr>
              <a:tr h="14591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</a:rPr>
                        <a:t>Materials ($40 x 200 trailer)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</a:rPr>
                        <a:t>Direct Labor (0.5 X 200 trailer @$10)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u="sng">
                          <a:effectLst/>
                        </a:rPr>
                        <a:t>Applied FOH ($40 x 100 hours)                  </a:t>
                      </a:r>
                      <a:endParaRPr lang="id-ID" sz="1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</a:rPr>
                        <a:t>Total Job cost</a:t>
                      </a:r>
                      <a:endParaRPr lang="id-ID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$8,000</a:t>
                      </a: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    1,000</a:t>
                      </a: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u="sng" dirty="0">
                          <a:effectLst/>
                        </a:rPr>
                        <a:t>  4,000</a:t>
                      </a:r>
                      <a:endParaRPr lang="id-ID" sz="1800" dirty="0">
                        <a:effectLst/>
                      </a:endParaRP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</a:rPr>
                        <a:t>$13,000</a:t>
                      </a:r>
                      <a:endParaRPr lang="id-ID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97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4082"/>
          </a:xfrm>
        </p:spPr>
        <p:txBody>
          <a:bodyPr>
            <a:normAutofit fontScale="90000"/>
          </a:bodyPr>
          <a:lstStyle/>
          <a:p>
            <a:r>
              <a:rPr lang="id-ID" b="1" dirty="0">
                <a:effectLst/>
              </a:rPr>
              <a:t>Accounting for Rework</a:t>
            </a:r>
            <a:endParaRPr lang="id-ID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908720"/>
            <a:ext cx="7498080" cy="576064"/>
          </a:xfrm>
        </p:spPr>
        <p:txBody>
          <a:bodyPr>
            <a:noAutofit/>
          </a:bodyPr>
          <a:lstStyle/>
          <a:p>
            <a:pPr marL="82296" indent="0">
              <a:buNone/>
            </a:pPr>
            <a:r>
              <a:rPr lang="id-ID" sz="2000" b="1" dirty="0"/>
              <a:t>Rework Caused by the </a:t>
            </a:r>
            <a:r>
              <a:rPr lang="id-ID" sz="2000" b="1" dirty="0" smtClean="0"/>
              <a:t>Customer (CONT’D)</a:t>
            </a:r>
            <a:endParaRPr lang="id-ID" sz="2000" dirty="0"/>
          </a:p>
          <a:p>
            <a:pPr marL="82296" indent="0">
              <a:buNone/>
            </a:pPr>
            <a:endParaRPr lang="id-ID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613832"/>
              </p:ext>
            </p:extLst>
          </p:nvPr>
        </p:nvGraphicFramePr>
        <p:xfrm>
          <a:off x="1187625" y="1628799"/>
          <a:ext cx="7416823" cy="3768239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674849"/>
                <a:gridCol w="3126017"/>
                <a:gridCol w="3615957"/>
              </a:tblGrid>
              <a:tr h="3446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NO.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Transaction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JOURNAL ENTYRY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62518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id-ID" sz="2000" dirty="0" smtClean="0">
                          <a:effectLst/>
                        </a:rPr>
                        <a:t>1.</a:t>
                      </a: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Record Job’s 900 rework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828800" algn="l"/>
                        </a:tabLst>
                      </a:pPr>
                      <a:r>
                        <a:rPr lang="id-ID" sz="2000" dirty="0">
                          <a:effectLst/>
                        </a:rPr>
                        <a:t>WIP	  	</a:t>
                      </a:r>
                      <a:r>
                        <a:rPr lang="id-ID" sz="2000" dirty="0" smtClean="0">
                          <a:effectLst/>
                        </a:rPr>
                        <a:t>13,000</a:t>
                      </a:r>
                      <a:endParaRPr lang="id-ID" sz="2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35785" algn="l"/>
                        </a:tabLst>
                      </a:pPr>
                      <a:r>
                        <a:rPr lang="id-ID" sz="2000" dirty="0">
                          <a:effectLst/>
                        </a:rPr>
                        <a:t>      </a:t>
                      </a:r>
                      <a:r>
                        <a:rPr lang="id-ID" sz="2000" dirty="0" smtClean="0">
                          <a:effectLst/>
                        </a:rPr>
                        <a:t> Materials                  8,000</a:t>
                      </a:r>
                      <a:endParaRPr lang="id-ID" sz="2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35785" algn="l"/>
                        </a:tabLst>
                      </a:pPr>
                      <a:r>
                        <a:rPr lang="id-ID" sz="2000" dirty="0">
                          <a:effectLst/>
                        </a:rPr>
                        <a:t>       </a:t>
                      </a:r>
                      <a:r>
                        <a:rPr lang="id-ID" sz="2000" dirty="0" smtClean="0">
                          <a:effectLst/>
                        </a:rPr>
                        <a:t>Payroll          </a:t>
                      </a:r>
                      <a:r>
                        <a:rPr lang="id-ID" sz="2000" baseline="0" dirty="0" smtClean="0">
                          <a:effectLst/>
                        </a:rPr>
                        <a:t>            </a:t>
                      </a:r>
                      <a:r>
                        <a:rPr lang="id-ID" sz="2000" dirty="0" smtClean="0">
                          <a:effectLst/>
                        </a:rPr>
                        <a:t>1,000</a:t>
                      </a:r>
                      <a:endParaRPr lang="id-ID" sz="2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2249805" algn="l"/>
                          <a:tab pos="2300605" algn="l"/>
                        </a:tabLst>
                      </a:pPr>
                      <a:r>
                        <a:rPr lang="id-ID" sz="2000" dirty="0">
                          <a:effectLst/>
                        </a:rPr>
                        <a:t>	Applied FOH		    </a:t>
                      </a:r>
                      <a:r>
                        <a:rPr lang="id-ID" sz="2000" dirty="0" smtClean="0">
                          <a:effectLst/>
                        </a:rPr>
                        <a:t>   4,000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7124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id-ID" sz="2000" dirty="0" smtClean="0">
                          <a:effectLst/>
                        </a:rPr>
                        <a:t>2.</a:t>
                      </a: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Record Job’s completion &amp; shipment to customer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35785" algn="l"/>
                        </a:tabLst>
                        <a:defRPr/>
                      </a:pPr>
                      <a:r>
                        <a:rPr lang="id-ID" sz="2000" dirty="0">
                          <a:effectLst/>
                        </a:rPr>
                        <a:t>COGS           </a:t>
                      </a:r>
                      <a:r>
                        <a:rPr lang="id-ID" sz="2000" dirty="0" smtClean="0">
                          <a:effectLst/>
                        </a:rPr>
                        <a:t>213,000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35785" algn="l"/>
                        </a:tabLst>
                      </a:pPr>
                      <a:r>
                        <a:rPr lang="id-ID" sz="2000" dirty="0" smtClean="0">
                          <a:effectLst/>
                        </a:rPr>
                        <a:t>       WIP</a:t>
                      </a:r>
                      <a:r>
                        <a:rPr lang="id-ID" sz="2000" dirty="0">
                          <a:effectLst/>
                        </a:rPr>
                        <a:t>	</a:t>
                      </a:r>
                      <a:r>
                        <a:rPr lang="id-ID" sz="2000" baseline="0" dirty="0" smtClean="0">
                          <a:effectLst/>
                        </a:rPr>
                        <a:t>          </a:t>
                      </a:r>
                      <a:r>
                        <a:rPr lang="id-ID" sz="2000" dirty="0" smtClean="0">
                          <a:effectLst/>
                        </a:rPr>
                        <a:t>213,000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8012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id-ID" sz="2000" dirty="0" smtClean="0">
                          <a:effectLst/>
                        </a:rPr>
                        <a:t>3.</a:t>
                      </a: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Selling the job 900 at 150% </a:t>
                      </a:r>
                    </a:p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(150% x $213,000)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Cash (or </a:t>
                      </a:r>
                      <a:r>
                        <a:rPr lang="id-ID" sz="2000" dirty="0" smtClean="0">
                          <a:effectLst/>
                        </a:rPr>
                        <a:t>AR)  </a:t>
                      </a:r>
                      <a:r>
                        <a:rPr lang="id-ID" sz="2000" dirty="0">
                          <a:effectLst/>
                        </a:rPr>
                        <a:t>319,500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2000" baseline="0" dirty="0" smtClean="0">
                          <a:effectLst/>
                        </a:rPr>
                        <a:t>       </a:t>
                      </a:r>
                      <a:r>
                        <a:rPr lang="id-ID" sz="2000" dirty="0" smtClean="0">
                          <a:effectLst/>
                        </a:rPr>
                        <a:t>Sales                    319,500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		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94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4082"/>
          </a:xfrm>
        </p:spPr>
        <p:txBody>
          <a:bodyPr>
            <a:normAutofit fontScale="90000"/>
          </a:bodyPr>
          <a:lstStyle/>
          <a:p>
            <a:r>
              <a:rPr lang="id-ID" b="1" dirty="0">
                <a:effectLst/>
              </a:rPr>
              <a:t>Accounting for Rework</a:t>
            </a:r>
            <a:endParaRPr lang="id-ID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908720"/>
            <a:ext cx="7498080" cy="1008112"/>
          </a:xfrm>
        </p:spPr>
        <p:txBody>
          <a:bodyPr>
            <a:noAutofit/>
          </a:bodyPr>
          <a:lstStyle/>
          <a:p>
            <a:pPr marL="82296" indent="0">
              <a:buNone/>
            </a:pPr>
            <a:r>
              <a:rPr lang="id-ID" sz="2000" b="1" dirty="0"/>
              <a:t>Rework Caused by an Internal Failure</a:t>
            </a:r>
            <a:endParaRPr lang="id-ID" sz="2000" dirty="0"/>
          </a:p>
          <a:p>
            <a:pPr marL="82296" indent="0">
              <a:buNone/>
            </a:pPr>
            <a:r>
              <a:rPr lang="id-ID" sz="1800" dirty="0"/>
              <a:t>Assuming rework caused by wrong springs requisitioned by manufacturing employee</a:t>
            </a:r>
            <a:r>
              <a:rPr lang="id-ID" sz="1800" dirty="0" smtClean="0"/>
              <a:t>. </a:t>
            </a:r>
            <a:endParaRPr lang="id-ID" sz="1800" dirty="0"/>
          </a:p>
          <a:p>
            <a:pPr marL="82296" indent="0">
              <a:buNone/>
            </a:pPr>
            <a:endParaRPr lang="id-ID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495253"/>
              </p:ext>
            </p:extLst>
          </p:nvPr>
        </p:nvGraphicFramePr>
        <p:xfrm>
          <a:off x="1403648" y="2276872"/>
          <a:ext cx="7416823" cy="3768239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674849"/>
                <a:gridCol w="3126017"/>
                <a:gridCol w="3615957"/>
              </a:tblGrid>
              <a:tr h="3446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NO.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Transaction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JOURNAL ENTYRY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62518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id-ID" sz="2000" dirty="0" smtClean="0">
                          <a:effectLst/>
                        </a:rPr>
                        <a:t>1.</a:t>
                      </a: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Record Job’s 900 rework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828800" algn="l"/>
                        </a:tabLst>
                      </a:pPr>
                      <a:r>
                        <a:rPr lang="id-ID" sz="2000" dirty="0" smtClean="0">
                          <a:effectLst/>
                        </a:rPr>
                        <a:t>FOH</a:t>
                      </a:r>
                      <a:r>
                        <a:rPr lang="id-ID" sz="2000" dirty="0">
                          <a:effectLst/>
                        </a:rPr>
                        <a:t>	  	</a:t>
                      </a:r>
                      <a:r>
                        <a:rPr lang="id-ID" sz="2000" dirty="0" smtClean="0">
                          <a:effectLst/>
                        </a:rPr>
                        <a:t>13,000</a:t>
                      </a:r>
                      <a:endParaRPr lang="id-ID" sz="2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35785" algn="l"/>
                        </a:tabLst>
                      </a:pPr>
                      <a:r>
                        <a:rPr lang="id-ID" sz="2000" dirty="0">
                          <a:effectLst/>
                        </a:rPr>
                        <a:t>      </a:t>
                      </a:r>
                      <a:r>
                        <a:rPr lang="id-ID" sz="2000" dirty="0" smtClean="0">
                          <a:effectLst/>
                        </a:rPr>
                        <a:t> Materials                  8,000</a:t>
                      </a:r>
                      <a:endParaRPr lang="id-ID" sz="2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35785" algn="l"/>
                        </a:tabLst>
                      </a:pPr>
                      <a:r>
                        <a:rPr lang="id-ID" sz="2000" dirty="0">
                          <a:effectLst/>
                        </a:rPr>
                        <a:t>       </a:t>
                      </a:r>
                      <a:r>
                        <a:rPr lang="id-ID" sz="2000" dirty="0" smtClean="0">
                          <a:effectLst/>
                        </a:rPr>
                        <a:t>Payroll          </a:t>
                      </a:r>
                      <a:r>
                        <a:rPr lang="id-ID" sz="2000" baseline="0" dirty="0" smtClean="0">
                          <a:effectLst/>
                        </a:rPr>
                        <a:t>            </a:t>
                      </a:r>
                      <a:r>
                        <a:rPr lang="id-ID" sz="2000" dirty="0" smtClean="0">
                          <a:effectLst/>
                        </a:rPr>
                        <a:t>1,000</a:t>
                      </a:r>
                      <a:endParaRPr lang="id-ID" sz="2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2249805" algn="l"/>
                          <a:tab pos="2300605" algn="l"/>
                        </a:tabLst>
                      </a:pPr>
                      <a:r>
                        <a:rPr lang="id-ID" sz="2000" dirty="0">
                          <a:effectLst/>
                        </a:rPr>
                        <a:t>	Applied FOH		    </a:t>
                      </a:r>
                      <a:r>
                        <a:rPr lang="id-ID" sz="2000" dirty="0" smtClean="0">
                          <a:effectLst/>
                        </a:rPr>
                        <a:t>   4,000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7124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id-ID" sz="2000" dirty="0" smtClean="0">
                          <a:effectLst/>
                        </a:rPr>
                        <a:t>2.</a:t>
                      </a: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Record Job’s completion &amp; shipment to customer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35785" algn="l"/>
                        </a:tabLst>
                        <a:defRPr/>
                      </a:pPr>
                      <a:r>
                        <a:rPr lang="id-ID" sz="2000" dirty="0">
                          <a:effectLst/>
                        </a:rPr>
                        <a:t>COGS           </a:t>
                      </a:r>
                      <a:r>
                        <a:rPr lang="id-ID" sz="2000" dirty="0" smtClean="0">
                          <a:effectLst/>
                        </a:rPr>
                        <a:t>200,000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35785" algn="l"/>
                        </a:tabLst>
                      </a:pPr>
                      <a:r>
                        <a:rPr lang="id-ID" sz="2000" dirty="0" smtClean="0">
                          <a:effectLst/>
                        </a:rPr>
                        <a:t>       WIP</a:t>
                      </a:r>
                      <a:r>
                        <a:rPr lang="id-ID" sz="2000" dirty="0">
                          <a:effectLst/>
                        </a:rPr>
                        <a:t>	</a:t>
                      </a:r>
                      <a:r>
                        <a:rPr lang="id-ID" sz="2000" baseline="0" dirty="0" smtClean="0">
                          <a:effectLst/>
                        </a:rPr>
                        <a:t>          </a:t>
                      </a:r>
                      <a:r>
                        <a:rPr lang="id-ID" sz="2000" dirty="0" smtClean="0">
                          <a:effectLst/>
                        </a:rPr>
                        <a:t>200,000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8012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id-ID" sz="2000" dirty="0" smtClean="0">
                          <a:effectLst/>
                        </a:rPr>
                        <a:t>3.</a:t>
                      </a: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Selling the job 900 at 150% </a:t>
                      </a:r>
                    </a:p>
                    <a:p>
                      <a:pPr marL="419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(150% x $</a:t>
                      </a:r>
                      <a:r>
                        <a:rPr lang="id-ID" sz="2000" dirty="0" smtClean="0">
                          <a:effectLst/>
                        </a:rPr>
                        <a:t>200,000</a:t>
                      </a:r>
                      <a:r>
                        <a:rPr lang="id-ID" sz="2000" dirty="0">
                          <a:effectLst/>
                        </a:rPr>
                        <a:t>)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Cash (or </a:t>
                      </a:r>
                      <a:r>
                        <a:rPr lang="id-ID" sz="2000" dirty="0" smtClean="0">
                          <a:effectLst/>
                        </a:rPr>
                        <a:t>AR)  300,000</a:t>
                      </a:r>
                      <a:endParaRPr lang="id-ID" sz="2000" dirty="0">
                        <a:effectLst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2000" baseline="0" dirty="0" smtClean="0">
                          <a:effectLst/>
                        </a:rPr>
                        <a:t>       </a:t>
                      </a:r>
                      <a:r>
                        <a:rPr lang="id-ID" sz="2000" dirty="0" smtClean="0">
                          <a:effectLst/>
                        </a:rPr>
                        <a:t>Sales                    300,000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		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70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sz="3200" b="1" dirty="0">
                <a:effectLst/>
              </a:rPr>
              <a:t>Accounting for Production Losses in a Process Costing </a:t>
            </a:r>
            <a:r>
              <a:rPr lang="id-ID" sz="3200" b="1" dirty="0" smtClean="0">
                <a:effectLst/>
              </a:rPr>
              <a:t>(Avarage Cost Method)</a:t>
            </a:r>
            <a:endParaRPr lang="id-ID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484784"/>
            <a:ext cx="7498080" cy="469032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id-ID" sz="2800" b="1" dirty="0"/>
              <a:t>Spoilage Attributable to Internal Failures</a:t>
            </a:r>
          </a:p>
          <a:p>
            <a:pPr marL="82296" indent="0">
              <a:buNone/>
            </a:pPr>
            <a:endParaRPr lang="id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541283"/>
              </p:ext>
            </p:extLst>
          </p:nvPr>
        </p:nvGraphicFramePr>
        <p:xfrm>
          <a:off x="1187624" y="1988840"/>
          <a:ext cx="7560840" cy="4040418"/>
        </p:xfrm>
        <a:graphic>
          <a:graphicData uri="http://schemas.openxmlformats.org/drawingml/2006/table">
            <a:tbl>
              <a:tblPr firstRow="1" firstCol="1" bandRow="1">
                <a:tableStyleId>{AF606853-7671-496A-8E4F-DF71F8EC918B}</a:tableStyleId>
              </a:tblPr>
              <a:tblGrid>
                <a:gridCol w="4392488"/>
                <a:gridCol w="1610698"/>
                <a:gridCol w="1557654"/>
              </a:tblGrid>
              <a:tr h="477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Data for </a:t>
                      </a:r>
                      <a:r>
                        <a:rPr lang="id-ID" sz="2000" dirty="0" smtClean="0">
                          <a:effectLst/>
                        </a:rPr>
                        <a:t>November: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MOLDING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GLAZING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7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Units in beginning, WIP inventory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4,000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3,000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7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Units started in process in Molding Dept.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21,000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7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Units transferred to Glazing Dept.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19,000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7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Units received from Molding Dept.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 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19,000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7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Units transferred to FG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 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15,000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7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Units in ending, WIP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3,600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4,000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7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Units spoiled during the period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2,400</a:t>
                      </a:r>
                      <a:endParaRPr lang="id-ID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3,000</a:t>
                      </a:r>
                      <a:endParaRPr lang="id-ID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82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404664"/>
            <a:ext cx="7498080" cy="469032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id-ID" sz="2800" b="1" dirty="0"/>
              <a:t>Spoilage Attributable to Internal </a:t>
            </a:r>
            <a:r>
              <a:rPr lang="id-ID" sz="2800" b="1" dirty="0" smtClean="0"/>
              <a:t>Failures (Cont’d)</a:t>
            </a:r>
            <a:endParaRPr lang="id-ID" sz="2800" b="1" dirty="0"/>
          </a:p>
          <a:p>
            <a:pPr marL="82296" indent="0">
              <a:buNone/>
            </a:pPr>
            <a:endParaRPr lang="id-ID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311256"/>
              </p:ext>
            </p:extLst>
          </p:nvPr>
        </p:nvGraphicFramePr>
        <p:xfrm>
          <a:off x="1331640" y="1052736"/>
          <a:ext cx="7056785" cy="4783890"/>
        </p:xfrm>
        <a:graphic>
          <a:graphicData uri="http://schemas.openxmlformats.org/drawingml/2006/table">
            <a:tbl>
              <a:tblPr firstRow="1" firstCol="1" bandRow="1">
                <a:tableStyleId>{AF606853-7671-496A-8E4F-DF71F8EC918B}</a:tableStyleId>
              </a:tblPr>
              <a:tblGrid>
                <a:gridCol w="3762804"/>
                <a:gridCol w="1840170"/>
                <a:gridCol w="1453811"/>
              </a:tblGrid>
              <a:tr h="4536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Cost Data for November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MOLDING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GLAZING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536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WIP, beginning inventory: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 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53650">
                <a:tc>
                  <a:txBody>
                    <a:bodyPr/>
                    <a:lstStyle/>
                    <a:p>
                      <a:pPr marL="2705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Cost from preceding Dept.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 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$1,396.00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53650">
                <a:tc>
                  <a:txBody>
                    <a:bodyPr/>
                    <a:lstStyle/>
                    <a:p>
                      <a:pPr marL="2705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Materials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$615.00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196.00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53650">
                <a:tc>
                  <a:txBody>
                    <a:bodyPr/>
                    <a:lstStyle/>
                    <a:p>
                      <a:pPr marL="2705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Labor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366.40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310.00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53650">
                <a:tc>
                  <a:txBody>
                    <a:bodyPr/>
                    <a:lstStyle/>
                    <a:p>
                      <a:pPr marL="2705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FOH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549.60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310.00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536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Cost added to process during the current period: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53650">
                <a:tc>
                  <a:txBody>
                    <a:bodyPr/>
                    <a:lstStyle/>
                    <a:p>
                      <a:pPr marL="2705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Materials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$3,885.00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$1,520.00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53650">
                <a:tc>
                  <a:txBody>
                    <a:bodyPr/>
                    <a:lstStyle/>
                    <a:p>
                      <a:pPr marL="2705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Labor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2,273.60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3,718.00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53650">
                <a:tc>
                  <a:txBody>
                    <a:bodyPr/>
                    <a:lstStyle/>
                    <a:p>
                      <a:pPr marL="2705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FOH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3,410.40</a:t>
                      </a:r>
                      <a:endParaRPr lang="id-ID" sz="2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3,718.00</a:t>
                      </a:r>
                      <a:endParaRPr lang="id-ID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61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404664"/>
            <a:ext cx="7498080" cy="864096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id-ID" sz="2800" b="1" dirty="0"/>
              <a:t>Spoilage Attributable to Internal </a:t>
            </a:r>
            <a:r>
              <a:rPr lang="id-ID" sz="2800" b="1" dirty="0" smtClean="0"/>
              <a:t>Failures (Cont’d)</a:t>
            </a:r>
          </a:p>
          <a:p>
            <a:pPr marL="82296" indent="0">
              <a:buNone/>
            </a:pPr>
            <a:r>
              <a:rPr lang="id-ID" sz="2400" b="1" i="1" dirty="0"/>
              <a:t>Calculation EU dan Cost per EU in Molding Dept.</a:t>
            </a:r>
            <a:endParaRPr lang="id-ID" sz="2400" i="1" dirty="0"/>
          </a:p>
          <a:p>
            <a:pPr marL="82296" indent="0">
              <a:buNone/>
            </a:pPr>
            <a:endParaRPr lang="id-ID" sz="2800" b="1" dirty="0"/>
          </a:p>
          <a:p>
            <a:pPr marL="82296" indent="0">
              <a:buNone/>
            </a:pPr>
            <a:endParaRPr lang="id-ID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33504"/>
              </p:ext>
            </p:extLst>
          </p:nvPr>
        </p:nvGraphicFramePr>
        <p:xfrm>
          <a:off x="1331640" y="1196752"/>
          <a:ext cx="7416824" cy="3084576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3240360"/>
                <a:gridCol w="1396560"/>
                <a:gridCol w="1479031"/>
                <a:gridCol w="1300873"/>
              </a:tblGrid>
              <a:tr h="266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 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DM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DL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FOH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6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EU transferred out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19,000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19,000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19,000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6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EU in ending inventory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3,600 (100%)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1,080 (30%)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1,080 (30%)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6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EU of Spoilage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2,400 (100%)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1,920 (80%)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1,920 (80%)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6430">
                <a:tc>
                  <a:txBody>
                    <a:bodyPr/>
                    <a:lstStyle/>
                    <a:p>
                      <a:pPr marL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Total EU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25,000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22,000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22,000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6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 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 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 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 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6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Cost in beginning </a:t>
                      </a:r>
                      <a:r>
                        <a:rPr lang="id-ID" sz="1600" dirty="0" smtClean="0">
                          <a:effectLst/>
                        </a:rPr>
                        <a:t>inventory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615.00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366.40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549.60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6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Cost added during the current period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3,885.00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2,273.60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3,410.40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6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Total cost to be accounted for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4,500.00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2,640.00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3,960.00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6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Cost per EU </a:t>
                      </a:r>
                      <a:r>
                        <a:rPr lang="id-ID" sz="1600">
                          <a:effectLst/>
                          <a:sym typeface="Wingdings"/>
                        </a:rPr>
                        <a:t></a:t>
                      </a:r>
                      <a:r>
                        <a:rPr lang="id-ID" sz="1600">
                          <a:effectLst/>
                        </a:rPr>
                        <a:t> $0.48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$0.18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$0.12</a:t>
                      </a:r>
                      <a:endParaRPr lang="id-ID" sz="16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$0.18</a:t>
                      </a:r>
                      <a:endParaRPr lang="id-ID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1268016" y="4581128"/>
            <a:ext cx="7498080" cy="165618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r>
              <a:rPr lang="id-ID" sz="2400" b="1" dirty="0"/>
              <a:t>Journal Entry:</a:t>
            </a:r>
            <a:endParaRPr lang="id-ID" sz="2400" dirty="0"/>
          </a:p>
          <a:p>
            <a:pPr marL="82296" indent="0">
              <a:buNone/>
            </a:pPr>
            <a:r>
              <a:rPr lang="id-ID" sz="2400" b="1" dirty="0"/>
              <a:t>WIP – Glazing Dept </a:t>
            </a:r>
            <a:r>
              <a:rPr lang="id-ID" sz="2400" i="1" dirty="0"/>
              <a:t>(19,000 x $0.48)</a:t>
            </a:r>
            <a:r>
              <a:rPr lang="id-ID" sz="2400" dirty="0"/>
              <a:t>	</a:t>
            </a:r>
            <a:r>
              <a:rPr lang="id-ID" sz="2400" dirty="0" smtClean="0"/>
              <a:t>           </a:t>
            </a:r>
            <a:r>
              <a:rPr lang="id-ID" sz="2400" b="1" dirty="0" smtClean="0"/>
              <a:t>9,120</a:t>
            </a:r>
            <a:endParaRPr lang="id-ID" sz="2400" b="1" dirty="0"/>
          </a:p>
          <a:p>
            <a:pPr marL="82296" indent="0">
              <a:buNone/>
            </a:pPr>
            <a:r>
              <a:rPr lang="id-ID" sz="2400" b="1" dirty="0"/>
              <a:t>FOH Control	</a:t>
            </a:r>
            <a:r>
              <a:rPr lang="id-ID" sz="2400" b="1" dirty="0" smtClean="0"/>
              <a:t>                                                    1,008</a:t>
            </a:r>
            <a:endParaRPr lang="id-ID" sz="2400" b="1" dirty="0"/>
          </a:p>
          <a:p>
            <a:pPr marL="82296" indent="0">
              <a:buNone/>
            </a:pPr>
            <a:r>
              <a:rPr lang="id-ID" sz="2400" b="1" dirty="0"/>
              <a:t> </a:t>
            </a:r>
            <a:r>
              <a:rPr lang="id-ID" sz="2400" i="1" dirty="0"/>
              <a:t>(Spoilage charged to FOH (24,000x$0.180)+(1,920x$0.12)+(1,920x$0.18))</a:t>
            </a:r>
            <a:r>
              <a:rPr lang="id-ID" sz="2400" dirty="0"/>
              <a:t>	</a:t>
            </a:r>
          </a:p>
          <a:p>
            <a:pPr marL="82296" indent="0">
              <a:buNone/>
            </a:pPr>
            <a:r>
              <a:rPr lang="id-ID" sz="2400" b="1" dirty="0"/>
              <a:t>	WIP – Molding Dept.	</a:t>
            </a:r>
            <a:r>
              <a:rPr lang="id-ID" sz="2400" b="1" dirty="0" smtClean="0"/>
              <a:t>                                     10,128</a:t>
            </a:r>
            <a:endParaRPr lang="id-ID" sz="2400" i="1" dirty="0" smtClean="0"/>
          </a:p>
          <a:p>
            <a:pPr marL="82296" indent="0">
              <a:buFont typeface="Wingdings 2"/>
              <a:buNone/>
            </a:pPr>
            <a:endParaRPr lang="id-ID" sz="2800" b="1" dirty="0" smtClean="0"/>
          </a:p>
          <a:p>
            <a:pPr marL="82296" indent="0">
              <a:buFont typeface="Wingdings 2"/>
              <a:buNone/>
            </a:pPr>
            <a:endParaRPr lang="id-ID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115616" y="6255621"/>
            <a:ext cx="7498080" cy="341731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Font typeface="Wingdings 2"/>
              <a:buNone/>
            </a:pPr>
            <a:endParaRPr lang="id-ID" sz="2800" b="1" dirty="0" smtClean="0"/>
          </a:p>
          <a:p>
            <a:pPr marL="82296" indent="0">
              <a:buFont typeface="Wingdings 2"/>
              <a:buNone/>
            </a:pPr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>
            <a:off x="3851920" y="6305485"/>
            <a:ext cx="4608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/>
              <a:t>See Exhibit 7-1 for CPR Molding Dept. 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5147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260648"/>
            <a:ext cx="7498080" cy="864096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id-ID" sz="2800" b="1" dirty="0"/>
              <a:t>Spoilage Attributable to Internal </a:t>
            </a:r>
            <a:r>
              <a:rPr lang="id-ID" sz="2800" b="1" dirty="0" smtClean="0"/>
              <a:t>Failures (Cont’d)</a:t>
            </a:r>
          </a:p>
          <a:p>
            <a:pPr marL="82296" indent="0">
              <a:buNone/>
            </a:pPr>
            <a:r>
              <a:rPr lang="id-ID" sz="2400" b="1" i="1" dirty="0"/>
              <a:t>Calculation EU dan Cost per EU in </a:t>
            </a:r>
            <a:r>
              <a:rPr lang="id-ID" sz="2400" b="1" i="1" dirty="0" smtClean="0"/>
              <a:t>Glazing </a:t>
            </a:r>
            <a:r>
              <a:rPr lang="id-ID" sz="2400" b="1" i="1" dirty="0"/>
              <a:t>Dept.</a:t>
            </a:r>
            <a:endParaRPr lang="id-ID" sz="2400" i="1" dirty="0"/>
          </a:p>
          <a:p>
            <a:pPr marL="82296" indent="0">
              <a:buNone/>
            </a:pPr>
            <a:endParaRPr lang="id-ID" sz="2800" b="1" dirty="0"/>
          </a:p>
          <a:p>
            <a:pPr marL="82296" indent="0">
              <a:buNone/>
            </a:pPr>
            <a:endParaRPr lang="id-ID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68016" y="4797152"/>
            <a:ext cx="7498080" cy="1629334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r>
              <a:rPr lang="id-ID" sz="4300" b="1" dirty="0"/>
              <a:t>Journal Entry:</a:t>
            </a:r>
            <a:endParaRPr lang="id-ID" sz="4300" dirty="0"/>
          </a:p>
          <a:p>
            <a:pPr marL="82296" indent="0">
              <a:buNone/>
            </a:pPr>
            <a:r>
              <a:rPr lang="id-ID" sz="4300" b="1" dirty="0"/>
              <a:t>FG Inventory </a:t>
            </a:r>
            <a:r>
              <a:rPr lang="id-ID" sz="4300" i="1" dirty="0"/>
              <a:t>(15,000 x $0.98)</a:t>
            </a:r>
            <a:r>
              <a:rPr lang="id-ID" sz="4300" dirty="0"/>
              <a:t>	 </a:t>
            </a:r>
            <a:r>
              <a:rPr lang="id-ID" sz="4300" dirty="0" smtClean="0"/>
              <a:t>                               </a:t>
            </a:r>
            <a:r>
              <a:rPr lang="id-ID" sz="4300" b="1" dirty="0" smtClean="0"/>
              <a:t>14,700</a:t>
            </a:r>
            <a:endParaRPr lang="id-ID" sz="4300" b="1" dirty="0"/>
          </a:p>
          <a:p>
            <a:pPr marL="82296" indent="0">
              <a:buNone/>
            </a:pPr>
            <a:r>
              <a:rPr lang="id-ID" sz="4300" b="1" dirty="0"/>
              <a:t>Spoiled Goods Inventory </a:t>
            </a:r>
            <a:r>
              <a:rPr lang="id-ID" sz="4300" dirty="0"/>
              <a:t>(3,000 x $0.5)	</a:t>
            </a:r>
            <a:r>
              <a:rPr lang="id-ID" sz="4300" b="1" dirty="0" smtClean="0"/>
              <a:t>                1,500</a:t>
            </a:r>
            <a:endParaRPr lang="id-ID" sz="4300" b="1" dirty="0"/>
          </a:p>
          <a:p>
            <a:pPr marL="82296" indent="0">
              <a:buNone/>
            </a:pPr>
            <a:r>
              <a:rPr lang="id-ID" sz="4300" dirty="0"/>
              <a:t>        (</a:t>
            </a:r>
            <a:r>
              <a:rPr lang="id-ID" sz="4300" i="1" dirty="0"/>
              <a:t>Assuming can be sold at $0.5 each)</a:t>
            </a:r>
            <a:r>
              <a:rPr lang="id-ID" sz="4300" dirty="0"/>
              <a:t> </a:t>
            </a:r>
          </a:p>
          <a:p>
            <a:pPr marL="82296" indent="0">
              <a:buNone/>
            </a:pPr>
            <a:r>
              <a:rPr lang="id-ID" sz="4300" b="1" dirty="0"/>
              <a:t>FOH Control (</a:t>
            </a:r>
            <a:r>
              <a:rPr lang="id-ID" sz="4300" dirty="0"/>
              <a:t>3,000 x $0.98) – value of </a:t>
            </a:r>
            <a:r>
              <a:rPr lang="id-ID" sz="4300" dirty="0" smtClean="0"/>
              <a:t>spoilage</a:t>
            </a:r>
            <a:r>
              <a:rPr lang="id-ID" sz="4300" b="1" dirty="0"/>
              <a:t> </a:t>
            </a:r>
            <a:r>
              <a:rPr lang="id-ID" sz="4300" b="1" dirty="0" smtClean="0"/>
              <a:t>             1,440</a:t>
            </a:r>
            <a:endParaRPr lang="id-ID" sz="4300" b="1" dirty="0"/>
          </a:p>
          <a:p>
            <a:pPr marL="82296" indent="0">
              <a:buNone/>
            </a:pPr>
            <a:r>
              <a:rPr lang="id-ID" sz="4300" b="1" dirty="0"/>
              <a:t>	WIP – Molding Dept.	</a:t>
            </a:r>
            <a:r>
              <a:rPr lang="id-ID" sz="4300" b="1" dirty="0" smtClean="0"/>
              <a:t>                                                  17,640</a:t>
            </a:r>
            <a:endParaRPr lang="id-ID" sz="4300" b="1" dirty="0"/>
          </a:p>
          <a:p>
            <a:pPr marL="82296" indent="0">
              <a:buFont typeface="Wingdings 2"/>
              <a:buNone/>
            </a:pPr>
            <a:endParaRPr lang="id-ID" sz="2800" b="1" dirty="0" smtClean="0"/>
          </a:p>
          <a:p>
            <a:pPr marL="82296" indent="0">
              <a:buFont typeface="Wingdings 2"/>
              <a:buNone/>
            </a:pPr>
            <a:endParaRPr lang="id-ID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115616" y="6255621"/>
            <a:ext cx="7498080" cy="341731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Font typeface="Wingdings 2"/>
              <a:buNone/>
            </a:pPr>
            <a:endParaRPr lang="id-ID" sz="2800" b="1" dirty="0" smtClean="0"/>
          </a:p>
          <a:p>
            <a:pPr marL="82296" indent="0">
              <a:buFont typeface="Wingdings 2"/>
              <a:buNone/>
            </a:pPr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>
            <a:off x="4283968" y="6305485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/>
              <a:t>See Exhibit </a:t>
            </a:r>
            <a:r>
              <a:rPr lang="id-ID" b="1" dirty="0" smtClean="0"/>
              <a:t>7-2 </a:t>
            </a:r>
            <a:r>
              <a:rPr lang="id-ID" b="1" dirty="0"/>
              <a:t>for CPR </a:t>
            </a:r>
            <a:r>
              <a:rPr lang="id-ID" b="1" dirty="0" smtClean="0"/>
              <a:t>Glazing </a:t>
            </a:r>
            <a:r>
              <a:rPr lang="id-ID" b="1" dirty="0"/>
              <a:t>Dept. </a:t>
            </a:r>
            <a:endParaRPr lang="id-ID" dirty="0"/>
          </a:p>
          <a:p>
            <a:endParaRPr lang="id-ID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396290"/>
              </p:ext>
            </p:extLst>
          </p:nvPr>
        </p:nvGraphicFramePr>
        <p:xfrm>
          <a:off x="1412032" y="1124744"/>
          <a:ext cx="7480447" cy="3601993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2439888"/>
                <a:gridCol w="1368152"/>
                <a:gridCol w="1224136"/>
                <a:gridCol w="1224136"/>
                <a:gridCol w="1224135"/>
              </a:tblGrid>
              <a:tr h="53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effectLst/>
                        </a:rPr>
                        <a:t> 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Preceding Dept.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DM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DL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effectLst/>
                        </a:rPr>
                        <a:t>FOH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02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EU transferred out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15,000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15,000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15,000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15,000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02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EU in ending inventory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4,000 (100%)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4,000 (100%)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1,000 (25%)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1,000 (25%)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3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EU of Spoilage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3,000 (100%)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3,000 (100%)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3,000 (100%)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3,000 (100%)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0276">
                <a:tc>
                  <a:txBody>
                    <a:bodyPr/>
                    <a:lstStyle/>
                    <a:p>
                      <a:pPr marL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Total EU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22,000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22,000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19,000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19,000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02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 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 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 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 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 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02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Cost in beginning inventory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1,396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196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310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310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3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Cost added to the current period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9,120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1,520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3,718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3,718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891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effectLst/>
                        </a:rPr>
                        <a:t>Total cost to be accounted </a:t>
                      </a:r>
                      <a:r>
                        <a:rPr lang="id-ID" sz="1400" dirty="0" smtClean="0">
                          <a:effectLst/>
                        </a:rPr>
                        <a:t>for: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10,516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1,716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4,028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4,028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02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</a:rPr>
                        <a:t>Cost per EU </a:t>
                      </a:r>
                      <a:r>
                        <a:rPr lang="id-ID" sz="1400">
                          <a:effectLst/>
                          <a:sym typeface="Wingdings"/>
                        </a:rPr>
                        <a:t></a:t>
                      </a:r>
                      <a:r>
                        <a:rPr lang="id-ID" sz="1400">
                          <a:effectLst/>
                        </a:rPr>
                        <a:t> $0.98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$0.478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$0.078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</a:rPr>
                        <a:t>$0.212</a:t>
                      </a:r>
                      <a:endParaRPr lang="id-ID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</a:rPr>
                        <a:t>$0.212</a:t>
                      </a:r>
                      <a:endParaRPr lang="id-ID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8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642194"/>
          </a:xfrm>
        </p:spPr>
        <p:txBody>
          <a:bodyPr>
            <a:normAutofit fontScale="90000"/>
          </a:bodyPr>
          <a:lstStyle/>
          <a:p>
            <a:r>
              <a:rPr lang="id-ID" b="1" dirty="0">
                <a:effectLst/>
              </a:rPr>
              <a:t>NORMAL PRODUCTION SHRINKAGE </a:t>
            </a:r>
            <a:r>
              <a:rPr lang="id-ID" dirty="0">
                <a:effectLst/>
              </a:rPr>
              <a:t/>
            </a:r>
            <a:br>
              <a:rPr lang="id-ID" dirty="0">
                <a:effectLst/>
              </a:rPr>
            </a:b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648" y="2057400"/>
            <a:ext cx="7498080" cy="4800600"/>
          </a:xfrm>
        </p:spPr>
        <p:txBody>
          <a:bodyPr/>
          <a:lstStyle/>
          <a:p>
            <a:r>
              <a:rPr lang="id-ID" dirty="0"/>
              <a:t>Units lost due to natural process </a:t>
            </a:r>
            <a:r>
              <a:rPr lang="id-ID" dirty="0">
                <a:sym typeface="Wingdings"/>
              </a:rPr>
              <a:t></a:t>
            </a:r>
            <a:r>
              <a:rPr lang="id-ID" dirty="0"/>
              <a:t> Total cost is absorbed by only the </a:t>
            </a:r>
            <a:r>
              <a:rPr lang="id-ID" b="1" dirty="0"/>
              <a:t>good units that remain, </a:t>
            </a:r>
            <a:r>
              <a:rPr lang="id-ID" dirty="0"/>
              <a:t>omitting the lost units. </a:t>
            </a:r>
          </a:p>
          <a:p>
            <a:r>
              <a:rPr lang="id-ID" dirty="0"/>
              <a:t>See Exhibit 7-3 for CPR.</a:t>
            </a:r>
          </a:p>
          <a:p>
            <a:pPr marL="82296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7387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66130"/>
          </a:xfrm>
        </p:spPr>
        <p:txBody>
          <a:bodyPr>
            <a:normAutofit/>
          </a:bodyPr>
          <a:lstStyle/>
          <a:p>
            <a:r>
              <a:rPr lang="id-ID" sz="2800" b="1" dirty="0">
                <a:effectLst/>
              </a:rPr>
              <a:t>Accounting for Production Losses in a Process Costing </a:t>
            </a:r>
            <a:r>
              <a:rPr lang="id-ID" sz="2800" b="1" dirty="0" smtClean="0">
                <a:effectLst/>
              </a:rPr>
              <a:t>(FIFO)</a:t>
            </a:r>
            <a:endParaRPr lang="id-ID" sz="2800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3853408"/>
          </a:xfrm>
        </p:spPr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r>
              <a:rPr lang="id-ID" b="1" dirty="0"/>
              <a:t>Recall last week’s lecture about the differences between avarage &amp; FIFO:</a:t>
            </a:r>
            <a:endParaRPr lang="id-ID" dirty="0"/>
          </a:p>
          <a:p>
            <a:pPr lvl="0"/>
            <a:r>
              <a:rPr lang="id-ID" dirty="0"/>
              <a:t>Under FIFO, the cost of the first units transferred out of the department are deemed to come from beginning inventory </a:t>
            </a:r>
          </a:p>
          <a:p>
            <a:pPr lvl="0"/>
            <a:r>
              <a:rPr lang="id-ID" dirty="0"/>
              <a:t>If the units are not complete at the beginning of the period, they must be completed with the current period cost before they can be transferred out.</a:t>
            </a:r>
          </a:p>
          <a:p>
            <a:pPr lvl="0"/>
            <a:r>
              <a:rPr lang="id-ID" dirty="0"/>
              <a:t>The balance of the units to be accounted for, contain only </a:t>
            </a:r>
            <a:r>
              <a:rPr lang="id-ID" u="sng" dirty="0"/>
              <a:t>current period cost</a:t>
            </a:r>
            <a:endParaRPr lang="id-ID" dirty="0"/>
          </a:p>
          <a:p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>
            <a:off x="1475656" y="5733256"/>
            <a:ext cx="74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/>
              <a:t>See Exhibit 7-4 &amp; 7-5 for Spoilage Attributable to Internal </a:t>
            </a:r>
            <a:r>
              <a:rPr lang="id-ID" sz="2400" b="1" dirty="0" smtClean="0"/>
              <a:t>Failures</a:t>
            </a:r>
            <a:r>
              <a:rPr lang="id-ID" sz="2400" dirty="0" smtClean="0"/>
              <a:t> </a:t>
            </a:r>
            <a:r>
              <a:rPr lang="id-ID" sz="2400" b="1" dirty="0" smtClean="0"/>
              <a:t>(under FIFO)</a:t>
            </a:r>
            <a:endParaRPr lang="id-ID" sz="2400" b="1" dirty="0"/>
          </a:p>
        </p:txBody>
      </p:sp>
    </p:spTree>
    <p:extLst>
      <p:ext uri="{BB962C8B-B14F-4D97-AF65-F5344CB8AC3E}">
        <p14:creationId xmlns:p14="http://schemas.microsoft.com/office/powerpoint/2010/main" val="151109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id-ID" b="1" dirty="0" smtClean="0"/>
              <a:t>THANK YOU</a:t>
            </a:r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357515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56</TotalTime>
  <Words>1303</Words>
  <Application>Microsoft Office PowerPoint</Application>
  <PresentationFormat>On-screen Show (4:3)</PresentationFormat>
  <Paragraphs>335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Solstice</vt:lpstr>
      <vt:lpstr>The Cost of Quality &amp; Accounting for Production Losses </vt:lpstr>
      <vt:lpstr>The Cost of Quality</vt:lpstr>
      <vt:lpstr>Total Quality Managemnet (TQM)</vt:lpstr>
      <vt:lpstr>Continuous Quality Improvement</vt:lpstr>
      <vt:lpstr>Accounting for Production Losses in a Job Order Costing  </vt:lpstr>
      <vt:lpstr>Accounting for SCRAP</vt:lpstr>
      <vt:lpstr>Accounting for Spoiled Goods</vt:lpstr>
      <vt:lpstr>Accounting for Spoiled Goods</vt:lpstr>
      <vt:lpstr>Accounting for Rework</vt:lpstr>
      <vt:lpstr>Accounting for Rework</vt:lpstr>
      <vt:lpstr>Accounting for Rework</vt:lpstr>
      <vt:lpstr>Accounting for Production Losses in a Process Costing (Avarage Cost Method)</vt:lpstr>
      <vt:lpstr>PowerPoint Presentation</vt:lpstr>
      <vt:lpstr>PowerPoint Presentation</vt:lpstr>
      <vt:lpstr>PowerPoint Presentation</vt:lpstr>
      <vt:lpstr>NORMAL PRODUCTION SHRINKAGE  </vt:lpstr>
      <vt:lpstr>Accounting for Production Losses in a Process Costing (FIFO)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Cost of Quality &amp; Accounting for Production Losses</dc:title>
  <dc:creator>anshori</dc:creator>
  <cp:lastModifiedBy>anshori</cp:lastModifiedBy>
  <cp:revision>9</cp:revision>
  <dcterms:created xsi:type="dcterms:W3CDTF">2011-04-27T07:05:30Z</dcterms:created>
  <dcterms:modified xsi:type="dcterms:W3CDTF">2011-04-27T08:03:52Z</dcterms:modified>
</cp:coreProperties>
</file>