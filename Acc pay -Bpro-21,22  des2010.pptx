
<file path=[Content_Types].xml><?xml version="1.0" encoding="utf-8"?>
<Types xmlns="http://schemas.openxmlformats.org/package/2006/content-types">
  <Override PartName="/ppt/slides/slide47.xml" ContentType="application/vnd.openxmlformats-officedocument.presentationml.slide+xml"/>
  <Override PartName="/ppt/slides/slide58.xml" ContentType="application/vnd.openxmlformats-officedocument.presentationml.slide+xml"/>
  <Override PartName="/ppt/slides/slide94.xml" ContentType="application/vnd.openxmlformats-officedocument.presentationml.slide+xml"/>
  <Override PartName="/ppt/notesSlides/notesSlide2.xml" ContentType="application/vnd.openxmlformats-officedocument.presentationml.notesSlide+xml"/>
  <Override PartName="/ppt/slides/slide36.xml" ContentType="application/vnd.openxmlformats-officedocument.presentationml.slide+xml"/>
  <Override PartName="/ppt/slides/slide83.xml" ContentType="application/vnd.openxmlformats-officedocument.presentationml.slide+xml"/>
  <Override PartName="/ppt/slides/slide120.xml" ContentType="application/vnd.openxmlformats-officedocument.presentationml.slide+xml"/>
  <Override PartName="/ppt/notesSlides/notesSlide38.xml" ContentType="application/vnd.openxmlformats-officedocument.presentationml.notesSlide+xml"/>
  <Override PartName="/ppt/notesSlides/notesSlide49.xml" ContentType="application/vnd.openxmlformats-officedocument.presentationml.notesSlide+xml"/>
  <Override PartName="/ppt/notesSlides/notesSlide85.xml" ContentType="application/vnd.openxmlformats-officedocument.presentationml.notesSlide+xml"/>
  <Override PartName="/ppt/slides/slide25.xml" ContentType="application/vnd.openxmlformats-officedocument.presentationml.slide+xml"/>
  <Override PartName="/ppt/slides/slide72.xml" ContentType="application/vnd.openxmlformats-officedocument.presentationml.slide+xml"/>
  <Override PartName="/ppt/slideLayouts/slideLayout2.xml" ContentType="application/vnd.openxmlformats-officedocument.presentationml.slideLayout+xml"/>
  <Override PartName="/ppt/notesSlides/notesSlide27.xml" ContentType="application/vnd.openxmlformats-officedocument.presentationml.notesSlide+xml"/>
  <Override PartName="/ppt/notesSlides/notesSlide74.xml" ContentType="application/vnd.openxmlformats-officedocument.presentationml.notesSlide+xml"/>
  <Default Extension="xml" ContentType="application/xml"/>
  <Override PartName="/ppt/slides/slide14.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notesSlides/notesSlide16.xml" ContentType="application/vnd.openxmlformats-officedocument.presentationml.notesSlide+xml"/>
  <Override PartName="/ppt/notesSlides/notesSlide63.xml" ContentType="application/vnd.openxmlformats-officedocument.presentationml.notesSlide+xml"/>
  <Override PartName="/ppt/tableStyles.xml" ContentType="application/vnd.openxmlformats-officedocument.presentationml.tableStyles+xml"/>
  <Override PartName="/ppt/notesSlides/notesSlide41.xml" ContentType="application/vnd.openxmlformats-officedocument.presentationml.notesSlide+xml"/>
  <Override PartName="/ppt/notesSlides/notesSlide52.xml" ContentType="application/vnd.openxmlformats-officedocument.presentationml.notesSlide+xml"/>
  <Override PartName="/ppt/notesSlides/notesSlide30.xml" ContentType="application/vnd.openxmlformats-officedocument.presentationml.notesSlide+xml"/>
  <Override PartName="/ppt/slides/slide99.xml" ContentType="application/vnd.openxmlformats-officedocument.presentationml.slide+xml"/>
  <Override PartName="/ppt/notesSlides/notesSlide7.xml" ContentType="application/vnd.openxmlformats-officedocument.presentationml.notesSlide+xml"/>
  <Override PartName="/ppt/slides/slide77.xml" ContentType="application/vnd.openxmlformats-officedocument.presentationml.slide+xml"/>
  <Override PartName="/ppt/slides/slide88.xml" ContentType="application/vnd.openxmlformats-officedocument.presentationml.slide+xml"/>
  <Override PartName="/ppt/slides/slide5.xml" ContentType="application/vnd.openxmlformats-officedocument.presentationml.slide+xml"/>
  <Override PartName="/ppt/slides/slide19.xml" ContentType="application/vnd.openxmlformats-officedocument.presentationml.slide+xml"/>
  <Override PartName="/ppt/slides/slide66.xml" ContentType="application/vnd.openxmlformats-officedocument.presentationml.slide+xml"/>
  <Override PartName="/ppt/slides/slide103.xml" ContentType="application/vnd.openxmlformats-officedocument.presentationml.slide+xml"/>
  <Override PartName="/ppt/slides/slide114.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68.xml" ContentType="application/vnd.openxmlformats-officedocument.presentationml.notesSlide+xml"/>
  <Override PartName="/ppt/notesSlides/notesSlide79.xml" ContentType="application/vnd.openxmlformats-officedocument.presentationml.notesSlide+xml"/>
  <Override PartName="/ppt/slides/slide55.xml" ContentType="application/vnd.openxmlformats-officedocument.presentationml.slide+xml"/>
  <Override PartName="/ppt/theme/theme2.xml" ContentType="application/vnd.openxmlformats-officedocument.theme+xml"/>
  <Override PartName="/ppt/notesSlides/notesSlide57.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33.xml" ContentType="application/vnd.openxmlformats-officedocument.presentationml.slide+xml"/>
  <Override PartName="/ppt/slides/slide44.xml" ContentType="application/vnd.openxmlformats-officedocument.presentationml.slide+xml"/>
  <Override PartName="/ppt/slides/slide62.xml" ContentType="application/vnd.openxmlformats-officedocument.presentationml.slide+xml"/>
  <Override PartName="/ppt/slides/slide80.xml" ContentType="application/vnd.openxmlformats-officedocument.presentationml.slide+xml"/>
  <Override PartName="/ppt/slides/slide91.xml" ContentType="application/vnd.openxmlformats-officedocument.presentationml.slide+xml"/>
  <Override PartName="/ppt/slides/slide110.xml" ContentType="application/vnd.openxmlformats-officedocument.presentationml.slide+xml"/>
  <Override PartName="/ppt/slideLayouts/slideLayout3.xml" ContentType="application/vnd.openxmlformats-officedocument.presentationml.slideLayout+xml"/>
  <Override PartName="/ppt/notesSlides/notesSlide17.xml" ContentType="application/vnd.openxmlformats-officedocument.presentationml.notesSlide+xml"/>
  <Default Extension="emf" ContentType="image/x-emf"/>
  <Override PartName="/ppt/notesSlides/notesSlide28.xml" ContentType="application/vnd.openxmlformats-officedocument.presentationml.notesSlide+xml"/>
  <Override PartName="/ppt/notesSlides/notesSlide46.xml" ContentType="application/vnd.openxmlformats-officedocument.presentationml.notesSlide+xml"/>
  <Override PartName="/ppt/notesSlides/notesSlide64.xml" ContentType="application/vnd.openxmlformats-officedocument.presentationml.notesSlide+xml"/>
  <Override PartName="/ppt/notesSlides/notesSlide75.xml" ContentType="application/vnd.openxmlformats-officedocument.presentationml.notesSlide+xml"/>
  <Override PartName="/ppt/notesSlides/notesSlide93.xml" ContentType="application/vnd.openxmlformats-officedocument.presentationml.notesSlide+xml"/>
  <Override PartName="/ppt/presentation.xml" ContentType="application/vnd.openxmlformats-officedocument.presentationml.presentation.main+xml"/>
  <Override PartName="/ppt/slides/slide22.xml" ContentType="application/vnd.openxmlformats-officedocument.presentationml.slide+xml"/>
  <Override PartName="/ppt/slides/slide51.xml" ContentType="application/vnd.openxmlformats-officedocument.presentationml.slide+xml"/>
  <Override PartName="/ppt/slideLayouts/slideLayout14.xml" ContentType="application/vnd.openxmlformats-officedocument.presentationml.slideLayout+xml"/>
  <Override PartName="/ppt/notesSlides/notesSlide24.xml" ContentType="application/vnd.openxmlformats-officedocument.presentationml.notesSlide+xml"/>
  <Override PartName="/ppt/notesSlides/notesSlide35.xml" ContentType="application/vnd.openxmlformats-officedocument.presentationml.notesSlide+xml"/>
  <Override PartName="/ppt/notesSlides/notesSlide53.xml" ContentType="application/vnd.openxmlformats-officedocument.presentationml.notesSlide+xml"/>
  <Override PartName="/ppt/notesSlides/notesSlide71.xml" ContentType="application/vnd.openxmlformats-officedocument.presentationml.notesSlide+xml"/>
  <Override PartName="/ppt/notesSlides/notesSlide82.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40.xml" ContentType="application/vnd.openxmlformats-officedocument.presentationml.slide+xml"/>
  <Override PartName="/ppt/notesSlides/notesSlide13.xml" ContentType="application/vnd.openxmlformats-officedocument.presentationml.notesSlide+xml"/>
  <Override PartName="/ppt/notesSlides/notesSlide42.xml" ContentType="application/vnd.openxmlformats-officedocument.presentationml.notesSlide+xml"/>
  <Override PartName="/ppt/notesSlides/notesSlide60.xml" ContentType="application/vnd.openxmlformats-officedocument.presentationml.notesSlide+xml"/>
  <Override PartName="/ppt/slides/slide119.xml" ContentType="application/vnd.openxmlformats-officedocument.presentationml.slide+xml"/>
  <Override PartName="/ppt/slideLayouts/slideLayout10.xml" ContentType="application/vnd.openxmlformats-officedocument.presentationml.slideLayout+xml"/>
  <Default Extension="gif" ContentType="image/gif"/>
  <Override PartName="/ppt/notesSlides/notesSlide8.xml" ContentType="application/vnd.openxmlformats-officedocument.presentationml.notesSlide+xml"/>
  <Override PartName="/ppt/notesSlides/notesSlide20.xml" ContentType="application/vnd.openxmlformats-officedocument.presentationml.notesSlide+xml"/>
  <Default Extension="vml" ContentType="application/vnd.openxmlformats-officedocument.vmlDrawing"/>
  <Override PartName="/ppt/notesSlides/notesSlide31.xml" ContentType="application/vnd.openxmlformats-officedocument.presentationml.notesSlide+xml"/>
  <Override PartName="/ppt/slides/slide89.xml" ContentType="application/vnd.openxmlformats-officedocument.presentationml.slide+xml"/>
  <Override PartName="/ppt/slides/slide108.xml" ContentType="application/vnd.openxmlformats-officedocument.presentationml.slide+xml"/>
  <Override PartName="/ppt/slides/slide49.xml" ContentType="application/vnd.openxmlformats-officedocument.presentationml.slide+xml"/>
  <Override PartName="/ppt/slides/slide78.xml" ContentType="application/vnd.openxmlformats-officedocument.presentationml.slide+xml"/>
  <Override PartName="/ppt/slides/slide96.xml" ContentType="application/vnd.openxmlformats-officedocument.presentationml.slide+xml"/>
  <Override PartName="/ppt/slides/slide115.xml" ContentType="application/vnd.openxmlformats-officedocument.presentationml.slide+xml"/>
  <Override PartName="/ppt/handoutMasters/handoutMaster1.xml" ContentType="application/vnd.openxmlformats-officedocument.presentationml.handoutMaster+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s/slide104.xml" ContentType="application/vnd.openxmlformats-officedocument.presentationml.slide+xml"/>
  <Override PartName="/ppt/slideLayouts/slideLayout8.xml" ContentType="application/vnd.openxmlformats-officedocument.presentationml.slideLayout+xml"/>
  <Override PartName="/ppt/notesSlides/notesSlide69.xml" ContentType="application/vnd.openxmlformats-officedocument.presentationml.notesSlide+xml"/>
  <Override PartName="/ppt/notesSlides/notesSlide87.xml" ContentType="application/vnd.openxmlformats-officedocument.presentationml.notesSlide+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s/slide92.xml" ContentType="application/vnd.openxmlformats-officedocument.presentationml.slide+xml"/>
  <Override PartName="/ppt/slides/slide111.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Override PartName="/ppt/notesSlides/notesSlide29.xml" ContentType="application/vnd.openxmlformats-officedocument.presentationml.notesSlide+xml"/>
  <Override PartName="/ppt/notesSlides/notesSlide47.xml" ContentType="application/vnd.openxmlformats-officedocument.presentationml.notesSlide+xml"/>
  <Override PartName="/ppt/notesSlides/notesSlide58.xml" ContentType="application/vnd.openxmlformats-officedocument.presentationml.notesSlide+xml"/>
  <Override PartName="/ppt/notesSlides/notesSlide76.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slides/slide100.xml" ContentType="application/vnd.openxmlformats-officedocument.presentationml.slide+xml"/>
  <Override PartName="/ppt/slideLayouts/slideLayout15.xml" ContentType="application/vnd.openxmlformats-officedocument.presentationml.slideLayout+xml"/>
  <Default Extension="wmf" ContentType="image/x-wmf"/>
  <Override PartName="/ppt/notesSlides/notesSlide18.xml" ContentType="application/vnd.openxmlformats-officedocument.presentationml.notesSlide+xml"/>
  <Override PartName="/ppt/notesSlides/notesSlide36.xml" ContentType="application/vnd.openxmlformats-officedocument.presentationml.notesSlide+xml"/>
  <Override PartName="/ppt/notesSlides/notesSlide65.xml" ContentType="application/vnd.openxmlformats-officedocument.presentationml.notesSlide+xml"/>
  <Override PartName="/ppt/notesSlides/notesSlide83.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notesSlides/notesSlide25.xml" ContentType="application/vnd.openxmlformats-officedocument.presentationml.notesSlide+xml"/>
  <Override PartName="/ppt/notesSlides/notesSlide43.xml" ContentType="application/vnd.openxmlformats-officedocument.presentationml.notesSlide+xml"/>
  <Override PartName="/ppt/notesSlides/notesSlide54.xml" ContentType="application/vnd.openxmlformats-officedocument.presentationml.notesSlide+xml"/>
  <Override PartName="/ppt/notesSlides/notesSlide72.xml" ContentType="application/vnd.openxmlformats-officedocument.presentationml.notesSlide+xml"/>
  <Override PartName="/ppt/notesSlides/notesSlide90.xml" ContentType="application/vnd.openxmlformats-officedocument.presentationml.notes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32.xml" ContentType="application/vnd.openxmlformats-officedocument.presentationml.notesSlide+xml"/>
  <Override PartName="/ppt/notesSlides/notesSlide61.xml" ContentType="application/vnd.openxmlformats-officedocument.presentationml.notesSlide+xml"/>
  <Override PartName="/ppt/notesSlides/notesSlide9.xml" ContentType="application/vnd.openxmlformats-officedocument.presentationml.notesSlide+xml"/>
  <Override PartName="/ppt/notesSlides/notesSlide21.xml" ContentType="application/vnd.openxmlformats-officedocument.presentationml.notesSlide+xml"/>
  <Override PartName="/ppt/notesSlides/notesSlide50.xml" ContentType="application/vnd.openxmlformats-officedocument.presentationml.notesSlide+xml"/>
  <Override PartName="/ppt/slides/slide79.xml" ContentType="application/vnd.openxmlformats-officedocument.presentationml.slide+xml"/>
  <Override PartName="/ppt/slides/slide109.xml" ContentType="application/vnd.openxmlformats-officedocument.presentationml.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68.xml" ContentType="application/vnd.openxmlformats-officedocument.presentationml.slide+xml"/>
  <Override PartName="/ppt/slides/slide97.xml" ContentType="application/vnd.openxmlformats-officedocument.presentationml.slide+xml"/>
  <Override PartName="/ppt/slides/slide116.xml" ContentType="application/vnd.openxmlformats-officedocument.presentationml.slide+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105.xml" ContentType="application/vnd.openxmlformats-officedocument.presentationml.slide+xml"/>
  <Override PartName="/ppt/notesSlides/notesSlide1.xml" ContentType="application/vnd.openxmlformats-officedocument.presentationml.notesSlide+xml"/>
  <Override PartName="/ppt/notesSlides/notesSlide59.xml" ContentType="application/vnd.openxmlformats-officedocument.presentationml.notesSlide+xml"/>
  <Override PartName="/ppt/notesSlides/notesSlide88.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s/slide64.xml" ContentType="application/vnd.openxmlformats-officedocument.presentationml.slide+xml"/>
  <Override PartName="/ppt/slides/slide93.xml" ContentType="application/vnd.openxmlformats-officedocument.presentationml.slide+xml"/>
  <Override PartName="/ppt/slides/slide101.xml" ContentType="application/vnd.openxmlformats-officedocument.presentationml.slide+xml"/>
  <Override PartName="/ppt/slides/slide112.xml" ContentType="application/vnd.openxmlformats-officedocument.presentationml.slide+xml"/>
  <Override PartName="/ppt/slideLayouts/slideLayout5.xml" ContentType="application/vnd.openxmlformats-officedocument.presentationml.slideLayout+xml"/>
  <Override PartName="/ppt/notesSlides/notesSlide19.xml" ContentType="application/vnd.openxmlformats-officedocument.presentationml.notesSlide+xml"/>
  <Override PartName="/ppt/notesSlides/notesSlide48.xml" ContentType="application/vnd.openxmlformats-officedocument.presentationml.notesSlide+xml"/>
  <Override PartName="/ppt/notesSlides/notesSlide66.xml" ContentType="application/vnd.openxmlformats-officedocument.presentationml.notesSlide+xml"/>
  <Override PartName="/ppt/notesSlides/notesSlide77.xml" ContentType="application/vnd.openxmlformats-officedocument.presentationml.notesSlide+xml"/>
  <Override PartName="/ppt/slides/slide24.xml" ContentType="application/vnd.openxmlformats-officedocument.presentationml.slide+xml"/>
  <Override PartName="/ppt/slides/slide35.xml" ContentType="application/vnd.openxmlformats-officedocument.presentationml.slide+xml"/>
  <Override PartName="/ppt/slides/slide53.xml" ContentType="application/vnd.openxmlformats-officedocument.presentationml.slide+xml"/>
  <Override PartName="/ppt/slides/slide71.xml" ContentType="application/vnd.openxmlformats-officedocument.presentationml.slide+xml"/>
  <Override PartName="/ppt/slides/slide82.xml" ContentType="application/vnd.openxmlformats-officedocument.presentationml.slide+xml"/>
  <Default Extension="jpeg" ContentType="image/jpeg"/>
  <Override PartName="/ppt/notesSlides/notesSlide37.xml" ContentType="application/vnd.openxmlformats-officedocument.presentationml.notesSlide+xml"/>
  <Override PartName="/ppt/notesSlides/notesSlide55.xml" ContentType="application/vnd.openxmlformats-officedocument.presentationml.notesSlide+xml"/>
  <Override PartName="/ppt/notesSlides/notesSlide84.xml" ContentType="application/vnd.openxmlformats-officedocument.presentationml.notesSlide+xml"/>
  <Override PartName="/ppt/slides/slide13.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6.xml" ContentType="application/vnd.openxmlformats-officedocument.presentationml.notesSlide+xml"/>
  <Override PartName="/ppt/notesSlides/notesSlide44.xml" ContentType="application/vnd.openxmlformats-officedocument.presentationml.notesSlide+xml"/>
  <Override PartName="/ppt/notesSlides/notesSlide62.xml" ContentType="application/vnd.openxmlformats-officedocument.presentationml.notesSlide+xml"/>
  <Override PartName="/ppt/notesSlides/notesSlide73.xml" ContentType="application/vnd.openxmlformats-officedocument.presentationml.notesSlide+xml"/>
  <Override PartName="/ppt/notesSlides/notesSlide91.xml" ContentType="application/vnd.openxmlformats-officedocument.presentationml.notesSlide+xml"/>
  <Override PartName="/ppt/slides/slide20.xml" ContentType="application/vnd.openxmlformats-officedocument.presentationml.slide+xml"/>
  <Override PartName="/ppt/slideLayouts/slideLayout12.xml" ContentType="application/vnd.openxmlformats-officedocument.presentationml.slideLayout+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notesSlides/notesSlide51.xml" ContentType="application/vnd.openxmlformats-officedocument.presentationml.notesSlide+xml"/>
  <Override PartName="/ppt/notesSlides/notesSlide80.xml" ContentType="application/vnd.openxmlformats-officedocument.presentationml.notesSlide+xml"/>
  <Override PartName="/ppt/notesSlides/notesSlide11.xml" ContentType="application/vnd.openxmlformats-officedocument.presentationml.notesSlide+xml"/>
  <Override PartName="/ppt/notesSlides/notesSlide40.xml" ContentType="application/vnd.openxmlformats-officedocument.presentationml.notesSlide+xml"/>
  <Override PartName="/ppt/slides/slide98.xml" ContentType="application/vnd.openxmlformats-officedocument.presentationml.slide+xml"/>
  <Override PartName="/ppt/slides/slide117.xml" ContentType="application/vnd.openxmlformats-officedocument.presentationml.slide+xml"/>
  <Override PartName="/ppt/notesSlides/notesSlide6.xml" ContentType="application/vnd.openxmlformats-officedocument.presentationml.notesSlide+xml"/>
  <Override PartName="/ppt/slides/slide8.xml" ContentType="application/vnd.openxmlformats-officedocument.presentationml.slide+xml"/>
  <Override PartName="/ppt/slides/slide69.xml" ContentType="application/vnd.openxmlformats-officedocument.presentationml.slide+xml"/>
  <Override PartName="/ppt/slides/slide87.xml" ContentType="application/vnd.openxmlformats-officedocument.presentationml.slide+xml"/>
  <Override PartName="/ppt/slides/slide106.xml" ContentType="application/vnd.openxmlformats-officedocument.presentationml.slide+xml"/>
  <Override PartName="/ppt/notesSlides/notesSlide89.xml" ContentType="application/vnd.openxmlformats-officedocument.presentationml.notesSlide+xml"/>
  <Override PartName="/ppt/slides/slide29.xml" ContentType="application/vnd.openxmlformats-officedocument.presentationml.slide+xml"/>
  <Override PartName="/ppt/slides/slide76.xml" ContentType="application/vnd.openxmlformats-officedocument.presentationml.slide+xml"/>
  <Override PartName="/ppt/slides/slide113.xml" ContentType="application/vnd.openxmlformats-officedocument.presentationml.slide+xml"/>
  <Override PartName="/ppt/notesSlides/notesSlide78.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102.xml" ContentType="application/vnd.openxmlformats-officedocument.presentationml.slide+xml"/>
  <Override PartName="/ppt/slideLayouts/slideLayout6.xml" ContentType="application/vnd.openxmlformats-officedocument.presentationml.slideLayout+xml"/>
  <Override PartName="/ppt/notesSlides/notesSlide67.xml" ContentType="application/vnd.openxmlformats-officedocument.presentationml.notesSlide+xml"/>
  <Override PartName="/ppt/slides/slide43.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notesSlides/notesSlide45.xml" ContentType="application/vnd.openxmlformats-officedocument.presentationml.notesSlide+xml"/>
  <Override PartName="/ppt/notesSlides/notesSlide56.xml" ContentType="application/vnd.openxmlformats-officedocument.presentationml.notesSlide+xml"/>
  <Override PartName="/ppt/notesSlides/notesSlide92.xml" ContentType="application/vnd.openxmlformats-officedocument.presentationml.notesSlide+xml"/>
  <Override PartName="/ppt/slides/slide32.xml" ContentType="application/vnd.openxmlformats-officedocument.presentationml.slide+xml"/>
  <Override PartName="/ppt/notesSlides/notesSlide34.xml" ContentType="application/vnd.openxmlformats-officedocument.presentationml.notesSlide+xml"/>
  <Override PartName="/ppt/notesSlides/notesSlide81.xml" ContentType="application/vnd.openxmlformats-officedocument.presentationml.notesSlide+xml"/>
  <Default Extension="docx" ContentType="application/vnd.openxmlformats-officedocument.wordprocessingml.document"/>
  <Override PartName="/ppt/slides/slide10.xml" ContentType="application/vnd.openxmlformats-officedocument.presentationml.slide+xml"/>
  <Override PartName="/ppt/slides/slide21.xml" ContentType="application/vnd.openxmlformats-officedocument.presentationml.slide+xml"/>
  <Override PartName="/ppt/notesSlides/notesSlide23.xml" ContentType="application/vnd.openxmlformats-officedocument.presentationml.notesSlide+xml"/>
  <Override PartName="/ppt/notesSlides/notesSlide70.xml" ContentType="application/vnd.openxmlformats-officedocument.presentationml.notesSlide+xml"/>
  <Override PartName="/ppt/notesSlides/notesSlide12.xml" ContentType="application/vnd.openxmlformats-officedocument.presentationml.notesSlide+xml"/>
  <Override PartName="/ppt/slides/slide118.xml" ContentType="application/vnd.openxmlformats-officedocument.presentationml.slide+xml"/>
  <Default Extension="doc" ContentType="application/msword"/>
  <Override PartName="/ppt/slides/slide9.xml" ContentType="application/vnd.openxmlformats-officedocument.presentationml.slide+xml"/>
  <Override PartName="/ppt/slides/slide59.xml" ContentType="application/vnd.openxmlformats-officedocument.presentationml.slide+xml"/>
  <Override PartName="/ppt/slides/slide107.xml" ContentType="application/vnd.openxmlformats-officedocument.presentationml.slide+xml"/>
  <Override PartName="/ppt/viewProps.xml" ContentType="application/vnd.openxmlformats-officedocument.presentationml.viewProps+xml"/>
  <Override PartName="/ppt/slides/slide48.xml" ContentType="application/vnd.openxmlformats-officedocument.presentationml.slide+xml"/>
  <Override PartName="/ppt/slides/slide95.xml" ContentType="application/vnd.openxmlformats-officedocument.presentationml.slide+xml"/>
  <Override PartName="/ppt/notesSlides/notesSlide3.xml" ContentType="application/vnd.openxmlformats-officedocument.presentationml.notesSlide+xml"/>
  <Default Extension="bin" ContentType="application/vnd.openxmlformats-officedocument.oleObject"/>
  <Override PartName="/ppt/slides/slide26.xml" ContentType="application/vnd.openxmlformats-officedocument.presentationml.slide+xml"/>
  <Override PartName="/ppt/slides/slide37.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presProps.xml" ContentType="application/vnd.openxmlformats-officedocument.presentationml.presProps+xml"/>
  <Override PartName="/ppt/notesSlides/notesSlide39.xml" ContentType="application/vnd.openxmlformats-officedocument.presentationml.notesSlide+xml"/>
  <Override PartName="/ppt/notesSlides/notesSlide86.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3" r:id="rId1"/>
  </p:sldMasterIdLst>
  <p:notesMasterIdLst>
    <p:notesMasterId r:id="rId122"/>
  </p:notesMasterIdLst>
  <p:handoutMasterIdLst>
    <p:handoutMasterId r:id="rId123"/>
  </p:handoutMasterIdLst>
  <p:sldIdLst>
    <p:sldId id="436" r:id="rId2"/>
    <p:sldId id="593" r:id="rId3"/>
    <p:sldId id="650" r:id="rId4"/>
    <p:sldId id="595" r:id="rId5"/>
    <p:sldId id="596" r:id="rId6"/>
    <p:sldId id="597" r:id="rId7"/>
    <p:sldId id="598" r:id="rId8"/>
    <p:sldId id="599" r:id="rId9"/>
    <p:sldId id="600" r:id="rId10"/>
    <p:sldId id="601" r:id="rId11"/>
    <p:sldId id="602" r:id="rId12"/>
    <p:sldId id="603" r:id="rId13"/>
    <p:sldId id="604" r:id="rId14"/>
    <p:sldId id="605" r:id="rId15"/>
    <p:sldId id="606" r:id="rId16"/>
    <p:sldId id="607" r:id="rId17"/>
    <p:sldId id="608" r:id="rId18"/>
    <p:sldId id="609" r:id="rId19"/>
    <p:sldId id="610" r:id="rId20"/>
    <p:sldId id="611" r:id="rId21"/>
    <p:sldId id="612" r:id="rId22"/>
    <p:sldId id="613" r:id="rId23"/>
    <p:sldId id="614" r:id="rId24"/>
    <p:sldId id="615" r:id="rId25"/>
    <p:sldId id="616" r:id="rId26"/>
    <p:sldId id="617" r:id="rId27"/>
    <p:sldId id="618" r:id="rId28"/>
    <p:sldId id="619" r:id="rId29"/>
    <p:sldId id="620" r:id="rId30"/>
    <p:sldId id="621" r:id="rId31"/>
    <p:sldId id="622" r:id="rId32"/>
    <p:sldId id="623" r:id="rId33"/>
    <p:sldId id="624" r:id="rId34"/>
    <p:sldId id="625" r:id="rId35"/>
    <p:sldId id="626" r:id="rId36"/>
    <p:sldId id="627" r:id="rId37"/>
    <p:sldId id="628" r:id="rId38"/>
    <p:sldId id="629" r:id="rId39"/>
    <p:sldId id="630" r:id="rId40"/>
    <p:sldId id="631" r:id="rId41"/>
    <p:sldId id="632" r:id="rId42"/>
    <p:sldId id="633" r:id="rId43"/>
    <p:sldId id="634" r:id="rId44"/>
    <p:sldId id="635" r:id="rId45"/>
    <p:sldId id="657" r:id="rId46"/>
    <p:sldId id="658" r:id="rId47"/>
    <p:sldId id="659" r:id="rId48"/>
    <p:sldId id="660" r:id="rId49"/>
    <p:sldId id="661" r:id="rId50"/>
    <p:sldId id="662" r:id="rId51"/>
    <p:sldId id="663" r:id="rId52"/>
    <p:sldId id="664" r:id="rId53"/>
    <p:sldId id="665" r:id="rId54"/>
    <p:sldId id="666" r:id="rId55"/>
    <p:sldId id="667" r:id="rId56"/>
    <p:sldId id="640" r:id="rId57"/>
    <p:sldId id="641" r:id="rId58"/>
    <p:sldId id="642" r:id="rId59"/>
    <p:sldId id="643" r:id="rId60"/>
    <p:sldId id="644" r:id="rId61"/>
    <p:sldId id="645" r:id="rId62"/>
    <p:sldId id="646" r:id="rId63"/>
    <p:sldId id="647" r:id="rId64"/>
    <p:sldId id="648" r:id="rId65"/>
    <p:sldId id="649" r:id="rId66"/>
    <p:sldId id="652" r:id="rId67"/>
    <p:sldId id="592" r:id="rId68"/>
    <p:sldId id="684" r:id="rId69"/>
    <p:sldId id="686" r:id="rId70"/>
    <p:sldId id="685" r:id="rId71"/>
    <p:sldId id="531" r:id="rId72"/>
    <p:sldId id="532" r:id="rId73"/>
    <p:sldId id="533" r:id="rId74"/>
    <p:sldId id="534" r:id="rId75"/>
    <p:sldId id="535" r:id="rId76"/>
    <p:sldId id="536" r:id="rId77"/>
    <p:sldId id="537" r:id="rId78"/>
    <p:sldId id="538" r:id="rId79"/>
    <p:sldId id="550" r:id="rId80"/>
    <p:sldId id="551" r:id="rId81"/>
    <p:sldId id="552" r:id="rId82"/>
    <p:sldId id="554" r:id="rId83"/>
    <p:sldId id="555" r:id="rId84"/>
    <p:sldId id="668" r:id="rId85"/>
    <p:sldId id="669" r:id="rId86"/>
    <p:sldId id="670" r:id="rId87"/>
    <p:sldId id="671" r:id="rId88"/>
    <p:sldId id="561" r:id="rId89"/>
    <p:sldId id="562" r:id="rId90"/>
    <p:sldId id="563" r:id="rId91"/>
    <p:sldId id="564" r:id="rId92"/>
    <p:sldId id="565" r:id="rId93"/>
    <p:sldId id="566" r:id="rId94"/>
    <p:sldId id="567" r:id="rId95"/>
    <p:sldId id="568" r:id="rId96"/>
    <p:sldId id="569" r:id="rId97"/>
    <p:sldId id="672" r:id="rId98"/>
    <p:sldId id="673" r:id="rId99"/>
    <p:sldId id="572" r:id="rId100"/>
    <p:sldId id="573" r:id="rId101"/>
    <p:sldId id="574" r:id="rId102"/>
    <p:sldId id="575" r:id="rId103"/>
    <p:sldId id="674" r:id="rId104"/>
    <p:sldId id="675" r:id="rId105"/>
    <p:sldId id="676" r:id="rId106"/>
    <p:sldId id="677" r:id="rId107"/>
    <p:sldId id="678" r:id="rId108"/>
    <p:sldId id="679" r:id="rId109"/>
    <p:sldId id="680" r:id="rId110"/>
    <p:sldId id="681" r:id="rId111"/>
    <p:sldId id="580" r:id="rId112"/>
    <p:sldId id="581" r:id="rId113"/>
    <p:sldId id="582" r:id="rId114"/>
    <p:sldId id="583" r:id="rId115"/>
    <p:sldId id="682" r:id="rId116"/>
    <p:sldId id="683" r:id="rId117"/>
    <p:sldId id="586" r:id="rId118"/>
    <p:sldId id="587" r:id="rId119"/>
    <p:sldId id="588" r:id="rId120"/>
    <p:sldId id="589" r:id="rId121"/>
  </p:sldIdLst>
  <p:sldSz cx="9906000" cy="6858000" type="A4"/>
  <p:notesSz cx="6815138" cy="9942513"/>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FFFF"/>
    <a:srgbClr val="FFFFCC"/>
    <a:srgbClr val="080808"/>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19" autoAdjust="0"/>
    <p:restoredTop sz="94700" autoAdjust="0"/>
  </p:normalViewPr>
  <p:slideViewPr>
    <p:cSldViewPr>
      <p:cViewPr varScale="1">
        <p:scale>
          <a:sx n="44" d="100"/>
          <a:sy n="44" d="100"/>
        </p:scale>
        <p:origin x="-516" y="-108"/>
      </p:cViewPr>
      <p:guideLst>
        <p:guide orient="horz" pos="2160"/>
        <p:guide pos="3120"/>
      </p:guideLst>
    </p:cSldViewPr>
  </p:slideViewPr>
  <p:outlineViewPr>
    <p:cViewPr>
      <p:scale>
        <a:sx n="33" d="100"/>
        <a:sy n="33" d="100"/>
      </p:scale>
      <p:origin x="0" y="0"/>
    </p:cViewPr>
    <p:sldLst>
      <p:sld r:id="rId1" collapse="1"/>
      <p:sld r:id="rId2" collapse="1"/>
      <p:sld r:id="rId3" collapse="1"/>
    </p:sldLst>
  </p:outlineViewPr>
  <p:notesTextViewPr>
    <p:cViewPr>
      <p:scale>
        <a:sx n="100" d="100"/>
        <a:sy n="100" d="100"/>
      </p:scale>
      <p:origin x="0" y="0"/>
    </p:cViewPr>
  </p:notesTextViewPr>
  <p:notesViewPr>
    <p:cSldViewPr>
      <p:cViewPr>
        <p:scale>
          <a:sx n="66" d="100"/>
          <a:sy n="66" d="100"/>
        </p:scale>
        <p:origin x="-1530" y="-72"/>
      </p:cViewPr>
      <p:guideLst>
        <p:guide orient="horz" pos="3132"/>
        <p:guide pos="2147"/>
      </p:guideLst>
    </p:cSldViewPr>
  </p:notesViewPr>
  <p:gridSpacing cx="78028800" cy="780288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handoutMaster" Target="handoutMasters/handoutMaster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slide" Target="slides/slide112.xml"/><Relationship Id="rId118" Type="http://schemas.openxmlformats.org/officeDocument/2006/relationships/slide" Target="slides/slide117.xml"/><Relationship Id="rId12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s>
</file>

<file path=ppt/_rels/viewProps.xml.rels><?xml version="1.0" encoding="UTF-8" standalone="yes"?>
<Relationships xmlns="http://schemas.openxmlformats.org/package/2006/relationships"><Relationship Id="rId3" Type="http://schemas.openxmlformats.org/officeDocument/2006/relationships/slide" Target="slides/slide60.xml"/><Relationship Id="rId2" Type="http://schemas.openxmlformats.org/officeDocument/2006/relationships/slide" Target="slides/slide57.xml"/><Relationship Id="rId1" Type="http://schemas.openxmlformats.org/officeDocument/2006/relationships/slide" Target="slides/slide56.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21.wmf"/><Relationship Id="rId1" Type="http://schemas.openxmlformats.org/officeDocument/2006/relationships/image" Target="../media/image20.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30.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31.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44.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46.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47.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48.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49.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50.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51.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52.emf"/></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0662" name="Rectangle 6"/>
          <p:cNvSpPr>
            <a:spLocks noGrp="1" noChangeArrowheads="1"/>
          </p:cNvSpPr>
          <p:nvPr>
            <p:ph type="hdr" sz="quarter"/>
          </p:nvPr>
        </p:nvSpPr>
        <p:spPr bwMode="auto">
          <a:xfrm>
            <a:off x="303213" y="144463"/>
            <a:ext cx="6337300" cy="650875"/>
          </a:xfrm>
          <a:prstGeom prst="rect">
            <a:avLst/>
          </a:prstGeom>
          <a:noFill/>
          <a:ln w="9525">
            <a:noFill/>
            <a:miter lim="800000"/>
            <a:headEnd/>
            <a:tailEnd/>
          </a:ln>
          <a:effectLst/>
        </p:spPr>
        <p:txBody>
          <a:bodyPr vert="horz" wrap="square" lIns="93324" tIns="46662" rIns="93324" bIns="46662" numCol="1" anchor="t" anchorCtr="0" compatLnSpc="1">
            <a:prstTxWarp prst="textNoShape">
              <a:avLst/>
            </a:prstTxWarp>
          </a:bodyPr>
          <a:lstStyle>
            <a:lvl1pPr algn="r" defTabSz="933450">
              <a:defRPr sz="1000" i="1">
                <a:latin typeface="Arial" charset="0"/>
                <a:cs typeface="Arial" charset="0"/>
              </a:defRPr>
            </a:lvl1pPr>
          </a:lstStyle>
          <a:p>
            <a:pPr>
              <a:defRPr/>
            </a:pPr>
            <a:r>
              <a:rPr lang="en-US"/>
              <a:t>TRAINING – EVENT MANAGEMENT - CONFERENCES</a:t>
            </a:r>
            <a:endParaRPr lang="id-ID"/>
          </a:p>
        </p:txBody>
      </p:sp>
      <p:sp>
        <p:nvSpPr>
          <p:cNvPr id="70663" name="Rectangle 7"/>
          <p:cNvSpPr>
            <a:spLocks noGrp="1" noChangeArrowheads="1"/>
          </p:cNvSpPr>
          <p:nvPr>
            <p:ph type="ftr" sz="quarter" idx="2"/>
          </p:nvPr>
        </p:nvSpPr>
        <p:spPr bwMode="auto">
          <a:xfrm>
            <a:off x="631825" y="8934450"/>
            <a:ext cx="6008688" cy="557213"/>
          </a:xfrm>
          <a:prstGeom prst="rect">
            <a:avLst/>
          </a:prstGeom>
          <a:noFill/>
          <a:ln w="9525">
            <a:noFill/>
            <a:miter lim="800000"/>
            <a:headEnd/>
            <a:tailEnd/>
          </a:ln>
          <a:effectLst/>
        </p:spPr>
        <p:txBody>
          <a:bodyPr vert="horz" wrap="square" lIns="93324" tIns="46662" rIns="93324" bIns="46662" numCol="1" anchor="b" anchorCtr="0" compatLnSpc="1">
            <a:prstTxWarp prst="textNoShape">
              <a:avLst/>
            </a:prstTxWarp>
          </a:bodyPr>
          <a:lstStyle>
            <a:lvl1pPr defTabSz="933450">
              <a:defRPr sz="1000" i="1">
                <a:latin typeface="Arial" charset="0"/>
                <a:cs typeface="Arial" charset="0"/>
              </a:defRPr>
            </a:lvl1pPr>
          </a:lstStyle>
          <a:p>
            <a:pPr>
              <a:defRPr/>
            </a:pPr>
            <a:r>
              <a:rPr lang="en-US"/>
              <a:t>Managing Account Payable --- BMI Training ---</a:t>
            </a:r>
            <a:endParaRPr lang="id-ID"/>
          </a:p>
        </p:txBody>
      </p:sp>
      <p:sp>
        <p:nvSpPr>
          <p:cNvPr id="70665" name="Line 9"/>
          <p:cNvSpPr>
            <a:spLocks noChangeShapeType="1"/>
          </p:cNvSpPr>
          <p:nvPr/>
        </p:nvSpPr>
        <p:spPr bwMode="auto">
          <a:xfrm>
            <a:off x="631825" y="8997950"/>
            <a:ext cx="5716588" cy="0"/>
          </a:xfrm>
          <a:prstGeom prst="line">
            <a:avLst/>
          </a:prstGeom>
          <a:noFill/>
          <a:ln w="9525">
            <a:noFill/>
            <a:round/>
            <a:headEnd/>
            <a:tailEnd/>
          </a:ln>
          <a:effectLst/>
        </p:spPr>
        <p:txBody>
          <a:bodyPr>
            <a:spAutoFit/>
          </a:bodyPr>
          <a:lstStyle/>
          <a:p>
            <a:pPr>
              <a:defRPr/>
            </a:pPr>
            <a:endParaRPr lang="en-US"/>
          </a:p>
        </p:txBody>
      </p:sp>
      <p:sp>
        <p:nvSpPr>
          <p:cNvPr id="70667" name="Rectangle 11"/>
          <p:cNvSpPr>
            <a:spLocks noChangeArrowheads="1"/>
          </p:cNvSpPr>
          <p:nvPr/>
        </p:nvSpPr>
        <p:spPr bwMode="auto">
          <a:xfrm>
            <a:off x="3484563" y="9078913"/>
            <a:ext cx="2971800" cy="465137"/>
          </a:xfrm>
          <a:prstGeom prst="rect">
            <a:avLst/>
          </a:prstGeom>
          <a:noFill/>
          <a:ln w="9525">
            <a:noFill/>
            <a:miter lim="800000"/>
            <a:headEnd/>
            <a:tailEnd/>
          </a:ln>
          <a:effectLst/>
        </p:spPr>
        <p:txBody>
          <a:bodyPr anchor="b"/>
          <a:lstStyle/>
          <a:p>
            <a:pPr algn="r">
              <a:defRPr/>
            </a:pPr>
            <a:fld id="{8675671D-F2BD-47BF-84D7-EF341EEB40F1}" type="slidenum">
              <a:rPr lang="en-US" sz="1000" i="1"/>
              <a:pPr algn="r">
                <a:defRPr/>
              </a:pPr>
              <a:t>‹#›</a:t>
            </a:fld>
            <a:endParaRPr lang="en-US" sz="1000" i="1"/>
          </a:p>
        </p:txBody>
      </p:sp>
      <p:sp>
        <p:nvSpPr>
          <p:cNvPr id="70668" name="Line 12"/>
          <p:cNvSpPr>
            <a:spLocks noChangeShapeType="1"/>
          </p:cNvSpPr>
          <p:nvPr/>
        </p:nvSpPr>
        <p:spPr bwMode="auto">
          <a:xfrm>
            <a:off x="741363" y="9239250"/>
            <a:ext cx="5638800" cy="0"/>
          </a:xfrm>
          <a:prstGeom prst="line">
            <a:avLst/>
          </a:prstGeom>
          <a:noFill/>
          <a:ln w="9525">
            <a:solidFill>
              <a:schemeClr val="tx1"/>
            </a:solidFill>
            <a:round/>
            <a:headEnd/>
            <a:tailEnd/>
          </a:ln>
          <a:effectLst/>
        </p:spPr>
        <p:txBody>
          <a:bodyPr/>
          <a:lstStyle/>
          <a:p>
            <a:pPr>
              <a:defRPr/>
            </a:pPr>
            <a:endParaRPr lang="en-US"/>
          </a:p>
        </p:txBody>
      </p:sp>
      <p:pic>
        <p:nvPicPr>
          <p:cNvPr id="224263" name="Picture 13" descr="bmi black"/>
          <p:cNvPicPr>
            <a:picLocks noChangeAspect="1" noChangeArrowheads="1"/>
          </p:cNvPicPr>
          <p:nvPr/>
        </p:nvPicPr>
        <p:blipFill>
          <a:blip r:embed="rId2"/>
          <a:srcRect/>
          <a:stretch>
            <a:fillRect/>
          </a:stretch>
        </p:blipFill>
        <p:spPr bwMode="auto">
          <a:xfrm>
            <a:off x="436563" y="139700"/>
            <a:ext cx="1295400" cy="593725"/>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9938" name="Rectangle 2"/>
          <p:cNvSpPr>
            <a:spLocks noGrp="1" noChangeArrowheads="1"/>
          </p:cNvSpPr>
          <p:nvPr>
            <p:ph type="hdr" sz="quarter"/>
          </p:nvPr>
        </p:nvSpPr>
        <p:spPr bwMode="auto">
          <a:xfrm>
            <a:off x="0" y="0"/>
            <a:ext cx="2952750" cy="4968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charset="0"/>
                <a:cs typeface="Arial" charset="0"/>
              </a:defRPr>
            </a:lvl1pPr>
          </a:lstStyle>
          <a:p>
            <a:pPr>
              <a:defRPr/>
            </a:pPr>
            <a:endParaRPr lang="en-US"/>
          </a:p>
        </p:txBody>
      </p:sp>
      <p:sp>
        <p:nvSpPr>
          <p:cNvPr id="39939" name="Rectangle 3"/>
          <p:cNvSpPr>
            <a:spLocks noGrp="1" noChangeArrowheads="1"/>
          </p:cNvSpPr>
          <p:nvPr>
            <p:ph type="dt" idx="1"/>
          </p:nvPr>
        </p:nvSpPr>
        <p:spPr bwMode="auto">
          <a:xfrm>
            <a:off x="3860800" y="0"/>
            <a:ext cx="2952750" cy="4968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charset="0"/>
                <a:cs typeface="Arial" charset="0"/>
              </a:defRPr>
            </a:lvl1pPr>
          </a:lstStyle>
          <a:p>
            <a:pPr>
              <a:defRPr/>
            </a:pPr>
            <a:endParaRPr lang="en-US"/>
          </a:p>
        </p:txBody>
      </p:sp>
      <p:sp>
        <p:nvSpPr>
          <p:cNvPr id="119812" name="Rectangle 4"/>
          <p:cNvSpPr>
            <a:spLocks noGrp="1" noRot="1" noChangeAspect="1" noChangeArrowheads="1" noTextEdit="1"/>
          </p:cNvSpPr>
          <p:nvPr>
            <p:ph type="sldImg" idx="2"/>
          </p:nvPr>
        </p:nvSpPr>
        <p:spPr bwMode="auto">
          <a:xfrm>
            <a:off x="717550" y="746125"/>
            <a:ext cx="5381625" cy="3727450"/>
          </a:xfrm>
          <a:prstGeom prst="rect">
            <a:avLst/>
          </a:prstGeom>
          <a:noFill/>
          <a:ln w="9525">
            <a:solidFill>
              <a:srgbClr val="000000"/>
            </a:solidFill>
            <a:miter lim="800000"/>
            <a:headEnd/>
            <a:tailEnd/>
          </a:ln>
        </p:spPr>
      </p:sp>
      <p:sp>
        <p:nvSpPr>
          <p:cNvPr id="39941" name="Rectangle 5"/>
          <p:cNvSpPr>
            <a:spLocks noGrp="1" noChangeArrowheads="1"/>
          </p:cNvSpPr>
          <p:nvPr>
            <p:ph type="body" sz="quarter" idx="3"/>
          </p:nvPr>
        </p:nvSpPr>
        <p:spPr bwMode="auto">
          <a:xfrm>
            <a:off x="681038" y="4722813"/>
            <a:ext cx="5453062" cy="44735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39942" name="Rectangle 6"/>
          <p:cNvSpPr>
            <a:spLocks noGrp="1" noChangeArrowheads="1"/>
          </p:cNvSpPr>
          <p:nvPr>
            <p:ph type="ftr" sz="quarter" idx="4"/>
          </p:nvPr>
        </p:nvSpPr>
        <p:spPr bwMode="auto">
          <a:xfrm>
            <a:off x="0" y="9444038"/>
            <a:ext cx="2952750" cy="496887"/>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charset="0"/>
                <a:cs typeface="Arial" charset="0"/>
              </a:defRPr>
            </a:lvl1pPr>
          </a:lstStyle>
          <a:p>
            <a:pPr>
              <a:defRPr/>
            </a:pPr>
            <a:endParaRPr lang="en-US"/>
          </a:p>
        </p:txBody>
      </p:sp>
      <p:sp>
        <p:nvSpPr>
          <p:cNvPr id="39943" name="Rectangle 7"/>
          <p:cNvSpPr>
            <a:spLocks noGrp="1" noChangeArrowheads="1"/>
          </p:cNvSpPr>
          <p:nvPr>
            <p:ph type="sldNum" sz="quarter" idx="5"/>
          </p:nvPr>
        </p:nvSpPr>
        <p:spPr bwMode="auto">
          <a:xfrm>
            <a:off x="3860800" y="9444038"/>
            <a:ext cx="2952750" cy="496887"/>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charset="0"/>
                <a:cs typeface="Arial" charset="0"/>
              </a:defRPr>
            </a:lvl1pPr>
          </a:lstStyle>
          <a:p>
            <a:pPr>
              <a:defRPr/>
            </a:pPr>
            <a:fld id="{BEFCF727-B4E2-4DED-ACF5-B6E815687AEE}"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Arial" charset="0"/>
      </a:defRPr>
    </a:lvl1pPr>
    <a:lvl2pPr marL="457200" algn="l" rtl="0" eaLnBrk="0" fontAlgn="base" hangingPunct="0">
      <a:spcBef>
        <a:spcPct val="30000"/>
      </a:spcBef>
      <a:spcAft>
        <a:spcPct val="0"/>
      </a:spcAft>
      <a:defRPr sz="1200" kern="1200">
        <a:solidFill>
          <a:schemeClr val="tx1"/>
        </a:solidFill>
        <a:latin typeface="Arial" charset="0"/>
        <a:ea typeface="+mn-ea"/>
        <a:cs typeface="Arial" charset="0"/>
      </a:defRPr>
    </a:lvl2pPr>
    <a:lvl3pPr marL="914400" algn="l" rtl="0" eaLnBrk="0" fontAlgn="base" hangingPunct="0">
      <a:spcBef>
        <a:spcPct val="30000"/>
      </a:spcBef>
      <a:spcAft>
        <a:spcPct val="0"/>
      </a:spcAft>
      <a:defRPr sz="1200" kern="1200">
        <a:solidFill>
          <a:schemeClr val="tx1"/>
        </a:solidFill>
        <a:latin typeface="Arial" charset="0"/>
        <a:ea typeface="+mn-ea"/>
        <a:cs typeface="Arial" charset="0"/>
      </a:defRPr>
    </a:lvl3pPr>
    <a:lvl4pPr marL="1371600" algn="l" rtl="0" eaLnBrk="0" fontAlgn="base" hangingPunct="0">
      <a:spcBef>
        <a:spcPct val="30000"/>
      </a:spcBef>
      <a:spcAft>
        <a:spcPct val="0"/>
      </a:spcAft>
      <a:defRPr sz="1200" kern="1200">
        <a:solidFill>
          <a:schemeClr val="tx1"/>
        </a:solidFill>
        <a:latin typeface="Arial" charset="0"/>
        <a:ea typeface="+mn-ea"/>
        <a:cs typeface="Arial" charset="0"/>
      </a:defRPr>
    </a:lvl4pPr>
    <a:lvl5pPr marL="1828800" algn="l" rtl="0" eaLnBrk="0" fontAlgn="base" hangingPunct="0">
      <a:spcBef>
        <a:spcPct val="30000"/>
      </a:spcBef>
      <a:spcAft>
        <a:spcPct val="0"/>
      </a:spcAft>
      <a:defRPr sz="12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7"/>
          <p:cNvSpPr>
            <a:spLocks noGrp="1" noChangeArrowheads="1"/>
          </p:cNvSpPr>
          <p:nvPr>
            <p:ph type="sldNum" sz="quarter" idx="5"/>
          </p:nvPr>
        </p:nvSpPr>
        <p:spPr>
          <a:noFill/>
        </p:spPr>
        <p:txBody>
          <a:bodyPr/>
          <a:lstStyle/>
          <a:p>
            <a:fld id="{8A06A8B2-A745-4E8C-9A0B-E368238E89E9}" type="slidenum">
              <a:rPr lang="en-US" smtClean="0"/>
              <a:pPr/>
              <a:t>1</a:t>
            </a:fld>
            <a:endParaRPr lang="en-US" smtClean="0"/>
          </a:p>
        </p:txBody>
      </p:sp>
      <p:sp>
        <p:nvSpPr>
          <p:cNvPr id="120835" name="Rectangle 2"/>
          <p:cNvSpPr>
            <a:spLocks noGrp="1" noRot="1" noChangeAspect="1" noChangeArrowheads="1" noTextEdit="1"/>
          </p:cNvSpPr>
          <p:nvPr>
            <p:ph type="sldImg"/>
          </p:nvPr>
        </p:nvSpPr>
        <p:spPr>
          <a:ln/>
        </p:spPr>
      </p:sp>
      <p:sp>
        <p:nvSpPr>
          <p:cNvPr id="120836"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Rectangle 2"/>
          <p:cNvSpPr>
            <a:spLocks noGrp="1" noRot="1" noChangeAspect="1" noChangeArrowheads="1" noTextEdit="1"/>
          </p:cNvSpPr>
          <p:nvPr>
            <p:ph type="sldImg"/>
          </p:nvPr>
        </p:nvSpPr>
        <p:spPr>
          <a:ln/>
        </p:spPr>
      </p:sp>
      <p:sp>
        <p:nvSpPr>
          <p:cNvPr id="181251"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Rectangle 2"/>
          <p:cNvSpPr>
            <a:spLocks noGrp="1" noRot="1" noChangeAspect="1" noChangeArrowheads="1" noTextEdit="1"/>
          </p:cNvSpPr>
          <p:nvPr>
            <p:ph type="sldImg"/>
          </p:nvPr>
        </p:nvSpPr>
        <p:spPr>
          <a:ln/>
        </p:spPr>
      </p:sp>
      <p:sp>
        <p:nvSpPr>
          <p:cNvPr id="182275"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Rectangle 2"/>
          <p:cNvSpPr>
            <a:spLocks noGrp="1" noRot="1" noChangeAspect="1" noChangeArrowheads="1" noTextEdit="1"/>
          </p:cNvSpPr>
          <p:nvPr>
            <p:ph type="sldImg"/>
          </p:nvPr>
        </p:nvSpPr>
        <p:spPr>
          <a:ln/>
        </p:spPr>
      </p:sp>
      <p:sp>
        <p:nvSpPr>
          <p:cNvPr id="183299"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Rectangle 7"/>
          <p:cNvSpPr>
            <a:spLocks noGrp="1" noChangeArrowheads="1"/>
          </p:cNvSpPr>
          <p:nvPr>
            <p:ph type="sldNum" sz="quarter" idx="5"/>
          </p:nvPr>
        </p:nvSpPr>
        <p:spPr>
          <a:noFill/>
        </p:spPr>
        <p:txBody>
          <a:bodyPr/>
          <a:lstStyle/>
          <a:p>
            <a:fld id="{C310DE77-CA80-46C8-ACBF-56BA19A7BE5B}" type="slidenum">
              <a:rPr lang="en-US" smtClean="0"/>
              <a:pPr/>
              <a:t>7</a:t>
            </a:fld>
            <a:endParaRPr lang="en-US" smtClean="0"/>
          </a:p>
        </p:txBody>
      </p:sp>
      <p:sp>
        <p:nvSpPr>
          <p:cNvPr id="184323" name="Rectangle 2"/>
          <p:cNvSpPr>
            <a:spLocks noGrp="1" noRot="1" noChangeAspect="1" noChangeArrowheads="1" noTextEdit="1"/>
          </p:cNvSpPr>
          <p:nvPr>
            <p:ph type="sldImg"/>
          </p:nvPr>
        </p:nvSpPr>
        <p:spPr>
          <a:xfrm>
            <a:off x="717550" y="746125"/>
            <a:ext cx="5383213" cy="3727450"/>
          </a:xfrm>
          <a:ln/>
        </p:spPr>
      </p:sp>
      <p:sp>
        <p:nvSpPr>
          <p:cNvPr id="184324"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Rectangle 7"/>
          <p:cNvSpPr>
            <a:spLocks noGrp="1" noChangeArrowheads="1"/>
          </p:cNvSpPr>
          <p:nvPr>
            <p:ph type="sldNum" sz="quarter" idx="5"/>
          </p:nvPr>
        </p:nvSpPr>
        <p:spPr>
          <a:noFill/>
        </p:spPr>
        <p:txBody>
          <a:bodyPr/>
          <a:lstStyle/>
          <a:p>
            <a:fld id="{DE8E8F46-0CE9-4EC1-9B77-C7020D0B7D17}" type="slidenum">
              <a:rPr lang="en-US" smtClean="0"/>
              <a:pPr/>
              <a:t>8</a:t>
            </a:fld>
            <a:endParaRPr lang="en-US" smtClean="0"/>
          </a:p>
        </p:txBody>
      </p:sp>
      <p:sp>
        <p:nvSpPr>
          <p:cNvPr id="185347" name="Rectangle 2"/>
          <p:cNvSpPr>
            <a:spLocks noGrp="1" noRot="1" noChangeAspect="1" noChangeArrowheads="1" noTextEdit="1"/>
          </p:cNvSpPr>
          <p:nvPr>
            <p:ph type="sldImg"/>
          </p:nvPr>
        </p:nvSpPr>
        <p:spPr>
          <a:xfrm>
            <a:off x="717550" y="746125"/>
            <a:ext cx="5383213" cy="3727450"/>
          </a:xfrm>
          <a:ln/>
        </p:spPr>
      </p:sp>
      <p:sp>
        <p:nvSpPr>
          <p:cNvPr id="185348"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Rectangle 2"/>
          <p:cNvSpPr>
            <a:spLocks noGrp="1" noRot="1" noChangeAspect="1" noChangeArrowheads="1" noTextEdit="1"/>
          </p:cNvSpPr>
          <p:nvPr>
            <p:ph type="sldImg"/>
          </p:nvPr>
        </p:nvSpPr>
        <p:spPr>
          <a:ln/>
        </p:spPr>
      </p:sp>
      <p:sp>
        <p:nvSpPr>
          <p:cNvPr id="186371"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Rectangle 2"/>
          <p:cNvSpPr>
            <a:spLocks noGrp="1" noRot="1" noChangeAspect="1" noChangeArrowheads="1" noTextEdit="1"/>
          </p:cNvSpPr>
          <p:nvPr>
            <p:ph type="sldImg"/>
          </p:nvPr>
        </p:nvSpPr>
        <p:spPr>
          <a:ln/>
        </p:spPr>
      </p:sp>
      <p:sp>
        <p:nvSpPr>
          <p:cNvPr id="187395"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7"/>
          <p:cNvSpPr>
            <a:spLocks noGrp="1" noChangeArrowheads="1"/>
          </p:cNvSpPr>
          <p:nvPr>
            <p:ph type="sldNum" sz="quarter" idx="5"/>
          </p:nvPr>
        </p:nvSpPr>
        <p:spPr>
          <a:noFill/>
        </p:spPr>
        <p:txBody>
          <a:bodyPr/>
          <a:lstStyle/>
          <a:p>
            <a:fld id="{C0CC8323-1D6B-42D7-9AA5-EAB4F3404E03}" type="slidenum">
              <a:rPr lang="en-US" smtClean="0"/>
              <a:pPr/>
              <a:t>11</a:t>
            </a:fld>
            <a:endParaRPr lang="en-US" smtClean="0"/>
          </a:p>
        </p:txBody>
      </p:sp>
      <p:sp>
        <p:nvSpPr>
          <p:cNvPr id="188419" name="Rectangle 2"/>
          <p:cNvSpPr>
            <a:spLocks noGrp="1" noRot="1" noChangeAspect="1" noChangeArrowheads="1" noTextEdit="1"/>
          </p:cNvSpPr>
          <p:nvPr>
            <p:ph type="sldImg"/>
          </p:nvPr>
        </p:nvSpPr>
        <p:spPr>
          <a:xfrm>
            <a:off x="717550" y="746125"/>
            <a:ext cx="5383213" cy="3727450"/>
          </a:xfrm>
          <a:ln/>
        </p:spPr>
      </p:sp>
      <p:sp>
        <p:nvSpPr>
          <p:cNvPr id="188420"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Rectangle 7"/>
          <p:cNvSpPr>
            <a:spLocks noGrp="1" noChangeArrowheads="1"/>
          </p:cNvSpPr>
          <p:nvPr>
            <p:ph type="sldNum" sz="quarter" idx="5"/>
          </p:nvPr>
        </p:nvSpPr>
        <p:spPr>
          <a:noFill/>
        </p:spPr>
        <p:txBody>
          <a:bodyPr/>
          <a:lstStyle/>
          <a:p>
            <a:fld id="{D1F49B43-9934-4328-84D2-1697B4831BD7}" type="slidenum">
              <a:rPr lang="en-US" smtClean="0"/>
              <a:pPr/>
              <a:t>12</a:t>
            </a:fld>
            <a:endParaRPr lang="en-US" smtClean="0"/>
          </a:p>
        </p:txBody>
      </p:sp>
      <p:sp>
        <p:nvSpPr>
          <p:cNvPr id="189443" name="Rectangle 2"/>
          <p:cNvSpPr>
            <a:spLocks noGrp="1" noRot="1" noChangeAspect="1" noChangeArrowheads="1" noTextEdit="1"/>
          </p:cNvSpPr>
          <p:nvPr>
            <p:ph type="sldImg"/>
          </p:nvPr>
        </p:nvSpPr>
        <p:spPr>
          <a:xfrm>
            <a:off x="717550" y="746125"/>
            <a:ext cx="5383213" cy="3727450"/>
          </a:xfrm>
          <a:ln/>
        </p:spPr>
      </p:sp>
      <p:sp>
        <p:nvSpPr>
          <p:cNvPr id="189444"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2"/>
          <p:cNvSpPr>
            <a:spLocks noGrp="1" noRot="1" noChangeAspect="1" noChangeArrowheads="1" noTextEdit="1"/>
          </p:cNvSpPr>
          <p:nvPr>
            <p:ph type="sldImg"/>
          </p:nvPr>
        </p:nvSpPr>
        <p:spPr>
          <a:ln/>
        </p:spPr>
      </p:sp>
      <p:sp>
        <p:nvSpPr>
          <p:cNvPr id="190467"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2"/>
          <p:cNvSpPr>
            <a:spLocks noGrp="1" noRot="1" noChangeAspect="1" noChangeArrowheads="1" noTextEdit="1"/>
          </p:cNvSpPr>
          <p:nvPr>
            <p:ph type="sldImg"/>
          </p:nvPr>
        </p:nvSpPr>
        <p:spPr>
          <a:ln/>
        </p:spPr>
      </p:sp>
      <p:sp>
        <p:nvSpPr>
          <p:cNvPr id="191491"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2"/>
          <p:cNvSpPr>
            <a:spLocks noGrp="1" noRot="1" noChangeAspect="1" noChangeArrowheads="1" noTextEdit="1"/>
          </p:cNvSpPr>
          <p:nvPr>
            <p:ph type="sldImg"/>
          </p:nvPr>
        </p:nvSpPr>
        <p:spPr>
          <a:ln/>
        </p:spPr>
      </p:sp>
      <p:sp>
        <p:nvSpPr>
          <p:cNvPr id="192515"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Rectangle 2"/>
          <p:cNvSpPr>
            <a:spLocks noGrp="1" noRot="1" noChangeAspect="1" noChangeArrowheads="1" noTextEdit="1"/>
          </p:cNvSpPr>
          <p:nvPr>
            <p:ph type="sldImg"/>
          </p:nvPr>
        </p:nvSpPr>
        <p:spPr>
          <a:ln/>
        </p:spPr>
      </p:sp>
      <p:sp>
        <p:nvSpPr>
          <p:cNvPr id="193539"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Rectangle 2"/>
          <p:cNvSpPr>
            <a:spLocks noGrp="1" noRot="1" noChangeAspect="1" noChangeArrowheads="1" noTextEdit="1"/>
          </p:cNvSpPr>
          <p:nvPr>
            <p:ph type="sldImg"/>
          </p:nvPr>
        </p:nvSpPr>
        <p:spPr>
          <a:ln/>
        </p:spPr>
      </p:sp>
      <p:sp>
        <p:nvSpPr>
          <p:cNvPr id="194563"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2"/>
          <p:cNvSpPr>
            <a:spLocks noGrp="1" noRot="1" noChangeAspect="1" noChangeArrowheads="1" noTextEdit="1"/>
          </p:cNvSpPr>
          <p:nvPr>
            <p:ph type="sldImg"/>
          </p:nvPr>
        </p:nvSpPr>
        <p:spPr>
          <a:ln/>
        </p:spPr>
      </p:sp>
      <p:sp>
        <p:nvSpPr>
          <p:cNvPr id="195587"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2"/>
          <p:cNvSpPr>
            <a:spLocks noGrp="1" noRot="1" noChangeAspect="1" noChangeArrowheads="1" noTextEdit="1"/>
          </p:cNvSpPr>
          <p:nvPr>
            <p:ph type="sldImg"/>
          </p:nvPr>
        </p:nvSpPr>
        <p:spPr>
          <a:ln/>
        </p:spPr>
      </p:sp>
      <p:sp>
        <p:nvSpPr>
          <p:cNvPr id="196611"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2"/>
          <p:cNvSpPr>
            <a:spLocks noGrp="1" noRot="1" noChangeAspect="1" noChangeArrowheads="1" noTextEdit="1"/>
          </p:cNvSpPr>
          <p:nvPr>
            <p:ph type="sldImg"/>
          </p:nvPr>
        </p:nvSpPr>
        <p:spPr>
          <a:ln/>
        </p:spPr>
      </p:sp>
      <p:sp>
        <p:nvSpPr>
          <p:cNvPr id="197635"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2"/>
          <p:cNvSpPr>
            <a:spLocks noGrp="1" noRot="1" noChangeAspect="1" noChangeArrowheads="1" noTextEdit="1"/>
          </p:cNvSpPr>
          <p:nvPr>
            <p:ph type="sldImg"/>
          </p:nvPr>
        </p:nvSpPr>
        <p:spPr>
          <a:ln/>
        </p:spPr>
      </p:sp>
      <p:sp>
        <p:nvSpPr>
          <p:cNvPr id="198659"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Rectangle 2"/>
          <p:cNvSpPr>
            <a:spLocks noGrp="1" noRot="1" noChangeAspect="1" noChangeArrowheads="1" noTextEdit="1"/>
          </p:cNvSpPr>
          <p:nvPr>
            <p:ph type="sldImg"/>
          </p:nvPr>
        </p:nvSpPr>
        <p:spPr>
          <a:ln/>
        </p:spPr>
      </p:sp>
      <p:sp>
        <p:nvSpPr>
          <p:cNvPr id="199683"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2"/>
          <p:cNvSpPr>
            <a:spLocks noGrp="1" noRot="1" noChangeAspect="1" noChangeArrowheads="1" noTextEdit="1"/>
          </p:cNvSpPr>
          <p:nvPr>
            <p:ph type="sldImg"/>
          </p:nvPr>
        </p:nvSpPr>
        <p:spPr>
          <a:ln/>
        </p:spPr>
      </p:sp>
      <p:sp>
        <p:nvSpPr>
          <p:cNvPr id="200707"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Rectangle 7"/>
          <p:cNvSpPr>
            <a:spLocks noGrp="1" noChangeArrowheads="1"/>
          </p:cNvSpPr>
          <p:nvPr>
            <p:ph type="sldNum" sz="quarter" idx="5"/>
          </p:nvPr>
        </p:nvSpPr>
        <p:spPr>
          <a:noFill/>
        </p:spPr>
        <p:txBody>
          <a:bodyPr/>
          <a:lstStyle/>
          <a:p>
            <a:fld id="{CA63DE5F-9AC0-4D67-9908-88E52639ACF2}" type="slidenum">
              <a:rPr lang="en-US" smtClean="0"/>
              <a:pPr/>
              <a:t>35</a:t>
            </a:fld>
            <a:endParaRPr lang="en-US" smtClean="0"/>
          </a:p>
        </p:txBody>
      </p:sp>
      <p:sp>
        <p:nvSpPr>
          <p:cNvPr id="201731" name="Rectangle 2"/>
          <p:cNvSpPr>
            <a:spLocks noGrp="1" noRot="1" noChangeAspect="1" noChangeArrowheads="1" noTextEdit="1"/>
          </p:cNvSpPr>
          <p:nvPr>
            <p:ph type="sldImg"/>
          </p:nvPr>
        </p:nvSpPr>
        <p:spPr>
          <a:xfrm>
            <a:off x="717550" y="746125"/>
            <a:ext cx="5383213" cy="3727450"/>
          </a:xfrm>
          <a:ln/>
        </p:spPr>
      </p:sp>
      <p:sp>
        <p:nvSpPr>
          <p:cNvPr id="201732" name="Rectangle 3"/>
          <p:cNvSpPr>
            <a:spLocks noGrp="1" noChangeArrowheads="1"/>
          </p:cNvSpPr>
          <p:nvPr>
            <p:ph type="body" idx="1"/>
          </p:nvPr>
        </p:nvSpPr>
        <p:spPr>
          <a:xfrm>
            <a:off x="908050" y="4722813"/>
            <a:ext cx="4999038" cy="4473575"/>
          </a:xfrm>
          <a:noFill/>
          <a:ln/>
        </p:spPr>
        <p:txBody>
          <a:bodyPr/>
          <a:lstStyle/>
          <a:p>
            <a:pPr eaLnBrk="1" hangingPunct="1"/>
            <a:r>
              <a:rPr lang="en-US" smtClean="0"/>
              <a:t>Pada semua jenis bisnis akan mengahadapi hal yang sama. Mereka harus menyediakan servis atau product sebelum terima cash. Yang disebut cash convertion cycle. </a:t>
            </a:r>
          </a:p>
          <a:p>
            <a:pPr eaLnBrk="1" hangingPunct="1"/>
            <a:r>
              <a:rPr lang="en-US" smtClean="0"/>
              <a:t>Proses dimulai dari penanaman modal dari owner, pembelian barang material atau jadi, kemudian delivery ke clients/consumer. </a:t>
            </a:r>
          </a:p>
          <a:p>
            <a:pPr eaLnBrk="1" hangingPunct="1"/>
            <a:r>
              <a:rPr lang="en-US" smtClean="0"/>
              <a:t>Bisnis yang benar adalah apabila cash in dapay mengcover proses selanjutnya dan juga harus </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Rectangle 2"/>
          <p:cNvSpPr>
            <a:spLocks noGrp="1" noRot="1" noChangeAspect="1" noChangeArrowheads="1" noTextEdit="1"/>
          </p:cNvSpPr>
          <p:nvPr>
            <p:ph type="sldImg"/>
          </p:nvPr>
        </p:nvSpPr>
        <p:spPr>
          <a:ln/>
        </p:spPr>
      </p:sp>
      <p:sp>
        <p:nvSpPr>
          <p:cNvPr id="202755"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p:cNvSpPr>
            <a:spLocks noGrp="1" noRot="1" noChangeAspect="1" noChangeArrowheads="1" noTextEdit="1"/>
          </p:cNvSpPr>
          <p:nvPr>
            <p:ph type="sldImg"/>
          </p:nvPr>
        </p:nvSpPr>
        <p:spPr>
          <a:ln/>
        </p:spPr>
      </p:sp>
      <p:sp>
        <p:nvSpPr>
          <p:cNvPr id="203779"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Rectangle 2"/>
          <p:cNvSpPr>
            <a:spLocks noGrp="1" noRot="1" noChangeAspect="1" noChangeArrowheads="1" noTextEdit="1"/>
          </p:cNvSpPr>
          <p:nvPr>
            <p:ph type="sldImg"/>
          </p:nvPr>
        </p:nvSpPr>
        <p:spPr>
          <a:ln/>
        </p:spPr>
      </p:sp>
      <p:sp>
        <p:nvSpPr>
          <p:cNvPr id="204803"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6" name="Rectangle 2"/>
          <p:cNvSpPr>
            <a:spLocks noGrp="1" noRot="1" noChangeAspect="1" noChangeArrowheads="1" noTextEdit="1"/>
          </p:cNvSpPr>
          <p:nvPr>
            <p:ph type="sldImg"/>
          </p:nvPr>
        </p:nvSpPr>
        <p:spPr>
          <a:ln/>
        </p:spPr>
      </p:sp>
      <p:sp>
        <p:nvSpPr>
          <p:cNvPr id="205827"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Rectangle 2"/>
          <p:cNvSpPr>
            <a:spLocks noGrp="1" noRot="1" noChangeAspect="1" noChangeArrowheads="1" noTextEdit="1"/>
          </p:cNvSpPr>
          <p:nvPr>
            <p:ph type="sldImg"/>
          </p:nvPr>
        </p:nvSpPr>
        <p:spPr>
          <a:ln/>
        </p:spPr>
      </p:sp>
      <p:sp>
        <p:nvSpPr>
          <p:cNvPr id="206851"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Rectangle 2"/>
          <p:cNvSpPr>
            <a:spLocks noGrp="1" noRot="1" noChangeAspect="1" noChangeArrowheads="1" noTextEdit="1"/>
          </p:cNvSpPr>
          <p:nvPr>
            <p:ph type="sldImg"/>
          </p:nvPr>
        </p:nvSpPr>
        <p:spPr>
          <a:ln/>
        </p:spPr>
      </p:sp>
      <p:sp>
        <p:nvSpPr>
          <p:cNvPr id="207875"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Rectangle 2"/>
          <p:cNvSpPr>
            <a:spLocks noGrp="1" noRot="1" noChangeAspect="1" noChangeArrowheads="1" noTextEdit="1"/>
          </p:cNvSpPr>
          <p:nvPr>
            <p:ph type="sldImg"/>
          </p:nvPr>
        </p:nvSpPr>
        <p:spPr>
          <a:ln/>
        </p:spPr>
      </p:sp>
      <p:sp>
        <p:nvSpPr>
          <p:cNvPr id="208899"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p:cNvSpPr>
            <a:spLocks noGrp="1" noRot="1" noChangeAspect="1" noChangeArrowheads="1" noTextEdit="1"/>
          </p:cNvSpPr>
          <p:nvPr>
            <p:ph type="sldImg"/>
          </p:nvPr>
        </p:nvSpPr>
        <p:spPr>
          <a:ln/>
        </p:spPr>
      </p:sp>
      <p:sp>
        <p:nvSpPr>
          <p:cNvPr id="134147"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p:cNvSpPr>
            <a:spLocks noGrp="1" noRot="1" noChangeAspect="1" noChangeArrowheads="1" noTextEdit="1"/>
          </p:cNvSpPr>
          <p:nvPr>
            <p:ph type="sldImg"/>
          </p:nvPr>
        </p:nvSpPr>
        <p:spPr>
          <a:ln/>
        </p:spPr>
      </p:sp>
      <p:sp>
        <p:nvSpPr>
          <p:cNvPr id="135171"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7"/>
          <p:cNvSpPr>
            <a:spLocks noGrp="1" noChangeArrowheads="1"/>
          </p:cNvSpPr>
          <p:nvPr>
            <p:ph type="sldNum" sz="quarter" idx="5"/>
          </p:nvPr>
        </p:nvSpPr>
        <p:spPr>
          <a:noFill/>
        </p:spPr>
        <p:txBody>
          <a:bodyPr/>
          <a:lstStyle/>
          <a:p>
            <a:fld id="{1C442EF8-2EB7-4A44-9282-45E6CF9192B1}" type="slidenum">
              <a:rPr lang="en-US" smtClean="0"/>
              <a:pPr/>
              <a:t>47</a:t>
            </a:fld>
            <a:endParaRPr lang="en-US" smtClean="0"/>
          </a:p>
        </p:txBody>
      </p:sp>
      <p:sp>
        <p:nvSpPr>
          <p:cNvPr id="136195" name="Rectangle 2"/>
          <p:cNvSpPr>
            <a:spLocks noGrp="1" noRot="1" noChangeAspect="1" noChangeArrowheads="1" noTextEdit="1"/>
          </p:cNvSpPr>
          <p:nvPr>
            <p:ph type="sldImg"/>
          </p:nvPr>
        </p:nvSpPr>
        <p:spPr>
          <a:xfrm>
            <a:off x="717550" y="746125"/>
            <a:ext cx="5383213" cy="3727450"/>
          </a:xfrm>
          <a:ln/>
        </p:spPr>
      </p:sp>
      <p:sp>
        <p:nvSpPr>
          <p:cNvPr id="136196"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7"/>
          <p:cNvSpPr>
            <a:spLocks noGrp="1" noChangeArrowheads="1"/>
          </p:cNvSpPr>
          <p:nvPr>
            <p:ph type="sldNum" sz="quarter" idx="5"/>
          </p:nvPr>
        </p:nvSpPr>
        <p:spPr>
          <a:noFill/>
        </p:spPr>
        <p:txBody>
          <a:bodyPr/>
          <a:lstStyle/>
          <a:p>
            <a:fld id="{CEE91AFA-AB7D-4998-B38B-2DB1B9C2F55C}" type="slidenum">
              <a:rPr lang="en-US" smtClean="0"/>
              <a:pPr/>
              <a:t>48</a:t>
            </a:fld>
            <a:endParaRPr lang="en-US" smtClean="0"/>
          </a:p>
        </p:txBody>
      </p:sp>
      <p:sp>
        <p:nvSpPr>
          <p:cNvPr id="137219" name="Rectangle 2"/>
          <p:cNvSpPr>
            <a:spLocks noGrp="1" noRot="1" noChangeAspect="1" noChangeArrowheads="1" noTextEdit="1"/>
          </p:cNvSpPr>
          <p:nvPr>
            <p:ph type="sldImg"/>
          </p:nvPr>
        </p:nvSpPr>
        <p:spPr>
          <a:xfrm>
            <a:off x="717550" y="746125"/>
            <a:ext cx="5383213" cy="3727450"/>
          </a:xfrm>
          <a:ln/>
        </p:spPr>
      </p:sp>
      <p:sp>
        <p:nvSpPr>
          <p:cNvPr id="137220"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7"/>
          <p:cNvSpPr>
            <a:spLocks noGrp="1" noChangeArrowheads="1"/>
          </p:cNvSpPr>
          <p:nvPr>
            <p:ph type="sldNum" sz="quarter" idx="5"/>
          </p:nvPr>
        </p:nvSpPr>
        <p:spPr>
          <a:noFill/>
        </p:spPr>
        <p:txBody>
          <a:bodyPr/>
          <a:lstStyle/>
          <a:p>
            <a:fld id="{A26D611E-4526-4B7E-B65F-76BAF1D15A3E}" type="slidenum">
              <a:rPr lang="en-US" smtClean="0"/>
              <a:pPr/>
              <a:t>49</a:t>
            </a:fld>
            <a:endParaRPr lang="en-US" smtClean="0"/>
          </a:p>
        </p:txBody>
      </p:sp>
      <p:sp>
        <p:nvSpPr>
          <p:cNvPr id="138243" name="Rectangle 2"/>
          <p:cNvSpPr>
            <a:spLocks noGrp="1" noRot="1" noChangeAspect="1" noChangeArrowheads="1" noTextEdit="1"/>
          </p:cNvSpPr>
          <p:nvPr>
            <p:ph type="sldImg"/>
          </p:nvPr>
        </p:nvSpPr>
        <p:spPr>
          <a:xfrm>
            <a:off x="717550" y="746125"/>
            <a:ext cx="5383213" cy="3727450"/>
          </a:xfrm>
          <a:ln/>
        </p:spPr>
      </p:sp>
      <p:sp>
        <p:nvSpPr>
          <p:cNvPr id="138244"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7"/>
          <p:cNvSpPr>
            <a:spLocks noGrp="1" noChangeArrowheads="1"/>
          </p:cNvSpPr>
          <p:nvPr>
            <p:ph type="sldNum" sz="quarter" idx="5"/>
          </p:nvPr>
        </p:nvSpPr>
        <p:spPr>
          <a:noFill/>
        </p:spPr>
        <p:txBody>
          <a:bodyPr/>
          <a:lstStyle/>
          <a:p>
            <a:fld id="{6B93220B-ED6A-41D7-8255-A3ED9BEBFC49}" type="slidenum">
              <a:rPr lang="en-US" smtClean="0"/>
              <a:pPr/>
              <a:t>50</a:t>
            </a:fld>
            <a:endParaRPr lang="en-US" smtClean="0"/>
          </a:p>
        </p:txBody>
      </p:sp>
      <p:sp>
        <p:nvSpPr>
          <p:cNvPr id="139267" name="Rectangle 2"/>
          <p:cNvSpPr>
            <a:spLocks noGrp="1" noRot="1" noChangeAspect="1" noChangeArrowheads="1" noTextEdit="1"/>
          </p:cNvSpPr>
          <p:nvPr>
            <p:ph type="sldImg"/>
          </p:nvPr>
        </p:nvSpPr>
        <p:spPr>
          <a:xfrm>
            <a:off x="717550" y="746125"/>
            <a:ext cx="5383213" cy="3727450"/>
          </a:xfrm>
          <a:ln/>
        </p:spPr>
      </p:sp>
      <p:sp>
        <p:nvSpPr>
          <p:cNvPr id="139268"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7"/>
          <p:cNvSpPr>
            <a:spLocks noGrp="1" noChangeArrowheads="1"/>
          </p:cNvSpPr>
          <p:nvPr>
            <p:ph type="sldNum" sz="quarter" idx="5"/>
          </p:nvPr>
        </p:nvSpPr>
        <p:spPr>
          <a:noFill/>
        </p:spPr>
        <p:txBody>
          <a:bodyPr/>
          <a:lstStyle/>
          <a:p>
            <a:fld id="{96C387F0-214D-418C-93DD-3D369F38EB0F}" type="slidenum">
              <a:rPr lang="en-US" smtClean="0"/>
              <a:pPr/>
              <a:t>51</a:t>
            </a:fld>
            <a:endParaRPr lang="en-US" smtClean="0"/>
          </a:p>
        </p:txBody>
      </p:sp>
      <p:sp>
        <p:nvSpPr>
          <p:cNvPr id="140291" name="Rectangle 2"/>
          <p:cNvSpPr>
            <a:spLocks noGrp="1" noRot="1" noChangeAspect="1" noChangeArrowheads="1" noTextEdit="1"/>
          </p:cNvSpPr>
          <p:nvPr>
            <p:ph type="sldImg"/>
          </p:nvPr>
        </p:nvSpPr>
        <p:spPr>
          <a:xfrm>
            <a:off x="717550" y="746125"/>
            <a:ext cx="5383213" cy="3727450"/>
          </a:xfrm>
          <a:ln/>
        </p:spPr>
      </p:sp>
      <p:sp>
        <p:nvSpPr>
          <p:cNvPr id="140292"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7"/>
          <p:cNvSpPr>
            <a:spLocks noGrp="1" noChangeArrowheads="1"/>
          </p:cNvSpPr>
          <p:nvPr>
            <p:ph type="sldNum" sz="quarter" idx="5"/>
          </p:nvPr>
        </p:nvSpPr>
        <p:spPr>
          <a:noFill/>
        </p:spPr>
        <p:txBody>
          <a:bodyPr/>
          <a:lstStyle/>
          <a:p>
            <a:fld id="{3DF6E1BB-1783-455F-9852-DEF5C3ED0FFA}" type="slidenum">
              <a:rPr lang="en-US" smtClean="0"/>
              <a:pPr/>
              <a:t>52</a:t>
            </a:fld>
            <a:endParaRPr lang="en-US" smtClean="0"/>
          </a:p>
        </p:txBody>
      </p:sp>
      <p:sp>
        <p:nvSpPr>
          <p:cNvPr id="141315" name="Rectangle 2"/>
          <p:cNvSpPr>
            <a:spLocks noGrp="1" noRot="1" noChangeAspect="1" noChangeArrowheads="1" noTextEdit="1"/>
          </p:cNvSpPr>
          <p:nvPr>
            <p:ph type="sldImg"/>
          </p:nvPr>
        </p:nvSpPr>
        <p:spPr>
          <a:xfrm>
            <a:off x="717550" y="746125"/>
            <a:ext cx="5383213" cy="3727450"/>
          </a:xfrm>
          <a:ln/>
        </p:spPr>
      </p:sp>
      <p:sp>
        <p:nvSpPr>
          <p:cNvPr id="141316"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7"/>
          <p:cNvSpPr>
            <a:spLocks noGrp="1" noChangeArrowheads="1"/>
          </p:cNvSpPr>
          <p:nvPr>
            <p:ph type="sldNum" sz="quarter" idx="5"/>
          </p:nvPr>
        </p:nvSpPr>
        <p:spPr>
          <a:noFill/>
        </p:spPr>
        <p:txBody>
          <a:bodyPr/>
          <a:lstStyle/>
          <a:p>
            <a:fld id="{05EA2718-1B11-479F-AE4D-BC3FCD1A88DB}" type="slidenum">
              <a:rPr lang="en-US" smtClean="0"/>
              <a:pPr/>
              <a:t>53</a:t>
            </a:fld>
            <a:endParaRPr lang="en-US" smtClean="0"/>
          </a:p>
        </p:txBody>
      </p:sp>
      <p:sp>
        <p:nvSpPr>
          <p:cNvPr id="142339" name="Rectangle 2"/>
          <p:cNvSpPr>
            <a:spLocks noGrp="1" noRot="1" noChangeAspect="1" noChangeArrowheads="1" noTextEdit="1"/>
          </p:cNvSpPr>
          <p:nvPr>
            <p:ph type="sldImg"/>
          </p:nvPr>
        </p:nvSpPr>
        <p:spPr>
          <a:xfrm>
            <a:off x="717550" y="746125"/>
            <a:ext cx="5383213" cy="3727450"/>
          </a:xfrm>
          <a:ln/>
        </p:spPr>
      </p:sp>
      <p:sp>
        <p:nvSpPr>
          <p:cNvPr id="142340"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7"/>
          <p:cNvSpPr>
            <a:spLocks noGrp="1" noChangeArrowheads="1"/>
          </p:cNvSpPr>
          <p:nvPr>
            <p:ph type="sldNum" sz="quarter" idx="5"/>
          </p:nvPr>
        </p:nvSpPr>
        <p:spPr>
          <a:noFill/>
        </p:spPr>
        <p:txBody>
          <a:bodyPr/>
          <a:lstStyle/>
          <a:p>
            <a:fld id="{5A134515-6823-4D6E-9C26-CD130CAC0CFA}" type="slidenum">
              <a:rPr lang="en-US" smtClean="0"/>
              <a:pPr/>
              <a:t>54</a:t>
            </a:fld>
            <a:endParaRPr lang="en-US" smtClean="0"/>
          </a:p>
        </p:txBody>
      </p:sp>
      <p:sp>
        <p:nvSpPr>
          <p:cNvPr id="143363" name="Rectangle 2"/>
          <p:cNvSpPr>
            <a:spLocks noGrp="1" noRot="1" noChangeAspect="1" noChangeArrowheads="1" noTextEdit="1"/>
          </p:cNvSpPr>
          <p:nvPr>
            <p:ph type="sldImg"/>
          </p:nvPr>
        </p:nvSpPr>
        <p:spPr>
          <a:xfrm>
            <a:off x="717550" y="746125"/>
            <a:ext cx="5383213" cy="3727450"/>
          </a:xfrm>
          <a:ln/>
        </p:spPr>
      </p:sp>
      <p:sp>
        <p:nvSpPr>
          <p:cNvPr id="143364"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7"/>
          <p:cNvSpPr>
            <a:spLocks noGrp="1" noChangeArrowheads="1"/>
          </p:cNvSpPr>
          <p:nvPr>
            <p:ph type="sldNum" sz="quarter" idx="5"/>
          </p:nvPr>
        </p:nvSpPr>
        <p:spPr>
          <a:noFill/>
        </p:spPr>
        <p:txBody>
          <a:bodyPr/>
          <a:lstStyle/>
          <a:p>
            <a:fld id="{BFB867C0-ED79-4ADC-94EF-A1BD07BB9E5D}" type="slidenum">
              <a:rPr lang="en-US" smtClean="0"/>
              <a:pPr/>
              <a:t>55</a:t>
            </a:fld>
            <a:endParaRPr lang="en-US" smtClean="0"/>
          </a:p>
        </p:txBody>
      </p:sp>
      <p:sp>
        <p:nvSpPr>
          <p:cNvPr id="144387" name="Rectangle 2"/>
          <p:cNvSpPr>
            <a:spLocks noGrp="1" noRot="1" noChangeAspect="1" noChangeArrowheads="1" noTextEdit="1"/>
          </p:cNvSpPr>
          <p:nvPr>
            <p:ph type="sldImg"/>
          </p:nvPr>
        </p:nvSpPr>
        <p:spPr>
          <a:xfrm>
            <a:off x="717550" y="746125"/>
            <a:ext cx="5383213" cy="3727450"/>
          </a:xfrm>
          <a:ln/>
        </p:spPr>
      </p:sp>
      <p:sp>
        <p:nvSpPr>
          <p:cNvPr id="144388"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8" name="Rectangle 7"/>
          <p:cNvSpPr>
            <a:spLocks noGrp="1" noChangeArrowheads="1"/>
          </p:cNvSpPr>
          <p:nvPr>
            <p:ph type="sldNum" sz="quarter" idx="5"/>
          </p:nvPr>
        </p:nvSpPr>
        <p:spPr>
          <a:noFill/>
        </p:spPr>
        <p:txBody>
          <a:bodyPr/>
          <a:lstStyle/>
          <a:p>
            <a:fld id="{01120966-8EA9-42D0-A503-71536131E174}" type="slidenum">
              <a:rPr lang="en-US" smtClean="0"/>
              <a:pPr/>
              <a:t>56</a:t>
            </a:fld>
            <a:endParaRPr lang="en-US" smtClean="0"/>
          </a:p>
        </p:txBody>
      </p:sp>
      <p:sp>
        <p:nvSpPr>
          <p:cNvPr id="214019" name="Rectangle 2"/>
          <p:cNvSpPr>
            <a:spLocks noGrp="1" noRot="1" noChangeAspect="1" noChangeArrowheads="1" noTextEdit="1"/>
          </p:cNvSpPr>
          <p:nvPr>
            <p:ph type="sldImg"/>
          </p:nvPr>
        </p:nvSpPr>
        <p:spPr>
          <a:xfrm>
            <a:off x="717550" y="746125"/>
            <a:ext cx="5384800" cy="3729038"/>
          </a:xfrm>
          <a:ln/>
        </p:spPr>
      </p:sp>
      <p:sp>
        <p:nvSpPr>
          <p:cNvPr id="214020" name="Rectangle 3"/>
          <p:cNvSpPr>
            <a:spLocks noGrp="1" noChangeArrowheads="1"/>
          </p:cNvSpPr>
          <p:nvPr>
            <p:ph type="body" idx="1"/>
          </p:nvPr>
        </p:nvSpPr>
        <p:spPr>
          <a:xfrm>
            <a:off x="909638" y="4721225"/>
            <a:ext cx="4995862" cy="4475163"/>
          </a:xfrm>
          <a:noFill/>
          <a:ln/>
        </p:spPr>
        <p:txBody>
          <a:bodyPr/>
          <a:lstStyle/>
          <a:p>
            <a:pPr eaLnBrk="1" hangingPunct="1"/>
            <a:endParaRPr lang="en-US" smtClean="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Rectangle 7"/>
          <p:cNvSpPr>
            <a:spLocks noGrp="1" noChangeArrowheads="1"/>
          </p:cNvSpPr>
          <p:nvPr>
            <p:ph type="sldNum" sz="quarter" idx="5"/>
          </p:nvPr>
        </p:nvSpPr>
        <p:spPr>
          <a:noFill/>
        </p:spPr>
        <p:txBody>
          <a:bodyPr/>
          <a:lstStyle/>
          <a:p>
            <a:fld id="{0884C6D9-CE77-4A62-BD13-56A5DD787DAC}" type="slidenum">
              <a:rPr lang="en-US" smtClean="0"/>
              <a:pPr/>
              <a:t>57</a:t>
            </a:fld>
            <a:endParaRPr lang="en-US" smtClean="0"/>
          </a:p>
        </p:txBody>
      </p:sp>
      <p:sp>
        <p:nvSpPr>
          <p:cNvPr id="215043" name="Rectangle 2"/>
          <p:cNvSpPr>
            <a:spLocks noGrp="1" noRot="1" noChangeAspect="1" noChangeArrowheads="1" noTextEdit="1"/>
          </p:cNvSpPr>
          <p:nvPr>
            <p:ph type="sldImg"/>
          </p:nvPr>
        </p:nvSpPr>
        <p:spPr>
          <a:xfrm>
            <a:off x="715963" y="746125"/>
            <a:ext cx="5384800" cy="3729038"/>
          </a:xfrm>
          <a:ln/>
        </p:spPr>
      </p:sp>
      <p:sp>
        <p:nvSpPr>
          <p:cNvPr id="215044" name="Rectangle 3"/>
          <p:cNvSpPr>
            <a:spLocks noGrp="1" noChangeArrowheads="1"/>
          </p:cNvSpPr>
          <p:nvPr>
            <p:ph type="body" idx="1"/>
          </p:nvPr>
        </p:nvSpPr>
        <p:spPr>
          <a:xfrm>
            <a:off x="909638" y="4722813"/>
            <a:ext cx="4995862" cy="4473575"/>
          </a:xfrm>
          <a:noFill/>
          <a:ln/>
        </p:spPr>
        <p:txBody>
          <a:bodyPr/>
          <a:lstStyle/>
          <a:p>
            <a:pPr eaLnBrk="1" hangingPunct="1"/>
            <a:endParaRPr lang="en-US" smtClean="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6" name="Rectangle 7"/>
          <p:cNvSpPr>
            <a:spLocks noGrp="1" noChangeArrowheads="1"/>
          </p:cNvSpPr>
          <p:nvPr>
            <p:ph type="sldNum" sz="quarter" idx="5"/>
          </p:nvPr>
        </p:nvSpPr>
        <p:spPr>
          <a:noFill/>
        </p:spPr>
        <p:txBody>
          <a:bodyPr/>
          <a:lstStyle/>
          <a:p>
            <a:fld id="{24DB9410-1189-4CED-A78F-10E041CCA3C2}" type="slidenum">
              <a:rPr lang="en-US" smtClean="0"/>
              <a:pPr/>
              <a:t>58</a:t>
            </a:fld>
            <a:endParaRPr lang="en-US" smtClean="0"/>
          </a:p>
        </p:txBody>
      </p:sp>
      <p:sp>
        <p:nvSpPr>
          <p:cNvPr id="216067" name="Rectangle 2"/>
          <p:cNvSpPr>
            <a:spLocks noGrp="1" noRot="1" noChangeAspect="1" noChangeArrowheads="1" noTextEdit="1"/>
          </p:cNvSpPr>
          <p:nvPr>
            <p:ph type="sldImg"/>
          </p:nvPr>
        </p:nvSpPr>
        <p:spPr>
          <a:xfrm>
            <a:off x="715963" y="746125"/>
            <a:ext cx="5384800" cy="3729038"/>
          </a:xfrm>
          <a:ln/>
        </p:spPr>
      </p:sp>
      <p:sp>
        <p:nvSpPr>
          <p:cNvPr id="216068" name="Rectangle 3"/>
          <p:cNvSpPr>
            <a:spLocks noGrp="1" noChangeArrowheads="1"/>
          </p:cNvSpPr>
          <p:nvPr>
            <p:ph type="body" idx="1"/>
          </p:nvPr>
        </p:nvSpPr>
        <p:spPr>
          <a:xfrm>
            <a:off x="909638" y="4722813"/>
            <a:ext cx="4995862" cy="4473575"/>
          </a:xfrm>
          <a:noFill/>
          <a:ln/>
        </p:spPr>
        <p:txBody>
          <a:bodyPr/>
          <a:lstStyle/>
          <a:p>
            <a:pPr eaLnBrk="1" hangingPunct="1"/>
            <a:endParaRPr lang="en-US" smtClean="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Rectangle 7"/>
          <p:cNvSpPr>
            <a:spLocks noGrp="1" noChangeArrowheads="1"/>
          </p:cNvSpPr>
          <p:nvPr>
            <p:ph type="sldNum" sz="quarter" idx="5"/>
          </p:nvPr>
        </p:nvSpPr>
        <p:spPr>
          <a:noFill/>
        </p:spPr>
        <p:txBody>
          <a:bodyPr/>
          <a:lstStyle/>
          <a:p>
            <a:fld id="{AC1CD944-DCB7-4CD3-82DB-B99891BC929D}" type="slidenum">
              <a:rPr lang="en-US" smtClean="0"/>
              <a:pPr/>
              <a:t>59</a:t>
            </a:fld>
            <a:endParaRPr lang="en-US" smtClean="0"/>
          </a:p>
        </p:txBody>
      </p:sp>
      <p:sp>
        <p:nvSpPr>
          <p:cNvPr id="217091" name="Rectangle 2"/>
          <p:cNvSpPr>
            <a:spLocks noGrp="1" noRot="1" noChangeAspect="1" noChangeArrowheads="1" noTextEdit="1"/>
          </p:cNvSpPr>
          <p:nvPr>
            <p:ph type="sldImg"/>
          </p:nvPr>
        </p:nvSpPr>
        <p:spPr>
          <a:xfrm>
            <a:off x="715963" y="746125"/>
            <a:ext cx="5384800" cy="3729038"/>
          </a:xfrm>
          <a:ln/>
        </p:spPr>
      </p:sp>
      <p:sp>
        <p:nvSpPr>
          <p:cNvPr id="217092" name="Rectangle 3"/>
          <p:cNvSpPr>
            <a:spLocks noGrp="1" noChangeArrowheads="1"/>
          </p:cNvSpPr>
          <p:nvPr>
            <p:ph type="body" idx="1"/>
          </p:nvPr>
        </p:nvSpPr>
        <p:spPr>
          <a:xfrm>
            <a:off x="909638" y="4722813"/>
            <a:ext cx="4995862" cy="4473575"/>
          </a:xfrm>
          <a:noFill/>
          <a:ln/>
        </p:spPr>
        <p:txBody>
          <a:bodyPr/>
          <a:lstStyle/>
          <a:p>
            <a:pPr eaLnBrk="1" hangingPunct="1"/>
            <a:endParaRPr lang="en-US" smtClean="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4" name="Rectangle 7"/>
          <p:cNvSpPr>
            <a:spLocks noGrp="1" noChangeArrowheads="1"/>
          </p:cNvSpPr>
          <p:nvPr>
            <p:ph type="sldNum" sz="quarter" idx="5"/>
          </p:nvPr>
        </p:nvSpPr>
        <p:spPr>
          <a:noFill/>
        </p:spPr>
        <p:txBody>
          <a:bodyPr/>
          <a:lstStyle/>
          <a:p>
            <a:fld id="{BC8F0DF9-F639-405E-8584-170461E8E475}" type="slidenum">
              <a:rPr lang="en-US" smtClean="0"/>
              <a:pPr/>
              <a:t>60</a:t>
            </a:fld>
            <a:endParaRPr lang="en-US" smtClean="0"/>
          </a:p>
        </p:txBody>
      </p:sp>
      <p:sp>
        <p:nvSpPr>
          <p:cNvPr id="218115" name="Rectangle 2"/>
          <p:cNvSpPr>
            <a:spLocks noGrp="1" noRot="1" noChangeAspect="1" noChangeArrowheads="1" noTextEdit="1"/>
          </p:cNvSpPr>
          <p:nvPr>
            <p:ph type="sldImg"/>
          </p:nvPr>
        </p:nvSpPr>
        <p:spPr>
          <a:xfrm>
            <a:off x="715963" y="746125"/>
            <a:ext cx="5384800" cy="3729038"/>
          </a:xfrm>
          <a:ln/>
        </p:spPr>
      </p:sp>
      <p:sp>
        <p:nvSpPr>
          <p:cNvPr id="218116" name="Rectangle 3"/>
          <p:cNvSpPr>
            <a:spLocks noGrp="1" noChangeArrowheads="1"/>
          </p:cNvSpPr>
          <p:nvPr>
            <p:ph type="body" idx="1"/>
          </p:nvPr>
        </p:nvSpPr>
        <p:spPr>
          <a:xfrm>
            <a:off x="909638" y="4722813"/>
            <a:ext cx="4995862" cy="4473575"/>
          </a:xfrm>
          <a:noFill/>
          <a:ln/>
        </p:spPr>
        <p:txBody>
          <a:bodyPr/>
          <a:lstStyle/>
          <a:p>
            <a:pPr eaLnBrk="1" hangingPunct="1"/>
            <a:endParaRPr lang="en-US" smtClean="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8" name="Rectangle 7"/>
          <p:cNvSpPr>
            <a:spLocks noGrp="1" noChangeArrowheads="1"/>
          </p:cNvSpPr>
          <p:nvPr>
            <p:ph type="sldNum" sz="quarter" idx="5"/>
          </p:nvPr>
        </p:nvSpPr>
        <p:spPr>
          <a:noFill/>
        </p:spPr>
        <p:txBody>
          <a:bodyPr/>
          <a:lstStyle/>
          <a:p>
            <a:fld id="{7915D590-5D32-4A63-BDB2-60281C4C41AD}" type="slidenum">
              <a:rPr lang="en-US" smtClean="0"/>
              <a:pPr/>
              <a:t>61</a:t>
            </a:fld>
            <a:endParaRPr lang="en-US" smtClean="0"/>
          </a:p>
        </p:txBody>
      </p:sp>
      <p:sp>
        <p:nvSpPr>
          <p:cNvPr id="219139" name="Rectangle 2"/>
          <p:cNvSpPr>
            <a:spLocks noGrp="1" noRot="1" noChangeAspect="1" noChangeArrowheads="1" noTextEdit="1"/>
          </p:cNvSpPr>
          <p:nvPr>
            <p:ph type="sldImg"/>
          </p:nvPr>
        </p:nvSpPr>
        <p:spPr>
          <a:xfrm>
            <a:off x="715963" y="746125"/>
            <a:ext cx="5384800" cy="3729038"/>
          </a:xfrm>
          <a:ln/>
        </p:spPr>
      </p:sp>
      <p:sp>
        <p:nvSpPr>
          <p:cNvPr id="219140" name="Rectangle 3"/>
          <p:cNvSpPr>
            <a:spLocks noGrp="1" noChangeArrowheads="1"/>
          </p:cNvSpPr>
          <p:nvPr>
            <p:ph type="body" idx="1"/>
          </p:nvPr>
        </p:nvSpPr>
        <p:spPr>
          <a:xfrm>
            <a:off x="909638" y="4722813"/>
            <a:ext cx="4995862" cy="4473575"/>
          </a:xfrm>
          <a:noFill/>
          <a:ln/>
        </p:spPr>
        <p:txBody>
          <a:bodyPr/>
          <a:lstStyle/>
          <a:p>
            <a:pPr eaLnBrk="1" hangingPunct="1"/>
            <a:endParaRPr lang="en-US" smtClean="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2" name="Rectangle 2"/>
          <p:cNvSpPr>
            <a:spLocks noGrp="1" noRot="1" noChangeAspect="1" noChangeArrowheads="1" noTextEdit="1"/>
          </p:cNvSpPr>
          <p:nvPr>
            <p:ph type="sldImg"/>
          </p:nvPr>
        </p:nvSpPr>
        <p:spPr>
          <a:ln/>
        </p:spPr>
      </p:sp>
      <p:sp>
        <p:nvSpPr>
          <p:cNvPr id="220163"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6" name="Rectangle 2"/>
          <p:cNvSpPr>
            <a:spLocks noGrp="1" noRot="1" noChangeAspect="1" noChangeArrowheads="1" noTextEdit="1"/>
          </p:cNvSpPr>
          <p:nvPr>
            <p:ph type="sldImg"/>
          </p:nvPr>
        </p:nvSpPr>
        <p:spPr>
          <a:ln/>
        </p:spPr>
      </p:sp>
      <p:sp>
        <p:nvSpPr>
          <p:cNvPr id="221187"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10" name="Rectangle 2"/>
          <p:cNvSpPr>
            <a:spLocks noGrp="1" noRot="1" noChangeAspect="1" noChangeArrowheads="1" noTextEdit="1"/>
          </p:cNvSpPr>
          <p:nvPr>
            <p:ph type="sldImg"/>
          </p:nvPr>
        </p:nvSpPr>
        <p:spPr>
          <a:ln/>
        </p:spPr>
      </p:sp>
      <p:sp>
        <p:nvSpPr>
          <p:cNvPr id="222211"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4" name="Rectangle 2"/>
          <p:cNvSpPr>
            <a:spLocks noGrp="1" noRot="1" noChangeAspect="1" noChangeArrowheads="1" noTextEdit="1"/>
          </p:cNvSpPr>
          <p:nvPr>
            <p:ph type="sldImg"/>
          </p:nvPr>
        </p:nvSpPr>
        <p:spPr>
          <a:ln/>
        </p:spPr>
      </p:sp>
      <p:sp>
        <p:nvSpPr>
          <p:cNvPr id="223235"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p:cNvSpPr>
            <a:spLocks noGrp="1" noRot="1" noChangeAspect="1" noChangeArrowheads="1" noTextEdit="1"/>
          </p:cNvSpPr>
          <p:nvPr>
            <p:ph type="sldImg"/>
          </p:nvPr>
        </p:nvSpPr>
        <p:spPr>
          <a:ln/>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9778" name="Slide Image Placeholder 1"/>
          <p:cNvSpPr>
            <a:spLocks noGrp="1" noRot="1" noChangeAspect="1" noTextEdit="1"/>
          </p:cNvSpPr>
          <p:nvPr>
            <p:ph type="sldImg"/>
          </p:nvPr>
        </p:nvSpPr>
        <p:spPr>
          <a:ln/>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2"/>
          <p:cNvSpPr>
            <a:spLocks noGrp="1" noRot="1" noChangeAspect="1" noChangeArrowheads="1" noTextEdit="1"/>
          </p:cNvSpPr>
          <p:nvPr>
            <p:ph type="sldImg"/>
          </p:nvPr>
        </p:nvSpPr>
        <p:spPr>
          <a:ln/>
        </p:spPr>
      </p:sp>
      <p:sp>
        <p:nvSpPr>
          <p:cNvPr id="125955"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7"/>
          <p:cNvSpPr>
            <a:spLocks noGrp="1" noChangeArrowheads="1"/>
          </p:cNvSpPr>
          <p:nvPr>
            <p:ph type="sldNum" sz="quarter" idx="5"/>
          </p:nvPr>
        </p:nvSpPr>
        <p:spPr>
          <a:noFill/>
        </p:spPr>
        <p:txBody>
          <a:bodyPr/>
          <a:lstStyle/>
          <a:p>
            <a:fld id="{FC1424A8-06F4-4942-8DE8-73D61B404E3E}" type="slidenum">
              <a:rPr lang="en-US" smtClean="0"/>
              <a:pPr/>
              <a:t>72</a:t>
            </a:fld>
            <a:endParaRPr lang="en-US" smtClean="0"/>
          </a:p>
        </p:txBody>
      </p:sp>
      <p:sp>
        <p:nvSpPr>
          <p:cNvPr id="126979" name="Rectangle 2"/>
          <p:cNvSpPr>
            <a:spLocks noGrp="1" noRot="1" noChangeAspect="1" noChangeArrowheads="1" noTextEdit="1"/>
          </p:cNvSpPr>
          <p:nvPr>
            <p:ph type="sldImg"/>
          </p:nvPr>
        </p:nvSpPr>
        <p:spPr>
          <a:xfrm>
            <a:off x="717550" y="746125"/>
            <a:ext cx="5383213" cy="3727450"/>
          </a:xfrm>
          <a:ln/>
        </p:spPr>
      </p:sp>
      <p:sp>
        <p:nvSpPr>
          <p:cNvPr id="126980"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p:cNvSpPr>
            <a:spLocks noGrp="1" noChangeArrowheads="1"/>
          </p:cNvSpPr>
          <p:nvPr>
            <p:ph type="sldNum" sz="quarter" idx="5"/>
          </p:nvPr>
        </p:nvSpPr>
        <p:spPr>
          <a:noFill/>
        </p:spPr>
        <p:txBody>
          <a:bodyPr/>
          <a:lstStyle/>
          <a:p>
            <a:fld id="{0C805A5C-A7A9-499D-9051-6F7956190299}" type="slidenum">
              <a:rPr lang="en-US" smtClean="0"/>
              <a:pPr/>
              <a:t>73</a:t>
            </a:fld>
            <a:endParaRPr lang="en-US" smtClean="0"/>
          </a:p>
        </p:txBody>
      </p:sp>
      <p:sp>
        <p:nvSpPr>
          <p:cNvPr id="128003" name="Rectangle 2"/>
          <p:cNvSpPr>
            <a:spLocks noGrp="1" noRot="1" noChangeAspect="1" noChangeArrowheads="1" noTextEdit="1"/>
          </p:cNvSpPr>
          <p:nvPr>
            <p:ph type="sldImg"/>
          </p:nvPr>
        </p:nvSpPr>
        <p:spPr>
          <a:xfrm>
            <a:off x="717550" y="746125"/>
            <a:ext cx="5383213" cy="3727450"/>
          </a:xfrm>
          <a:ln/>
        </p:spPr>
      </p:sp>
      <p:sp>
        <p:nvSpPr>
          <p:cNvPr id="128004"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7"/>
          <p:cNvSpPr>
            <a:spLocks noGrp="1" noChangeArrowheads="1"/>
          </p:cNvSpPr>
          <p:nvPr>
            <p:ph type="sldNum" sz="quarter" idx="5"/>
          </p:nvPr>
        </p:nvSpPr>
        <p:spPr>
          <a:noFill/>
        </p:spPr>
        <p:txBody>
          <a:bodyPr/>
          <a:lstStyle/>
          <a:p>
            <a:fld id="{688C9A81-D226-4C57-B189-4DC56F1B6900}" type="slidenum">
              <a:rPr lang="en-US" smtClean="0"/>
              <a:pPr/>
              <a:t>74</a:t>
            </a:fld>
            <a:endParaRPr lang="en-US" smtClean="0"/>
          </a:p>
        </p:txBody>
      </p:sp>
      <p:sp>
        <p:nvSpPr>
          <p:cNvPr id="129027" name="Rectangle 2"/>
          <p:cNvSpPr>
            <a:spLocks noGrp="1" noRot="1" noChangeAspect="1" noChangeArrowheads="1" noTextEdit="1"/>
          </p:cNvSpPr>
          <p:nvPr>
            <p:ph type="sldImg"/>
          </p:nvPr>
        </p:nvSpPr>
        <p:spPr>
          <a:xfrm>
            <a:off x="717550" y="746125"/>
            <a:ext cx="5383213" cy="3727450"/>
          </a:xfrm>
          <a:ln/>
        </p:spPr>
      </p:sp>
      <p:sp>
        <p:nvSpPr>
          <p:cNvPr id="129028"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2"/>
          <p:cNvSpPr>
            <a:spLocks noGrp="1" noRot="1" noChangeAspect="1" noChangeArrowheads="1" noTextEdit="1"/>
          </p:cNvSpPr>
          <p:nvPr>
            <p:ph type="sldImg"/>
          </p:nvPr>
        </p:nvSpPr>
        <p:spPr>
          <a:ln/>
        </p:spPr>
      </p:sp>
      <p:sp>
        <p:nvSpPr>
          <p:cNvPr id="130051"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7"/>
          <p:cNvSpPr>
            <a:spLocks noGrp="1" noChangeArrowheads="1"/>
          </p:cNvSpPr>
          <p:nvPr>
            <p:ph type="sldNum" sz="quarter" idx="5"/>
          </p:nvPr>
        </p:nvSpPr>
        <p:spPr>
          <a:noFill/>
        </p:spPr>
        <p:txBody>
          <a:bodyPr/>
          <a:lstStyle/>
          <a:p>
            <a:fld id="{8FDDEB90-8610-4C29-8CA3-FE20BBADC574}" type="slidenum">
              <a:rPr lang="en-US" smtClean="0"/>
              <a:pPr/>
              <a:t>76</a:t>
            </a:fld>
            <a:endParaRPr lang="en-US" smtClean="0"/>
          </a:p>
        </p:txBody>
      </p:sp>
      <p:sp>
        <p:nvSpPr>
          <p:cNvPr id="131075" name="Rectangle 2"/>
          <p:cNvSpPr>
            <a:spLocks noGrp="1" noRot="1" noChangeAspect="1" noChangeArrowheads="1" noTextEdit="1"/>
          </p:cNvSpPr>
          <p:nvPr>
            <p:ph type="sldImg"/>
          </p:nvPr>
        </p:nvSpPr>
        <p:spPr>
          <a:xfrm>
            <a:off x="717550" y="746125"/>
            <a:ext cx="5383213" cy="3727450"/>
          </a:xfrm>
          <a:ln/>
        </p:spPr>
      </p:sp>
      <p:sp>
        <p:nvSpPr>
          <p:cNvPr id="131076"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7"/>
          <p:cNvSpPr>
            <a:spLocks noGrp="1" noChangeArrowheads="1"/>
          </p:cNvSpPr>
          <p:nvPr>
            <p:ph type="sldNum" sz="quarter" idx="5"/>
          </p:nvPr>
        </p:nvSpPr>
        <p:spPr>
          <a:noFill/>
        </p:spPr>
        <p:txBody>
          <a:bodyPr/>
          <a:lstStyle/>
          <a:p>
            <a:fld id="{5E823134-FD35-4431-9E46-2BBAC92E79B1}" type="slidenum">
              <a:rPr lang="en-US" smtClean="0"/>
              <a:pPr/>
              <a:t>77</a:t>
            </a:fld>
            <a:endParaRPr lang="en-US" smtClean="0"/>
          </a:p>
        </p:txBody>
      </p:sp>
      <p:sp>
        <p:nvSpPr>
          <p:cNvPr id="132099" name="Rectangle 2"/>
          <p:cNvSpPr>
            <a:spLocks noGrp="1" noRot="1" noChangeAspect="1" noChangeArrowheads="1" noTextEdit="1"/>
          </p:cNvSpPr>
          <p:nvPr>
            <p:ph type="sldImg"/>
          </p:nvPr>
        </p:nvSpPr>
        <p:spPr>
          <a:xfrm>
            <a:off x="717550" y="746125"/>
            <a:ext cx="5383213" cy="3727450"/>
          </a:xfrm>
          <a:ln/>
        </p:spPr>
      </p:sp>
      <p:sp>
        <p:nvSpPr>
          <p:cNvPr id="132100"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7"/>
          <p:cNvSpPr>
            <a:spLocks noGrp="1" noChangeArrowheads="1"/>
          </p:cNvSpPr>
          <p:nvPr>
            <p:ph type="sldNum" sz="quarter" idx="5"/>
          </p:nvPr>
        </p:nvSpPr>
        <p:spPr>
          <a:noFill/>
        </p:spPr>
        <p:txBody>
          <a:bodyPr/>
          <a:lstStyle/>
          <a:p>
            <a:fld id="{97884028-7D24-4B38-B467-3514A69FE42A}" type="slidenum">
              <a:rPr lang="en-US" smtClean="0"/>
              <a:pPr/>
              <a:t>78</a:t>
            </a:fld>
            <a:endParaRPr lang="en-US" smtClean="0"/>
          </a:p>
        </p:txBody>
      </p:sp>
      <p:sp>
        <p:nvSpPr>
          <p:cNvPr id="133123" name="Rectangle 2"/>
          <p:cNvSpPr>
            <a:spLocks noGrp="1" noRot="1" noChangeAspect="1" noChangeArrowheads="1" noTextEdit="1"/>
          </p:cNvSpPr>
          <p:nvPr>
            <p:ph type="sldImg"/>
          </p:nvPr>
        </p:nvSpPr>
        <p:spPr>
          <a:xfrm>
            <a:off x="717550" y="746125"/>
            <a:ext cx="5383213" cy="3727450"/>
          </a:xfrm>
          <a:ln/>
        </p:spPr>
      </p:sp>
      <p:sp>
        <p:nvSpPr>
          <p:cNvPr id="133124"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7"/>
          <p:cNvSpPr>
            <a:spLocks noGrp="1" noChangeArrowheads="1"/>
          </p:cNvSpPr>
          <p:nvPr>
            <p:ph type="sldNum" sz="quarter" idx="5"/>
          </p:nvPr>
        </p:nvSpPr>
        <p:spPr>
          <a:noFill/>
        </p:spPr>
        <p:txBody>
          <a:bodyPr/>
          <a:lstStyle/>
          <a:p>
            <a:fld id="{E34047E6-F15B-439F-B4EF-2DC689AB28DC}" type="slidenum">
              <a:rPr lang="en-US" smtClean="0"/>
              <a:pPr/>
              <a:t>79</a:t>
            </a:fld>
            <a:endParaRPr lang="en-US" smtClean="0"/>
          </a:p>
        </p:txBody>
      </p:sp>
      <p:sp>
        <p:nvSpPr>
          <p:cNvPr id="145411" name="Rectangle 2"/>
          <p:cNvSpPr>
            <a:spLocks noGrp="1" noRot="1" noChangeAspect="1" noChangeArrowheads="1" noTextEdit="1"/>
          </p:cNvSpPr>
          <p:nvPr>
            <p:ph type="sldImg"/>
          </p:nvPr>
        </p:nvSpPr>
        <p:spPr>
          <a:xfrm>
            <a:off x="717550" y="746125"/>
            <a:ext cx="5383213" cy="3727450"/>
          </a:xfrm>
          <a:ln/>
        </p:spPr>
      </p:sp>
      <p:sp>
        <p:nvSpPr>
          <p:cNvPr id="145412"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7"/>
          <p:cNvSpPr>
            <a:spLocks noGrp="1" noChangeArrowheads="1"/>
          </p:cNvSpPr>
          <p:nvPr>
            <p:ph type="sldNum" sz="quarter" idx="5"/>
          </p:nvPr>
        </p:nvSpPr>
        <p:spPr>
          <a:noFill/>
        </p:spPr>
        <p:txBody>
          <a:bodyPr/>
          <a:lstStyle/>
          <a:p>
            <a:fld id="{4A8554B0-C34E-4F57-9337-726CB1376429}" type="slidenum">
              <a:rPr lang="en-US" smtClean="0"/>
              <a:pPr/>
              <a:t>80</a:t>
            </a:fld>
            <a:endParaRPr lang="en-US" smtClean="0"/>
          </a:p>
        </p:txBody>
      </p:sp>
      <p:sp>
        <p:nvSpPr>
          <p:cNvPr id="146435" name="Rectangle 2"/>
          <p:cNvSpPr>
            <a:spLocks noGrp="1" noRot="1" noChangeAspect="1" noChangeArrowheads="1" noTextEdit="1"/>
          </p:cNvSpPr>
          <p:nvPr>
            <p:ph type="sldImg"/>
          </p:nvPr>
        </p:nvSpPr>
        <p:spPr>
          <a:xfrm>
            <a:off x="717550" y="746125"/>
            <a:ext cx="5383213" cy="3727450"/>
          </a:xfrm>
          <a:ln/>
        </p:spPr>
      </p:sp>
      <p:sp>
        <p:nvSpPr>
          <p:cNvPr id="146436"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7"/>
          <p:cNvSpPr>
            <a:spLocks noGrp="1" noChangeArrowheads="1"/>
          </p:cNvSpPr>
          <p:nvPr>
            <p:ph type="sldNum" sz="quarter" idx="5"/>
          </p:nvPr>
        </p:nvSpPr>
        <p:spPr>
          <a:noFill/>
        </p:spPr>
        <p:txBody>
          <a:bodyPr/>
          <a:lstStyle/>
          <a:p>
            <a:fld id="{4926EE80-EB56-4989-8ECF-81A1367601E3}" type="slidenum">
              <a:rPr lang="en-US" smtClean="0"/>
              <a:pPr/>
              <a:t>81</a:t>
            </a:fld>
            <a:endParaRPr lang="en-US" smtClean="0"/>
          </a:p>
        </p:txBody>
      </p:sp>
      <p:sp>
        <p:nvSpPr>
          <p:cNvPr id="147459" name="Rectangle 2"/>
          <p:cNvSpPr>
            <a:spLocks noGrp="1" noRot="1" noChangeAspect="1" noChangeArrowheads="1" noTextEdit="1"/>
          </p:cNvSpPr>
          <p:nvPr>
            <p:ph type="sldImg"/>
          </p:nvPr>
        </p:nvSpPr>
        <p:spPr>
          <a:xfrm>
            <a:off x="717550" y="746125"/>
            <a:ext cx="5383213" cy="3727450"/>
          </a:xfrm>
          <a:ln/>
        </p:spPr>
      </p:sp>
      <p:sp>
        <p:nvSpPr>
          <p:cNvPr id="147460"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7"/>
          <p:cNvSpPr>
            <a:spLocks noGrp="1" noChangeArrowheads="1"/>
          </p:cNvSpPr>
          <p:nvPr>
            <p:ph type="sldNum" sz="quarter" idx="5"/>
          </p:nvPr>
        </p:nvSpPr>
        <p:spPr>
          <a:noFill/>
        </p:spPr>
        <p:txBody>
          <a:bodyPr/>
          <a:lstStyle/>
          <a:p>
            <a:fld id="{A94E2220-B4BB-44BB-8FC5-DF8BFF5937CE}" type="slidenum">
              <a:rPr lang="en-US" smtClean="0"/>
              <a:pPr/>
              <a:t>82</a:t>
            </a:fld>
            <a:endParaRPr lang="en-US" smtClean="0"/>
          </a:p>
        </p:txBody>
      </p:sp>
      <p:sp>
        <p:nvSpPr>
          <p:cNvPr id="148483" name="Rectangle 2"/>
          <p:cNvSpPr>
            <a:spLocks noGrp="1" noRot="1" noChangeAspect="1" noChangeArrowheads="1" noTextEdit="1"/>
          </p:cNvSpPr>
          <p:nvPr>
            <p:ph type="sldImg"/>
          </p:nvPr>
        </p:nvSpPr>
        <p:spPr>
          <a:xfrm>
            <a:off x="717550" y="746125"/>
            <a:ext cx="5383213" cy="3727450"/>
          </a:xfrm>
          <a:ln/>
        </p:spPr>
      </p:sp>
      <p:sp>
        <p:nvSpPr>
          <p:cNvPr id="148484"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7"/>
          <p:cNvSpPr>
            <a:spLocks noGrp="1" noChangeArrowheads="1"/>
          </p:cNvSpPr>
          <p:nvPr>
            <p:ph type="sldNum" sz="quarter" idx="5"/>
          </p:nvPr>
        </p:nvSpPr>
        <p:spPr>
          <a:noFill/>
        </p:spPr>
        <p:txBody>
          <a:bodyPr/>
          <a:lstStyle/>
          <a:p>
            <a:fld id="{81BF3C14-496E-432A-94A6-88378CE34DD5}" type="slidenum">
              <a:rPr lang="en-US" smtClean="0"/>
              <a:pPr/>
              <a:t>83</a:t>
            </a:fld>
            <a:endParaRPr lang="en-US" smtClean="0"/>
          </a:p>
        </p:txBody>
      </p:sp>
      <p:sp>
        <p:nvSpPr>
          <p:cNvPr id="149507" name="Rectangle 2"/>
          <p:cNvSpPr>
            <a:spLocks noGrp="1" noRot="1" noChangeAspect="1" noChangeArrowheads="1" noTextEdit="1"/>
          </p:cNvSpPr>
          <p:nvPr>
            <p:ph type="sldImg"/>
          </p:nvPr>
        </p:nvSpPr>
        <p:spPr>
          <a:xfrm>
            <a:off x="717550" y="746125"/>
            <a:ext cx="5383213" cy="3727450"/>
          </a:xfrm>
          <a:ln/>
        </p:spPr>
      </p:sp>
      <p:sp>
        <p:nvSpPr>
          <p:cNvPr id="149508"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Rectangle 2"/>
          <p:cNvSpPr>
            <a:spLocks noGrp="1" noRot="1" noChangeAspect="1" noChangeArrowheads="1" noTextEdit="1"/>
          </p:cNvSpPr>
          <p:nvPr>
            <p:ph type="sldImg"/>
          </p:nvPr>
        </p:nvSpPr>
        <p:spPr>
          <a:ln/>
        </p:spPr>
      </p:sp>
      <p:sp>
        <p:nvSpPr>
          <p:cNvPr id="209923"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Rectangle 2"/>
          <p:cNvSpPr>
            <a:spLocks noGrp="1" noRot="1" noChangeAspect="1" noChangeArrowheads="1" noTextEdit="1"/>
          </p:cNvSpPr>
          <p:nvPr>
            <p:ph type="sldImg"/>
          </p:nvPr>
        </p:nvSpPr>
        <p:spPr>
          <a:ln/>
        </p:spPr>
      </p:sp>
      <p:sp>
        <p:nvSpPr>
          <p:cNvPr id="210947"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0" name="Rectangle 2"/>
          <p:cNvSpPr>
            <a:spLocks noGrp="1" noRot="1" noChangeAspect="1" noChangeArrowheads="1" noTextEdit="1"/>
          </p:cNvSpPr>
          <p:nvPr>
            <p:ph type="sldImg"/>
          </p:nvPr>
        </p:nvSpPr>
        <p:spPr>
          <a:ln/>
        </p:spPr>
      </p:sp>
      <p:sp>
        <p:nvSpPr>
          <p:cNvPr id="211971"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4" name="Rectangle 2"/>
          <p:cNvSpPr>
            <a:spLocks noGrp="1" noRot="1" noChangeAspect="1" noChangeArrowheads="1" noTextEdit="1"/>
          </p:cNvSpPr>
          <p:nvPr>
            <p:ph type="sldImg"/>
          </p:nvPr>
        </p:nvSpPr>
        <p:spPr>
          <a:ln/>
        </p:spPr>
      </p:sp>
      <p:sp>
        <p:nvSpPr>
          <p:cNvPr id="212995"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7"/>
          <p:cNvSpPr txBox="1">
            <a:spLocks noGrp="1" noChangeArrowheads="1"/>
          </p:cNvSpPr>
          <p:nvPr/>
        </p:nvSpPr>
        <p:spPr bwMode="auto">
          <a:xfrm>
            <a:off x="3860800" y="9444038"/>
            <a:ext cx="2952750" cy="496887"/>
          </a:xfrm>
          <a:prstGeom prst="rect">
            <a:avLst/>
          </a:prstGeom>
          <a:noFill/>
          <a:ln w="9525">
            <a:noFill/>
            <a:miter lim="800000"/>
            <a:headEnd/>
            <a:tailEnd/>
          </a:ln>
        </p:spPr>
        <p:txBody>
          <a:bodyPr anchor="b"/>
          <a:lstStyle/>
          <a:p>
            <a:pPr algn="r"/>
            <a:fld id="{5D210FFC-DE39-4B76-A73F-AA90913B97C8}" type="slidenum">
              <a:rPr lang="en-US" sz="1200"/>
              <a:pPr algn="r"/>
              <a:t>88</a:t>
            </a:fld>
            <a:endParaRPr lang="en-US" sz="1200"/>
          </a:p>
        </p:txBody>
      </p:sp>
      <p:sp>
        <p:nvSpPr>
          <p:cNvPr id="150531" name="Rectangle 2"/>
          <p:cNvSpPr>
            <a:spLocks noGrp="1" noRot="1" noChangeAspect="1" noChangeArrowheads="1" noTextEdit="1"/>
          </p:cNvSpPr>
          <p:nvPr>
            <p:ph type="sldImg"/>
          </p:nvPr>
        </p:nvSpPr>
        <p:spPr>
          <a:xfrm>
            <a:off x="714375" y="746125"/>
            <a:ext cx="5386388" cy="3729038"/>
          </a:xfrm>
          <a:ln/>
        </p:spPr>
      </p:sp>
      <p:sp>
        <p:nvSpPr>
          <p:cNvPr id="150532" name="Rectangle 3"/>
          <p:cNvSpPr>
            <a:spLocks noGrp="1" noChangeArrowheads="1"/>
          </p:cNvSpPr>
          <p:nvPr>
            <p:ph type="body" idx="1"/>
          </p:nvPr>
        </p:nvSpPr>
        <p:spPr>
          <a:xfrm>
            <a:off x="681038" y="4721225"/>
            <a:ext cx="5453062" cy="4475163"/>
          </a:xfrm>
          <a:noFill/>
          <a:ln/>
        </p:spPr>
        <p:txBody>
          <a:bodyPr/>
          <a:lstStyle/>
          <a:p>
            <a:endParaRPr lang="en-US" smtClean="0"/>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7"/>
          <p:cNvSpPr txBox="1">
            <a:spLocks noGrp="1" noChangeArrowheads="1"/>
          </p:cNvSpPr>
          <p:nvPr/>
        </p:nvSpPr>
        <p:spPr bwMode="auto">
          <a:xfrm>
            <a:off x="3860800" y="9444038"/>
            <a:ext cx="2952750" cy="496887"/>
          </a:xfrm>
          <a:prstGeom prst="rect">
            <a:avLst/>
          </a:prstGeom>
          <a:noFill/>
          <a:ln w="9525">
            <a:noFill/>
            <a:miter lim="800000"/>
            <a:headEnd/>
            <a:tailEnd/>
          </a:ln>
        </p:spPr>
        <p:txBody>
          <a:bodyPr anchor="b"/>
          <a:lstStyle/>
          <a:p>
            <a:pPr algn="r"/>
            <a:fld id="{F238D91D-022C-4FEE-9120-B2636ADBCC99}" type="slidenum">
              <a:rPr lang="en-US" sz="1200"/>
              <a:pPr algn="r"/>
              <a:t>89</a:t>
            </a:fld>
            <a:endParaRPr lang="en-US" sz="1200"/>
          </a:p>
        </p:txBody>
      </p:sp>
      <p:sp>
        <p:nvSpPr>
          <p:cNvPr id="151555" name="Rectangle 2"/>
          <p:cNvSpPr>
            <a:spLocks noGrp="1" noRot="1" noChangeAspect="1" noChangeArrowheads="1" noTextEdit="1"/>
          </p:cNvSpPr>
          <p:nvPr>
            <p:ph type="sldImg"/>
          </p:nvPr>
        </p:nvSpPr>
        <p:spPr>
          <a:xfrm>
            <a:off x="714375" y="746125"/>
            <a:ext cx="5386388" cy="3729038"/>
          </a:xfrm>
          <a:ln/>
        </p:spPr>
      </p:sp>
      <p:sp>
        <p:nvSpPr>
          <p:cNvPr id="151556" name="Rectangle 3"/>
          <p:cNvSpPr>
            <a:spLocks noGrp="1" noChangeArrowheads="1"/>
          </p:cNvSpPr>
          <p:nvPr>
            <p:ph type="body" idx="1"/>
          </p:nvPr>
        </p:nvSpPr>
        <p:spPr>
          <a:xfrm>
            <a:off x="681038" y="4721225"/>
            <a:ext cx="5453062" cy="4475163"/>
          </a:xfrm>
          <a:noFill/>
          <a:ln/>
        </p:spPr>
        <p:txBody>
          <a:bodyPr/>
          <a:lstStyle/>
          <a:p>
            <a:endParaRPr lang="en-US" smtClean="0"/>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7"/>
          <p:cNvSpPr txBox="1">
            <a:spLocks noGrp="1" noChangeArrowheads="1"/>
          </p:cNvSpPr>
          <p:nvPr/>
        </p:nvSpPr>
        <p:spPr bwMode="auto">
          <a:xfrm>
            <a:off x="3860800" y="9444038"/>
            <a:ext cx="2952750" cy="496887"/>
          </a:xfrm>
          <a:prstGeom prst="rect">
            <a:avLst/>
          </a:prstGeom>
          <a:noFill/>
          <a:ln w="9525">
            <a:noFill/>
            <a:miter lim="800000"/>
            <a:headEnd/>
            <a:tailEnd/>
          </a:ln>
        </p:spPr>
        <p:txBody>
          <a:bodyPr anchor="b"/>
          <a:lstStyle/>
          <a:p>
            <a:pPr algn="r"/>
            <a:fld id="{B5C0FCEF-7143-48FB-86F0-DEE43E2F3157}" type="slidenum">
              <a:rPr lang="en-US" sz="1200"/>
              <a:pPr algn="r"/>
              <a:t>90</a:t>
            </a:fld>
            <a:endParaRPr lang="en-US" sz="1200"/>
          </a:p>
        </p:txBody>
      </p:sp>
      <p:sp>
        <p:nvSpPr>
          <p:cNvPr id="152579" name="Rectangle 2"/>
          <p:cNvSpPr>
            <a:spLocks noGrp="1" noRot="1" noChangeAspect="1" noChangeArrowheads="1" noTextEdit="1"/>
          </p:cNvSpPr>
          <p:nvPr>
            <p:ph type="sldImg"/>
          </p:nvPr>
        </p:nvSpPr>
        <p:spPr>
          <a:xfrm>
            <a:off x="714375" y="746125"/>
            <a:ext cx="5386388" cy="3729038"/>
          </a:xfrm>
          <a:ln/>
        </p:spPr>
      </p:sp>
      <p:sp>
        <p:nvSpPr>
          <p:cNvPr id="152580" name="Rectangle 3"/>
          <p:cNvSpPr>
            <a:spLocks noGrp="1" noChangeArrowheads="1"/>
          </p:cNvSpPr>
          <p:nvPr>
            <p:ph type="body" idx="1"/>
          </p:nvPr>
        </p:nvSpPr>
        <p:spPr>
          <a:xfrm>
            <a:off x="681038" y="4721225"/>
            <a:ext cx="5453062" cy="4475163"/>
          </a:xfrm>
          <a:noFill/>
          <a:ln/>
        </p:spPr>
        <p:txBody>
          <a:bodyPr/>
          <a:lstStyle/>
          <a:p>
            <a:endParaRPr lang="en-US" smtClean="0"/>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7"/>
          <p:cNvSpPr txBox="1">
            <a:spLocks noGrp="1" noChangeArrowheads="1"/>
          </p:cNvSpPr>
          <p:nvPr/>
        </p:nvSpPr>
        <p:spPr bwMode="auto">
          <a:xfrm>
            <a:off x="3860800" y="9444038"/>
            <a:ext cx="2952750" cy="496887"/>
          </a:xfrm>
          <a:prstGeom prst="rect">
            <a:avLst/>
          </a:prstGeom>
          <a:noFill/>
          <a:ln w="9525">
            <a:noFill/>
            <a:miter lim="800000"/>
            <a:headEnd/>
            <a:tailEnd/>
          </a:ln>
        </p:spPr>
        <p:txBody>
          <a:bodyPr anchor="b"/>
          <a:lstStyle/>
          <a:p>
            <a:pPr algn="r"/>
            <a:fld id="{CBD5E54D-96A6-4198-96F6-02A73D13E666}" type="slidenum">
              <a:rPr lang="en-US" sz="1200"/>
              <a:pPr algn="r"/>
              <a:t>91</a:t>
            </a:fld>
            <a:endParaRPr lang="en-US" sz="1200"/>
          </a:p>
        </p:txBody>
      </p:sp>
      <p:sp>
        <p:nvSpPr>
          <p:cNvPr id="153603" name="Rectangle 2"/>
          <p:cNvSpPr>
            <a:spLocks noGrp="1" noRot="1" noChangeAspect="1" noChangeArrowheads="1" noTextEdit="1"/>
          </p:cNvSpPr>
          <p:nvPr>
            <p:ph type="sldImg"/>
          </p:nvPr>
        </p:nvSpPr>
        <p:spPr>
          <a:xfrm>
            <a:off x="714375" y="746125"/>
            <a:ext cx="5386388" cy="3729038"/>
          </a:xfrm>
          <a:ln/>
        </p:spPr>
      </p:sp>
      <p:sp>
        <p:nvSpPr>
          <p:cNvPr id="153604" name="Rectangle 3"/>
          <p:cNvSpPr>
            <a:spLocks noGrp="1" noChangeArrowheads="1"/>
          </p:cNvSpPr>
          <p:nvPr>
            <p:ph type="body" idx="1"/>
          </p:nvPr>
        </p:nvSpPr>
        <p:spPr>
          <a:xfrm>
            <a:off x="681038" y="4721225"/>
            <a:ext cx="5453062" cy="4475163"/>
          </a:xfrm>
          <a:noFill/>
          <a:ln/>
        </p:spPr>
        <p:txBody>
          <a:bodyPr/>
          <a:lstStyle/>
          <a:p>
            <a:endParaRPr lang="en-US" smtClean="0"/>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7"/>
          <p:cNvSpPr txBox="1">
            <a:spLocks noGrp="1" noChangeArrowheads="1"/>
          </p:cNvSpPr>
          <p:nvPr/>
        </p:nvSpPr>
        <p:spPr bwMode="auto">
          <a:xfrm>
            <a:off x="3860800" y="9444038"/>
            <a:ext cx="2952750" cy="496887"/>
          </a:xfrm>
          <a:prstGeom prst="rect">
            <a:avLst/>
          </a:prstGeom>
          <a:noFill/>
          <a:ln w="9525">
            <a:noFill/>
            <a:miter lim="800000"/>
            <a:headEnd/>
            <a:tailEnd/>
          </a:ln>
        </p:spPr>
        <p:txBody>
          <a:bodyPr anchor="b"/>
          <a:lstStyle/>
          <a:p>
            <a:pPr algn="r"/>
            <a:fld id="{F48DF1D0-AD73-4A11-8E98-CCB0A5BA9FA3}" type="slidenum">
              <a:rPr lang="en-US" sz="1200"/>
              <a:pPr algn="r"/>
              <a:t>92</a:t>
            </a:fld>
            <a:endParaRPr lang="en-US" sz="1200"/>
          </a:p>
        </p:txBody>
      </p:sp>
      <p:sp>
        <p:nvSpPr>
          <p:cNvPr id="154627" name="Rectangle 2"/>
          <p:cNvSpPr>
            <a:spLocks noGrp="1" noRot="1" noChangeAspect="1" noChangeArrowheads="1" noTextEdit="1"/>
          </p:cNvSpPr>
          <p:nvPr>
            <p:ph type="sldImg"/>
          </p:nvPr>
        </p:nvSpPr>
        <p:spPr>
          <a:xfrm>
            <a:off x="714375" y="746125"/>
            <a:ext cx="5386388" cy="3729038"/>
          </a:xfrm>
          <a:ln/>
        </p:spPr>
      </p:sp>
      <p:sp>
        <p:nvSpPr>
          <p:cNvPr id="154628" name="Rectangle 3"/>
          <p:cNvSpPr>
            <a:spLocks noGrp="1" noChangeArrowheads="1"/>
          </p:cNvSpPr>
          <p:nvPr>
            <p:ph type="body" idx="1"/>
          </p:nvPr>
        </p:nvSpPr>
        <p:spPr>
          <a:xfrm>
            <a:off x="681038" y="4721225"/>
            <a:ext cx="5453062" cy="4475163"/>
          </a:xfrm>
          <a:noFill/>
          <a:ln/>
        </p:spPr>
        <p:txBody>
          <a:bodyPr/>
          <a:lstStyle/>
          <a:p>
            <a:endParaRPr lang="en-US" smtClean="0"/>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7"/>
          <p:cNvSpPr txBox="1">
            <a:spLocks noGrp="1" noChangeArrowheads="1"/>
          </p:cNvSpPr>
          <p:nvPr/>
        </p:nvSpPr>
        <p:spPr bwMode="auto">
          <a:xfrm>
            <a:off x="3860800" y="9444038"/>
            <a:ext cx="2952750" cy="496887"/>
          </a:xfrm>
          <a:prstGeom prst="rect">
            <a:avLst/>
          </a:prstGeom>
          <a:noFill/>
          <a:ln w="9525">
            <a:noFill/>
            <a:miter lim="800000"/>
            <a:headEnd/>
            <a:tailEnd/>
          </a:ln>
        </p:spPr>
        <p:txBody>
          <a:bodyPr anchor="b"/>
          <a:lstStyle/>
          <a:p>
            <a:pPr algn="r"/>
            <a:fld id="{DF6F3897-CD83-404F-AE4C-4C8156999EFD}" type="slidenum">
              <a:rPr lang="en-US" sz="1200"/>
              <a:pPr algn="r"/>
              <a:t>93</a:t>
            </a:fld>
            <a:endParaRPr lang="en-US" sz="1200"/>
          </a:p>
        </p:txBody>
      </p:sp>
      <p:sp>
        <p:nvSpPr>
          <p:cNvPr id="155651" name="Rectangle 2"/>
          <p:cNvSpPr>
            <a:spLocks noGrp="1" noRot="1" noChangeAspect="1" noChangeArrowheads="1" noTextEdit="1"/>
          </p:cNvSpPr>
          <p:nvPr>
            <p:ph type="sldImg"/>
          </p:nvPr>
        </p:nvSpPr>
        <p:spPr>
          <a:xfrm>
            <a:off x="714375" y="746125"/>
            <a:ext cx="5386388" cy="3729038"/>
          </a:xfrm>
          <a:ln/>
        </p:spPr>
      </p:sp>
      <p:sp>
        <p:nvSpPr>
          <p:cNvPr id="155652" name="Rectangle 3"/>
          <p:cNvSpPr>
            <a:spLocks noGrp="1" noChangeArrowheads="1"/>
          </p:cNvSpPr>
          <p:nvPr>
            <p:ph type="body" idx="1"/>
          </p:nvPr>
        </p:nvSpPr>
        <p:spPr>
          <a:xfrm>
            <a:off x="681038" y="4721225"/>
            <a:ext cx="5453062" cy="4475163"/>
          </a:xfrm>
          <a:noFill/>
          <a:ln/>
        </p:spPr>
        <p:txBody>
          <a:bodyPr/>
          <a:lstStyle/>
          <a:p>
            <a:endParaRPr lang="en-US" smtClean="0"/>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7"/>
          <p:cNvSpPr txBox="1">
            <a:spLocks noGrp="1" noChangeArrowheads="1"/>
          </p:cNvSpPr>
          <p:nvPr/>
        </p:nvSpPr>
        <p:spPr bwMode="auto">
          <a:xfrm>
            <a:off x="3860800" y="9444038"/>
            <a:ext cx="2952750" cy="496887"/>
          </a:xfrm>
          <a:prstGeom prst="rect">
            <a:avLst/>
          </a:prstGeom>
          <a:noFill/>
          <a:ln w="9525">
            <a:noFill/>
            <a:miter lim="800000"/>
            <a:headEnd/>
            <a:tailEnd/>
          </a:ln>
        </p:spPr>
        <p:txBody>
          <a:bodyPr anchor="b"/>
          <a:lstStyle/>
          <a:p>
            <a:pPr algn="r"/>
            <a:fld id="{BE0FF7E5-3076-47A9-BB67-6790A89FC838}" type="slidenum">
              <a:rPr lang="en-US" sz="1200"/>
              <a:pPr algn="r"/>
              <a:t>94</a:t>
            </a:fld>
            <a:endParaRPr lang="en-US" sz="1200"/>
          </a:p>
        </p:txBody>
      </p:sp>
      <p:sp>
        <p:nvSpPr>
          <p:cNvPr id="156675" name="Rectangle 2"/>
          <p:cNvSpPr>
            <a:spLocks noGrp="1" noRot="1" noChangeAspect="1" noChangeArrowheads="1" noTextEdit="1"/>
          </p:cNvSpPr>
          <p:nvPr>
            <p:ph type="sldImg"/>
          </p:nvPr>
        </p:nvSpPr>
        <p:spPr>
          <a:xfrm>
            <a:off x="714375" y="746125"/>
            <a:ext cx="5386388" cy="3729038"/>
          </a:xfrm>
          <a:ln/>
        </p:spPr>
      </p:sp>
      <p:sp>
        <p:nvSpPr>
          <p:cNvPr id="156676" name="Rectangle 3"/>
          <p:cNvSpPr>
            <a:spLocks noGrp="1" noChangeArrowheads="1"/>
          </p:cNvSpPr>
          <p:nvPr>
            <p:ph type="body" idx="1"/>
          </p:nvPr>
        </p:nvSpPr>
        <p:spPr>
          <a:xfrm>
            <a:off x="681038" y="4721225"/>
            <a:ext cx="5453062" cy="4475163"/>
          </a:xfrm>
          <a:noFill/>
          <a:ln/>
        </p:spPr>
        <p:txBody>
          <a:bodyPr/>
          <a:lstStyle/>
          <a:p>
            <a:endParaRPr lang="en-US" smtClean="0"/>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7"/>
          <p:cNvSpPr txBox="1">
            <a:spLocks noGrp="1" noChangeArrowheads="1"/>
          </p:cNvSpPr>
          <p:nvPr/>
        </p:nvSpPr>
        <p:spPr bwMode="auto">
          <a:xfrm>
            <a:off x="3860800" y="9444038"/>
            <a:ext cx="2952750" cy="496887"/>
          </a:xfrm>
          <a:prstGeom prst="rect">
            <a:avLst/>
          </a:prstGeom>
          <a:noFill/>
          <a:ln w="9525">
            <a:noFill/>
            <a:miter lim="800000"/>
            <a:headEnd/>
            <a:tailEnd/>
          </a:ln>
        </p:spPr>
        <p:txBody>
          <a:bodyPr anchor="b"/>
          <a:lstStyle/>
          <a:p>
            <a:pPr algn="r"/>
            <a:fld id="{9CE03D64-0100-4C3D-ACEB-3C467B901523}" type="slidenum">
              <a:rPr lang="en-US" sz="1200"/>
              <a:pPr algn="r"/>
              <a:t>95</a:t>
            </a:fld>
            <a:endParaRPr lang="en-US" sz="1200"/>
          </a:p>
        </p:txBody>
      </p:sp>
      <p:sp>
        <p:nvSpPr>
          <p:cNvPr id="157699" name="Rectangle 2"/>
          <p:cNvSpPr>
            <a:spLocks noGrp="1" noRot="1" noChangeAspect="1" noChangeArrowheads="1" noTextEdit="1"/>
          </p:cNvSpPr>
          <p:nvPr>
            <p:ph type="sldImg"/>
          </p:nvPr>
        </p:nvSpPr>
        <p:spPr>
          <a:xfrm>
            <a:off x="714375" y="746125"/>
            <a:ext cx="5386388" cy="3729038"/>
          </a:xfrm>
          <a:ln/>
        </p:spPr>
      </p:sp>
      <p:sp>
        <p:nvSpPr>
          <p:cNvPr id="157700" name="Rectangle 3"/>
          <p:cNvSpPr>
            <a:spLocks noGrp="1" noChangeArrowheads="1"/>
          </p:cNvSpPr>
          <p:nvPr>
            <p:ph type="body" idx="1"/>
          </p:nvPr>
        </p:nvSpPr>
        <p:spPr>
          <a:xfrm>
            <a:off x="681038" y="4721225"/>
            <a:ext cx="5453062" cy="4475163"/>
          </a:xfrm>
          <a:noFill/>
          <a:ln/>
        </p:spPr>
        <p:txBody>
          <a:bodyPr/>
          <a:lstStyle/>
          <a:p>
            <a:endParaRPr lang="en-US" smtClean="0"/>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2"/>
          <p:cNvSpPr>
            <a:spLocks noGrp="1" noRot="1" noChangeAspect="1" noChangeArrowheads="1" noTextEdit="1"/>
          </p:cNvSpPr>
          <p:nvPr>
            <p:ph type="sldImg"/>
          </p:nvPr>
        </p:nvSpPr>
        <p:spPr>
          <a:ln/>
        </p:spPr>
      </p:sp>
      <p:sp>
        <p:nvSpPr>
          <p:cNvPr id="158723"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Rot="1" noChangeAspect="1" noChangeArrowheads="1" noTextEdit="1"/>
          </p:cNvSpPr>
          <p:nvPr>
            <p:ph type="sldImg"/>
          </p:nvPr>
        </p:nvSpPr>
        <p:spPr>
          <a:ln/>
        </p:spPr>
      </p:sp>
      <p:sp>
        <p:nvSpPr>
          <p:cNvPr id="106499" name="Rectangle 3"/>
          <p:cNvSpPr>
            <a:spLocks noGrp="1" noChangeArrowheads="1"/>
          </p:cNvSpPr>
          <p:nvPr>
            <p:ph type="body" idx="1"/>
          </p:nvPr>
        </p:nvSpPr>
        <p:spPr bwMode="auto">
          <a:xfrm>
            <a:off x="681038" y="4722213"/>
            <a:ext cx="5453062" cy="4474773"/>
          </a:xfrm>
          <a:prstGeom prst="rect">
            <a:avLst/>
          </a:prstGeom>
          <a:noFill/>
          <a:ln>
            <a:miter lim="800000"/>
            <a:headEnd/>
            <a:tailEnd/>
          </a:ln>
        </p:spPr>
        <p:txBody>
          <a:bodyPr/>
          <a:lstStyle/>
          <a:p>
            <a:endParaRPr lang="en-US" smtClean="0">
              <a:latin typeface="Arial" pitchFamily="34" charset="0"/>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p:cNvSpPr>
            <a:spLocks noGrp="1" noRot="1" noChangeAspect="1" noChangeArrowheads="1" noTextEdit="1"/>
          </p:cNvSpPr>
          <p:nvPr>
            <p:ph type="sldImg"/>
          </p:nvPr>
        </p:nvSpPr>
        <p:spPr>
          <a:ln/>
        </p:spPr>
      </p:sp>
      <p:sp>
        <p:nvSpPr>
          <p:cNvPr id="203779" name="Rectangle 3"/>
          <p:cNvSpPr>
            <a:spLocks noGrp="1" noChangeArrowheads="1"/>
          </p:cNvSpPr>
          <p:nvPr>
            <p:ph type="body" idx="1"/>
          </p:nvPr>
        </p:nvSpPr>
        <p:spPr bwMode="auto">
          <a:xfrm>
            <a:off x="681038" y="4722213"/>
            <a:ext cx="5453062" cy="4474773"/>
          </a:xfrm>
          <a:prstGeom prst="rect">
            <a:avLst/>
          </a:prstGeom>
          <a:noFill/>
          <a:ln>
            <a:miter lim="800000"/>
            <a:headEnd/>
            <a:tailEnd/>
          </a:ln>
        </p:spPr>
        <p:txBody>
          <a:bodyPr/>
          <a:lstStyle/>
          <a:p>
            <a:endParaRPr lang="en-US" smtClean="0">
              <a:latin typeface="Arial" pitchFamily="34" charset="0"/>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2"/>
          <p:cNvSpPr>
            <a:spLocks noGrp="1" noRot="1" noChangeAspect="1" noChangeArrowheads="1" noTextEdit="1"/>
          </p:cNvSpPr>
          <p:nvPr>
            <p:ph type="sldImg"/>
          </p:nvPr>
        </p:nvSpPr>
        <p:spPr>
          <a:ln/>
        </p:spPr>
      </p:sp>
      <p:sp>
        <p:nvSpPr>
          <p:cNvPr id="161795"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2"/>
          <p:cNvSpPr>
            <a:spLocks noGrp="1" noRot="1" noChangeAspect="1" noChangeArrowheads="1" noTextEdit="1"/>
          </p:cNvSpPr>
          <p:nvPr>
            <p:ph type="sldImg"/>
          </p:nvPr>
        </p:nvSpPr>
        <p:spPr>
          <a:ln/>
        </p:spPr>
      </p:sp>
      <p:sp>
        <p:nvSpPr>
          <p:cNvPr id="162819"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2"/>
          <p:cNvSpPr>
            <a:spLocks noGrp="1" noRot="1" noChangeAspect="1" noChangeArrowheads="1" noTextEdit="1"/>
          </p:cNvSpPr>
          <p:nvPr>
            <p:ph type="sldImg"/>
          </p:nvPr>
        </p:nvSpPr>
        <p:spPr>
          <a:ln/>
        </p:spPr>
      </p:sp>
      <p:sp>
        <p:nvSpPr>
          <p:cNvPr id="163843"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2"/>
          <p:cNvSpPr>
            <a:spLocks noGrp="1" noRot="1" noChangeAspect="1" noChangeArrowheads="1" noTextEdit="1"/>
          </p:cNvSpPr>
          <p:nvPr>
            <p:ph type="sldImg"/>
          </p:nvPr>
        </p:nvSpPr>
        <p:spPr>
          <a:ln/>
        </p:spPr>
      </p:sp>
      <p:sp>
        <p:nvSpPr>
          <p:cNvPr id="164867"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txBox="1">
            <a:spLocks noGrp="1" noChangeArrowheads="1"/>
          </p:cNvSpPr>
          <p:nvPr/>
        </p:nvSpPr>
        <p:spPr bwMode="auto">
          <a:xfrm>
            <a:off x="3860335" y="9443662"/>
            <a:ext cx="2953226" cy="497126"/>
          </a:xfrm>
          <a:prstGeom prst="rect">
            <a:avLst/>
          </a:prstGeom>
          <a:noFill/>
          <a:ln>
            <a:miter lim="800000"/>
            <a:headEnd/>
            <a:tailEnd/>
          </a:ln>
        </p:spPr>
        <p:txBody>
          <a:bodyPr anchor="b"/>
          <a:lstStyle/>
          <a:p>
            <a:pPr algn="r">
              <a:defRPr/>
            </a:pPr>
            <a:fld id="{A2CB5B4A-B539-444F-8544-23AAEDF1D371}" type="slidenum">
              <a:rPr lang="en-GB" sz="1200">
                <a:latin typeface="+mn-lt"/>
                <a:cs typeface="Arial" charset="0"/>
              </a:rPr>
              <a:pPr algn="r">
                <a:defRPr/>
              </a:pPr>
              <a:t>103</a:t>
            </a:fld>
            <a:endParaRPr lang="en-GB" sz="1200">
              <a:latin typeface="+mn-lt"/>
              <a:cs typeface="Arial" charset="0"/>
            </a:endParaRPr>
          </a:p>
        </p:txBody>
      </p:sp>
      <p:sp>
        <p:nvSpPr>
          <p:cNvPr id="177155" name="Rectangle 2"/>
          <p:cNvSpPr>
            <a:spLocks noGrp="1" noRot="1" noChangeAspect="1" noChangeArrowheads="1" noTextEdit="1"/>
          </p:cNvSpPr>
          <p:nvPr>
            <p:ph type="sldImg"/>
          </p:nvPr>
        </p:nvSpPr>
        <p:spPr>
          <a:ln/>
        </p:spPr>
      </p:sp>
      <p:sp>
        <p:nvSpPr>
          <p:cNvPr id="177156" name="Rectangle 3"/>
          <p:cNvSpPr>
            <a:spLocks noGrp="1" noChangeArrowheads="1"/>
          </p:cNvSpPr>
          <p:nvPr>
            <p:ph type="body" idx="1"/>
          </p:nvPr>
        </p:nvSpPr>
        <p:spPr>
          <a:noFill/>
          <a:ln/>
        </p:spPr>
        <p:txBody>
          <a:bodyPr/>
          <a:lstStyle/>
          <a:p>
            <a:pPr eaLnBrk="1" hangingPunct="1">
              <a:spcBef>
                <a:spcPct val="0"/>
              </a:spcBef>
            </a:pPr>
            <a:endParaRPr lang="en-US" smtClean="0"/>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2"/>
          <p:cNvSpPr>
            <a:spLocks noGrp="1" noRot="1" noChangeAspect="1" noChangeArrowheads="1" noTextEdit="1"/>
          </p:cNvSpPr>
          <p:nvPr>
            <p:ph type="sldImg"/>
          </p:nvPr>
        </p:nvSpPr>
        <p:spPr>
          <a:ln/>
        </p:spPr>
      </p:sp>
      <p:sp>
        <p:nvSpPr>
          <p:cNvPr id="169987"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2"/>
          <p:cNvSpPr>
            <a:spLocks noGrp="1" noRot="1" noChangeAspect="1" noChangeArrowheads="1" noTextEdit="1"/>
          </p:cNvSpPr>
          <p:nvPr>
            <p:ph type="sldImg"/>
          </p:nvPr>
        </p:nvSpPr>
        <p:spPr>
          <a:ln/>
        </p:spPr>
      </p:sp>
      <p:sp>
        <p:nvSpPr>
          <p:cNvPr id="171011"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Rectangle 2"/>
          <p:cNvSpPr>
            <a:spLocks noGrp="1" noRot="1" noChangeAspect="1" noChangeArrowheads="1" noTextEdit="1"/>
          </p:cNvSpPr>
          <p:nvPr>
            <p:ph type="sldImg"/>
          </p:nvPr>
        </p:nvSpPr>
        <p:spPr>
          <a:ln/>
        </p:spPr>
      </p:sp>
      <p:sp>
        <p:nvSpPr>
          <p:cNvPr id="172035"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2"/>
          <p:cNvSpPr>
            <a:spLocks noGrp="1" noRot="1" noChangeAspect="1" noChangeArrowheads="1" noTextEdit="1"/>
          </p:cNvSpPr>
          <p:nvPr>
            <p:ph type="sldImg"/>
          </p:nvPr>
        </p:nvSpPr>
        <p:spPr>
          <a:ln/>
        </p:spPr>
      </p:sp>
      <p:sp>
        <p:nvSpPr>
          <p:cNvPr id="173059"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2"/>
          <p:cNvSpPr>
            <a:spLocks noGrp="1" noRot="1" noChangeAspect="1" noChangeArrowheads="1" noTextEdit="1"/>
          </p:cNvSpPr>
          <p:nvPr>
            <p:ph type="sldImg"/>
          </p:nvPr>
        </p:nvSpPr>
        <p:spPr>
          <a:ln/>
        </p:spPr>
      </p:sp>
      <p:sp>
        <p:nvSpPr>
          <p:cNvPr id="176131"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2"/>
          <p:cNvSpPr>
            <a:spLocks noGrp="1" noRot="1" noChangeAspect="1" noChangeArrowheads="1" noTextEdit="1"/>
          </p:cNvSpPr>
          <p:nvPr>
            <p:ph type="sldImg"/>
          </p:nvPr>
        </p:nvSpPr>
        <p:spPr>
          <a:ln/>
        </p:spPr>
      </p:sp>
      <p:sp>
        <p:nvSpPr>
          <p:cNvPr id="177155"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Rectangle 2"/>
          <p:cNvSpPr>
            <a:spLocks noGrp="1" noRot="1" noChangeAspect="1" noChangeArrowheads="1" noTextEdit="1"/>
          </p:cNvSpPr>
          <p:nvPr>
            <p:ph type="sldImg"/>
          </p:nvPr>
        </p:nvSpPr>
        <p:spPr>
          <a:ln/>
        </p:spPr>
      </p:sp>
      <p:sp>
        <p:nvSpPr>
          <p:cNvPr id="178179"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Rectangle 2"/>
          <p:cNvSpPr>
            <a:spLocks noGrp="1" noRot="1" noChangeAspect="1" noChangeArrowheads="1" noTextEdit="1"/>
          </p:cNvSpPr>
          <p:nvPr>
            <p:ph type="sldImg"/>
          </p:nvPr>
        </p:nvSpPr>
        <p:spPr>
          <a:ln/>
        </p:spPr>
      </p:sp>
      <p:sp>
        <p:nvSpPr>
          <p:cNvPr id="179203"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42950" y="2130425"/>
            <a:ext cx="84201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485900" y="3886200"/>
            <a:ext cx="69342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Rectangle 2"/>
          <p:cNvSpPr>
            <a:spLocks noGrp="1" noChangeArrowheads="1"/>
          </p:cNvSpPr>
          <p:nvPr>
            <p:ph type="ftr" sz="quarter" idx="10"/>
          </p:nvPr>
        </p:nvSpPr>
        <p:spPr>
          <a:ln/>
        </p:spPr>
        <p:txBody>
          <a:bodyPr/>
          <a:lstStyle>
            <a:lvl1pPr>
              <a:defRPr/>
            </a:lvl1pPr>
          </a:lstStyle>
          <a:p>
            <a:pPr>
              <a:defRPr/>
            </a:pPr>
            <a:r>
              <a:rPr lang="en-US"/>
              <a:t>Financial Statement Analysis</a:t>
            </a:r>
          </a:p>
        </p:txBody>
      </p:sp>
      <p:sp>
        <p:nvSpPr>
          <p:cNvPr id="5" name="Rectangle 3"/>
          <p:cNvSpPr>
            <a:spLocks noGrp="1" noChangeArrowheads="1"/>
          </p:cNvSpPr>
          <p:nvPr>
            <p:ph type="sldNum" sz="quarter" idx="11"/>
          </p:nvPr>
        </p:nvSpPr>
        <p:spPr>
          <a:ln/>
        </p:spPr>
        <p:txBody>
          <a:bodyPr/>
          <a:lstStyle>
            <a:lvl1pPr>
              <a:defRPr/>
            </a:lvl1pPr>
          </a:lstStyle>
          <a:p>
            <a:pPr>
              <a:defRPr/>
            </a:pPr>
            <a:fld id="{CF47E6E0-F4A7-44FC-8583-D4BCFB378C94}" type="slidenum">
              <a:rPr lang="en-US"/>
              <a:pPr>
                <a:defRPr/>
              </a:pPr>
              <a:t>‹#›</a:t>
            </a:fld>
            <a:endParaRPr lang="en-US"/>
          </a:p>
        </p:txBody>
      </p:sp>
      <p:sp>
        <p:nvSpPr>
          <p:cNvPr id="6" name="Rectangle 16"/>
          <p:cNvSpPr>
            <a:spLocks noGrp="1" noChangeArrowheads="1"/>
          </p:cNvSpPr>
          <p:nvPr>
            <p:ph type="dt" sz="half" idx="12"/>
          </p:nvPr>
        </p:nvSpPr>
        <p:spPr>
          <a:ln/>
        </p:spPr>
        <p:txBody>
          <a:bodyPr/>
          <a:lstStyle>
            <a:lvl1pPr>
              <a:defRPr/>
            </a:lvl1pPr>
          </a:lstStyle>
          <a:p>
            <a:pPr>
              <a:defRPr/>
            </a:pPr>
            <a:r>
              <a:rPr lang="en-US"/>
              <a:t>Author: Syamsir Kadir</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2"/>
          <p:cNvSpPr>
            <a:spLocks noGrp="1" noChangeArrowheads="1"/>
          </p:cNvSpPr>
          <p:nvPr>
            <p:ph type="ftr" sz="quarter" idx="10"/>
          </p:nvPr>
        </p:nvSpPr>
        <p:spPr>
          <a:ln/>
        </p:spPr>
        <p:txBody>
          <a:bodyPr/>
          <a:lstStyle>
            <a:lvl1pPr>
              <a:defRPr/>
            </a:lvl1pPr>
          </a:lstStyle>
          <a:p>
            <a:pPr>
              <a:defRPr/>
            </a:pPr>
            <a:r>
              <a:rPr lang="en-US"/>
              <a:t>Financial Statement Analysis</a:t>
            </a:r>
          </a:p>
        </p:txBody>
      </p:sp>
      <p:sp>
        <p:nvSpPr>
          <p:cNvPr id="5" name="Rectangle 3"/>
          <p:cNvSpPr>
            <a:spLocks noGrp="1" noChangeArrowheads="1"/>
          </p:cNvSpPr>
          <p:nvPr>
            <p:ph type="sldNum" sz="quarter" idx="11"/>
          </p:nvPr>
        </p:nvSpPr>
        <p:spPr>
          <a:ln/>
        </p:spPr>
        <p:txBody>
          <a:bodyPr/>
          <a:lstStyle>
            <a:lvl1pPr>
              <a:defRPr/>
            </a:lvl1pPr>
          </a:lstStyle>
          <a:p>
            <a:pPr>
              <a:defRPr/>
            </a:pPr>
            <a:fld id="{80AB151B-CD1B-4FE0-A634-903D41295A6C}" type="slidenum">
              <a:rPr lang="en-US"/>
              <a:pPr>
                <a:defRPr/>
              </a:pPr>
              <a:t>‹#›</a:t>
            </a:fld>
            <a:endParaRPr lang="en-US"/>
          </a:p>
        </p:txBody>
      </p:sp>
      <p:sp>
        <p:nvSpPr>
          <p:cNvPr id="6" name="Rectangle 16"/>
          <p:cNvSpPr>
            <a:spLocks noGrp="1" noChangeArrowheads="1"/>
          </p:cNvSpPr>
          <p:nvPr>
            <p:ph type="dt" sz="half" idx="12"/>
          </p:nvPr>
        </p:nvSpPr>
        <p:spPr>
          <a:ln/>
        </p:spPr>
        <p:txBody>
          <a:bodyPr/>
          <a:lstStyle>
            <a:lvl1pPr>
              <a:defRPr/>
            </a:lvl1pPr>
          </a:lstStyle>
          <a:p>
            <a:pPr>
              <a:defRPr/>
            </a:pPr>
            <a:r>
              <a:rPr lang="en-US"/>
              <a:t>Author: Syamsir Kadir</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82638" y="4406900"/>
            <a:ext cx="84201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82638" y="2906713"/>
            <a:ext cx="84201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2"/>
          <p:cNvSpPr>
            <a:spLocks noGrp="1" noChangeArrowheads="1"/>
          </p:cNvSpPr>
          <p:nvPr>
            <p:ph type="ftr" sz="quarter" idx="10"/>
          </p:nvPr>
        </p:nvSpPr>
        <p:spPr>
          <a:ln/>
        </p:spPr>
        <p:txBody>
          <a:bodyPr/>
          <a:lstStyle>
            <a:lvl1pPr>
              <a:defRPr/>
            </a:lvl1pPr>
          </a:lstStyle>
          <a:p>
            <a:pPr>
              <a:defRPr/>
            </a:pPr>
            <a:r>
              <a:rPr lang="en-US"/>
              <a:t>Financial Statement Analysis</a:t>
            </a:r>
          </a:p>
        </p:txBody>
      </p:sp>
      <p:sp>
        <p:nvSpPr>
          <p:cNvPr id="5" name="Rectangle 3"/>
          <p:cNvSpPr>
            <a:spLocks noGrp="1" noChangeArrowheads="1"/>
          </p:cNvSpPr>
          <p:nvPr>
            <p:ph type="sldNum" sz="quarter" idx="11"/>
          </p:nvPr>
        </p:nvSpPr>
        <p:spPr>
          <a:ln/>
        </p:spPr>
        <p:txBody>
          <a:bodyPr/>
          <a:lstStyle>
            <a:lvl1pPr>
              <a:defRPr/>
            </a:lvl1pPr>
          </a:lstStyle>
          <a:p>
            <a:pPr>
              <a:defRPr/>
            </a:pPr>
            <a:fld id="{3CD506C2-0F63-4935-89CA-9A4050BAD26D}" type="slidenum">
              <a:rPr lang="en-US"/>
              <a:pPr>
                <a:defRPr/>
              </a:pPr>
              <a:t>‹#›</a:t>
            </a:fld>
            <a:endParaRPr lang="en-US"/>
          </a:p>
        </p:txBody>
      </p:sp>
      <p:sp>
        <p:nvSpPr>
          <p:cNvPr id="6" name="Rectangle 16"/>
          <p:cNvSpPr>
            <a:spLocks noGrp="1" noChangeArrowheads="1"/>
          </p:cNvSpPr>
          <p:nvPr>
            <p:ph type="dt" sz="half" idx="12"/>
          </p:nvPr>
        </p:nvSpPr>
        <p:spPr>
          <a:ln/>
        </p:spPr>
        <p:txBody>
          <a:bodyPr/>
          <a:lstStyle>
            <a:lvl1pPr>
              <a:defRPr/>
            </a:lvl1pPr>
          </a:lstStyle>
          <a:p>
            <a:pPr>
              <a:defRPr/>
            </a:pPr>
            <a:r>
              <a:rPr lang="en-US"/>
              <a:t>Author: Syamsir Kadir</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95300" y="1981200"/>
            <a:ext cx="43815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5029200" y="1981200"/>
            <a:ext cx="43815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2"/>
          <p:cNvSpPr>
            <a:spLocks noGrp="1" noChangeArrowheads="1"/>
          </p:cNvSpPr>
          <p:nvPr>
            <p:ph type="ftr" sz="quarter" idx="10"/>
          </p:nvPr>
        </p:nvSpPr>
        <p:spPr>
          <a:ln/>
        </p:spPr>
        <p:txBody>
          <a:bodyPr/>
          <a:lstStyle>
            <a:lvl1pPr>
              <a:defRPr/>
            </a:lvl1pPr>
          </a:lstStyle>
          <a:p>
            <a:pPr>
              <a:defRPr/>
            </a:pPr>
            <a:r>
              <a:rPr lang="en-US"/>
              <a:t>Financial Statement Analysis</a:t>
            </a:r>
          </a:p>
        </p:txBody>
      </p:sp>
      <p:sp>
        <p:nvSpPr>
          <p:cNvPr id="6" name="Rectangle 3"/>
          <p:cNvSpPr>
            <a:spLocks noGrp="1" noChangeArrowheads="1"/>
          </p:cNvSpPr>
          <p:nvPr>
            <p:ph type="sldNum" sz="quarter" idx="11"/>
          </p:nvPr>
        </p:nvSpPr>
        <p:spPr>
          <a:ln/>
        </p:spPr>
        <p:txBody>
          <a:bodyPr/>
          <a:lstStyle>
            <a:lvl1pPr>
              <a:defRPr/>
            </a:lvl1pPr>
          </a:lstStyle>
          <a:p>
            <a:pPr>
              <a:defRPr/>
            </a:pPr>
            <a:fld id="{5318E5F7-86C2-4E6C-9130-532C9EEFA5D8}" type="slidenum">
              <a:rPr lang="en-US"/>
              <a:pPr>
                <a:defRPr/>
              </a:pPr>
              <a:t>‹#›</a:t>
            </a:fld>
            <a:endParaRPr lang="en-US"/>
          </a:p>
        </p:txBody>
      </p:sp>
      <p:sp>
        <p:nvSpPr>
          <p:cNvPr id="7" name="Rectangle 16"/>
          <p:cNvSpPr>
            <a:spLocks noGrp="1" noChangeArrowheads="1"/>
          </p:cNvSpPr>
          <p:nvPr>
            <p:ph type="dt" sz="half" idx="12"/>
          </p:nvPr>
        </p:nvSpPr>
        <p:spPr>
          <a:ln/>
        </p:spPr>
        <p:txBody>
          <a:bodyPr/>
          <a:lstStyle>
            <a:lvl1pPr>
              <a:defRPr/>
            </a:lvl1pPr>
          </a:lstStyle>
          <a:p>
            <a:pPr>
              <a:defRPr/>
            </a:pPr>
            <a:r>
              <a:rPr lang="en-US"/>
              <a:t>Author: Syamsir Kadir</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95300" y="274638"/>
            <a:ext cx="89154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95300" y="1535113"/>
            <a:ext cx="437673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95300" y="2174875"/>
            <a:ext cx="437673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5032375" y="1535113"/>
            <a:ext cx="437832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032375" y="2174875"/>
            <a:ext cx="437832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2"/>
          <p:cNvSpPr>
            <a:spLocks noGrp="1" noChangeArrowheads="1"/>
          </p:cNvSpPr>
          <p:nvPr>
            <p:ph type="ftr" sz="quarter" idx="10"/>
          </p:nvPr>
        </p:nvSpPr>
        <p:spPr>
          <a:ln/>
        </p:spPr>
        <p:txBody>
          <a:bodyPr/>
          <a:lstStyle>
            <a:lvl1pPr>
              <a:defRPr/>
            </a:lvl1pPr>
          </a:lstStyle>
          <a:p>
            <a:pPr>
              <a:defRPr/>
            </a:pPr>
            <a:r>
              <a:rPr lang="en-US"/>
              <a:t>Financial Statement Analysis</a:t>
            </a:r>
          </a:p>
        </p:txBody>
      </p:sp>
      <p:sp>
        <p:nvSpPr>
          <p:cNvPr id="8" name="Rectangle 3"/>
          <p:cNvSpPr>
            <a:spLocks noGrp="1" noChangeArrowheads="1"/>
          </p:cNvSpPr>
          <p:nvPr>
            <p:ph type="sldNum" sz="quarter" idx="11"/>
          </p:nvPr>
        </p:nvSpPr>
        <p:spPr>
          <a:ln/>
        </p:spPr>
        <p:txBody>
          <a:bodyPr/>
          <a:lstStyle>
            <a:lvl1pPr>
              <a:defRPr/>
            </a:lvl1pPr>
          </a:lstStyle>
          <a:p>
            <a:pPr>
              <a:defRPr/>
            </a:pPr>
            <a:fld id="{E7F0BCDC-722C-4B0F-A443-68A63D235CAA}" type="slidenum">
              <a:rPr lang="en-US"/>
              <a:pPr>
                <a:defRPr/>
              </a:pPr>
              <a:t>‹#›</a:t>
            </a:fld>
            <a:endParaRPr lang="en-US"/>
          </a:p>
        </p:txBody>
      </p:sp>
      <p:sp>
        <p:nvSpPr>
          <p:cNvPr id="9" name="Rectangle 16"/>
          <p:cNvSpPr>
            <a:spLocks noGrp="1" noChangeArrowheads="1"/>
          </p:cNvSpPr>
          <p:nvPr>
            <p:ph type="dt" sz="half" idx="12"/>
          </p:nvPr>
        </p:nvSpPr>
        <p:spPr>
          <a:ln/>
        </p:spPr>
        <p:txBody>
          <a:bodyPr/>
          <a:lstStyle>
            <a:lvl1pPr>
              <a:defRPr/>
            </a:lvl1pPr>
          </a:lstStyle>
          <a:p>
            <a:pPr>
              <a:defRPr/>
            </a:pPr>
            <a:r>
              <a:rPr lang="en-US"/>
              <a:t>Author: Syamsir Kadir</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2"/>
          <p:cNvSpPr>
            <a:spLocks noGrp="1" noChangeArrowheads="1"/>
          </p:cNvSpPr>
          <p:nvPr>
            <p:ph type="ftr" sz="quarter" idx="10"/>
          </p:nvPr>
        </p:nvSpPr>
        <p:spPr>
          <a:ln/>
        </p:spPr>
        <p:txBody>
          <a:bodyPr/>
          <a:lstStyle>
            <a:lvl1pPr>
              <a:defRPr/>
            </a:lvl1pPr>
          </a:lstStyle>
          <a:p>
            <a:pPr>
              <a:defRPr/>
            </a:pPr>
            <a:r>
              <a:rPr lang="en-US"/>
              <a:t>Financial Statement Analysis</a:t>
            </a:r>
          </a:p>
        </p:txBody>
      </p:sp>
      <p:sp>
        <p:nvSpPr>
          <p:cNvPr id="4" name="Rectangle 3"/>
          <p:cNvSpPr>
            <a:spLocks noGrp="1" noChangeArrowheads="1"/>
          </p:cNvSpPr>
          <p:nvPr>
            <p:ph type="sldNum" sz="quarter" idx="11"/>
          </p:nvPr>
        </p:nvSpPr>
        <p:spPr>
          <a:ln/>
        </p:spPr>
        <p:txBody>
          <a:bodyPr/>
          <a:lstStyle>
            <a:lvl1pPr>
              <a:defRPr/>
            </a:lvl1pPr>
          </a:lstStyle>
          <a:p>
            <a:pPr>
              <a:defRPr/>
            </a:pPr>
            <a:fld id="{BB32A9F8-A59A-4C23-A6FD-B86E026AF2E0}" type="slidenum">
              <a:rPr lang="en-US"/>
              <a:pPr>
                <a:defRPr/>
              </a:pPr>
              <a:t>‹#›</a:t>
            </a:fld>
            <a:endParaRPr lang="en-US"/>
          </a:p>
        </p:txBody>
      </p:sp>
      <p:sp>
        <p:nvSpPr>
          <p:cNvPr id="5" name="Rectangle 16"/>
          <p:cNvSpPr>
            <a:spLocks noGrp="1" noChangeArrowheads="1"/>
          </p:cNvSpPr>
          <p:nvPr>
            <p:ph type="dt" sz="half" idx="12"/>
          </p:nvPr>
        </p:nvSpPr>
        <p:spPr>
          <a:ln/>
        </p:spPr>
        <p:txBody>
          <a:bodyPr/>
          <a:lstStyle>
            <a:lvl1pPr>
              <a:defRPr/>
            </a:lvl1pPr>
          </a:lstStyle>
          <a:p>
            <a:pPr>
              <a:defRPr/>
            </a:pPr>
            <a:r>
              <a:rPr lang="en-US"/>
              <a:t>Author: Syamsir Kadir</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2"/>
          <p:cNvSpPr>
            <a:spLocks noGrp="1" noChangeArrowheads="1"/>
          </p:cNvSpPr>
          <p:nvPr>
            <p:ph type="ftr" sz="quarter" idx="10"/>
          </p:nvPr>
        </p:nvSpPr>
        <p:spPr>
          <a:ln/>
        </p:spPr>
        <p:txBody>
          <a:bodyPr/>
          <a:lstStyle>
            <a:lvl1pPr>
              <a:defRPr/>
            </a:lvl1pPr>
          </a:lstStyle>
          <a:p>
            <a:pPr>
              <a:defRPr/>
            </a:pPr>
            <a:r>
              <a:rPr lang="en-US"/>
              <a:t>Financial Statement Analysis</a:t>
            </a:r>
          </a:p>
        </p:txBody>
      </p:sp>
      <p:sp>
        <p:nvSpPr>
          <p:cNvPr id="3" name="Rectangle 3"/>
          <p:cNvSpPr>
            <a:spLocks noGrp="1" noChangeArrowheads="1"/>
          </p:cNvSpPr>
          <p:nvPr>
            <p:ph type="sldNum" sz="quarter" idx="11"/>
          </p:nvPr>
        </p:nvSpPr>
        <p:spPr>
          <a:ln/>
        </p:spPr>
        <p:txBody>
          <a:bodyPr/>
          <a:lstStyle>
            <a:lvl1pPr>
              <a:defRPr/>
            </a:lvl1pPr>
          </a:lstStyle>
          <a:p>
            <a:pPr>
              <a:defRPr/>
            </a:pPr>
            <a:fld id="{FD9581B6-20E5-4230-B3D0-2716F339652F}" type="slidenum">
              <a:rPr lang="en-US"/>
              <a:pPr>
                <a:defRPr/>
              </a:pPr>
              <a:t>‹#›</a:t>
            </a:fld>
            <a:endParaRPr lang="en-US"/>
          </a:p>
        </p:txBody>
      </p:sp>
      <p:sp>
        <p:nvSpPr>
          <p:cNvPr id="4" name="Rectangle 16"/>
          <p:cNvSpPr>
            <a:spLocks noGrp="1" noChangeArrowheads="1"/>
          </p:cNvSpPr>
          <p:nvPr>
            <p:ph type="dt" sz="half" idx="12"/>
          </p:nvPr>
        </p:nvSpPr>
        <p:spPr>
          <a:ln/>
        </p:spPr>
        <p:txBody>
          <a:bodyPr/>
          <a:lstStyle>
            <a:lvl1pPr>
              <a:defRPr/>
            </a:lvl1pPr>
          </a:lstStyle>
          <a:p>
            <a:pPr>
              <a:defRPr/>
            </a:pPr>
            <a:r>
              <a:rPr lang="en-US"/>
              <a:t>Author: Syamsir Kadir</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95300" y="273050"/>
            <a:ext cx="3259138"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873500" y="273050"/>
            <a:ext cx="553720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95300" y="1435100"/>
            <a:ext cx="3259138"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2"/>
          <p:cNvSpPr>
            <a:spLocks noGrp="1" noChangeArrowheads="1"/>
          </p:cNvSpPr>
          <p:nvPr>
            <p:ph type="ftr" sz="quarter" idx="10"/>
          </p:nvPr>
        </p:nvSpPr>
        <p:spPr>
          <a:ln/>
        </p:spPr>
        <p:txBody>
          <a:bodyPr/>
          <a:lstStyle>
            <a:lvl1pPr>
              <a:defRPr/>
            </a:lvl1pPr>
          </a:lstStyle>
          <a:p>
            <a:pPr>
              <a:defRPr/>
            </a:pPr>
            <a:r>
              <a:rPr lang="en-US"/>
              <a:t>Financial Statement Analysis</a:t>
            </a:r>
          </a:p>
        </p:txBody>
      </p:sp>
      <p:sp>
        <p:nvSpPr>
          <p:cNvPr id="6" name="Rectangle 3"/>
          <p:cNvSpPr>
            <a:spLocks noGrp="1" noChangeArrowheads="1"/>
          </p:cNvSpPr>
          <p:nvPr>
            <p:ph type="sldNum" sz="quarter" idx="11"/>
          </p:nvPr>
        </p:nvSpPr>
        <p:spPr>
          <a:ln/>
        </p:spPr>
        <p:txBody>
          <a:bodyPr/>
          <a:lstStyle>
            <a:lvl1pPr>
              <a:defRPr/>
            </a:lvl1pPr>
          </a:lstStyle>
          <a:p>
            <a:pPr>
              <a:defRPr/>
            </a:pPr>
            <a:fld id="{77137647-D621-4061-A54E-980AB0345FC3}" type="slidenum">
              <a:rPr lang="en-US"/>
              <a:pPr>
                <a:defRPr/>
              </a:pPr>
              <a:t>‹#›</a:t>
            </a:fld>
            <a:endParaRPr lang="en-US"/>
          </a:p>
        </p:txBody>
      </p:sp>
      <p:sp>
        <p:nvSpPr>
          <p:cNvPr id="7" name="Rectangle 16"/>
          <p:cNvSpPr>
            <a:spLocks noGrp="1" noChangeArrowheads="1"/>
          </p:cNvSpPr>
          <p:nvPr>
            <p:ph type="dt" sz="half" idx="12"/>
          </p:nvPr>
        </p:nvSpPr>
        <p:spPr>
          <a:ln/>
        </p:spPr>
        <p:txBody>
          <a:bodyPr/>
          <a:lstStyle>
            <a:lvl1pPr>
              <a:defRPr/>
            </a:lvl1pPr>
          </a:lstStyle>
          <a:p>
            <a:pPr>
              <a:defRPr/>
            </a:pPr>
            <a:r>
              <a:rPr lang="en-US"/>
              <a:t>Author: Syamsir Kadir</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1513" y="4800600"/>
            <a:ext cx="59436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941513"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941513"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2"/>
          <p:cNvSpPr>
            <a:spLocks noGrp="1" noChangeArrowheads="1"/>
          </p:cNvSpPr>
          <p:nvPr>
            <p:ph type="ftr" sz="quarter" idx="10"/>
          </p:nvPr>
        </p:nvSpPr>
        <p:spPr>
          <a:ln/>
        </p:spPr>
        <p:txBody>
          <a:bodyPr/>
          <a:lstStyle>
            <a:lvl1pPr>
              <a:defRPr/>
            </a:lvl1pPr>
          </a:lstStyle>
          <a:p>
            <a:pPr>
              <a:defRPr/>
            </a:pPr>
            <a:r>
              <a:rPr lang="en-US"/>
              <a:t>Financial Statement Analysis</a:t>
            </a:r>
          </a:p>
        </p:txBody>
      </p:sp>
      <p:sp>
        <p:nvSpPr>
          <p:cNvPr id="6" name="Rectangle 3"/>
          <p:cNvSpPr>
            <a:spLocks noGrp="1" noChangeArrowheads="1"/>
          </p:cNvSpPr>
          <p:nvPr>
            <p:ph type="sldNum" sz="quarter" idx="11"/>
          </p:nvPr>
        </p:nvSpPr>
        <p:spPr>
          <a:ln/>
        </p:spPr>
        <p:txBody>
          <a:bodyPr/>
          <a:lstStyle>
            <a:lvl1pPr>
              <a:defRPr/>
            </a:lvl1pPr>
          </a:lstStyle>
          <a:p>
            <a:pPr>
              <a:defRPr/>
            </a:pPr>
            <a:fld id="{AEABD0C5-C8FF-4A19-BD36-312009D21489}" type="slidenum">
              <a:rPr lang="en-US"/>
              <a:pPr>
                <a:defRPr/>
              </a:pPr>
              <a:t>‹#›</a:t>
            </a:fld>
            <a:endParaRPr lang="en-US"/>
          </a:p>
        </p:txBody>
      </p:sp>
      <p:sp>
        <p:nvSpPr>
          <p:cNvPr id="7" name="Rectangle 16"/>
          <p:cNvSpPr>
            <a:spLocks noGrp="1" noChangeArrowheads="1"/>
          </p:cNvSpPr>
          <p:nvPr>
            <p:ph type="dt" sz="half" idx="12"/>
          </p:nvPr>
        </p:nvSpPr>
        <p:spPr>
          <a:ln/>
        </p:spPr>
        <p:txBody>
          <a:bodyPr/>
          <a:lstStyle>
            <a:lvl1pPr>
              <a:defRPr/>
            </a:lvl1pPr>
          </a:lstStyle>
          <a:p>
            <a:pPr>
              <a:defRPr/>
            </a:pPr>
            <a:r>
              <a:rPr lang="en-US"/>
              <a:t>Author: Syamsir Kadir</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2"/>
          <p:cNvSpPr>
            <a:spLocks noGrp="1" noChangeArrowheads="1"/>
          </p:cNvSpPr>
          <p:nvPr>
            <p:ph type="ftr" sz="quarter" idx="10"/>
          </p:nvPr>
        </p:nvSpPr>
        <p:spPr>
          <a:ln/>
        </p:spPr>
        <p:txBody>
          <a:bodyPr/>
          <a:lstStyle>
            <a:lvl1pPr>
              <a:defRPr/>
            </a:lvl1pPr>
          </a:lstStyle>
          <a:p>
            <a:pPr>
              <a:defRPr/>
            </a:pPr>
            <a:r>
              <a:rPr lang="en-US"/>
              <a:t>Financial Statement Analysis</a:t>
            </a:r>
          </a:p>
        </p:txBody>
      </p:sp>
      <p:sp>
        <p:nvSpPr>
          <p:cNvPr id="5" name="Rectangle 3"/>
          <p:cNvSpPr>
            <a:spLocks noGrp="1" noChangeArrowheads="1"/>
          </p:cNvSpPr>
          <p:nvPr>
            <p:ph type="sldNum" sz="quarter" idx="11"/>
          </p:nvPr>
        </p:nvSpPr>
        <p:spPr>
          <a:ln/>
        </p:spPr>
        <p:txBody>
          <a:bodyPr/>
          <a:lstStyle>
            <a:lvl1pPr>
              <a:defRPr/>
            </a:lvl1pPr>
          </a:lstStyle>
          <a:p>
            <a:pPr>
              <a:defRPr/>
            </a:pPr>
            <a:fld id="{DF6B4CEA-1B2A-4946-8319-78B4896CFB0C}" type="slidenum">
              <a:rPr lang="en-US"/>
              <a:pPr>
                <a:defRPr/>
              </a:pPr>
              <a:t>‹#›</a:t>
            </a:fld>
            <a:endParaRPr lang="en-US"/>
          </a:p>
        </p:txBody>
      </p:sp>
      <p:sp>
        <p:nvSpPr>
          <p:cNvPr id="6" name="Rectangle 16"/>
          <p:cNvSpPr>
            <a:spLocks noGrp="1" noChangeArrowheads="1"/>
          </p:cNvSpPr>
          <p:nvPr>
            <p:ph type="dt" sz="half" idx="12"/>
          </p:nvPr>
        </p:nvSpPr>
        <p:spPr>
          <a:ln/>
        </p:spPr>
        <p:txBody>
          <a:bodyPr/>
          <a:lstStyle>
            <a:lvl1pPr>
              <a:defRPr/>
            </a:lvl1pPr>
          </a:lstStyle>
          <a:p>
            <a:pPr>
              <a:defRPr/>
            </a:pPr>
            <a:r>
              <a:rPr lang="en-US"/>
              <a:t>Author: Syamsir Kadir</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81850" y="457200"/>
            <a:ext cx="2228850" cy="54102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95300" y="457200"/>
            <a:ext cx="6534150" cy="54102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2"/>
          <p:cNvSpPr>
            <a:spLocks noGrp="1" noChangeArrowheads="1"/>
          </p:cNvSpPr>
          <p:nvPr>
            <p:ph type="ftr" sz="quarter" idx="10"/>
          </p:nvPr>
        </p:nvSpPr>
        <p:spPr>
          <a:ln/>
        </p:spPr>
        <p:txBody>
          <a:bodyPr/>
          <a:lstStyle>
            <a:lvl1pPr>
              <a:defRPr/>
            </a:lvl1pPr>
          </a:lstStyle>
          <a:p>
            <a:pPr>
              <a:defRPr/>
            </a:pPr>
            <a:r>
              <a:rPr lang="en-US"/>
              <a:t>Financial Statement Analysis</a:t>
            </a:r>
          </a:p>
        </p:txBody>
      </p:sp>
      <p:sp>
        <p:nvSpPr>
          <p:cNvPr id="5" name="Rectangle 3"/>
          <p:cNvSpPr>
            <a:spLocks noGrp="1" noChangeArrowheads="1"/>
          </p:cNvSpPr>
          <p:nvPr>
            <p:ph type="sldNum" sz="quarter" idx="11"/>
          </p:nvPr>
        </p:nvSpPr>
        <p:spPr>
          <a:ln/>
        </p:spPr>
        <p:txBody>
          <a:bodyPr/>
          <a:lstStyle>
            <a:lvl1pPr>
              <a:defRPr/>
            </a:lvl1pPr>
          </a:lstStyle>
          <a:p>
            <a:pPr>
              <a:defRPr/>
            </a:pPr>
            <a:fld id="{A915CBA7-CC44-466B-A98C-DCE029173578}" type="slidenum">
              <a:rPr lang="en-US"/>
              <a:pPr>
                <a:defRPr/>
              </a:pPr>
              <a:t>‹#›</a:t>
            </a:fld>
            <a:endParaRPr lang="en-US"/>
          </a:p>
        </p:txBody>
      </p:sp>
      <p:sp>
        <p:nvSpPr>
          <p:cNvPr id="6" name="Rectangle 16"/>
          <p:cNvSpPr>
            <a:spLocks noGrp="1" noChangeArrowheads="1"/>
          </p:cNvSpPr>
          <p:nvPr>
            <p:ph type="dt" sz="half" idx="12"/>
          </p:nvPr>
        </p:nvSpPr>
        <p:spPr>
          <a:ln/>
        </p:spPr>
        <p:txBody>
          <a:bodyPr/>
          <a:lstStyle>
            <a:lvl1pPr>
              <a:defRPr/>
            </a:lvl1pPr>
          </a:lstStyle>
          <a:p>
            <a:pPr>
              <a:defRPr/>
            </a:pPr>
            <a:r>
              <a:rPr lang="en-US"/>
              <a:t>Author: Syamsir Kadir</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95300" y="457200"/>
            <a:ext cx="8915400" cy="13716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495300" y="1981200"/>
            <a:ext cx="4381500" cy="3886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5029200" y="1981200"/>
            <a:ext cx="4381500" cy="3886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2"/>
          <p:cNvSpPr>
            <a:spLocks noGrp="1" noChangeArrowheads="1"/>
          </p:cNvSpPr>
          <p:nvPr>
            <p:ph type="ftr" sz="quarter" idx="10"/>
          </p:nvPr>
        </p:nvSpPr>
        <p:spPr>
          <a:ln/>
        </p:spPr>
        <p:txBody>
          <a:bodyPr/>
          <a:lstStyle>
            <a:lvl1pPr>
              <a:defRPr/>
            </a:lvl1pPr>
          </a:lstStyle>
          <a:p>
            <a:pPr>
              <a:defRPr/>
            </a:pPr>
            <a:r>
              <a:rPr lang="en-US"/>
              <a:t>Financial Statement Analysis</a:t>
            </a:r>
          </a:p>
        </p:txBody>
      </p:sp>
      <p:sp>
        <p:nvSpPr>
          <p:cNvPr id="6" name="Rectangle 3"/>
          <p:cNvSpPr>
            <a:spLocks noGrp="1" noChangeArrowheads="1"/>
          </p:cNvSpPr>
          <p:nvPr>
            <p:ph type="sldNum" sz="quarter" idx="11"/>
          </p:nvPr>
        </p:nvSpPr>
        <p:spPr>
          <a:ln/>
        </p:spPr>
        <p:txBody>
          <a:bodyPr/>
          <a:lstStyle>
            <a:lvl1pPr>
              <a:defRPr/>
            </a:lvl1pPr>
          </a:lstStyle>
          <a:p>
            <a:pPr>
              <a:defRPr/>
            </a:pPr>
            <a:fld id="{B5DDF46F-A865-4989-BCD6-F4D8B3A812E3}" type="slidenum">
              <a:rPr lang="en-US"/>
              <a:pPr>
                <a:defRPr/>
              </a:pPr>
              <a:t>‹#›</a:t>
            </a:fld>
            <a:endParaRPr lang="en-US"/>
          </a:p>
        </p:txBody>
      </p:sp>
      <p:sp>
        <p:nvSpPr>
          <p:cNvPr id="7" name="Rectangle 16"/>
          <p:cNvSpPr>
            <a:spLocks noGrp="1" noChangeArrowheads="1"/>
          </p:cNvSpPr>
          <p:nvPr>
            <p:ph type="dt" sz="half" idx="12"/>
          </p:nvPr>
        </p:nvSpPr>
        <p:spPr>
          <a:ln/>
        </p:spPr>
        <p:txBody>
          <a:bodyPr/>
          <a:lstStyle>
            <a:lvl1pPr>
              <a:defRPr/>
            </a:lvl1pPr>
          </a:lstStyle>
          <a:p>
            <a:pPr>
              <a:defRPr/>
            </a:pPr>
            <a:r>
              <a:rPr lang="en-US"/>
              <a:t>Author: Syamsir Kadir</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95300" y="457200"/>
            <a:ext cx="8915400" cy="1371600"/>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495300" y="1981200"/>
            <a:ext cx="8915400" cy="3886200"/>
          </a:xfrm>
        </p:spPr>
        <p:txBody>
          <a:bodyPr/>
          <a:lstStyle/>
          <a:p>
            <a:pPr lvl="0"/>
            <a:endParaRPr lang="en-US" noProof="0" smtClean="0"/>
          </a:p>
        </p:txBody>
      </p:sp>
      <p:sp>
        <p:nvSpPr>
          <p:cNvPr id="4" name="Rectangle 2"/>
          <p:cNvSpPr>
            <a:spLocks noGrp="1" noChangeArrowheads="1"/>
          </p:cNvSpPr>
          <p:nvPr>
            <p:ph type="ftr" sz="quarter" idx="10"/>
          </p:nvPr>
        </p:nvSpPr>
        <p:spPr>
          <a:ln/>
        </p:spPr>
        <p:txBody>
          <a:bodyPr/>
          <a:lstStyle>
            <a:lvl1pPr>
              <a:defRPr/>
            </a:lvl1pPr>
          </a:lstStyle>
          <a:p>
            <a:pPr>
              <a:defRPr/>
            </a:pPr>
            <a:r>
              <a:rPr lang="en-US"/>
              <a:t>Financial Statement Analysis</a:t>
            </a:r>
          </a:p>
        </p:txBody>
      </p:sp>
      <p:sp>
        <p:nvSpPr>
          <p:cNvPr id="5" name="Rectangle 3"/>
          <p:cNvSpPr>
            <a:spLocks noGrp="1" noChangeArrowheads="1"/>
          </p:cNvSpPr>
          <p:nvPr>
            <p:ph type="sldNum" sz="quarter" idx="11"/>
          </p:nvPr>
        </p:nvSpPr>
        <p:spPr>
          <a:ln/>
        </p:spPr>
        <p:txBody>
          <a:bodyPr/>
          <a:lstStyle>
            <a:lvl1pPr>
              <a:defRPr/>
            </a:lvl1pPr>
          </a:lstStyle>
          <a:p>
            <a:pPr>
              <a:defRPr/>
            </a:pPr>
            <a:fld id="{AF4AEFE1-91C5-414E-8FFC-58EC433D937D}" type="slidenum">
              <a:rPr lang="en-US"/>
              <a:pPr>
                <a:defRPr/>
              </a:pPr>
              <a:t>‹#›</a:t>
            </a:fld>
            <a:endParaRPr lang="en-US"/>
          </a:p>
        </p:txBody>
      </p:sp>
      <p:sp>
        <p:nvSpPr>
          <p:cNvPr id="6" name="Rectangle 16"/>
          <p:cNvSpPr>
            <a:spLocks noGrp="1" noChangeArrowheads="1"/>
          </p:cNvSpPr>
          <p:nvPr>
            <p:ph type="dt" sz="half" idx="12"/>
          </p:nvPr>
        </p:nvSpPr>
        <p:spPr>
          <a:ln/>
        </p:spPr>
        <p:txBody>
          <a:bodyPr/>
          <a:lstStyle>
            <a:lvl1pPr>
              <a:defRPr/>
            </a:lvl1pPr>
          </a:lstStyle>
          <a:p>
            <a:pPr>
              <a:defRPr/>
            </a:pPr>
            <a:r>
              <a:rPr lang="en-US"/>
              <a:t>Author: Syamsir Kadir</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ClipArt" preserve="1">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495300" y="457200"/>
            <a:ext cx="8915400" cy="13716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495300" y="1981200"/>
            <a:ext cx="4381500" cy="3886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lipArt Placeholder 3"/>
          <p:cNvSpPr>
            <a:spLocks noGrp="1"/>
          </p:cNvSpPr>
          <p:nvPr>
            <p:ph type="clipArt" sz="half" idx="2"/>
          </p:nvPr>
        </p:nvSpPr>
        <p:spPr>
          <a:xfrm>
            <a:off x="5029200" y="1981200"/>
            <a:ext cx="4381500" cy="3886200"/>
          </a:xfrm>
        </p:spPr>
        <p:txBody>
          <a:bodyPr/>
          <a:lstStyle/>
          <a:p>
            <a:pPr lvl="0"/>
            <a:endParaRPr lang="en-US" noProof="0" smtClean="0"/>
          </a:p>
        </p:txBody>
      </p:sp>
      <p:sp>
        <p:nvSpPr>
          <p:cNvPr id="5" name="Rectangle 2"/>
          <p:cNvSpPr>
            <a:spLocks noGrp="1" noChangeArrowheads="1"/>
          </p:cNvSpPr>
          <p:nvPr>
            <p:ph type="ftr" sz="quarter" idx="10"/>
          </p:nvPr>
        </p:nvSpPr>
        <p:spPr>
          <a:ln/>
        </p:spPr>
        <p:txBody>
          <a:bodyPr/>
          <a:lstStyle>
            <a:lvl1pPr>
              <a:defRPr/>
            </a:lvl1pPr>
          </a:lstStyle>
          <a:p>
            <a:pPr>
              <a:defRPr/>
            </a:pPr>
            <a:r>
              <a:rPr lang="en-US"/>
              <a:t>Financial Statement Analysis</a:t>
            </a:r>
          </a:p>
        </p:txBody>
      </p:sp>
      <p:sp>
        <p:nvSpPr>
          <p:cNvPr id="6" name="Rectangle 3"/>
          <p:cNvSpPr>
            <a:spLocks noGrp="1" noChangeArrowheads="1"/>
          </p:cNvSpPr>
          <p:nvPr>
            <p:ph type="sldNum" sz="quarter" idx="11"/>
          </p:nvPr>
        </p:nvSpPr>
        <p:spPr>
          <a:ln/>
        </p:spPr>
        <p:txBody>
          <a:bodyPr/>
          <a:lstStyle>
            <a:lvl1pPr>
              <a:defRPr/>
            </a:lvl1pPr>
          </a:lstStyle>
          <a:p>
            <a:pPr>
              <a:defRPr/>
            </a:pPr>
            <a:fld id="{DB9C2A46-794C-4777-A794-CF7D83E29556}" type="slidenum">
              <a:rPr lang="en-US"/>
              <a:pPr>
                <a:defRPr/>
              </a:pPr>
              <a:t>‹#›</a:t>
            </a:fld>
            <a:endParaRPr lang="en-US"/>
          </a:p>
        </p:txBody>
      </p:sp>
      <p:sp>
        <p:nvSpPr>
          <p:cNvPr id="7" name="Rectangle 16"/>
          <p:cNvSpPr>
            <a:spLocks noGrp="1" noChangeArrowheads="1"/>
          </p:cNvSpPr>
          <p:nvPr>
            <p:ph type="dt" sz="half" idx="12"/>
          </p:nvPr>
        </p:nvSpPr>
        <p:spPr>
          <a:ln/>
        </p:spPr>
        <p:txBody>
          <a:bodyPr/>
          <a:lstStyle>
            <a:lvl1pPr>
              <a:defRPr/>
            </a:lvl1pPr>
          </a:lstStyle>
          <a:p>
            <a:pPr>
              <a:defRPr/>
            </a:pPr>
            <a:r>
              <a:rPr lang="en-US"/>
              <a:t>Author: Syamsir Kadir</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fourObj" preserve="1">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495300" y="457200"/>
            <a:ext cx="8915400" cy="1371600"/>
          </a:xfrm>
        </p:spPr>
        <p:txBody>
          <a:bodyPr/>
          <a:lstStyle/>
          <a:p>
            <a:r>
              <a:rPr lang="en-US" smtClean="0"/>
              <a:t>Click to edit Master title style</a:t>
            </a:r>
            <a:endParaRPr lang="en-US"/>
          </a:p>
        </p:txBody>
      </p:sp>
      <p:sp>
        <p:nvSpPr>
          <p:cNvPr id="3" name="Content Placeholder 2"/>
          <p:cNvSpPr>
            <a:spLocks noGrp="1"/>
          </p:cNvSpPr>
          <p:nvPr>
            <p:ph sz="quarter" idx="1"/>
          </p:nvPr>
        </p:nvSpPr>
        <p:spPr>
          <a:xfrm>
            <a:off x="495300" y="1981200"/>
            <a:ext cx="4381500" cy="18669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5029200" y="1981200"/>
            <a:ext cx="4381500" cy="18669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495300" y="4000500"/>
            <a:ext cx="4381500" cy="18669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Content Placeholder 5"/>
          <p:cNvSpPr>
            <a:spLocks noGrp="1"/>
          </p:cNvSpPr>
          <p:nvPr>
            <p:ph sz="quarter" idx="4"/>
          </p:nvPr>
        </p:nvSpPr>
        <p:spPr>
          <a:xfrm>
            <a:off x="5029200" y="4000500"/>
            <a:ext cx="4381500" cy="18669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2"/>
          <p:cNvSpPr>
            <a:spLocks noGrp="1" noChangeArrowheads="1"/>
          </p:cNvSpPr>
          <p:nvPr>
            <p:ph type="ftr" sz="quarter" idx="10"/>
          </p:nvPr>
        </p:nvSpPr>
        <p:spPr>
          <a:ln/>
        </p:spPr>
        <p:txBody>
          <a:bodyPr/>
          <a:lstStyle>
            <a:lvl1pPr>
              <a:defRPr/>
            </a:lvl1pPr>
          </a:lstStyle>
          <a:p>
            <a:pPr>
              <a:defRPr/>
            </a:pPr>
            <a:r>
              <a:rPr lang="en-US"/>
              <a:t>Financial Statement Analysis</a:t>
            </a:r>
          </a:p>
        </p:txBody>
      </p:sp>
      <p:sp>
        <p:nvSpPr>
          <p:cNvPr id="8" name="Rectangle 3"/>
          <p:cNvSpPr>
            <a:spLocks noGrp="1" noChangeArrowheads="1"/>
          </p:cNvSpPr>
          <p:nvPr>
            <p:ph type="sldNum" sz="quarter" idx="11"/>
          </p:nvPr>
        </p:nvSpPr>
        <p:spPr>
          <a:ln/>
        </p:spPr>
        <p:txBody>
          <a:bodyPr/>
          <a:lstStyle>
            <a:lvl1pPr>
              <a:defRPr/>
            </a:lvl1pPr>
          </a:lstStyle>
          <a:p>
            <a:pPr>
              <a:defRPr/>
            </a:pPr>
            <a:fld id="{94F850F7-5E9F-4E10-805B-7CFEAD4B007B}" type="slidenum">
              <a:rPr lang="en-US"/>
              <a:pPr>
                <a:defRPr/>
              </a:pPr>
              <a:t>‹#›</a:t>
            </a:fld>
            <a:endParaRPr lang="en-US"/>
          </a:p>
        </p:txBody>
      </p:sp>
      <p:sp>
        <p:nvSpPr>
          <p:cNvPr id="9" name="Rectangle 16"/>
          <p:cNvSpPr>
            <a:spLocks noGrp="1" noChangeArrowheads="1"/>
          </p:cNvSpPr>
          <p:nvPr>
            <p:ph type="dt" sz="half" idx="12"/>
          </p:nvPr>
        </p:nvSpPr>
        <p:spPr>
          <a:ln/>
        </p:spPr>
        <p:txBody>
          <a:bodyPr/>
          <a:lstStyle>
            <a:lvl1pPr>
              <a:defRPr/>
            </a:lvl1pPr>
          </a:lstStyle>
          <a:p>
            <a:pPr>
              <a:defRPr/>
            </a:pPr>
            <a:r>
              <a:rPr lang="en-US"/>
              <a:t>Author: Syamsir Kadir</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5714" name="Rectangle 2"/>
          <p:cNvSpPr>
            <a:spLocks noGrp="1" noChangeArrowheads="1"/>
          </p:cNvSpPr>
          <p:nvPr>
            <p:ph type="ftr" sz="quarter" idx="3"/>
          </p:nvPr>
        </p:nvSpPr>
        <p:spPr bwMode="auto">
          <a:xfrm>
            <a:off x="3384550" y="6248400"/>
            <a:ext cx="31369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sz="1200">
                <a:latin typeface="Arial" charset="0"/>
                <a:cs typeface="Arial" charset="0"/>
              </a:defRPr>
            </a:lvl1pPr>
          </a:lstStyle>
          <a:p>
            <a:pPr>
              <a:defRPr/>
            </a:pPr>
            <a:r>
              <a:rPr lang="en-US"/>
              <a:t>Financial Statement Analysis</a:t>
            </a:r>
          </a:p>
        </p:txBody>
      </p:sp>
      <p:sp>
        <p:nvSpPr>
          <p:cNvPr id="115715" name="Rectangle 3"/>
          <p:cNvSpPr>
            <a:spLocks noGrp="1" noChangeArrowheads="1"/>
          </p:cNvSpPr>
          <p:nvPr>
            <p:ph type="sldNum" sz="quarter" idx="4"/>
          </p:nvPr>
        </p:nvSpPr>
        <p:spPr bwMode="auto">
          <a:xfrm>
            <a:off x="7099300" y="6248400"/>
            <a:ext cx="23114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Black" pitchFamily="34" charset="0"/>
                <a:cs typeface="Arial" charset="0"/>
              </a:defRPr>
            </a:lvl1pPr>
          </a:lstStyle>
          <a:p>
            <a:pPr>
              <a:defRPr/>
            </a:pPr>
            <a:fld id="{53E496E2-9BA5-4463-A74C-3EB927BDBE3F}" type="slidenum">
              <a:rPr lang="en-US"/>
              <a:pPr>
                <a:defRPr/>
              </a:pPr>
              <a:t>‹#›</a:t>
            </a:fld>
            <a:endParaRPr lang="en-US"/>
          </a:p>
        </p:txBody>
      </p:sp>
      <p:grpSp>
        <p:nvGrpSpPr>
          <p:cNvPr id="9220" name="Group 4"/>
          <p:cNvGrpSpPr>
            <a:grpSpLocks/>
          </p:cNvGrpSpPr>
          <p:nvPr/>
        </p:nvGrpSpPr>
        <p:grpSpPr bwMode="auto">
          <a:xfrm>
            <a:off x="0" y="0"/>
            <a:ext cx="9906000" cy="546100"/>
            <a:chOff x="0" y="0"/>
            <a:chExt cx="5760" cy="344"/>
          </a:xfrm>
        </p:grpSpPr>
        <p:sp>
          <p:nvSpPr>
            <p:cNvPr id="115717" name="Rectangle 5"/>
            <p:cNvSpPr>
              <a:spLocks noChangeArrowheads="1"/>
            </p:cNvSpPr>
            <p:nvPr/>
          </p:nvSpPr>
          <p:spPr bwMode="auto">
            <a:xfrm>
              <a:off x="0" y="0"/>
              <a:ext cx="180" cy="336"/>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a:defRPr/>
              </a:pPr>
              <a:endParaRPr lang="en-US" sz="2400">
                <a:latin typeface="Times New Roman" pitchFamily="18" charset="0"/>
              </a:endParaRPr>
            </a:p>
          </p:txBody>
        </p:sp>
        <p:sp>
          <p:nvSpPr>
            <p:cNvPr id="115718" name="Rectangle 6"/>
            <p:cNvSpPr>
              <a:spLocks noChangeArrowheads="1"/>
            </p:cNvSpPr>
            <p:nvPr/>
          </p:nvSpPr>
          <p:spPr bwMode="auto">
            <a:xfrm>
              <a:off x="260" y="85"/>
              <a:ext cx="5500" cy="173"/>
            </a:xfrm>
            <a:prstGeom prst="rect">
              <a:avLst/>
            </a:prstGeom>
            <a:gradFill rotWithShape="0">
              <a:gsLst>
                <a:gs pos="0">
                  <a:schemeClr val="bg2"/>
                </a:gs>
                <a:gs pos="100000">
                  <a:schemeClr val="bg1"/>
                </a:gs>
              </a:gsLst>
              <a:lin ang="0" scaled="1"/>
            </a:gradFill>
            <a:ln w="9525">
              <a:noFill/>
              <a:miter lim="800000"/>
              <a:headEnd/>
              <a:tailEnd/>
            </a:ln>
          </p:spPr>
          <p:txBody>
            <a:bodyPr/>
            <a:lstStyle/>
            <a:p>
              <a:pPr>
                <a:defRPr/>
              </a:pPr>
              <a:endParaRPr lang="en-US" sz="2400">
                <a:latin typeface="Times New Roman" pitchFamily="18" charset="0"/>
              </a:endParaRPr>
            </a:p>
          </p:txBody>
        </p:sp>
        <p:sp>
          <p:nvSpPr>
            <p:cNvPr id="115719" name="Rectangle 7"/>
            <p:cNvSpPr>
              <a:spLocks noChangeArrowheads="1"/>
            </p:cNvSpPr>
            <p:nvPr/>
          </p:nvSpPr>
          <p:spPr bwMode="auto">
            <a:xfrm>
              <a:off x="258" y="85"/>
              <a:ext cx="87" cy="89"/>
            </a:xfrm>
            <a:prstGeom prst="rect">
              <a:avLst/>
            </a:prstGeom>
            <a:solidFill>
              <a:schemeClr val="folHlink"/>
            </a:solidFill>
            <a:ln w="9525">
              <a:noFill/>
              <a:miter lim="800000"/>
              <a:headEnd/>
              <a:tailEnd/>
            </a:ln>
          </p:spPr>
          <p:txBody>
            <a:bodyPr/>
            <a:lstStyle/>
            <a:p>
              <a:pPr>
                <a:defRPr/>
              </a:pPr>
              <a:endParaRPr lang="en-US">
                <a:solidFill>
                  <a:schemeClr val="hlink"/>
                </a:solidFill>
              </a:endParaRPr>
            </a:p>
          </p:txBody>
        </p:sp>
        <p:sp>
          <p:nvSpPr>
            <p:cNvPr id="115720" name="Rectangle 8"/>
            <p:cNvSpPr>
              <a:spLocks noChangeArrowheads="1"/>
            </p:cNvSpPr>
            <p:nvPr/>
          </p:nvSpPr>
          <p:spPr bwMode="auto">
            <a:xfrm>
              <a:off x="345" y="0"/>
              <a:ext cx="88" cy="87"/>
            </a:xfrm>
            <a:prstGeom prst="rect">
              <a:avLst/>
            </a:prstGeom>
            <a:solidFill>
              <a:schemeClr val="folHlink"/>
            </a:solidFill>
            <a:ln w="9525">
              <a:noFill/>
              <a:miter lim="800000"/>
              <a:headEnd/>
              <a:tailEnd/>
            </a:ln>
          </p:spPr>
          <p:txBody>
            <a:bodyPr/>
            <a:lstStyle/>
            <a:p>
              <a:pPr>
                <a:defRPr/>
              </a:pPr>
              <a:endParaRPr lang="en-US">
                <a:solidFill>
                  <a:schemeClr val="hlink"/>
                </a:solidFill>
              </a:endParaRPr>
            </a:p>
          </p:txBody>
        </p:sp>
        <p:sp>
          <p:nvSpPr>
            <p:cNvPr id="115721" name="Rectangle 9"/>
            <p:cNvSpPr>
              <a:spLocks noChangeArrowheads="1"/>
            </p:cNvSpPr>
            <p:nvPr/>
          </p:nvSpPr>
          <p:spPr bwMode="auto">
            <a:xfrm>
              <a:off x="345" y="85"/>
              <a:ext cx="88" cy="89"/>
            </a:xfrm>
            <a:prstGeom prst="rect">
              <a:avLst/>
            </a:prstGeom>
            <a:solidFill>
              <a:schemeClr val="accent2"/>
            </a:solidFill>
            <a:ln w="9525">
              <a:noFill/>
              <a:miter lim="800000"/>
              <a:headEnd/>
              <a:tailEnd/>
            </a:ln>
          </p:spPr>
          <p:txBody>
            <a:bodyPr/>
            <a:lstStyle/>
            <a:p>
              <a:pPr>
                <a:defRPr/>
              </a:pPr>
              <a:endParaRPr lang="en-US">
                <a:solidFill>
                  <a:schemeClr val="accent2"/>
                </a:solidFill>
              </a:endParaRPr>
            </a:p>
          </p:txBody>
        </p:sp>
        <p:sp>
          <p:nvSpPr>
            <p:cNvPr id="115722" name="Rectangle 10"/>
            <p:cNvSpPr>
              <a:spLocks noChangeArrowheads="1"/>
            </p:cNvSpPr>
            <p:nvPr/>
          </p:nvSpPr>
          <p:spPr bwMode="auto">
            <a:xfrm>
              <a:off x="173" y="173"/>
              <a:ext cx="90" cy="87"/>
            </a:xfrm>
            <a:prstGeom prst="rect">
              <a:avLst/>
            </a:prstGeom>
            <a:solidFill>
              <a:schemeClr val="folHlink"/>
            </a:solidFill>
            <a:ln w="9525">
              <a:noFill/>
              <a:miter lim="800000"/>
              <a:headEnd/>
              <a:tailEnd/>
            </a:ln>
          </p:spPr>
          <p:txBody>
            <a:bodyPr/>
            <a:lstStyle/>
            <a:p>
              <a:pPr>
                <a:defRPr/>
              </a:pPr>
              <a:endParaRPr lang="en-US">
                <a:solidFill>
                  <a:schemeClr val="hlink"/>
                </a:solidFill>
              </a:endParaRPr>
            </a:p>
          </p:txBody>
        </p:sp>
        <p:sp>
          <p:nvSpPr>
            <p:cNvPr id="115723" name="Rectangle 11"/>
            <p:cNvSpPr>
              <a:spLocks noChangeArrowheads="1"/>
            </p:cNvSpPr>
            <p:nvPr/>
          </p:nvSpPr>
          <p:spPr bwMode="auto">
            <a:xfrm>
              <a:off x="83" y="86"/>
              <a:ext cx="89" cy="87"/>
            </a:xfrm>
            <a:prstGeom prst="rect">
              <a:avLst/>
            </a:prstGeom>
            <a:solidFill>
              <a:schemeClr val="bg2"/>
            </a:solidFill>
            <a:ln w="9525">
              <a:noFill/>
              <a:miter lim="800000"/>
              <a:headEnd/>
              <a:tailEnd/>
            </a:ln>
          </p:spPr>
          <p:txBody>
            <a:bodyPr/>
            <a:lstStyle/>
            <a:p>
              <a:pPr>
                <a:defRPr/>
              </a:pPr>
              <a:endParaRPr lang="en-US" sz="2400">
                <a:latin typeface="Times New Roman" pitchFamily="18" charset="0"/>
              </a:endParaRPr>
            </a:p>
          </p:txBody>
        </p:sp>
        <p:sp>
          <p:nvSpPr>
            <p:cNvPr id="115724" name="Rectangle 12"/>
            <p:cNvSpPr>
              <a:spLocks noChangeArrowheads="1"/>
            </p:cNvSpPr>
            <p:nvPr/>
          </p:nvSpPr>
          <p:spPr bwMode="auto">
            <a:xfrm>
              <a:off x="258" y="171"/>
              <a:ext cx="87" cy="87"/>
            </a:xfrm>
            <a:prstGeom prst="rect">
              <a:avLst/>
            </a:prstGeom>
            <a:solidFill>
              <a:schemeClr val="accent2"/>
            </a:solidFill>
            <a:ln w="9525">
              <a:noFill/>
              <a:miter lim="800000"/>
              <a:headEnd/>
              <a:tailEnd/>
            </a:ln>
          </p:spPr>
          <p:txBody>
            <a:bodyPr/>
            <a:lstStyle/>
            <a:p>
              <a:pPr>
                <a:defRPr/>
              </a:pPr>
              <a:endParaRPr lang="en-US">
                <a:solidFill>
                  <a:schemeClr val="accent2"/>
                </a:solidFill>
              </a:endParaRPr>
            </a:p>
          </p:txBody>
        </p:sp>
        <p:sp>
          <p:nvSpPr>
            <p:cNvPr id="115725" name="Rectangle 13"/>
            <p:cNvSpPr>
              <a:spLocks noChangeArrowheads="1"/>
            </p:cNvSpPr>
            <p:nvPr/>
          </p:nvSpPr>
          <p:spPr bwMode="auto">
            <a:xfrm>
              <a:off x="173" y="258"/>
              <a:ext cx="90" cy="86"/>
            </a:xfrm>
            <a:prstGeom prst="rect">
              <a:avLst/>
            </a:prstGeom>
            <a:solidFill>
              <a:schemeClr val="accent2"/>
            </a:solidFill>
            <a:ln w="9525">
              <a:noFill/>
              <a:miter lim="800000"/>
              <a:headEnd/>
              <a:tailEnd/>
            </a:ln>
          </p:spPr>
          <p:txBody>
            <a:bodyPr/>
            <a:lstStyle/>
            <a:p>
              <a:pPr>
                <a:defRPr/>
              </a:pPr>
              <a:endParaRPr lang="en-US">
                <a:solidFill>
                  <a:schemeClr val="accent2"/>
                </a:solidFill>
              </a:endParaRPr>
            </a:p>
          </p:txBody>
        </p:sp>
      </p:grpSp>
      <p:sp>
        <p:nvSpPr>
          <p:cNvPr id="9221" name="Rectangle 14"/>
          <p:cNvSpPr>
            <a:spLocks noGrp="1" noChangeArrowheads="1"/>
          </p:cNvSpPr>
          <p:nvPr>
            <p:ph type="title"/>
          </p:nvPr>
        </p:nvSpPr>
        <p:spPr bwMode="auto">
          <a:xfrm>
            <a:off x="495300" y="457200"/>
            <a:ext cx="8915400" cy="13716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9222" name="Rectangle 15"/>
          <p:cNvSpPr>
            <a:spLocks noGrp="1" noChangeArrowheads="1"/>
          </p:cNvSpPr>
          <p:nvPr>
            <p:ph type="body" idx="1"/>
          </p:nvPr>
        </p:nvSpPr>
        <p:spPr bwMode="auto">
          <a:xfrm>
            <a:off x="495300" y="1981200"/>
            <a:ext cx="8915400" cy="3886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15728" name="Rectangle 16"/>
          <p:cNvSpPr>
            <a:spLocks noGrp="1" noChangeArrowheads="1"/>
          </p:cNvSpPr>
          <p:nvPr>
            <p:ph type="dt" sz="half" idx="2"/>
          </p:nvPr>
        </p:nvSpPr>
        <p:spPr bwMode="auto">
          <a:xfrm>
            <a:off x="495300" y="6245225"/>
            <a:ext cx="23114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charset="0"/>
                <a:cs typeface="Arial" charset="0"/>
              </a:defRPr>
            </a:lvl1pPr>
          </a:lstStyle>
          <a:p>
            <a:pPr>
              <a:defRPr/>
            </a:pPr>
            <a:r>
              <a:rPr lang="en-US"/>
              <a:t>Author: Syamsir Kadir</a:t>
            </a:r>
          </a:p>
        </p:txBody>
      </p:sp>
    </p:spTree>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1" r:id="rId8"/>
    <p:sldLayoutId id="2147483662" r:id="rId9"/>
    <p:sldLayoutId id="2147483663" r:id="rId10"/>
    <p:sldLayoutId id="2147483664" r:id="rId11"/>
    <p:sldLayoutId id="2147483665" r:id="rId12"/>
    <p:sldLayoutId id="2147483666" r:id="rId13"/>
    <p:sldLayoutId id="2147483667" r:id="rId14"/>
    <p:sldLayoutId id="2147483668" r:id="rId15"/>
  </p:sldLayoutIdLst>
  <p:txStyles>
    <p:title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p:titleStyle>
    <p:bodyStyle>
      <a:lvl1pPr marL="342900" indent="-342900" algn="l" rtl="0" eaLnBrk="0" fontAlgn="base" hangingPunct="0">
        <a:spcBef>
          <a:spcPct val="20000"/>
        </a:spcBef>
        <a:spcAft>
          <a:spcPct val="0"/>
        </a:spcAft>
        <a:buClr>
          <a:schemeClr val="bg2"/>
        </a:buClr>
        <a:buSzPct val="75000"/>
        <a:buFont typeface="Wingdings"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itchFamily="2" charset="2"/>
        <a:buChar char="¨"/>
        <a:defRPr sz="2800">
          <a:solidFill>
            <a:schemeClr val="tx1"/>
          </a:solidFill>
          <a:latin typeface="+mn-lt"/>
          <a:cs typeface="+mn-cs"/>
        </a:defRPr>
      </a:lvl2pPr>
      <a:lvl3pPr marL="1143000" indent="-228600" algn="l" rtl="0" eaLnBrk="0" fontAlgn="base" hangingPunct="0">
        <a:spcBef>
          <a:spcPct val="20000"/>
        </a:spcBef>
        <a:spcAft>
          <a:spcPct val="0"/>
        </a:spcAft>
        <a:buClr>
          <a:schemeClr val="bg2"/>
        </a:buClr>
        <a:buSzPct val="65000"/>
        <a:buFont typeface="Wingdings"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70000"/>
        <a:buFont typeface="Wingdings" pitchFamily="2" charset="2"/>
        <a:buChar char="¨"/>
        <a:defRPr sz="2000">
          <a:solidFill>
            <a:schemeClr val="tx1"/>
          </a:solidFill>
          <a:latin typeface="+mn-lt"/>
          <a:cs typeface="+mn-cs"/>
        </a:defRPr>
      </a:lvl4pPr>
      <a:lvl5pPr marL="2057400" indent="-228600" algn="l" rtl="0" eaLnBrk="0" fontAlgn="base" hangingPunct="0">
        <a:spcBef>
          <a:spcPct val="20000"/>
        </a:spcBef>
        <a:spcAft>
          <a:spcPct val="0"/>
        </a:spcAft>
        <a:buClr>
          <a:schemeClr val="bg2"/>
        </a:buClr>
        <a:buFont typeface="Wingdings" pitchFamily="2" charset="2"/>
        <a:buChar char="§"/>
        <a:defRPr sz="2000">
          <a:solidFill>
            <a:schemeClr val="tx1"/>
          </a:solidFill>
          <a:latin typeface="+mn-lt"/>
          <a:cs typeface="+mn-cs"/>
        </a:defRPr>
      </a:lvl5pPr>
      <a:lvl6pPr marL="2514600" indent="-228600" algn="l" rtl="0" fontAlgn="base">
        <a:spcBef>
          <a:spcPct val="20000"/>
        </a:spcBef>
        <a:spcAft>
          <a:spcPct val="0"/>
        </a:spcAft>
        <a:buClr>
          <a:schemeClr val="bg2"/>
        </a:buClr>
        <a:buFont typeface="Wingdings" pitchFamily="2" charset="2"/>
        <a:buChar char="§"/>
        <a:defRPr sz="2000">
          <a:solidFill>
            <a:schemeClr val="tx1"/>
          </a:solidFill>
          <a:latin typeface="+mn-lt"/>
          <a:cs typeface="+mn-cs"/>
        </a:defRPr>
      </a:lvl6pPr>
      <a:lvl7pPr marL="2971800" indent="-228600" algn="l" rtl="0" fontAlgn="base">
        <a:spcBef>
          <a:spcPct val="20000"/>
        </a:spcBef>
        <a:spcAft>
          <a:spcPct val="0"/>
        </a:spcAft>
        <a:buClr>
          <a:schemeClr val="bg2"/>
        </a:buClr>
        <a:buFont typeface="Wingdings" pitchFamily="2" charset="2"/>
        <a:buChar char="§"/>
        <a:defRPr sz="2000">
          <a:solidFill>
            <a:schemeClr val="tx1"/>
          </a:solidFill>
          <a:latin typeface="+mn-lt"/>
          <a:cs typeface="+mn-cs"/>
        </a:defRPr>
      </a:lvl7pPr>
      <a:lvl8pPr marL="3429000" indent="-228600" algn="l" rtl="0" fontAlgn="base">
        <a:spcBef>
          <a:spcPct val="20000"/>
        </a:spcBef>
        <a:spcAft>
          <a:spcPct val="0"/>
        </a:spcAft>
        <a:buClr>
          <a:schemeClr val="bg2"/>
        </a:buClr>
        <a:buFont typeface="Wingdings" pitchFamily="2" charset="2"/>
        <a:buChar char="§"/>
        <a:defRPr sz="2000">
          <a:solidFill>
            <a:schemeClr val="tx1"/>
          </a:solidFill>
          <a:latin typeface="+mn-lt"/>
          <a:cs typeface="+mn-cs"/>
        </a:defRPr>
      </a:lvl8pPr>
      <a:lvl9pPr marL="3886200" indent="-228600" algn="l" rtl="0" fontAlgn="base">
        <a:spcBef>
          <a:spcPct val="20000"/>
        </a:spcBef>
        <a:spcAft>
          <a:spcPct val="0"/>
        </a:spcAft>
        <a:buClr>
          <a:schemeClr val="bg2"/>
        </a:buClr>
        <a:buFont typeface="Wingdings" pitchFamily="2" charset="2"/>
        <a:buChar char="§"/>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notesSlide" Target="../notesSlides/notesSlide20.xml"/><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2.xml"/><Relationship Id="rId1" Type="http://schemas.openxmlformats.org/officeDocument/2006/relationships/vmlDrawing" Target="../drawings/vmlDrawing1.vml"/><Relationship Id="rId5" Type="http://schemas.openxmlformats.org/officeDocument/2006/relationships/image" Target="../media/image14.wmf"/><Relationship Id="rId4" Type="http://schemas.openxmlformats.org/officeDocument/2006/relationships/oleObject" Target="file:///D:\HAST-KPS%20(E)\AKUNTANSI%20SEKTOR%20PUBLIK%20(ASP)\APBD-Novotel%20Okt%2009\LUTF-NOVOTEL\Credit.xls!Sheet1!R1C1:R24C5" TargetMode="Externa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oleObject" Target="file:///D:\HAST-KPS%20(E)\AKUNTANSI%20SEKTOR%20PUBLIK%20(ASP)\APBD-Novotel%20Okt%2009\LUTF-NOVOTEL\Best%20Practice%20Payable.xls!Sheet2!R3C1:R18C11" TargetMode="External"/></Relationships>
</file>

<file path=ppt/slides/_rels/slide4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8" Type="http://schemas.openxmlformats.org/officeDocument/2006/relationships/image" Target="../media/image24.wmf"/><Relationship Id="rId3" Type="http://schemas.openxmlformats.org/officeDocument/2006/relationships/notesSlide" Target="../notesSlides/notesSlide33.xml"/><Relationship Id="rId7" Type="http://schemas.openxmlformats.org/officeDocument/2006/relationships/oleObject" Target="../embeddings/oleObject2.bin"/><Relationship Id="rId2" Type="http://schemas.openxmlformats.org/officeDocument/2006/relationships/slideLayout" Target="../slideLayouts/slideLayout7.xml"/><Relationship Id="rId1" Type="http://schemas.openxmlformats.org/officeDocument/2006/relationships/vmlDrawing" Target="../drawings/vmlDrawing3.vml"/><Relationship Id="rId6" Type="http://schemas.openxmlformats.org/officeDocument/2006/relationships/image" Target="../media/image23.wmf"/><Relationship Id="rId5" Type="http://schemas.openxmlformats.org/officeDocument/2006/relationships/image" Target="../media/image22.wmf"/><Relationship Id="rId4" Type="http://schemas.openxmlformats.org/officeDocument/2006/relationships/oleObject" Target="../embeddings/oleObject1.bin"/></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7.xml"/><Relationship Id="rId1" Type="http://schemas.openxmlformats.org/officeDocument/2006/relationships/vmlDrawing" Target="../drawings/vmlDrawing4.vml"/><Relationship Id="rId4" Type="http://schemas.openxmlformats.org/officeDocument/2006/relationships/oleObject" Target="../embeddings/Microsoft_Office_Word_97_-_2003_Document1.doc"/></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oleObject" Target="file:///D:\HAST-KPS%20(E)\AKUNTANSI%20SEKTOR%20PUBLIK%20(ASP)\APBD-Novotel%20Okt%2009\LUTF-NOVOTEL\Analisa%20Arus%20Kas.xls!Indirect%20Method!R1C1:R41C9" TargetMode="External"/></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2.xml"/><Relationship Id="rId1" Type="http://schemas.openxmlformats.org/officeDocument/2006/relationships/vmlDrawing" Target="../drawings/vmlDrawing6.vml"/><Relationship Id="rId4" Type="http://schemas.openxmlformats.org/officeDocument/2006/relationships/oleObject" Target="file:///D:\HAST-KPS%20(E)\AKUNTANSI%20SEKTOR%20PUBLIK%20(ASP)\APBD-Novotel%20Okt%2009\LUTF-NOVOTEL\Analisa%20Arus%20Kas.xls!Indirect%20Method!R44C1:R74C5" TargetMode="Externa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2.xml"/><Relationship Id="rId1" Type="http://schemas.openxmlformats.org/officeDocument/2006/relationships/vmlDrawing" Target="../drawings/vmlDrawing7.vml"/><Relationship Id="rId4" Type="http://schemas.openxmlformats.org/officeDocument/2006/relationships/oleObject" Target="file:///D:\HAST-KPS%20(E)\AKUNTANSI%20SEKTOR%20PUBLIK%20(ASP)\APBD-Novotel%20Okt%2009\LUTF-NOVOTEL\Analisa%20Arus%20Kas.xls!Sheet11!R1C1:R41C9" TargetMode="Externa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3" Type="http://schemas.openxmlformats.org/officeDocument/2006/relationships/image" Target="../media/image38.wmf"/><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3.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3.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67.xml"/><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43.wmf"/><Relationship Id="rId2" Type="http://schemas.openxmlformats.org/officeDocument/2006/relationships/notesSlide" Target="../notesSlides/notesSlide70.xml"/><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3" Type="http://schemas.openxmlformats.org/officeDocument/2006/relationships/image" Target="../media/image43.wmf"/><Relationship Id="rId2" Type="http://schemas.openxmlformats.org/officeDocument/2006/relationships/notesSlide" Target="../notesSlides/notesSlide78.xml"/><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3" Type="http://schemas.openxmlformats.org/officeDocument/2006/relationships/notesSlide" Target="../notesSlides/notesSlide79.xml"/><Relationship Id="rId2" Type="http://schemas.openxmlformats.org/officeDocument/2006/relationships/slideLayout" Target="../slideLayouts/slideLayout6.xml"/><Relationship Id="rId1" Type="http://schemas.openxmlformats.org/officeDocument/2006/relationships/vmlDrawing" Target="../drawings/vmlDrawing8.vml"/><Relationship Id="rId4" Type="http://schemas.openxmlformats.org/officeDocument/2006/relationships/oleObject" Target="../embeddings/oleObject3.bin"/></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6.xml"/></Relationships>
</file>

<file path=ppt/slides/_rels/slide99.xml.rels><?xml version="1.0" encoding="UTF-8" standalone="yes"?>
<Relationships xmlns="http://schemas.openxmlformats.org/package/2006/relationships"><Relationship Id="rId3" Type="http://schemas.openxmlformats.org/officeDocument/2006/relationships/image" Target="../media/image43.wmf"/><Relationship Id="rId2" Type="http://schemas.openxmlformats.org/officeDocument/2006/relationships/notesSlide" Target="../notesSlides/notesSlide81.xml"/><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3" Type="http://schemas.openxmlformats.org/officeDocument/2006/relationships/image" Target="../media/image45.gif"/><Relationship Id="rId2" Type="http://schemas.openxmlformats.org/officeDocument/2006/relationships/notesSlide" Target="../notesSlides/notesSlide85.xml"/><Relationship Id="rId1" Type="http://schemas.openxmlformats.org/officeDocument/2006/relationships/slideLayout" Target="../slideLayouts/slideLayout13.xml"/></Relationships>
</file>

<file path=ppt/slides/_rels/slide104.xml.rels><?xml version="1.0" encoding="UTF-8" standalone="yes"?>
<Relationships xmlns="http://schemas.openxmlformats.org/package/2006/relationships"><Relationship Id="rId3" Type="http://schemas.openxmlformats.org/officeDocument/2006/relationships/package" Target="../embeddings/Microsoft_Office_Word_Document1.docx"/><Relationship Id="rId2" Type="http://schemas.openxmlformats.org/officeDocument/2006/relationships/slideLayout" Target="../slideLayouts/slideLayout2.xml"/><Relationship Id="rId1" Type="http://schemas.openxmlformats.org/officeDocument/2006/relationships/vmlDrawing" Target="../drawings/vmlDrawing9.vml"/></Relationships>
</file>

<file path=ppt/slides/_rels/slide105.xml.rels><?xml version="1.0" encoding="UTF-8" standalone="yes"?>
<Relationships xmlns="http://schemas.openxmlformats.org/package/2006/relationships"><Relationship Id="rId3" Type="http://schemas.openxmlformats.org/officeDocument/2006/relationships/package" Target="../embeddings/Microsoft_Office_Word_Document2.docx"/><Relationship Id="rId2" Type="http://schemas.openxmlformats.org/officeDocument/2006/relationships/slideLayout" Target="../slideLayouts/slideLayout2.xml"/><Relationship Id="rId1" Type="http://schemas.openxmlformats.org/officeDocument/2006/relationships/vmlDrawing" Target="../drawings/vmlDrawing10.vml"/></Relationships>
</file>

<file path=ppt/slides/_rels/slide106.xml.rels><?xml version="1.0" encoding="UTF-8" standalone="yes"?>
<Relationships xmlns="http://schemas.openxmlformats.org/package/2006/relationships"><Relationship Id="rId3" Type="http://schemas.openxmlformats.org/officeDocument/2006/relationships/package" Target="../embeddings/Microsoft_Office_Word_Document3.docx"/><Relationship Id="rId2" Type="http://schemas.openxmlformats.org/officeDocument/2006/relationships/slideLayout" Target="../slideLayouts/slideLayout2.xml"/><Relationship Id="rId1" Type="http://schemas.openxmlformats.org/officeDocument/2006/relationships/vmlDrawing" Target="../drawings/vmlDrawing11.vml"/></Relationships>
</file>

<file path=ppt/slides/_rels/slide107.xml.rels><?xml version="1.0" encoding="UTF-8" standalone="yes"?>
<Relationships xmlns="http://schemas.openxmlformats.org/package/2006/relationships"><Relationship Id="rId3" Type="http://schemas.openxmlformats.org/officeDocument/2006/relationships/package" Target="../embeddings/Microsoft_Office_Word_Document4.docx"/><Relationship Id="rId2" Type="http://schemas.openxmlformats.org/officeDocument/2006/relationships/slideLayout" Target="../slideLayouts/slideLayout2.xml"/><Relationship Id="rId1" Type="http://schemas.openxmlformats.org/officeDocument/2006/relationships/vmlDrawing" Target="../drawings/vmlDrawing12.vml"/></Relationships>
</file>

<file path=ppt/slides/_rels/slide108.xml.rels><?xml version="1.0" encoding="UTF-8" standalone="yes"?>
<Relationships xmlns="http://schemas.openxmlformats.org/package/2006/relationships"><Relationship Id="rId3" Type="http://schemas.openxmlformats.org/officeDocument/2006/relationships/package" Target="../embeddings/Microsoft_Office_Word_Document5.docx"/><Relationship Id="rId2" Type="http://schemas.openxmlformats.org/officeDocument/2006/relationships/slideLayout" Target="../slideLayouts/slideLayout2.xml"/><Relationship Id="rId1" Type="http://schemas.openxmlformats.org/officeDocument/2006/relationships/vmlDrawing" Target="../drawings/vmlDrawing13.vml"/></Relationships>
</file>

<file path=ppt/slides/_rels/slide109.xml.rels><?xml version="1.0" encoding="UTF-8" standalone="yes"?>
<Relationships xmlns="http://schemas.openxmlformats.org/package/2006/relationships"><Relationship Id="rId3" Type="http://schemas.openxmlformats.org/officeDocument/2006/relationships/package" Target="../embeddings/Microsoft_Office_Word_Document6.docx"/><Relationship Id="rId2" Type="http://schemas.openxmlformats.org/officeDocument/2006/relationships/slideLayout" Target="../slideLayouts/slideLayout2.xml"/><Relationship Id="rId1" Type="http://schemas.openxmlformats.org/officeDocument/2006/relationships/vmlDrawing" Target="../drawings/vmlDrawing14.vml"/></Relationships>
</file>

<file path=ppt/slides/_rels/slide110.xml.rels><?xml version="1.0" encoding="UTF-8" standalone="yes"?>
<Relationships xmlns="http://schemas.openxmlformats.org/package/2006/relationships"><Relationship Id="rId3" Type="http://schemas.openxmlformats.org/officeDocument/2006/relationships/package" Target="../embeddings/Microsoft_Office_Word_Document7.docx"/><Relationship Id="rId2" Type="http://schemas.openxmlformats.org/officeDocument/2006/relationships/slideLayout" Target="../slideLayouts/slideLayout2.xml"/><Relationship Id="rId1" Type="http://schemas.openxmlformats.org/officeDocument/2006/relationships/vmlDrawing" Target="../drawings/vmlDrawing15.vml"/></Relationships>
</file>

<file path=ppt/slides/_rels/slide111.xml.rels><?xml version="1.0" encoding="UTF-8" standalone="yes"?>
<Relationships xmlns="http://schemas.openxmlformats.org/package/2006/relationships"><Relationship Id="rId3" Type="http://schemas.openxmlformats.org/officeDocument/2006/relationships/image" Target="../media/image53.wmf"/><Relationship Id="rId2" Type="http://schemas.openxmlformats.org/officeDocument/2006/relationships/notesSlide" Target="../notesSlides/notesSlide86.xml"/><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notesSlide" Target="../notesSlides/notesSlide87.xml"/><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3" Type="http://schemas.openxmlformats.org/officeDocument/2006/relationships/image" Target="../media/image54.wmf"/><Relationship Id="rId2" Type="http://schemas.openxmlformats.org/officeDocument/2006/relationships/notesSlide" Target="../notesSlides/notesSlide88.xml"/><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3" Type="http://schemas.openxmlformats.org/officeDocument/2006/relationships/image" Target="../media/image54.wmf"/><Relationship Id="rId2" Type="http://schemas.openxmlformats.org/officeDocument/2006/relationships/notesSlide" Target="../notesSlides/notesSlide89.xml"/><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image" Target="../media/image54.wmf"/><Relationship Id="rId2" Type="http://schemas.openxmlformats.org/officeDocument/2006/relationships/notesSlide" Target="../notesSlides/notesSlide90.xml"/><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3" Type="http://schemas.openxmlformats.org/officeDocument/2006/relationships/image" Target="../media/image54.wmf"/><Relationship Id="rId2" Type="http://schemas.openxmlformats.org/officeDocument/2006/relationships/notesSlide" Target="../notesSlides/notesSlide91.xml"/><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3" Type="http://schemas.openxmlformats.org/officeDocument/2006/relationships/image" Target="../media/image54.wmf"/><Relationship Id="rId2" Type="http://schemas.openxmlformats.org/officeDocument/2006/relationships/notesSlide" Target="../notesSlides/notesSlide92.xml"/><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3" Type="http://schemas.openxmlformats.org/officeDocument/2006/relationships/image" Target="../media/image54.wmf"/><Relationship Id="rId2" Type="http://schemas.openxmlformats.org/officeDocument/2006/relationships/notesSlide" Target="../notesSlides/notesSlide9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p:cNvSpPr>
            <a:spLocks noGrp="1" noChangeArrowheads="1"/>
          </p:cNvSpPr>
          <p:nvPr>
            <p:ph type="ctrTitle"/>
          </p:nvPr>
        </p:nvSpPr>
        <p:spPr>
          <a:xfrm>
            <a:off x="742950" y="1676400"/>
            <a:ext cx="8420100" cy="1924050"/>
          </a:xfrm>
        </p:spPr>
        <p:txBody>
          <a:bodyPr>
            <a:normAutofit fontScale="90000"/>
          </a:bodyPr>
          <a:lstStyle/>
          <a:p>
            <a:pPr algn="r">
              <a:defRPr/>
            </a:pPr>
            <a:r>
              <a:rPr lang="en-US" sz="5400" b="1" dirty="0" smtClean="0">
                <a:solidFill>
                  <a:srgbClr val="000000"/>
                </a:solidFill>
                <a:latin typeface="Bodoni MT Black" pitchFamily="18" charset="0"/>
              </a:rPr>
              <a:t>Managing</a:t>
            </a:r>
            <a:r>
              <a:rPr lang="en-US" sz="5400" b="1" dirty="0">
                <a:solidFill>
                  <a:srgbClr val="000000"/>
                </a:solidFill>
                <a:latin typeface="Bodoni MT Black" pitchFamily="18" charset="0"/>
              </a:rPr>
              <a:t/>
            </a:r>
            <a:br>
              <a:rPr lang="en-US" sz="5400" b="1" dirty="0">
                <a:solidFill>
                  <a:srgbClr val="000000"/>
                </a:solidFill>
                <a:latin typeface="Bodoni MT Black" pitchFamily="18" charset="0"/>
              </a:rPr>
            </a:br>
            <a:r>
              <a:rPr lang="en-US" sz="5400" b="1" dirty="0">
                <a:solidFill>
                  <a:srgbClr val="000000"/>
                </a:solidFill>
                <a:latin typeface="Bodoni MT Black" pitchFamily="18" charset="0"/>
              </a:rPr>
              <a:t>Account Payable</a:t>
            </a:r>
            <a:r>
              <a:rPr lang="en-US" sz="5400" b="1" dirty="0">
                <a:solidFill>
                  <a:srgbClr val="000000"/>
                </a:solidFill>
                <a:latin typeface="Script MT Bold" pitchFamily="66" charset="0"/>
              </a:rPr>
              <a:t/>
            </a:r>
            <a:br>
              <a:rPr lang="en-US" sz="5400" b="1" dirty="0">
                <a:solidFill>
                  <a:srgbClr val="000000"/>
                </a:solidFill>
                <a:latin typeface="Script MT Bold" pitchFamily="66" charset="0"/>
              </a:rPr>
            </a:br>
            <a:r>
              <a:rPr lang="en-US" b="1" dirty="0">
                <a:solidFill>
                  <a:srgbClr val="000000"/>
                </a:solidFill>
                <a:latin typeface="Script MT Bold" pitchFamily="66" charset="0"/>
              </a:rPr>
              <a:t>in Practices</a:t>
            </a:r>
          </a:p>
        </p:txBody>
      </p:sp>
      <p:pic>
        <p:nvPicPr>
          <p:cNvPr id="10244" name="Picture 4" descr="ag00595_"/>
          <p:cNvPicPr>
            <a:picLocks noChangeAspect="1" noChangeArrowheads="1" noCrop="1"/>
          </p:cNvPicPr>
          <p:nvPr/>
        </p:nvPicPr>
        <p:blipFill>
          <a:blip r:embed="rId3"/>
          <a:srcRect/>
          <a:stretch>
            <a:fillRect/>
          </a:stretch>
        </p:blipFill>
        <p:spPr bwMode="auto">
          <a:xfrm>
            <a:off x="412750" y="2667000"/>
            <a:ext cx="3467100" cy="3962400"/>
          </a:xfrm>
          <a:prstGeom prst="rect">
            <a:avLst/>
          </a:prstGeom>
          <a:noFill/>
          <a:ln w="9525">
            <a:noFill/>
            <a:miter lim="800000"/>
            <a:headEnd/>
            <a:tailEnd/>
          </a:ln>
        </p:spPr>
      </p:pic>
      <p:sp>
        <p:nvSpPr>
          <p:cNvPr id="5" name="Subtitle 4"/>
          <p:cNvSpPr>
            <a:spLocks noGrp="1"/>
          </p:cNvSpPr>
          <p:nvPr>
            <p:ph type="subTitle" idx="1"/>
          </p:nvPr>
        </p:nvSpPr>
        <p:spPr/>
        <p:txBody>
          <a:bodyPr/>
          <a:lstStyle/>
          <a:p>
            <a:endParaRPr 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itle 1"/>
          <p:cNvSpPr>
            <a:spLocks noGrp="1"/>
          </p:cNvSpPr>
          <p:nvPr>
            <p:ph type="title"/>
          </p:nvPr>
        </p:nvSpPr>
        <p:spPr/>
        <p:txBody>
          <a:bodyPr/>
          <a:lstStyle/>
          <a:p>
            <a:endParaRPr lang="en-US" smtClean="0"/>
          </a:p>
        </p:txBody>
      </p:sp>
      <p:sp>
        <p:nvSpPr>
          <p:cNvPr id="66563" name="Content Placeholder 2"/>
          <p:cNvSpPr>
            <a:spLocks noGrp="1"/>
          </p:cNvSpPr>
          <p:nvPr>
            <p:ph idx="1"/>
          </p:nvPr>
        </p:nvSpPr>
        <p:spPr/>
        <p:txBody>
          <a:bodyPr/>
          <a:lstStyle/>
          <a:p>
            <a:pPr algn="ctr"/>
            <a:r>
              <a:rPr lang="en-US" sz="6000" dirty="0" smtClean="0"/>
              <a:t>HARI 1</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a:xfrm>
            <a:off x="742951" y="152400"/>
            <a:ext cx="7443788" cy="914400"/>
          </a:xfrm>
          <a:solidFill>
            <a:srgbClr val="CCFFFF"/>
          </a:solidFill>
        </p:spPr>
        <p:txBody>
          <a:bodyPr/>
          <a:lstStyle/>
          <a:p>
            <a:r>
              <a:rPr lang="en-US" dirty="0" err="1" smtClean="0"/>
              <a:t>Wahyu</a:t>
            </a:r>
            <a:r>
              <a:rPr lang="en-US" dirty="0" smtClean="0"/>
              <a:t> </a:t>
            </a:r>
            <a:r>
              <a:rPr lang="en-US" dirty="0" err="1" smtClean="0"/>
              <a:t>Isnindiarto</a:t>
            </a:r>
            <a:r>
              <a:rPr lang="en-US" dirty="0" smtClean="0"/>
              <a:t>, </a:t>
            </a:r>
            <a:r>
              <a:rPr lang="en-US" dirty="0" err="1" smtClean="0"/>
              <a:t>Ak</a:t>
            </a:r>
            <a:endParaRPr lang="en-US" dirty="0" smtClean="0"/>
          </a:p>
        </p:txBody>
      </p:sp>
      <p:sp>
        <p:nvSpPr>
          <p:cNvPr id="8195" name="Slide Number Placeholder 3"/>
          <p:cNvSpPr>
            <a:spLocks noGrp="1"/>
          </p:cNvSpPr>
          <p:nvPr>
            <p:ph type="sldNum" sz="quarter" idx="10"/>
          </p:nvPr>
        </p:nvSpPr>
        <p:spPr>
          <a:noFill/>
        </p:spPr>
        <p:txBody>
          <a:bodyPr/>
          <a:lstStyle/>
          <a:p>
            <a:fld id="{8EA54217-D903-4675-AB44-DE8D8A60882E}" type="slidenum">
              <a:rPr lang="en-US" smtClean="0"/>
              <a:pPr/>
              <a:t>3</a:t>
            </a:fld>
            <a:endParaRPr lang="en-US" smtClean="0"/>
          </a:p>
        </p:txBody>
      </p:sp>
      <p:sp>
        <p:nvSpPr>
          <p:cNvPr id="8196" name="Content Placeholder 5"/>
          <p:cNvSpPr>
            <a:spLocks noGrp="1"/>
          </p:cNvSpPr>
          <p:nvPr>
            <p:ph idx="1"/>
          </p:nvPr>
        </p:nvSpPr>
        <p:spPr>
          <a:xfrm>
            <a:off x="762000" y="1447800"/>
            <a:ext cx="8337550" cy="4267200"/>
          </a:xfrm>
          <a:solidFill>
            <a:srgbClr val="CCFFFF"/>
          </a:solidFill>
        </p:spPr>
        <p:txBody>
          <a:bodyPr/>
          <a:lstStyle/>
          <a:p>
            <a:pPr>
              <a:buFont typeface="Wingdings" pitchFamily="2" charset="2"/>
              <a:buChar char="v"/>
            </a:pPr>
            <a:r>
              <a:rPr lang="en-US" sz="1800" dirty="0" smtClean="0"/>
              <a:t>Alumni </a:t>
            </a:r>
            <a:r>
              <a:rPr lang="en-US" sz="1800" dirty="0" err="1" smtClean="0"/>
              <a:t>Sekolah</a:t>
            </a:r>
            <a:r>
              <a:rPr lang="en-US" sz="1800" dirty="0" smtClean="0"/>
              <a:t> </a:t>
            </a:r>
            <a:r>
              <a:rPr lang="en-US" sz="1800" dirty="0" err="1" smtClean="0"/>
              <a:t>Tinggi</a:t>
            </a:r>
            <a:r>
              <a:rPr lang="en-US" sz="1800" dirty="0" smtClean="0"/>
              <a:t> </a:t>
            </a:r>
            <a:r>
              <a:rPr lang="en-US" sz="1800" dirty="0" err="1" smtClean="0"/>
              <a:t>Akuntansi</a:t>
            </a:r>
            <a:r>
              <a:rPr lang="en-US" sz="1800" dirty="0" smtClean="0"/>
              <a:t> Negara (STAN)</a:t>
            </a:r>
          </a:p>
          <a:p>
            <a:pPr>
              <a:buFont typeface="Wingdings" pitchFamily="2" charset="2"/>
              <a:buChar char="v"/>
            </a:pPr>
            <a:r>
              <a:rPr lang="en-US" sz="1800" dirty="0" smtClean="0"/>
              <a:t>Auditor BPKP </a:t>
            </a:r>
            <a:r>
              <a:rPr lang="en-US" sz="1800" dirty="0" err="1" smtClean="0"/>
              <a:t>Sumsel</a:t>
            </a:r>
            <a:endParaRPr lang="en-US" sz="1800" dirty="0" smtClean="0"/>
          </a:p>
          <a:p>
            <a:pPr lvl="1">
              <a:buFont typeface="Wingdings" pitchFamily="2" charset="2"/>
              <a:buChar char="ü"/>
            </a:pPr>
            <a:r>
              <a:rPr lang="en-US" sz="1800" dirty="0" smtClean="0"/>
              <a:t>General Audit: PT </a:t>
            </a:r>
            <a:r>
              <a:rPr lang="en-US" sz="1800" dirty="0" err="1" smtClean="0"/>
              <a:t>Pupuk</a:t>
            </a:r>
            <a:r>
              <a:rPr lang="en-US" sz="1800" dirty="0" smtClean="0"/>
              <a:t> </a:t>
            </a:r>
            <a:r>
              <a:rPr lang="en-US" sz="1800" dirty="0" err="1" smtClean="0"/>
              <a:t>Sriwijaya</a:t>
            </a:r>
            <a:r>
              <a:rPr lang="en-US" sz="1800" dirty="0" smtClean="0"/>
              <a:t>, PT </a:t>
            </a:r>
            <a:r>
              <a:rPr lang="en-US" sz="1800" dirty="0" err="1" smtClean="0"/>
              <a:t>Pelni</a:t>
            </a:r>
            <a:r>
              <a:rPr lang="en-US" sz="1800" dirty="0" smtClean="0"/>
              <a:t>, PT Garuda Indonesia Airways, </a:t>
            </a:r>
            <a:r>
              <a:rPr lang="en-US" sz="1800" dirty="0" err="1" smtClean="0"/>
              <a:t>Pertamina</a:t>
            </a:r>
            <a:r>
              <a:rPr lang="en-US" sz="1800" dirty="0" smtClean="0"/>
              <a:t> , PT </a:t>
            </a:r>
            <a:r>
              <a:rPr lang="en-US" sz="1800" dirty="0" err="1" smtClean="0"/>
              <a:t>Nindya</a:t>
            </a:r>
            <a:r>
              <a:rPr lang="en-US" sz="1800" dirty="0" smtClean="0"/>
              <a:t> </a:t>
            </a:r>
            <a:r>
              <a:rPr lang="en-US" sz="1800" dirty="0" err="1" smtClean="0"/>
              <a:t>Karya</a:t>
            </a:r>
            <a:endParaRPr lang="en-US" sz="1800" dirty="0" smtClean="0"/>
          </a:p>
          <a:p>
            <a:pPr lvl="1">
              <a:buFont typeface="Wingdings" pitchFamily="2" charset="2"/>
              <a:buChar char="ü"/>
            </a:pPr>
            <a:r>
              <a:rPr lang="en-US" sz="1800" dirty="0" smtClean="0"/>
              <a:t>Management Audit: PT </a:t>
            </a:r>
            <a:r>
              <a:rPr lang="en-US" sz="1800" dirty="0" err="1" smtClean="0"/>
              <a:t>Timah</a:t>
            </a:r>
            <a:r>
              <a:rPr lang="en-US" sz="1800" dirty="0" smtClean="0"/>
              <a:t>, </a:t>
            </a:r>
            <a:r>
              <a:rPr lang="en-US" sz="1800" dirty="0" err="1" smtClean="0"/>
              <a:t>Proyek</a:t>
            </a:r>
            <a:r>
              <a:rPr lang="en-US" sz="1800" dirty="0" smtClean="0"/>
              <a:t> </a:t>
            </a:r>
            <a:r>
              <a:rPr lang="en-US" sz="1800" dirty="0" err="1" smtClean="0"/>
              <a:t>Peningkatan</a:t>
            </a:r>
            <a:r>
              <a:rPr lang="en-US" sz="1800" dirty="0" smtClean="0"/>
              <a:t> </a:t>
            </a:r>
            <a:r>
              <a:rPr lang="en-US" sz="1800" dirty="0" err="1" smtClean="0"/>
              <a:t>Jalan</a:t>
            </a:r>
            <a:r>
              <a:rPr lang="en-US" sz="1800" dirty="0" smtClean="0"/>
              <a:t> </a:t>
            </a:r>
            <a:r>
              <a:rPr lang="en-US" sz="1800" dirty="0" err="1" smtClean="0"/>
              <a:t>Karang</a:t>
            </a:r>
            <a:r>
              <a:rPr lang="en-US" sz="1800" dirty="0" smtClean="0"/>
              <a:t> Tengah-</a:t>
            </a:r>
            <a:r>
              <a:rPr lang="en-US" sz="1800" dirty="0" err="1" smtClean="0"/>
              <a:t>Batu</a:t>
            </a:r>
            <a:r>
              <a:rPr lang="en-US" sz="1800" dirty="0" smtClean="0"/>
              <a:t> Raja (IBRD Loan)</a:t>
            </a:r>
          </a:p>
          <a:p>
            <a:pPr>
              <a:buNone/>
            </a:pPr>
            <a:r>
              <a:rPr lang="en-US" sz="1800" dirty="0" smtClean="0"/>
              <a:t>1997 – 2001</a:t>
            </a:r>
          </a:p>
          <a:p>
            <a:pPr>
              <a:buFont typeface="Wingdings" pitchFamily="2" charset="2"/>
              <a:buChar char="v"/>
            </a:pPr>
            <a:r>
              <a:rPr lang="en-US" sz="1800" dirty="0" smtClean="0"/>
              <a:t>Head of Finance &amp; Accounting  Department </a:t>
            </a:r>
            <a:r>
              <a:rPr lang="en-US" sz="1800" dirty="0" err="1" smtClean="0"/>
              <a:t>Rumah</a:t>
            </a:r>
            <a:r>
              <a:rPr lang="en-US" sz="1800" dirty="0" smtClean="0"/>
              <a:t> </a:t>
            </a:r>
            <a:r>
              <a:rPr lang="en-US" sz="1800" dirty="0" err="1" smtClean="0"/>
              <a:t>Sakit</a:t>
            </a:r>
            <a:r>
              <a:rPr lang="en-US" sz="1800" dirty="0" smtClean="0"/>
              <a:t> </a:t>
            </a:r>
            <a:r>
              <a:rPr lang="en-US" sz="1800" dirty="0" err="1" smtClean="0"/>
              <a:t>Permata</a:t>
            </a:r>
            <a:r>
              <a:rPr lang="en-US" sz="1800" dirty="0" smtClean="0"/>
              <a:t> </a:t>
            </a:r>
            <a:r>
              <a:rPr lang="en-US" sz="1800" dirty="0" err="1" smtClean="0"/>
              <a:t>Hijau</a:t>
            </a:r>
            <a:r>
              <a:rPr lang="en-US" sz="1800" dirty="0" smtClean="0"/>
              <a:t>, Jakarta</a:t>
            </a:r>
          </a:p>
          <a:p>
            <a:pPr>
              <a:buFont typeface="Wingdings" pitchFamily="2" charset="2"/>
              <a:buChar char="v"/>
            </a:pPr>
            <a:r>
              <a:rPr lang="en-US" sz="1800" dirty="0" smtClean="0"/>
              <a:t> Finance &amp; Accounting Manager PT Ume </a:t>
            </a:r>
            <a:r>
              <a:rPr lang="en-US" sz="1800" dirty="0" err="1" smtClean="0"/>
              <a:t>Persada</a:t>
            </a:r>
            <a:r>
              <a:rPr lang="en-US" sz="1800" dirty="0" smtClean="0"/>
              <a:t> Indonesia, Jakarta</a:t>
            </a:r>
          </a:p>
          <a:p>
            <a:pPr>
              <a:buNone/>
            </a:pPr>
            <a:r>
              <a:rPr lang="en-US" sz="1800" dirty="0" smtClean="0"/>
              <a:t>2002 – 2009 </a:t>
            </a:r>
          </a:p>
          <a:p>
            <a:pPr>
              <a:buFont typeface="Wingdings" pitchFamily="2" charset="2"/>
              <a:buChar char="v"/>
            </a:pPr>
            <a:r>
              <a:rPr lang="en-US" sz="1800" dirty="0" smtClean="0"/>
              <a:t> </a:t>
            </a:r>
            <a:r>
              <a:rPr lang="en-US" sz="1800" dirty="0" err="1" smtClean="0"/>
              <a:t>Konsultan</a:t>
            </a:r>
            <a:r>
              <a:rPr lang="en-US" sz="1800" dirty="0" smtClean="0"/>
              <a:t> PDAM </a:t>
            </a:r>
            <a:r>
              <a:rPr lang="en-US" sz="1800" dirty="0" err="1" smtClean="0"/>
              <a:t>Tirta</a:t>
            </a:r>
            <a:r>
              <a:rPr lang="en-US" sz="1800" dirty="0" smtClean="0"/>
              <a:t> </a:t>
            </a:r>
            <a:r>
              <a:rPr lang="en-US" sz="1800" dirty="0" err="1" smtClean="0"/>
              <a:t>Kahuripan</a:t>
            </a:r>
            <a:r>
              <a:rPr lang="en-US" sz="1800" dirty="0" smtClean="0"/>
              <a:t> </a:t>
            </a:r>
            <a:r>
              <a:rPr lang="en-US" sz="1800" dirty="0" err="1" smtClean="0"/>
              <a:t>Kabupaten</a:t>
            </a:r>
            <a:r>
              <a:rPr lang="en-US" sz="1800" dirty="0" smtClean="0"/>
              <a:t> Bogor, Auditor </a:t>
            </a:r>
            <a:r>
              <a:rPr lang="en-US" sz="1800" dirty="0" err="1" smtClean="0"/>
              <a:t>di</a:t>
            </a:r>
            <a:r>
              <a:rPr lang="en-US" sz="1800" dirty="0" smtClean="0"/>
              <a:t> KAP, </a:t>
            </a:r>
          </a:p>
          <a:p>
            <a:pPr>
              <a:buFont typeface="Wingdings" pitchFamily="2" charset="2"/>
              <a:buChar char="v"/>
            </a:pPr>
            <a:endParaRPr lang="en-US" sz="1800" dirty="0" smtClean="0"/>
          </a:p>
          <a:p>
            <a:pPr>
              <a:buFont typeface="Wingdings" pitchFamily="2" charset="2"/>
              <a:buChar char="v"/>
            </a:pPr>
            <a:endParaRPr lang="en-US" sz="1800" dirty="0" smtClean="0"/>
          </a:p>
        </p:txBody>
      </p:sp>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8610" name="Picture 2" descr="g0503167"/>
          <p:cNvPicPr>
            <a:picLocks noChangeAspect="1" noChangeArrowheads="1"/>
          </p:cNvPicPr>
          <p:nvPr/>
        </p:nvPicPr>
        <p:blipFill>
          <a:blip r:embed="rId3"/>
          <a:srcRect/>
          <a:stretch>
            <a:fillRect/>
          </a:stretch>
        </p:blipFill>
        <p:spPr bwMode="auto">
          <a:xfrm>
            <a:off x="8420100" y="2590800"/>
            <a:ext cx="1295400" cy="3657600"/>
          </a:xfrm>
          <a:prstGeom prst="rect">
            <a:avLst/>
          </a:prstGeom>
          <a:noFill/>
          <a:ln w="9525">
            <a:noFill/>
            <a:miter lim="800000"/>
            <a:headEnd/>
            <a:tailEnd/>
          </a:ln>
        </p:spPr>
      </p:pic>
      <p:sp>
        <p:nvSpPr>
          <p:cNvPr id="68611" name="Rectangle 3"/>
          <p:cNvSpPr>
            <a:spLocks noGrp="1" noChangeArrowheads="1"/>
          </p:cNvSpPr>
          <p:nvPr>
            <p:ph type="title"/>
          </p:nvPr>
        </p:nvSpPr>
        <p:spPr>
          <a:xfrm>
            <a:off x="495300" y="457200"/>
            <a:ext cx="8915400" cy="914400"/>
          </a:xfrm>
        </p:spPr>
        <p:txBody>
          <a:bodyPr/>
          <a:lstStyle/>
          <a:p>
            <a:pPr eaLnBrk="1" hangingPunct="1"/>
            <a:r>
              <a:rPr lang="en-US" b="1" smtClean="0"/>
              <a:t>Nature of Account Payable</a:t>
            </a:r>
          </a:p>
        </p:txBody>
      </p:sp>
      <p:sp>
        <p:nvSpPr>
          <p:cNvPr id="68612" name="Rectangle 4"/>
          <p:cNvSpPr>
            <a:spLocks noGrp="1" noChangeArrowheads="1"/>
          </p:cNvSpPr>
          <p:nvPr>
            <p:ph type="body" idx="1"/>
          </p:nvPr>
        </p:nvSpPr>
        <p:spPr>
          <a:xfrm>
            <a:off x="304800" y="1295400"/>
            <a:ext cx="8915400" cy="4038600"/>
          </a:xfrm>
        </p:spPr>
        <p:txBody>
          <a:bodyPr/>
          <a:lstStyle/>
          <a:p>
            <a:pPr eaLnBrk="1" hangingPunct="1">
              <a:lnSpc>
                <a:spcPct val="90000"/>
              </a:lnSpc>
              <a:buClr>
                <a:schemeClr val="tx1"/>
              </a:buClr>
              <a:buSzTx/>
            </a:pPr>
            <a:r>
              <a:rPr lang="en-US" smtClean="0"/>
              <a:t>Fakta saat ini</a:t>
            </a:r>
          </a:p>
          <a:p>
            <a:pPr lvl="2" eaLnBrk="1" hangingPunct="1">
              <a:lnSpc>
                <a:spcPct val="90000"/>
              </a:lnSpc>
              <a:buClr>
                <a:schemeClr val="tx1"/>
              </a:buClr>
              <a:buSzTx/>
            </a:pPr>
            <a:r>
              <a:rPr lang="en-US" smtClean="0"/>
              <a:t>Account Payable dianggap hanya bagian proses pembayaran</a:t>
            </a:r>
          </a:p>
          <a:p>
            <a:pPr lvl="2" eaLnBrk="1" hangingPunct="1">
              <a:lnSpc>
                <a:spcPct val="90000"/>
              </a:lnSpc>
              <a:buClr>
                <a:schemeClr val="tx1"/>
              </a:buClr>
              <a:buSzTx/>
            </a:pPr>
            <a:r>
              <a:rPr lang="en-US" smtClean="0"/>
              <a:t>Tugas yang “Enteng” </a:t>
            </a:r>
          </a:p>
          <a:p>
            <a:pPr lvl="3" eaLnBrk="1" hangingPunct="1">
              <a:lnSpc>
                <a:spcPct val="90000"/>
              </a:lnSpc>
              <a:buClr>
                <a:schemeClr val="tx1"/>
              </a:buClr>
              <a:buSzTx/>
            </a:pPr>
            <a:r>
              <a:rPr lang="en-US" smtClean="0"/>
              <a:t>Terima Invoice, Checking Documents, Bayar</a:t>
            </a:r>
          </a:p>
          <a:p>
            <a:pPr lvl="2" eaLnBrk="1" hangingPunct="1">
              <a:lnSpc>
                <a:spcPct val="90000"/>
              </a:lnSpc>
              <a:buClr>
                <a:schemeClr val="tx1"/>
              </a:buClr>
              <a:buSzTx/>
            </a:pPr>
            <a:r>
              <a:rPr lang="en-US" smtClean="0"/>
              <a:t>Tidak diperhatikan</a:t>
            </a:r>
          </a:p>
          <a:p>
            <a:pPr lvl="3" eaLnBrk="1" hangingPunct="1">
              <a:lnSpc>
                <a:spcPct val="90000"/>
              </a:lnSpc>
              <a:buClr>
                <a:schemeClr val="tx1"/>
              </a:buClr>
              <a:buSzTx/>
            </a:pPr>
            <a:r>
              <a:rPr lang="en-US" smtClean="0"/>
              <a:t>Telat bayar is OK, telat nagih is NO !!!</a:t>
            </a:r>
          </a:p>
          <a:p>
            <a:pPr lvl="2" eaLnBrk="1" hangingPunct="1">
              <a:lnSpc>
                <a:spcPct val="90000"/>
              </a:lnSpc>
              <a:buClr>
                <a:schemeClr val="tx1"/>
              </a:buClr>
              <a:buSzTx/>
            </a:pPr>
            <a:r>
              <a:rPr lang="en-US" smtClean="0"/>
              <a:t>“Center of failure”</a:t>
            </a:r>
          </a:p>
          <a:p>
            <a:pPr lvl="3" eaLnBrk="1" hangingPunct="1">
              <a:lnSpc>
                <a:spcPct val="90000"/>
              </a:lnSpc>
              <a:buClr>
                <a:schemeClr val="tx1"/>
              </a:buClr>
              <a:buSzTx/>
            </a:pPr>
            <a:r>
              <a:rPr lang="en-US" smtClean="0"/>
              <a:t>Mudah disalahkan apabila vendor telat dibayar</a:t>
            </a:r>
          </a:p>
          <a:p>
            <a:pPr lvl="3" eaLnBrk="1" hangingPunct="1">
              <a:lnSpc>
                <a:spcPct val="90000"/>
              </a:lnSpc>
              <a:buClr>
                <a:schemeClr val="tx1"/>
              </a:buClr>
              <a:buSzTx/>
            </a:pPr>
            <a:r>
              <a:rPr lang="en-US" smtClean="0"/>
              <a:t>Cash advance tidak diberikan (terlambat expenses report)</a:t>
            </a:r>
          </a:p>
          <a:p>
            <a:pPr lvl="2" eaLnBrk="1" hangingPunct="1">
              <a:lnSpc>
                <a:spcPct val="90000"/>
              </a:lnSpc>
              <a:buClr>
                <a:schemeClr val="tx1"/>
              </a:buClr>
              <a:buSzTx/>
            </a:pPr>
            <a:r>
              <a:rPr lang="en-US" smtClean="0"/>
              <a:t>Menjual lebih sulit daripada membeli dan membayar</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a:xfrm>
            <a:off x="495300" y="457200"/>
            <a:ext cx="8915400" cy="914400"/>
          </a:xfrm>
        </p:spPr>
        <p:txBody>
          <a:bodyPr/>
          <a:lstStyle/>
          <a:p>
            <a:pPr eaLnBrk="1" hangingPunct="1"/>
            <a:r>
              <a:rPr lang="en-US" b="1" smtClean="0"/>
              <a:t>Nature of Account Payable</a:t>
            </a:r>
          </a:p>
        </p:txBody>
      </p:sp>
      <p:sp>
        <p:nvSpPr>
          <p:cNvPr id="69635" name="Rectangle 3"/>
          <p:cNvSpPr>
            <a:spLocks noGrp="1" noChangeArrowheads="1"/>
          </p:cNvSpPr>
          <p:nvPr>
            <p:ph type="body" idx="1"/>
          </p:nvPr>
        </p:nvSpPr>
        <p:spPr>
          <a:xfrm>
            <a:off x="495300" y="1371600"/>
            <a:ext cx="8915400" cy="4114800"/>
          </a:xfrm>
        </p:spPr>
        <p:txBody>
          <a:bodyPr/>
          <a:lstStyle/>
          <a:p>
            <a:pPr eaLnBrk="1" hangingPunct="1">
              <a:buClr>
                <a:schemeClr val="tx1"/>
              </a:buClr>
              <a:buSzTx/>
            </a:pPr>
            <a:r>
              <a:rPr lang="en-US" sz="2800" smtClean="0"/>
              <a:t>Apakah Payable (Utang)</a:t>
            </a:r>
          </a:p>
          <a:p>
            <a:pPr lvl="1" eaLnBrk="1" hangingPunct="1">
              <a:buClr>
                <a:schemeClr val="tx1"/>
              </a:buClr>
              <a:buSzTx/>
            </a:pPr>
            <a:r>
              <a:rPr lang="en-US" sz="2400" smtClean="0"/>
              <a:t>Kewajiban yang dimiliki perusahaan terhadap supplier maupun creditor</a:t>
            </a:r>
          </a:p>
          <a:p>
            <a:pPr lvl="1" eaLnBrk="1" hangingPunct="1">
              <a:buClr>
                <a:schemeClr val="tx1"/>
              </a:buClr>
              <a:buSzTx/>
            </a:pPr>
            <a:r>
              <a:rPr lang="en-US" sz="2400" smtClean="0"/>
              <a:t>Bersifat </a:t>
            </a:r>
          </a:p>
          <a:p>
            <a:pPr lvl="2" eaLnBrk="1" hangingPunct="1">
              <a:buClr>
                <a:schemeClr val="tx1"/>
              </a:buClr>
              <a:buSzTx/>
            </a:pPr>
            <a:r>
              <a:rPr lang="en-US" sz="2000" smtClean="0"/>
              <a:t>Short term (Current Liabilities) </a:t>
            </a:r>
            <a:r>
              <a:rPr lang="en-US" sz="2000" smtClean="0">
                <a:sym typeface="Wingdings" pitchFamily="2" charset="2"/>
              </a:rPr>
              <a:t> akan jatuh tempo kurang dari satu tahun.</a:t>
            </a:r>
          </a:p>
          <a:p>
            <a:pPr lvl="2" eaLnBrk="1" hangingPunct="1">
              <a:buClr>
                <a:schemeClr val="tx1"/>
              </a:buClr>
              <a:buSzTx/>
            </a:pPr>
            <a:r>
              <a:rPr lang="en-US" sz="2000" smtClean="0">
                <a:sym typeface="Wingdings" pitchFamily="2" charset="2"/>
              </a:rPr>
              <a:t>Long Term (Long Term Liabilities)  akan jatuh tempo lebih dari satu tahun</a:t>
            </a:r>
            <a:endParaRPr lang="en-US" sz="2000" smtClean="0"/>
          </a:p>
          <a:p>
            <a:pPr lvl="1" eaLnBrk="1" hangingPunct="1">
              <a:buClr>
                <a:schemeClr val="tx1"/>
              </a:buClr>
              <a:buSzTx/>
            </a:pPr>
            <a:r>
              <a:rPr lang="en-US" sz="2400" smtClean="0"/>
              <a:t>Payable </a:t>
            </a:r>
          </a:p>
          <a:p>
            <a:pPr lvl="2" eaLnBrk="1" hangingPunct="1">
              <a:buClr>
                <a:schemeClr val="tx1"/>
              </a:buClr>
              <a:buSzTx/>
            </a:pPr>
            <a:r>
              <a:rPr lang="en-US" sz="2000" smtClean="0"/>
              <a:t>Berkaitan dengan current liabilities</a:t>
            </a:r>
          </a:p>
          <a:p>
            <a:pPr lvl="2" eaLnBrk="1" hangingPunct="1">
              <a:buClr>
                <a:schemeClr val="tx1"/>
              </a:buClr>
              <a:buSzTx/>
            </a:pPr>
            <a:r>
              <a:rPr lang="en-US" sz="2000" smtClean="0"/>
              <a:t>Account Payable (Utang dagang) </a:t>
            </a:r>
            <a:r>
              <a:rPr lang="en-US" sz="2000" smtClean="0">
                <a:sym typeface="Wingdings" pitchFamily="2" charset="2"/>
              </a:rPr>
              <a:t> utang ke supplier atau vendor</a:t>
            </a:r>
          </a:p>
          <a:p>
            <a:pPr lvl="2" eaLnBrk="1" hangingPunct="1">
              <a:buClr>
                <a:schemeClr val="tx1"/>
              </a:buClr>
              <a:buSzTx/>
            </a:pPr>
            <a:r>
              <a:rPr lang="en-US" sz="2000" smtClean="0">
                <a:sym typeface="Wingdings" pitchFamily="2" charset="2"/>
              </a:rPr>
              <a:t>Notes Payable (Utang ke bank)  </a:t>
            </a:r>
            <a:endParaRPr lang="en-US" sz="2000" smtClean="0"/>
          </a:p>
        </p:txBody>
      </p:sp>
      <p:pic>
        <p:nvPicPr>
          <p:cNvPr id="69636" name="Picture 4" descr="CREDTCRD"/>
          <p:cNvPicPr>
            <a:picLocks noChangeAspect="1" noChangeArrowheads="1"/>
          </p:cNvPicPr>
          <p:nvPr/>
        </p:nvPicPr>
        <p:blipFill>
          <a:blip r:embed="rId3"/>
          <a:srcRect/>
          <a:stretch>
            <a:fillRect/>
          </a:stretch>
        </p:blipFill>
        <p:spPr bwMode="auto">
          <a:xfrm>
            <a:off x="8382000" y="5530850"/>
            <a:ext cx="1524000" cy="13271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ctrTitle"/>
          </p:nvPr>
        </p:nvSpPr>
        <p:spPr>
          <a:xfrm>
            <a:off x="457200" y="838200"/>
            <a:ext cx="8997950" cy="1828800"/>
          </a:xfrm>
        </p:spPr>
        <p:txBody>
          <a:bodyPr/>
          <a:lstStyle/>
          <a:p>
            <a:pPr algn="r" eaLnBrk="1" hangingPunct="1"/>
            <a:r>
              <a:rPr lang="en-US" sz="4800" smtClean="0"/>
              <a:t>Lingkup Account Payable, </a:t>
            </a:r>
            <a:br>
              <a:rPr lang="en-US" sz="4800" smtClean="0"/>
            </a:br>
            <a:r>
              <a:rPr lang="en-US" sz="4800" smtClean="0"/>
              <a:t>Kebijakan, dan Penyajiannya</a:t>
            </a:r>
          </a:p>
        </p:txBody>
      </p:sp>
      <p:sp>
        <p:nvSpPr>
          <p:cNvPr id="70659" name="Rectangle 3"/>
          <p:cNvSpPr>
            <a:spLocks noGrp="1" noChangeArrowheads="1"/>
          </p:cNvSpPr>
          <p:nvPr>
            <p:ph type="subTitle" idx="1"/>
          </p:nvPr>
        </p:nvSpPr>
        <p:spPr>
          <a:xfrm>
            <a:off x="762000" y="3200400"/>
            <a:ext cx="7512050" cy="2438400"/>
          </a:xfrm>
        </p:spPr>
        <p:txBody>
          <a:bodyPr/>
          <a:lstStyle/>
          <a:p>
            <a:pPr marL="465138" indent="-465138" algn="l" eaLnBrk="1" hangingPunct="1">
              <a:lnSpc>
                <a:spcPct val="90000"/>
              </a:lnSpc>
              <a:buClr>
                <a:schemeClr val="tx1"/>
              </a:buClr>
              <a:buFont typeface="Wingdings" pitchFamily="2" charset="2"/>
              <a:buChar char="n"/>
            </a:pPr>
            <a:r>
              <a:rPr lang="en-US" sz="2000" b="1" smtClean="0">
                <a:solidFill>
                  <a:srgbClr val="000000"/>
                </a:solidFill>
              </a:rPr>
              <a:t>Definisi Account Payable</a:t>
            </a:r>
          </a:p>
          <a:p>
            <a:pPr marL="465138" indent="-465138" algn="l" eaLnBrk="1" hangingPunct="1">
              <a:lnSpc>
                <a:spcPct val="90000"/>
              </a:lnSpc>
              <a:buClr>
                <a:schemeClr val="tx1"/>
              </a:buClr>
              <a:buFont typeface="Wingdings" pitchFamily="2" charset="2"/>
              <a:buChar char="n"/>
            </a:pPr>
            <a:r>
              <a:rPr lang="en-US" sz="2000" b="1" smtClean="0">
                <a:solidFill>
                  <a:srgbClr val="000000"/>
                </a:solidFill>
              </a:rPr>
              <a:t>Prinsip Akuntansi yang lazim</a:t>
            </a:r>
          </a:p>
          <a:p>
            <a:pPr marL="465138" indent="-465138" algn="l" eaLnBrk="1" hangingPunct="1">
              <a:lnSpc>
                <a:spcPct val="90000"/>
              </a:lnSpc>
              <a:buClr>
                <a:schemeClr val="tx1"/>
              </a:buClr>
              <a:buFont typeface="Wingdings" pitchFamily="2" charset="2"/>
              <a:buChar char="n"/>
            </a:pPr>
            <a:r>
              <a:rPr lang="en-US" sz="2000" b="1" smtClean="0">
                <a:solidFill>
                  <a:srgbClr val="000000"/>
                </a:solidFill>
              </a:rPr>
              <a:t>Payment Policy A/P</a:t>
            </a:r>
          </a:p>
          <a:p>
            <a:pPr marL="465138" indent="-465138" algn="l" eaLnBrk="1" hangingPunct="1">
              <a:lnSpc>
                <a:spcPct val="90000"/>
              </a:lnSpc>
              <a:buClr>
                <a:schemeClr val="tx1"/>
              </a:buClr>
              <a:buFont typeface="Wingdings" pitchFamily="2" charset="2"/>
              <a:buChar char="n"/>
            </a:pPr>
            <a:r>
              <a:rPr lang="sv-SE" sz="2000" b="1" smtClean="0">
                <a:solidFill>
                  <a:srgbClr val="000000"/>
                </a:solidFill>
              </a:rPr>
              <a:t>Account Payable dalam Strategi Purchasing</a:t>
            </a:r>
          </a:p>
          <a:p>
            <a:pPr marL="465138" indent="-465138" algn="l" eaLnBrk="1" hangingPunct="1">
              <a:lnSpc>
                <a:spcPct val="90000"/>
              </a:lnSpc>
              <a:buClr>
                <a:schemeClr val="tx1"/>
              </a:buClr>
              <a:buFont typeface="Wingdings" pitchFamily="2" charset="2"/>
              <a:buChar char="n"/>
            </a:pPr>
            <a:r>
              <a:rPr lang="sv-SE" sz="2000" b="1" smtClean="0">
                <a:solidFill>
                  <a:srgbClr val="000000"/>
                </a:solidFill>
              </a:rPr>
              <a:t>Klasifikasi Supplier</a:t>
            </a:r>
          </a:p>
          <a:p>
            <a:pPr marL="465138" indent="-465138" algn="l" eaLnBrk="1" hangingPunct="1">
              <a:lnSpc>
                <a:spcPct val="90000"/>
              </a:lnSpc>
              <a:buClr>
                <a:schemeClr val="tx1"/>
              </a:buClr>
              <a:buFont typeface="Wingdings" pitchFamily="2" charset="2"/>
              <a:buChar char="n"/>
            </a:pPr>
            <a:r>
              <a:rPr lang="en-US" sz="2000" b="1" smtClean="0">
                <a:solidFill>
                  <a:srgbClr val="000000"/>
                </a:solidFill>
              </a:rPr>
              <a:t>Prepaid/Down Payment</a:t>
            </a:r>
          </a:p>
          <a:p>
            <a:pPr marL="465138" indent="-465138" algn="l" eaLnBrk="1" hangingPunct="1">
              <a:lnSpc>
                <a:spcPct val="90000"/>
              </a:lnSpc>
              <a:buClr>
                <a:schemeClr val="tx1"/>
              </a:buClr>
              <a:buFont typeface="Wingdings" pitchFamily="2" charset="2"/>
              <a:buChar char="n"/>
            </a:pPr>
            <a:r>
              <a:rPr lang="en-US" sz="2000" b="1" u="sng" smtClean="0">
                <a:solidFill>
                  <a:srgbClr val="000000"/>
                </a:solidFill>
              </a:rPr>
              <a:t>Retur Pembelian</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a:xfrm>
            <a:off x="495300" y="228600"/>
            <a:ext cx="8915400" cy="1371600"/>
          </a:xfrm>
        </p:spPr>
        <p:txBody>
          <a:bodyPr/>
          <a:lstStyle/>
          <a:p>
            <a:pPr eaLnBrk="1" hangingPunct="1"/>
            <a:r>
              <a:rPr lang="en-US" smtClean="0"/>
              <a:t>Definisi Account Payable</a:t>
            </a:r>
          </a:p>
        </p:txBody>
      </p:sp>
      <p:sp>
        <p:nvSpPr>
          <p:cNvPr id="71683" name="Rectangle 3"/>
          <p:cNvSpPr>
            <a:spLocks noGrp="1" noChangeArrowheads="1"/>
          </p:cNvSpPr>
          <p:nvPr>
            <p:ph type="body" idx="1"/>
          </p:nvPr>
        </p:nvSpPr>
        <p:spPr>
          <a:xfrm>
            <a:off x="495300" y="1371600"/>
            <a:ext cx="9163050" cy="5257800"/>
          </a:xfrm>
        </p:spPr>
        <p:txBody>
          <a:bodyPr/>
          <a:lstStyle/>
          <a:p>
            <a:pPr eaLnBrk="1" hangingPunct="1">
              <a:lnSpc>
                <a:spcPct val="80000"/>
              </a:lnSpc>
              <a:buClr>
                <a:schemeClr val="tx1"/>
              </a:buClr>
              <a:buSzTx/>
            </a:pPr>
            <a:r>
              <a:rPr lang="en-US" sz="2200" smtClean="0"/>
              <a:t>FASB concepts No. 3</a:t>
            </a:r>
            <a:endParaRPr lang="en-US" sz="2200" i="1" smtClean="0"/>
          </a:p>
          <a:p>
            <a:pPr lvl="1" eaLnBrk="1" hangingPunct="1">
              <a:lnSpc>
                <a:spcPct val="80000"/>
              </a:lnSpc>
              <a:buClr>
                <a:schemeClr val="tx1"/>
              </a:buClr>
              <a:buSzTx/>
            </a:pPr>
            <a:r>
              <a:rPr lang="en-US" sz="2200" i="1" smtClean="0"/>
              <a:t>Pengorbanan manfaat ekonomi di masa yang akan datang yang mungkin terjadi akibat kewajiban suatu badan usaha pada masa kini untuk mentransfer aktiva atau menyediakan jasa di masa lalu</a:t>
            </a:r>
          </a:p>
          <a:p>
            <a:pPr lvl="1" eaLnBrk="1" hangingPunct="1">
              <a:lnSpc>
                <a:spcPct val="80000"/>
              </a:lnSpc>
              <a:buClr>
                <a:schemeClr val="tx1"/>
              </a:buClr>
              <a:buSzTx/>
            </a:pPr>
            <a:endParaRPr lang="en-US" sz="2200" smtClean="0"/>
          </a:p>
          <a:p>
            <a:pPr eaLnBrk="1" hangingPunct="1">
              <a:lnSpc>
                <a:spcPct val="80000"/>
              </a:lnSpc>
              <a:buClr>
                <a:schemeClr val="tx1"/>
              </a:buClr>
              <a:buSzTx/>
            </a:pPr>
            <a:r>
              <a:rPr lang="en-US" sz="2200" smtClean="0"/>
              <a:t>PSAK No. 1 paragraf 44</a:t>
            </a:r>
            <a:endParaRPr lang="en-US" sz="2200" i="1" smtClean="0"/>
          </a:p>
          <a:p>
            <a:pPr lvl="1" eaLnBrk="1" hangingPunct="1">
              <a:lnSpc>
                <a:spcPct val="80000"/>
              </a:lnSpc>
              <a:buClr>
                <a:schemeClr val="tx1"/>
              </a:buClr>
              <a:buSzTx/>
            </a:pPr>
            <a:r>
              <a:rPr lang="en-US" sz="2200" i="1" smtClean="0"/>
              <a:t>Diperkirakan selesai dalam jangka waktu siklus normal operasi perusahaan; atau jatuh tempo dalam jangka waktu dua belas bulan dari tanggal neraca</a:t>
            </a:r>
            <a:endParaRPr lang="en-US" sz="2200" smtClean="0"/>
          </a:p>
          <a:p>
            <a:pPr eaLnBrk="1" hangingPunct="1">
              <a:lnSpc>
                <a:spcPct val="80000"/>
              </a:lnSpc>
              <a:buClr>
                <a:schemeClr val="tx1"/>
              </a:buClr>
              <a:buSzTx/>
            </a:pPr>
            <a:endParaRPr lang="en-US" sz="2400" smtClean="0"/>
          </a:p>
          <a:p>
            <a:pPr eaLnBrk="1" hangingPunct="1">
              <a:lnSpc>
                <a:spcPct val="80000"/>
              </a:lnSpc>
              <a:buClr>
                <a:schemeClr val="tx1"/>
              </a:buClr>
              <a:buSzTx/>
            </a:pPr>
            <a:r>
              <a:rPr lang="en-US" sz="2200" smtClean="0"/>
              <a:t>AICPA Professional Standards paragraf 1027.25 dan 2031.07</a:t>
            </a:r>
            <a:endParaRPr lang="en-US" sz="2200" i="1" smtClean="0"/>
          </a:p>
          <a:p>
            <a:pPr lvl="1" eaLnBrk="1" hangingPunct="1">
              <a:lnSpc>
                <a:spcPct val="80000"/>
              </a:lnSpc>
              <a:buClr>
                <a:schemeClr val="tx1"/>
              </a:buClr>
              <a:buSzTx/>
            </a:pPr>
            <a:r>
              <a:rPr lang="en-US" sz="2200" i="1" smtClean="0"/>
              <a:t>Meliputi kewajiban yang harus diselesaikan dengan penggunaan current asset, atau liabilities yang timbul dalam hubungannya dengan apa yang akan dipergunakan dalam daur kegiatan usaha</a:t>
            </a:r>
            <a:endParaRPr lang="en-US" sz="2200" smtClean="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2706" name="Picture 2" descr="g0501087"/>
          <p:cNvPicPr>
            <a:picLocks noChangeAspect="1" noChangeArrowheads="1"/>
          </p:cNvPicPr>
          <p:nvPr/>
        </p:nvPicPr>
        <p:blipFill>
          <a:blip r:embed="rId3"/>
          <a:srcRect/>
          <a:stretch>
            <a:fillRect/>
          </a:stretch>
        </p:blipFill>
        <p:spPr bwMode="auto">
          <a:xfrm>
            <a:off x="7137400" y="1524000"/>
            <a:ext cx="2438400" cy="4419600"/>
          </a:xfrm>
          <a:prstGeom prst="rect">
            <a:avLst/>
          </a:prstGeom>
          <a:noFill/>
          <a:ln w="9525">
            <a:noFill/>
            <a:miter lim="800000"/>
            <a:headEnd/>
            <a:tailEnd/>
          </a:ln>
        </p:spPr>
      </p:pic>
      <p:sp>
        <p:nvSpPr>
          <p:cNvPr id="72707" name="Rectangle 3"/>
          <p:cNvSpPr>
            <a:spLocks noGrp="1" noChangeArrowheads="1"/>
          </p:cNvSpPr>
          <p:nvPr>
            <p:ph type="title"/>
          </p:nvPr>
        </p:nvSpPr>
        <p:spPr/>
        <p:txBody>
          <a:bodyPr/>
          <a:lstStyle/>
          <a:p>
            <a:pPr eaLnBrk="1" hangingPunct="1"/>
            <a:r>
              <a:rPr lang="en-US" smtClean="0"/>
              <a:t>Definisi Account Payable</a:t>
            </a:r>
          </a:p>
        </p:txBody>
      </p:sp>
      <p:sp>
        <p:nvSpPr>
          <p:cNvPr id="72708" name="Rectangle 4"/>
          <p:cNvSpPr>
            <a:spLocks noGrp="1" noChangeArrowheads="1"/>
          </p:cNvSpPr>
          <p:nvPr>
            <p:ph type="body" sz="half" idx="1"/>
          </p:nvPr>
        </p:nvSpPr>
        <p:spPr>
          <a:xfrm>
            <a:off x="495300" y="1600200"/>
            <a:ext cx="6604000" cy="4572000"/>
          </a:xfrm>
        </p:spPr>
        <p:txBody>
          <a:bodyPr/>
          <a:lstStyle/>
          <a:p>
            <a:pPr eaLnBrk="1" hangingPunct="1">
              <a:buClr>
                <a:schemeClr val="tx1"/>
              </a:buClr>
            </a:pPr>
            <a:r>
              <a:rPr lang="en-US" sz="2400" smtClean="0"/>
              <a:t>Hasil dari transaksi masa lalu</a:t>
            </a:r>
          </a:p>
          <a:p>
            <a:pPr eaLnBrk="1" hangingPunct="1">
              <a:buClr>
                <a:schemeClr val="tx1"/>
              </a:buClr>
            </a:pPr>
            <a:r>
              <a:rPr lang="en-US" sz="2400" smtClean="0"/>
              <a:t>Pengorbanan manfaat ekonomi di masa datang</a:t>
            </a:r>
          </a:p>
          <a:p>
            <a:pPr eaLnBrk="1" hangingPunct="1">
              <a:buClr>
                <a:schemeClr val="tx1"/>
              </a:buClr>
            </a:pPr>
            <a:r>
              <a:rPr lang="en-US" sz="2400" smtClean="0"/>
              <a:t>Kewajiban kepada pihak lain</a:t>
            </a:r>
          </a:p>
          <a:p>
            <a:pPr eaLnBrk="1" hangingPunct="1">
              <a:buClr>
                <a:schemeClr val="tx1"/>
              </a:buClr>
            </a:pPr>
            <a:r>
              <a:rPr lang="en-US" sz="2400" smtClean="0"/>
              <a:t>Timbul dari penjualan barang dan jasa</a:t>
            </a:r>
          </a:p>
          <a:p>
            <a:pPr eaLnBrk="1" hangingPunct="1">
              <a:buClr>
                <a:schemeClr val="tx1"/>
              </a:buClr>
            </a:pPr>
            <a:r>
              <a:rPr lang="en-US" sz="2400" smtClean="0"/>
              <a:t>Bagian dari modal kerja</a:t>
            </a:r>
          </a:p>
          <a:p>
            <a:pPr eaLnBrk="1" hangingPunct="1">
              <a:buClr>
                <a:schemeClr val="tx1"/>
              </a:buClr>
            </a:pPr>
            <a:r>
              <a:rPr lang="en-US" sz="2400" smtClean="0"/>
              <a:t>Dipergunakan dalam siklus operasi normal</a:t>
            </a:r>
          </a:p>
          <a:p>
            <a:pPr eaLnBrk="1" hangingPunct="1">
              <a:buClr>
                <a:schemeClr val="tx1"/>
              </a:buClr>
            </a:pPr>
            <a:r>
              <a:rPr lang="en-US" sz="2400" smtClean="0"/>
              <a:t>“Monetary” = Diselesaikan dalam jangka pendek</a:t>
            </a:r>
          </a:p>
          <a:p>
            <a:pPr eaLnBrk="1" hangingPunct="1">
              <a:buClr>
                <a:schemeClr val="tx1"/>
              </a:buClr>
            </a:pPr>
            <a:endParaRPr lang="en-US" sz="2400" smtClean="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3730" name="Picture 2"/>
          <p:cNvPicPr>
            <a:picLocks noChangeAspect="1" noChangeArrowheads="1"/>
          </p:cNvPicPr>
          <p:nvPr/>
        </p:nvPicPr>
        <p:blipFill>
          <a:blip r:embed="rId3"/>
          <a:srcRect/>
          <a:stretch>
            <a:fillRect/>
          </a:stretch>
        </p:blipFill>
        <p:spPr bwMode="auto">
          <a:xfrm>
            <a:off x="609600" y="685800"/>
            <a:ext cx="8915400" cy="5715000"/>
          </a:xfrm>
          <a:prstGeom prst="rect">
            <a:avLst/>
          </a:prstGeom>
          <a:solidFill>
            <a:schemeClr val="bg1"/>
          </a:solidFill>
          <a:ln w="9525">
            <a:solidFill>
              <a:srgbClr val="080808"/>
            </a:solidFill>
            <a:miter lim="800000"/>
            <a:headEnd/>
            <a:tailEnd/>
          </a:ln>
        </p:spPr>
      </p:pic>
      <p:sp>
        <p:nvSpPr>
          <p:cNvPr id="73731" name="Line 3"/>
          <p:cNvSpPr>
            <a:spLocks noChangeShapeType="1"/>
          </p:cNvSpPr>
          <p:nvPr/>
        </p:nvSpPr>
        <p:spPr bwMode="auto">
          <a:xfrm>
            <a:off x="2724150" y="1676400"/>
            <a:ext cx="3467100" cy="0"/>
          </a:xfrm>
          <a:prstGeom prst="line">
            <a:avLst/>
          </a:prstGeom>
          <a:noFill/>
          <a:ln w="28575">
            <a:solidFill>
              <a:srgbClr val="080808"/>
            </a:solidFill>
            <a:round/>
            <a:headEnd/>
            <a:tailEnd type="triangle" w="med" len="med"/>
          </a:ln>
        </p:spPr>
        <p:txBody>
          <a:bodyPr/>
          <a:lstStyle/>
          <a:p>
            <a:endParaRPr lang="en-US"/>
          </a:p>
        </p:txBody>
      </p:sp>
      <p:sp>
        <p:nvSpPr>
          <p:cNvPr id="73732" name="Line 4"/>
          <p:cNvSpPr>
            <a:spLocks noChangeShapeType="1"/>
          </p:cNvSpPr>
          <p:nvPr/>
        </p:nvSpPr>
        <p:spPr bwMode="auto">
          <a:xfrm flipH="1">
            <a:off x="6273800" y="1676400"/>
            <a:ext cx="908050" cy="0"/>
          </a:xfrm>
          <a:prstGeom prst="line">
            <a:avLst/>
          </a:prstGeom>
          <a:noFill/>
          <a:ln w="28575">
            <a:solidFill>
              <a:srgbClr val="080808"/>
            </a:solidFill>
            <a:round/>
            <a:headEnd/>
            <a:tailEnd type="triangle" w="med" len="med"/>
          </a:ln>
        </p:spPr>
        <p:txBody>
          <a:bodyPr/>
          <a:lstStyle/>
          <a:p>
            <a:endParaRPr lang="en-US"/>
          </a:p>
        </p:txBody>
      </p:sp>
      <p:sp>
        <p:nvSpPr>
          <p:cNvPr id="73733" name="Line 5"/>
          <p:cNvSpPr>
            <a:spLocks noChangeShapeType="1"/>
          </p:cNvSpPr>
          <p:nvPr/>
        </p:nvSpPr>
        <p:spPr bwMode="auto">
          <a:xfrm flipH="1">
            <a:off x="2641600" y="2438400"/>
            <a:ext cx="1320800" cy="0"/>
          </a:xfrm>
          <a:prstGeom prst="line">
            <a:avLst/>
          </a:prstGeom>
          <a:noFill/>
          <a:ln w="28575">
            <a:solidFill>
              <a:srgbClr val="080808"/>
            </a:solidFill>
            <a:round/>
            <a:headEnd/>
            <a:tailEnd type="triangle" w="med" len="med"/>
          </a:ln>
        </p:spPr>
        <p:txBody>
          <a:bodyPr/>
          <a:lstStyle/>
          <a:p>
            <a:endParaRPr lang="en-US"/>
          </a:p>
        </p:txBody>
      </p:sp>
      <p:sp>
        <p:nvSpPr>
          <p:cNvPr id="73734" name="Line 6"/>
          <p:cNvSpPr>
            <a:spLocks noChangeShapeType="1"/>
          </p:cNvSpPr>
          <p:nvPr/>
        </p:nvSpPr>
        <p:spPr bwMode="auto">
          <a:xfrm>
            <a:off x="2641600" y="3581400"/>
            <a:ext cx="1485900" cy="0"/>
          </a:xfrm>
          <a:prstGeom prst="line">
            <a:avLst/>
          </a:prstGeom>
          <a:noFill/>
          <a:ln w="28575">
            <a:solidFill>
              <a:srgbClr val="080808"/>
            </a:solidFill>
            <a:round/>
            <a:headEnd/>
            <a:tailEnd type="triangle" w="med" len="med"/>
          </a:ln>
        </p:spPr>
        <p:txBody>
          <a:bodyPr/>
          <a:lstStyle/>
          <a:p>
            <a:endParaRPr lang="en-US"/>
          </a:p>
        </p:txBody>
      </p:sp>
      <p:sp>
        <p:nvSpPr>
          <p:cNvPr id="73735" name="Line 7"/>
          <p:cNvSpPr>
            <a:spLocks noChangeShapeType="1"/>
          </p:cNvSpPr>
          <p:nvPr/>
        </p:nvSpPr>
        <p:spPr bwMode="auto">
          <a:xfrm>
            <a:off x="5695950" y="5638800"/>
            <a:ext cx="1485900" cy="0"/>
          </a:xfrm>
          <a:prstGeom prst="line">
            <a:avLst/>
          </a:prstGeom>
          <a:noFill/>
          <a:ln w="28575">
            <a:solidFill>
              <a:srgbClr val="080808"/>
            </a:solidFill>
            <a:round/>
            <a:headEnd/>
            <a:tailEnd type="triangle" w="med" len="med"/>
          </a:ln>
        </p:spPr>
        <p:txBody>
          <a:bodyPr/>
          <a:lstStyle/>
          <a:p>
            <a:endParaRPr lang="en-US"/>
          </a:p>
        </p:txBody>
      </p:sp>
      <p:sp>
        <p:nvSpPr>
          <p:cNvPr id="73736" name="Oval 8"/>
          <p:cNvSpPr>
            <a:spLocks noChangeArrowheads="1"/>
          </p:cNvSpPr>
          <p:nvPr/>
        </p:nvSpPr>
        <p:spPr bwMode="auto">
          <a:xfrm>
            <a:off x="5530850" y="1066800"/>
            <a:ext cx="1320800" cy="533400"/>
          </a:xfrm>
          <a:prstGeom prst="ellipse">
            <a:avLst/>
          </a:prstGeom>
          <a:solidFill>
            <a:schemeClr val="bg1"/>
          </a:solidFill>
          <a:ln w="9525">
            <a:solidFill>
              <a:srgbClr val="080808"/>
            </a:solidFill>
            <a:round/>
            <a:headEnd/>
            <a:tailEnd/>
          </a:ln>
        </p:spPr>
        <p:txBody>
          <a:bodyPr wrap="none" anchor="ctr"/>
          <a:lstStyle/>
          <a:p>
            <a:pPr algn="ctr"/>
            <a:r>
              <a:rPr lang="en-US" sz="2400" baseline="-25000">
                <a:solidFill>
                  <a:srgbClr val="000000"/>
                </a:solidFill>
                <a:latin typeface="Tahoma" pitchFamily="34" charset="0"/>
              </a:rPr>
              <a:t>EXPENSE</a:t>
            </a:r>
          </a:p>
        </p:txBody>
      </p:sp>
      <p:sp>
        <p:nvSpPr>
          <p:cNvPr id="73737" name="Line 9"/>
          <p:cNvSpPr>
            <a:spLocks noChangeShapeType="1"/>
          </p:cNvSpPr>
          <p:nvPr/>
        </p:nvSpPr>
        <p:spPr bwMode="auto">
          <a:xfrm flipH="1">
            <a:off x="6934200" y="2514600"/>
            <a:ext cx="247650" cy="0"/>
          </a:xfrm>
          <a:prstGeom prst="line">
            <a:avLst/>
          </a:prstGeom>
          <a:noFill/>
          <a:ln w="19050">
            <a:solidFill>
              <a:srgbClr val="080808"/>
            </a:solidFill>
            <a:round/>
            <a:headEnd/>
            <a:tailEnd/>
          </a:ln>
        </p:spPr>
        <p:txBody>
          <a:bodyPr/>
          <a:lstStyle/>
          <a:p>
            <a:endParaRPr lang="en-US"/>
          </a:p>
        </p:txBody>
      </p:sp>
      <p:sp>
        <p:nvSpPr>
          <p:cNvPr id="73738" name="Line 10"/>
          <p:cNvSpPr>
            <a:spLocks noChangeShapeType="1"/>
          </p:cNvSpPr>
          <p:nvPr/>
        </p:nvSpPr>
        <p:spPr bwMode="auto">
          <a:xfrm flipV="1">
            <a:off x="6934200" y="1752600"/>
            <a:ext cx="0" cy="762000"/>
          </a:xfrm>
          <a:prstGeom prst="line">
            <a:avLst/>
          </a:prstGeom>
          <a:noFill/>
          <a:ln w="9525">
            <a:solidFill>
              <a:srgbClr val="080808"/>
            </a:solidFill>
            <a:round/>
            <a:headEnd/>
            <a:tailEnd/>
          </a:ln>
        </p:spPr>
        <p:txBody>
          <a:bodyPr/>
          <a:lstStyle/>
          <a:p>
            <a:endParaRPr lang="en-US"/>
          </a:p>
        </p:txBody>
      </p:sp>
      <p:sp>
        <p:nvSpPr>
          <p:cNvPr id="73739" name="Line 11"/>
          <p:cNvSpPr>
            <a:spLocks noChangeShapeType="1"/>
          </p:cNvSpPr>
          <p:nvPr/>
        </p:nvSpPr>
        <p:spPr bwMode="auto">
          <a:xfrm>
            <a:off x="6934200" y="1752600"/>
            <a:ext cx="247650" cy="0"/>
          </a:xfrm>
          <a:prstGeom prst="line">
            <a:avLst/>
          </a:prstGeom>
          <a:noFill/>
          <a:ln w="9525">
            <a:solidFill>
              <a:srgbClr val="080808"/>
            </a:solidFill>
            <a:round/>
            <a:headEnd/>
            <a:tailEnd type="triangle" w="med" len="med"/>
          </a:ln>
        </p:spPr>
        <p:txBody>
          <a:bodyPr/>
          <a:lstStyle/>
          <a:p>
            <a:endParaRPr lang="en-US"/>
          </a:p>
        </p:txBody>
      </p:sp>
      <p:sp>
        <p:nvSpPr>
          <p:cNvPr id="73740" name="Line 12"/>
          <p:cNvSpPr>
            <a:spLocks noChangeShapeType="1"/>
          </p:cNvSpPr>
          <p:nvPr/>
        </p:nvSpPr>
        <p:spPr bwMode="auto">
          <a:xfrm>
            <a:off x="2641600" y="5638800"/>
            <a:ext cx="990600" cy="0"/>
          </a:xfrm>
          <a:prstGeom prst="line">
            <a:avLst/>
          </a:prstGeom>
          <a:noFill/>
          <a:ln w="9525">
            <a:solidFill>
              <a:srgbClr val="080808"/>
            </a:solidFill>
            <a:prstDash val="dashDot"/>
            <a:round/>
            <a:headEnd/>
            <a:tailEnd/>
          </a:ln>
        </p:spPr>
        <p:txBody>
          <a:bodyPr/>
          <a:lstStyle/>
          <a:p>
            <a:endParaRPr lang="en-US"/>
          </a:p>
        </p:txBody>
      </p:sp>
      <p:sp>
        <p:nvSpPr>
          <p:cNvPr id="73741" name="Line 13"/>
          <p:cNvSpPr>
            <a:spLocks noChangeShapeType="1"/>
          </p:cNvSpPr>
          <p:nvPr/>
        </p:nvSpPr>
        <p:spPr bwMode="auto">
          <a:xfrm flipV="1">
            <a:off x="3632200" y="3733800"/>
            <a:ext cx="0" cy="1905000"/>
          </a:xfrm>
          <a:prstGeom prst="line">
            <a:avLst/>
          </a:prstGeom>
          <a:noFill/>
          <a:ln w="9525">
            <a:solidFill>
              <a:srgbClr val="080808"/>
            </a:solidFill>
            <a:prstDash val="dashDot"/>
            <a:round/>
            <a:headEnd/>
            <a:tailEnd/>
          </a:ln>
        </p:spPr>
        <p:txBody>
          <a:bodyPr/>
          <a:lstStyle/>
          <a:p>
            <a:endParaRPr lang="en-US"/>
          </a:p>
        </p:txBody>
      </p:sp>
      <p:sp>
        <p:nvSpPr>
          <p:cNvPr id="73742" name="Line 14"/>
          <p:cNvSpPr>
            <a:spLocks noChangeShapeType="1"/>
          </p:cNvSpPr>
          <p:nvPr/>
        </p:nvSpPr>
        <p:spPr bwMode="auto">
          <a:xfrm>
            <a:off x="3632200" y="3733800"/>
            <a:ext cx="495300" cy="0"/>
          </a:xfrm>
          <a:prstGeom prst="line">
            <a:avLst/>
          </a:prstGeom>
          <a:noFill/>
          <a:ln w="9525">
            <a:solidFill>
              <a:srgbClr val="080808"/>
            </a:solidFill>
            <a:prstDash val="dashDot"/>
            <a:round/>
            <a:headEnd/>
            <a:tailEnd type="triangle" w="med" len="med"/>
          </a:ln>
        </p:spPr>
        <p:txBody>
          <a:bodyPr/>
          <a:lstStyle/>
          <a:p>
            <a:endParaRPr lang="en-US"/>
          </a:p>
        </p:txBody>
      </p:sp>
      <p:sp>
        <p:nvSpPr>
          <p:cNvPr id="73743" name="Line 15"/>
          <p:cNvSpPr>
            <a:spLocks noChangeShapeType="1"/>
          </p:cNvSpPr>
          <p:nvPr/>
        </p:nvSpPr>
        <p:spPr bwMode="auto">
          <a:xfrm>
            <a:off x="2641600" y="4648200"/>
            <a:ext cx="908050" cy="0"/>
          </a:xfrm>
          <a:prstGeom prst="line">
            <a:avLst/>
          </a:prstGeom>
          <a:noFill/>
          <a:ln w="9525">
            <a:solidFill>
              <a:srgbClr val="080808"/>
            </a:solidFill>
            <a:prstDash val="dashDot"/>
            <a:round/>
            <a:headEnd/>
            <a:tailEnd type="triangle" w="med" len="med"/>
          </a:ln>
        </p:spPr>
        <p:txBody>
          <a:bodyPr/>
          <a:lstStyle/>
          <a:p>
            <a:endParaRPr lang="en-US"/>
          </a:p>
        </p:txBody>
      </p:sp>
      <p:sp>
        <p:nvSpPr>
          <p:cNvPr id="73744" name="Text Box 16"/>
          <p:cNvSpPr txBox="1">
            <a:spLocks noChangeArrowheads="1"/>
          </p:cNvSpPr>
          <p:nvPr/>
        </p:nvSpPr>
        <p:spPr bwMode="auto">
          <a:xfrm>
            <a:off x="2889250" y="4114800"/>
            <a:ext cx="1316038" cy="284163"/>
          </a:xfrm>
          <a:prstGeom prst="rect">
            <a:avLst/>
          </a:prstGeom>
          <a:solidFill>
            <a:schemeClr val="bg1"/>
          </a:solidFill>
          <a:ln w="9525">
            <a:solidFill>
              <a:srgbClr val="080808"/>
            </a:solidFill>
            <a:miter lim="800000"/>
            <a:headEnd/>
            <a:tailEnd/>
          </a:ln>
        </p:spPr>
        <p:txBody>
          <a:bodyPr>
            <a:spAutoFit/>
          </a:bodyPr>
          <a:lstStyle/>
          <a:p>
            <a:r>
              <a:rPr lang="en-US" baseline="-25000">
                <a:solidFill>
                  <a:srgbClr val="000000"/>
                </a:solidFill>
                <a:latin typeface="Tahoma" pitchFamily="34" charset="0"/>
              </a:rPr>
              <a:t>PENGHAPUSAN</a:t>
            </a:r>
          </a:p>
        </p:txBody>
      </p:sp>
      <p:sp>
        <p:nvSpPr>
          <p:cNvPr id="73745" name="Line 17"/>
          <p:cNvSpPr>
            <a:spLocks noChangeShapeType="1"/>
          </p:cNvSpPr>
          <p:nvPr/>
        </p:nvSpPr>
        <p:spPr bwMode="auto">
          <a:xfrm flipV="1">
            <a:off x="2724150" y="2590800"/>
            <a:ext cx="1403350" cy="685800"/>
          </a:xfrm>
          <a:prstGeom prst="line">
            <a:avLst/>
          </a:prstGeom>
          <a:noFill/>
          <a:ln w="28575">
            <a:solidFill>
              <a:srgbClr val="080808"/>
            </a:solidFill>
            <a:prstDash val="dashDot"/>
            <a:round/>
            <a:headEnd type="triangle" w="med" len="med"/>
            <a:tailEnd type="triangle" w="med" len="med"/>
          </a:ln>
        </p:spPr>
        <p:txBody>
          <a:bodyPr/>
          <a:lstStyle/>
          <a:p>
            <a:endParaRPr lang="en-US"/>
          </a:p>
        </p:txBody>
      </p:sp>
      <p:sp>
        <p:nvSpPr>
          <p:cNvPr id="73746" name="Line 18"/>
          <p:cNvSpPr>
            <a:spLocks noChangeShapeType="1"/>
          </p:cNvSpPr>
          <p:nvPr/>
        </p:nvSpPr>
        <p:spPr bwMode="auto">
          <a:xfrm>
            <a:off x="825500" y="838200"/>
            <a:ext cx="4127500" cy="0"/>
          </a:xfrm>
          <a:prstGeom prst="line">
            <a:avLst/>
          </a:prstGeom>
          <a:noFill/>
          <a:ln w="28575">
            <a:solidFill>
              <a:srgbClr val="080808"/>
            </a:solidFill>
            <a:round/>
            <a:headEnd/>
            <a:tailEnd type="triangle" w="med" len="med"/>
          </a:ln>
        </p:spPr>
        <p:txBody>
          <a:bodyPr/>
          <a:lstStyle/>
          <a:p>
            <a:endParaRPr lang="en-US"/>
          </a:p>
        </p:txBody>
      </p:sp>
      <p:sp>
        <p:nvSpPr>
          <p:cNvPr id="73747" name="Line 19"/>
          <p:cNvSpPr>
            <a:spLocks noChangeShapeType="1"/>
          </p:cNvSpPr>
          <p:nvPr/>
        </p:nvSpPr>
        <p:spPr bwMode="auto">
          <a:xfrm flipH="1">
            <a:off x="4953000" y="838200"/>
            <a:ext cx="4210050" cy="0"/>
          </a:xfrm>
          <a:prstGeom prst="line">
            <a:avLst/>
          </a:prstGeom>
          <a:noFill/>
          <a:ln w="28575">
            <a:solidFill>
              <a:srgbClr val="080808"/>
            </a:solidFill>
            <a:round/>
            <a:headEnd/>
            <a:tailEnd type="triangle" w="med" len="med"/>
          </a:ln>
        </p:spPr>
        <p:txBody>
          <a:bodyPr/>
          <a:lstStyle/>
          <a:p>
            <a:endParaRPr lang="en-US"/>
          </a:p>
        </p:txBody>
      </p:sp>
      <p:sp>
        <p:nvSpPr>
          <p:cNvPr id="73748" name="Rectangle 20"/>
          <p:cNvSpPr>
            <a:spLocks noChangeArrowheads="1"/>
          </p:cNvSpPr>
          <p:nvPr/>
        </p:nvSpPr>
        <p:spPr bwMode="auto">
          <a:xfrm>
            <a:off x="660400" y="381000"/>
            <a:ext cx="1238250" cy="381000"/>
          </a:xfrm>
          <a:prstGeom prst="rect">
            <a:avLst/>
          </a:prstGeom>
          <a:solidFill>
            <a:schemeClr val="bg1"/>
          </a:solidFill>
          <a:ln w="9525">
            <a:solidFill>
              <a:srgbClr val="080808"/>
            </a:solidFill>
            <a:miter lim="800000"/>
            <a:headEnd/>
            <a:tailEnd/>
          </a:ln>
        </p:spPr>
        <p:txBody>
          <a:bodyPr wrap="none" anchor="ctr"/>
          <a:lstStyle/>
          <a:p>
            <a:pPr algn="ctr"/>
            <a:r>
              <a:rPr lang="en-US" baseline="-25000">
                <a:latin typeface="Tahoma" pitchFamily="34" charset="0"/>
              </a:rPr>
              <a:t>INVESTMENT</a:t>
            </a:r>
          </a:p>
        </p:txBody>
      </p:sp>
      <p:sp>
        <p:nvSpPr>
          <p:cNvPr id="73749" name="Rectangle 21"/>
          <p:cNvSpPr>
            <a:spLocks noChangeArrowheads="1"/>
          </p:cNvSpPr>
          <p:nvPr/>
        </p:nvSpPr>
        <p:spPr bwMode="auto">
          <a:xfrm>
            <a:off x="4292600" y="381000"/>
            <a:ext cx="1320800" cy="381000"/>
          </a:xfrm>
          <a:prstGeom prst="rect">
            <a:avLst/>
          </a:prstGeom>
          <a:solidFill>
            <a:schemeClr val="bg1"/>
          </a:solidFill>
          <a:ln w="9525">
            <a:solidFill>
              <a:srgbClr val="080808"/>
            </a:solidFill>
            <a:miter lim="800000"/>
            <a:headEnd/>
            <a:tailEnd/>
          </a:ln>
        </p:spPr>
        <p:txBody>
          <a:bodyPr wrap="none" anchor="ctr"/>
          <a:lstStyle/>
          <a:p>
            <a:pPr algn="ctr"/>
            <a:r>
              <a:rPr lang="en-US" baseline="-25000">
                <a:latin typeface="Tahoma" pitchFamily="34" charset="0"/>
              </a:rPr>
              <a:t>OPERATING</a:t>
            </a:r>
          </a:p>
        </p:txBody>
      </p:sp>
      <p:sp>
        <p:nvSpPr>
          <p:cNvPr id="73750" name="Rectangle 22"/>
          <p:cNvSpPr>
            <a:spLocks noChangeArrowheads="1"/>
          </p:cNvSpPr>
          <p:nvPr/>
        </p:nvSpPr>
        <p:spPr bwMode="auto">
          <a:xfrm>
            <a:off x="8172450" y="304800"/>
            <a:ext cx="1238250" cy="457200"/>
          </a:xfrm>
          <a:prstGeom prst="rect">
            <a:avLst/>
          </a:prstGeom>
          <a:solidFill>
            <a:schemeClr val="bg1"/>
          </a:solidFill>
          <a:ln w="9525">
            <a:solidFill>
              <a:srgbClr val="080808"/>
            </a:solidFill>
            <a:miter lim="800000"/>
            <a:headEnd/>
            <a:tailEnd/>
          </a:ln>
        </p:spPr>
        <p:txBody>
          <a:bodyPr wrap="none" anchor="ctr"/>
          <a:lstStyle/>
          <a:p>
            <a:pPr algn="ctr"/>
            <a:r>
              <a:rPr lang="en-US" baseline="-25000">
                <a:latin typeface="Tahoma" pitchFamily="34" charset="0"/>
              </a:rPr>
              <a:t>FINANCING</a:t>
            </a:r>
          </a:p>
        </p:txBody>
      </p:sp>
      <p:sp>
        <p:nvSpPr>
          <p:cNvPr id="73751" name="Oval 23"/>
          <p:cNvSpPr>
            <a:spLocks noChangeArrowheads="1"/>
          </p:cNvSpPr>
          <p:nvPr/>
        </p:nvSpPr>
        <p:spPr bwMode="auto">
          <a:xfrm>
            <a:off x="6934200" y="1143000"/>
            <a:ext cx="2146300" cy="990600"/>
          </a:xfrm>
          <a:prstGeom prst="ellipse">
            <a:avLst/>
          </a:prstGeom>
          <a:noFill/>
          <a:ln w="9525">
            <a:solidFill>
              <a:srgbClr val="080808"/>
            </a:solidFill>
            <a:round/>
            <a:headEnd/>
            <a:tailEnd/>
          </a:ln>
        </p:spPr>
        <p:txBody>
          <a:bodyPr wrap="none" anchor="ctr"/>
          <a:lstStyle/>
          <a:p>
            <a:pPr algn="ctr"/>
            <a:endParaRPr lang="en-US"/>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a:xfrm>
            <a:off x="495300" y="762000"/>
            <a:ext cx="8915400" cy="762000"/>
          </a:xfrm>
        </p:spPr>
        <p:txBody>
          <a:bodyPr/>
          <a:lstStyle/>
          <a:p>
            <a:pPr eaLnBrk="1" hangingPunct="1"/>
            <a:r>
              <a:rPr lang="en-US" smtClean="0"/>
              <a:t>Prinsip Akuntansi yang lazim</a:t>
            </a:r>
          </a:p>
        </p:txBody>
      </p:sp>
      <p:sp>
        <p:nvSpPr>
          <p:cNvPr id="74755" name="Rectangle 3"/>
          <p:cNvSpPr>
            <a:spLocks noGrp="1" noChangeArrowheads="1"/>
          </p:cNvSpPr>
          <p:nvPr>
            <p:ph type="body" idx="1"/>
          </p:nvPr>
        </p:nvSpPr>
        <p:spPr>
          <a:xfrm>
            <a:off x="495300" y="1600200"/>
            <a:ext cx="8915400" cy="4495800"/>
          </a:xfrm>
        </p:spPr>
        <p:txBody>
          <a:bodyPr/>
          <a:lstStyle/>
          <a:p>
            <a:pPr eaLnBrk="1" hangingPunct="1">
              <a:lnSpc>
                <a:spcPct val="90000"/>
              </a:lnSpc>
              <a:buClr>
                <a:schemeClr val="tx1"/>
              </a:buClr>
            </a:pPr>
            <a:r>
              <a:rPr lang="en-US" sz="2400" smtClean="0"/>
              <a:t>Jika jumlahnya material, setiap jenis A/P dapat disajikan secara terpisah</a:t>
            </a:r>
          </a:p>
          <a:p>
            <a:pPr eaLnBrk="1" hangingPunct="1">
              <a:lnSpc>
                <a:spcPct val="90000"/>
              </a:lnSpc>
              <a:buClr>
                <a:schemeClr val="tx1"/>
              </a:buClr>
            </a:pPr>
            <a:r>
              <a:rPr lang="en-US" sz="2400" smtClean="0"/>
              <a:t>A/P kepada perusahaan afiliasi harus dipisahkan dari A/P kepada pihak yang independen dan kepada direksi, pemegang saham dan karyawan</a:t>
            </a:r>
          </a:p>
          <a:p>
            <a:pPr eaLnBrk="1" hangingPunct="1">
              <a:lnSpc>
                <a:spcPct val="90000"/>
              </a:lnSpc>
              <a:buClr>
                <a:schemeClr val="tx1"/>
              </a:buClr>
            </a:pPr>
            <a:r>
              <a:rPr lang="en-US" sz="2400" smtClean="0"/>
              <a:t>A/P tidak boleh digabung dalam jumlah yang netto</a:t>
            </a:r>
          </a:p>
          <a:p>
            <a:pPr eaLnBrk="1" hangingPunct="1">
              <a:lnSpc>
                <a:spcPct val="90000"/>
              </a:lnSpc>
              <a:buClr>
                <a:schemeClr val="tx1"/>
              </a:buClr>
            </a:pPr>
            <a:r>
              <a:rPr lang="en-US" sz="2400" smtClean="0"/>
              <a:t>Harus diungkapkan dalam laporan keuangan aktiva yang dijaminkan dalam penarikan A/P</a:t>
            </a:r>
          </a:p>
          <a:p>
            <a:pPr eaLnBrk="1" hangingPunct="1">
              <a:lnSpc>
                <a:spcPct val="90000"/>
              </a:lnSpc>
              <a:buClr>
                <a:schemeClr val="tx1"/>
              </a:buClr>
            </a:pPr>
            <a:r>
              <a:rPr lang="en-US" sz="2400" smtClean="0"/>
              <a:t>Jika jumlahnya material, saldo debit A/P harus dicantumkan dalam aktiva lancar (Prepaid, advanced payment) </a:t>
            </a:r>
          </a:p>
          <a:p>
            <a:pPr eaLnBrk="1" hangingPunct="1">
              <a:lnSpc>
                <a:spcPct val="90000"/>
              </a:lnSpc>
              <a:buClr>
                <a:schemeClr val="tx1"/>
              </a:buClr>
            </a:pPr>
            <a:endParaRPr lang="en-US" sz="2400" smtClean="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a:xfrm>
            <a:off x="495300" y="457200"/>
            <a:ext cx="8915400" cy="990600"/>
          </a:xfrm>
        </p:spPr>
        <p:txBody>
          <a:bodyPr/>
          <a:lstStyle/>
          <a:p>
            <a:pPr eaLnBrk="1" hangingPunct="1"/>
            <a:r>
              <a:rPr lang="en-US" smtClean="0"/>
              <a:t>Jenis-jenis Account Payable</a:t>
            </a:r>
          </a:p>
        </p:txBody>
      </p:sp>
      <p:sp>
        <p:nvSpPr>
          <p:cNvPr id="75779" name="Rectangle 3"/>
          <p:cNvSpPr>
            <a:spLocks noGrp="1" noChangeArrowheads="1"/>
          </p:cNvSpPr>
          <p:nvPr>
            <p:ph type="body" idx="1"/>
          </p:nvPr>
        </p:nvSpPr>
        <p:spPr>
          <a:xfrm>
            <a:off x="495300" y="1447800"/>
            <a:ext cx="9080500" cy="4876800"/>
          </a:xfrm>
        </p:spPr>
        <p:txBody>
          <a:bodyPr/>
          <a:lstStyle/>
          <a:p>
            <a:pPr eaLnBrk="1" hangingPunct="1">
              <a:lnSpc>
                <a:spcPct val="90000"/>
              </a:lnSpc>
              <a:buClr>
                <a:schemeClr val="tx1"/>
              </a:buClr>
              <a:buSzTx/>
            </a:pPr>
            <a:r>
              <a:rPr lang="en-US" sz="2400" smtClean="0"/>
              <a:t>A/P trade</a:t>
            </a:r>
          </a:p>
          <a:p>
            <a:pPr lvl="1" eaLnBrk="1" hangingPunct="1">
              <a:lnSpc>
                <a:spcPct val="90000"/>
              </a:lnSpc>
              <a:buClr>
                <a:schemeClr val="tx1"/>
              </a:buClr>
              <a:buSzTx/>
            </a:pPr>
            <a:r>
              <a:rPr lang="en-US" sz="2000" smtClean="0"/>
              <a:t>Hutang lancar yang berhubungan langsung dengan proses produksi</a:t>
            </a:r>
          </a:p>
          <a:p>
            <a:pPr lvl="1" eaLnBrk="1" hangingPunct="1">
              <a:lnSpc>
                <a:spcPct val="90000"/>
              </a:lnSpc>
              <a:buClr>
                <a:schemeClr val="tx1"/>
              </a:buClr>
              <a:buSzTx/>
            </a:pPr>
            <a:r>
              <a:rPr lang="en-US" sz="2000" smtClean="0"/>
              <a:t>Pembelian barang dagangan atau asset produksi</a:t>
            </a:r>
          </a:p>
          <a:p>
            <a:pPr lvl="1" eaLnBrk="1" hangingPunct="1">
              <a:lnSpc>
                <a:spcPct val="90000"/>
              </a:lnSpc>
              <a:buClr>
                <a:schemeClr val="tx1"/>
              </a:buClr>
              <a:buSzTx/>
            </a:pPr>
            <a:r>
              <a:rPr lang="en-US" sz="2000" smtClean="0"/>
              <a:t>Seperti : Barang dagangan, raw material import/lokal, asset produksi, dll</a:t>
            </a:r>
          </a:p>
          <a:p>
            <a:pPr lvl="1" eaLnBrk="1" hangingPunct="1">
              <a:lnSpc>
                <a:spcPct val="90000"/>
              </a:lnSpc>
              <a:buClr>
                <a:schemeClr val="tx1"/>
              </a:buClr>
              <a:buSzTx/>
            </a:pPr>
            <a:r>
              <a:rPr lang="en-US" sz="2000" smtClean="0"/>
              <a:t>Dipisahkan A/P Trade Affiliation company (Afco) dan A/P Trade non Afco</a:t>
            </a:r>
          </a:p>
          <a:p>
            <a:pPr eaLnBrk="1" hangingPunct="1">
              <a:lnSpc>
                <a:spcPct val="90000"/>
              </a:lnSpc>
              <a:buClr>
                <a:schemeClr val="tx1"/>
              </a:buClr>
              <a:buSzTx/>
            </a:pPr>
            <a:r>
              <a:rPr lang="en-US" sz="2400" smtClean="0"/>
              <a:t>A/P non trade</a:t>
            </a:r>
          </a:p>
          <a:p>
            <a:pPr lvl="1" eaLnBrk="1" hangingPunct="1">
              <a:lnSpc>
                <a:spcPct val="90000"/>
              </a:lnSpc>
              <a:buClr>
                <a:schemeClr val="tx1"/>
              </a:buClr>
              <a:buSzTx/>
            </a:pPr>
            <a:r>
              <a:rPr lang="en-US" sz="2000" smtClean="0"/>
              <a:t>Hutang lancar yang terkait dengan pembelian barang/jasa yang tidak ada kaitanya secara langsung dengan produksi</a:t>
            </a:r>
          </a:p>
          <a:p>
            <a:pPr lvl="1" eaLnBrk="1" hangingPunct="1">
              <a:lnSpc>
                <a:spcPct val="90000"/>
              </a:lnSpc>
              <a:buClr>
                <a:schemeClr val="tx1"/>
              </a:buClr>
              <a:buSzTx/>
            </a:pPr>
            <a:r>
              <a:rPr lang="en-US" sz="2000" smtClean="0"/>
              <a:t>Barang non dagang, maupun asset non produksi</a:t>
            </a:r>
          </a:p>
          <a:p>
            <a:pPr lvl="1" eaLnBrk="1" hangingPunct="1">
              <a:lnSpc>
                <a:spcPct val="90000"/>
              </a:lnSpc>
              <a:buClr>
                <a:schemeClr val="tx1"/>
              </a:buClr>
              <a:buSzTx/>
            </a:pPr>
            <a:r>
              <a:rPr lang="en-US" sz="2000" smtClean="0"/>
              <a:t>Seperti : Office supplies, advertising &amp; promotion, Furniture &amp; Fixture, Mobil dinas, dll</a:t>
            </a:r>
          </a:p>
          <a:p>
            <a:pPr lvl="1" eaLnBrk="1" hangingPunct="1">
              <a:lnSpc>
                <a:spcPct val="90000"/>
              </a:lnSpc>
              <a:buClr>
                <a:schemeClr val="tx1"/>
              </a:buClr>
              <a:buSzTx/>
            </a:pPr>
            <a:r>
              <a:rPr lang="en-US" sz="2000" smtClean="0"/>
              <a:t>Dipisahkan A/P NonTrade Affiliation company (Afco) dan A/P Non Trade non Afco</a:t>
            </a:r>
          </a:p>
          <a:p>
            <a:pPr lvl="1" eaLnBrk="1" hangingPunct="1">
              <a:lnSpc>
                <a:spcPct val="90000"/>
              </a:lnSpc>
              <a:buClr>
                <a:schemeClr val="tx1"/>
              </a:buClr>
              <a:buSzTx/>
            </a:pPr>
            <a:endParaRPr lang="en-US" sz="2000" smtClean="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a:xfrm>
            <a:off x="495300" y="609600"/>
            <a:ext cx="8915400" cy="685800"/>
          </a:xfrm>
        </p:spPr>
        <p:txBody>
          <a:bodyPr/>
          <a:lstStyle/>
          <a:p>
            <a:pPr eaLnBrk="1" hangingPunct="1"/>
            <a:r>
              <a:rPr lang="en-US" sz="4000" smtClean="0"/>
              <a:t>Payment Policy (1)</a:t>
            </a:r>
          </a:p>
        </p:txBody>
      </p:sp>
      <p:sp>
        <p:nvSpPr>
          <p:cNvPr id="76803" name="Rectangle 3"/>
          <p:cNvSpPr>
            <a:spLocks noGrp="1" noChangeArrowheads="1"/>
          </p:cNvSpPr>
          <p:nvPr>
            <p:ph type="body" sz="half" idx="1"/>
          </p:nvPr>
        </p:nvSpPr>
        <p:spPr>
          <a:xfrm>
            <a:off x="495300" y="1371600"/>
            <a:ext cx="7346950" cy="5029200"/>
          </a:xfrm>
        </p:spPr>
        <p:txBody>
          <a:bodyPr/>
          <a:lstStyle/>
          <a:p>
            <a:pPr eaLnBrk="1" hangingPunct="1">
              <a:buClr>
                <a:schemeClr val="tx1"/>
              </a:buClr>
            </a:pPr>
            <a:r>
              <a:rPr lang="en-US" sz="2600" smtClean="0"/>
              <a:t>Pembayaran bila seluruh dokumen sudah lengkap (invoice, faktur pajak, surat jalan, PO, kwitansi)</a:t>
            </a:r>
          </a:p>
          <a:p>
            <a:pPr eaLnBrk="1" hangingPunct="1">
              <a:buClr>
                <a:schemeClr val="tx1"/>
              </a:buClr>
            </a:pPr>
            <a:r>
              <a:rPr lang="en-US" sz="2600" smtClean="0"/>
              <a:t>Pembayaran yang dipotong pajak (PPh) harus diperiksa oleh dept. head/perwakilan atau yang dikuasakan</a:t>
            </a:r>
          </a:p>
          <a:p>
            <a:pPr eaLnBrk="1" hangingPunct="1">
              <a:buClr>
                <a:schemeClr val="tx1"/>
              </a:buClr>
            </a:pPr>
            <a:r>
              <a:rPr lang="en-US" sz="2600" smtClean="0"/>
              <a:t>Pembayaran dalam sebulan hanya beberapa kali (2-3 kali)</a:t>
            </a:r>
          </a:p>
          <a:p>
            <a:pPr eaLnBrk="1" hangingPunct="1">
              <a:buClr>
                <a:schemeClr val="tx1"/>
              </a:buClr>
            </a:pPr>
            <a:r>
              <a:rPr lang="en-US" sz="2600" smtClean="0"/>
              <a:t>Pembayaran eksternal dilakukan melalui bank (giro, cek atau TT) dan selalu harus atas nama</a:t>
            </a:r>
          </a:p>
        </p:txBody>
      </p:sp>
      <p:pic>
        <p:nvPicPr>
          <p:cNvPr id="76804" name="Picture 4" descr="BILLCOIN"/>
          <p:cNvPicPr>
            <a:picLocks noGrp="1" noChangeAspect="1" noChangeArrowheads="1"/>
          </p:cNvPicPr>
          <p:nvPr>
            <p:ph sz="half" idx="2"/>
          </p:nvPr>
        </p:nvPicPr>
        <p:blipFill>
          <a:blip r:embed="rId3"/>
          <a:srcRect/>
          <a:stretch>
            <a:fillRect/>
          </a:stretch>
        </p:blipFill>
        <p:spPr>
          <a:xfrm>
            <a:off x="7759700" y="2057400"/>
            <a:ext cx="1898650" cy="3124200"/>
          </a:xfrm>
          <a:noFill/>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a:xfrm>
            <a:off x="495300" y="685800"/>
            <a:ext cx="8915400" cy="838200"/>
          </a:xfrm>
        </p:spPr>
        <p:txBody>
          <a:bodyPr/>
          <a:lstStyle/>
          <a:p>
            <a:pPr eaLnBrk="1" hangingPunct="1"/>
            <a:r>
              <a:rPr lang="en-US" smtClean="0"/>
              <a:t>Payment Policy (2)</a:t>
            </a:r>
          </a:p>
        </p:txBody>
      </p:sp>
      <p:sp>
        <p:nvSpPr>
          <p:cNvPr id="77827" name="Rectangle 3"/>
          <p:cNvSpPr>
            <a:spLocks noGrp="1" noChangeArrowheads="1"/>
          </p:cNvSpPr>
          <p:nvPr>
            <p:ph type="body" sz="half" idx="1"/>
          </p:nvPr>
        </p:nvSpPr>
        <p:spPr>
          <a:xfrm>
            <a:off x="495300" y="1600200"/>
            <a:ext cx="6934200" cy="4800600"/>
          </a:xfrm>
        </p:spPr>
        <p:txBody>
          <a:bodyPr/>
          <a:lstStyle/>
          <a:p>
            <a:pPr eaLnBrk="1" hangingPunct="1">
              <a:buClr>
                <a:schemeClr val="tx1"/>
              </a:buClr>
            </a:pPr>
            <a:r>
              <a:rPr lang="en-US" sz="2800" smtClean="0"/>
              <a:t>Proses approval oleh </a:t>
            </a:r>
            <a:r>
              <a:rPr lang="en-US" sz="2600" smtClean="0"/>
              <a:t>pejabat level managerial</a:t>
            </a:r>
          </a:p>
          <a:p>
            <a:pPr eaLnBrk="1" hangingPunct="1">
              <a:buClr>
                <a:schemeClr val="tx1"/>
              </a:buClr>
            </a:pPr>
            <a:r>
              <a:rPr lang="en-US" sz="2600" smtClean="0"/>
              <a:t>Pemrosesan dokumen pembayaran harus melalui sistem informasi (sistem informasi yang sudah terintegrasi)</a:t>
            </a:r>
          </a:p>
          <a:p>
            <a:pPr eaLnBrk="1" hangingPunct="1">
              <a:buClr>
                <a:schemeClr val="tx1"/>
              </a:buClr>
            </a:pPr>
            <a:r>
              <a:rPr lang="en-US" sz="2600" smtClean="0"/>
              <a:t>Jika invoice memiliki down payment (DP), dilakukan clearing down payment, agar saldo down payment ter-update</a:t>
            </a:r>
          </a:p>
          <a:p>
            <a:pPr eaLnBrk="1" hangingPunct="1">
              <a:buClr>
                <a:schemeClr val="tx1"/>
              </a:buClr>
            </a:pPr>
            <a:r>
              <a:rPr lang="en-US" sz="2400" smtClean="0"/>
              <a:t>Prioritas pembayaran kepada supplier yang bergaining positionnya lebih kuat</a:t>
            </a:r>
          </a:p>
        </p:txBody>
      </p:sp>
      <p:pic>
        <p:nvPicPr>
          <p:cNvPr id="77828" name="Picture 4" descr="g0700714"/>
          <p:cNvPicPr>
            <a:picLocks noGrp="1" noChangeAspect="1" noChangeArrowheads="1"/>
          </p:cNvPicPr>
          <p:nvPr>
            <p:ph sz="half" idx="2"/>
          </p:nvPr>
        </p:nvPicPr>
        <p:blipFill>
          <a:blip r:embed="rId3"/>
          <a:srcRect/>
          <a:stretch>
            <a:fillRect/>
          </a:stretch>
        </p:blipFill>
        <p:spPr>
          <a:xfrm>
            <a:off x="7264400" y="990600"/>
            <a:ext cx="2641600" cy="5486400"/>
          </a:xfrm>
          <a:noFill/>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a:xfrm>
            <a:off x="495300" y="457200"/>
            <a:ext cx="8915400" cy="838200"/>
          </a:xfrm>
        </p:spPr>
        <p:txBody>
          <a:bodyPr/>
          <a:lstStyle/>
          <a:p>
            <a:pPr eaLnBrk="1" hangingPunct="1"/>
            <a:r>
              <a:rPr lang="sv-SE" sz="3200" b="1" smtClean="0"/>
              <a:t>Account Payable dalam Strategi Purchasing</a:t>
            </a:r>
            <a:endParaRPr lang="en-US" sz="3200" b="1" smtClean="0"/>
          </a:p>
        </p:txBody>
      </p:sp>
      <p:sp>
        <p:nvSpPr>
          <p:cNvPr id="78851" name="Rectangle 3"/>
          <p:cNvSpPr>
            <a:spLocks noGrp="1" noChangeArrowheads="1"/>
          </p:cNvSpPr>
          <p:nvPr>
            <p:ph type="body" idx="1"/>
          </p:nvPr>
        </p:nvSpPr>
        <p:spPr>
          <a:xfrm>
            <a:off x="577850" y="1295400"/>
            <a:ext cx="8915400" cy="4114800"/>
          </a:xfrm>
        </p:spPr>
        <p:txBody>
          <a:bodyPr/>
          <a:lstStyle/>
          <a:p>
            <a:pPr eaLnBrk="1" hangingPunct="1">
              <a:lnSpc>
                <a:spcPct val="90000"/>
              </a:lnSpc>
              <a:buClr>
                <a:schemeClr val="tx1"/>
              </a:buClr>
              <a:buSzTx/>
            </a:pPr>
            <a:r>
              <a:rPr lang="en-US" sz="2800" smtClean="0"/>
              <a:t>Management Objectives</a:t>
            </a:r>
          </a:p>
          <a:p>
            <a:pPr lvl="1" eaLnBrk="1" hangingPunct="1">
              <a:lnSpc>
                <a:spcPct val="90000"/>
              </a:lnSpc>
              <a:buClr>
                <a:schemeClr val="tx1"/>
              </a:buClr>
              <a:buSzTx/>
            </a:pPr>
            <a:r>
              <a:rPr lang="en-US" sz="2400" smtClean="0"/>
              <a:t>Pembelian material atau jasa </a:t>
            </a:r>
          </a:p>
          <a:p>
            <a:pPr lvl="2" eaLnBrk="1" hangingPunct="1">
              <a:lnSpc>
                <a:spcPct val="90000"/>
              </a:lnSpc>
              <a:buClr>
                <a:schemeClr val="tx1"/>
              </a:buClr>
              <a:buSzTx/>
            </a:pPr>
            <a:r>
              <a:rPr lang="en-US" sz="2000" smtClean="0"/>
              <a:t>Harga Terbaik (</a:t>
            </a:r>
            <a:r>
              <a:rPr lang="en-US" sz="2000" i="1" smtClean="0"/>
              <a:t>Termasuk Credit Terms</a:t>
            </a:r>
            <a:r>
              <a:rPr lang="en-US" sz="2000" smtClean="0"/>
              <a:t>)</a:t>
            </a:r>
          </a:p>
          <a:p>
            <a:pPr lvl="2" eaLnBrk="1" hangingPunct="1">
              <a:lnSpc>
                <a:spcPct val="90000"/>
              </a:lnSpc>
              <a:buClr>
                <a:schemeClr val="tx1"/>
              </a:buClr>
              <a:buSzTx/>
            </a:pPr>
            <a:r>
              <a:rPr lang="en-US" sz="2000" smtClean="0"/>
              <a:t>Kualitas Terbaik (layanan purna jual, </a:t>
            </a:r>
            <a:r>
              <a:rPr lang="en-US" sz="2000" i="1" smtClean="0"/>
              <a:t>goodwill)</a:t>
            </a:r>
          </a:p>
          <a:p>
            <a:pPr lvl="2" eaLnBrk="1" hangingPunct="1">
              <a:lnSpc>
                <a:spcPct val="90000"/>
              </a:lnSpc>
              <a:buClr>
                <a:schemeClr val="tx1"/>
              </a:buClr>
              <a:buSzTx/>
            </a:pPr>
            <a:r>
              <a:rPr lang="en-US" sz="2000" smtClean="0"/>
              <a:t>Delivery Time</a:t>
            </a:r>
          </a:p>
          <a:p>
            <a:pPr lvl="2" eaLnBrk="1" hangingPunct="1">
              <a:lnSpc>
                <a:spcPct val="90000"/>
              </a:lnSpc>
              <a:buClr>
                <a:schemeClr val="tx1"/>
              </a:buClr>
              <a:buSzTx/>
            </a:pPr>
            <a:r>
              <a:rPr lang="en-US" sz="2000" smtClean="0"/>
              <a:t>Kelangsungan Supply</a:t>
            </a:r>
          </a:p>
          <a:p>
            <a:pPr lvl="1" eaLnBrk="1" hangingPunct="1">
              <a:lnSpc>
                <a:spcPct val="90000"/>
              </a:lnSpc>
              <a:buClr>
                <a:schemeClr val="tx1"/>
              </a:buClr>
              <a:buSzTx/>
            </a:pPr>
            <a:r>
              <a:rPr lang="en-US" sz="2400" smtClean="0"/>
              <a:t>Cash Management </a:t>
            </a:r>
          </a:p>
          <a:p>
            <a:pPr lvl="2" eaLnBrk="1" hangingPunct="1">
              <a:lnSpc>
                <a:spcPct val="90000"/>
              </a:lnSpc>
              <a:buClr>
                <a:schemeClr val="tx1"/>
              </a:buClr>
              <a:buSzTx/>
            </a:pPr>
            <a:r>
              <a:rPr lang="en-US" sz="2000" smtClean="0"/>
              <a:t>Trade Payable merupakan sumber pendanaan</a:t>
            </a:r>
          </a:p>
          <a:p>
            <a:pPr lvl="2" eaLnBrk="1" hangingPunct="1">
              <a:lnSpc>
                <a:spcPct val="90000"/>
              </a:lnSpc>
              <a:buClr>
                <a:schemeClr val="tx1"/>
              </a:buClr>
              <a:buSzTx/>
            </a:pPr>
            <a:r>
              <a:rPr lang="en-US" sz="2000" smtClean="0"/>
              <a:t>Semakin lama pembayaran semakin baik bagi cash management</a:t>
            </a:r>
          </a:p>
          <a:p>
            <a:pPr eaLnBrk="1" hangingPunct="1">
              <a:lnSpc>
                <a:spcPct val="90000"/>
              </a:lnSpc>
              <a:buClr>
                <a:schemeClr val="tx1"/>
              </a:buClr>
              <a:buSzTx/>
            </a:pPr>
            <a:r>
              <a:rPr lang="en-US" sz="2800" smtClean="0"/>
              <a:t>Supplier atau Vendor</a:t>
            </a:r>
          </a:p>
          <a:p>
            <a:pPr lvl="1" eaLnBrk="1" hangingPunct="1">
              <a:lnSpc>
                <a:spcPct val="90000"/>
              </a:lnSpc>
              <a:buClr>
                <a:schemeClr val="tx1"/>
              </a:buClr>
              <a:buSzTx/>
            </a:pPr>
            <a:r>
              <a:rPr lang="en-US" sz="2400" smtClean="0"/>
              <a:t>Melihat customer dari</a:t>
            </a:r>
          </a:p>
          <a:p>
            <a:pPr lvl="2" eaLnBrk="1" hangingPunct="1">
              <a:lnSpc>
                <a:spcPct val="90000"/>
              </a:lnSpc>
              <a:buClr>
                <a:schemeClr val="tx1"/>
              </a:buClr>
              <a:buSzTx/>
            </a:pPr>
            <a:r>
              <a:rPr lang="en-US" sz="2000" smtClean="0"/>
              <a:t>Kepastian</a:t>
            </a:r>
          </a:p>
          <a:p>
            <a:pPr lvl="2" eaLnBrk="1" hangingPunct="1">
              <a:lnSpc>
                <a:spcPct val="90000"/>
              </a:lnSpc>
              <a:buClr>
                <a:schemeClr val="tx1"/>
              </a:buClr>
              <a:buSzTx/>
            </a:pPr>
            <a:r>
              <a:rPr lang="en-US" sz="2000" smtClean="0"/>
              <a:t>Profit dan Volume</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idx="4294967295"/>
          </p:nvPr>
        </p:nvSpPr>
        <p:spPr>
          <a:xfrm>
            <a:off x="247650" y="381000"/>
            <a:ext cx="9328150" cy="762000"/>
          </a:xfrm>
        </p:spPr>
        <p:txBody>
          <a:bodyPr/>
          <a:lstStyle/>
          <a:p>
            <a:pPr eaLnBrk="1" hangingPunct="1"/>
            <a:r>
              <a:rPr lang="sv-SE" sz="3200" b="1" smtClean="0"/>
              <a:t>Account Payable dalam Strategi Purchasing</a:t>
            </a:r>
            <a:endParaRPr lang="en-US" sz="3200" b="1" smtClean="0"/>
          </a:p>
        </p:txBody>
      </p:sp>
      <p:sp>
        <p:nvSpPr>
          <p:cNvPr id="79875" name="Rectangle 3"/>
          <p:cNvSpPr>
            <a:spLocks noGrp="1" noChangeArrowheads="1"/>
          </p:cNvSpPr>
          <p:nvPr>
            <p:ph type="body" idx="4294967295"/>
          </p:nvPr>
        </p:nvSpPr>
        <p:spPr>
          <a:xfrm>
            <a:off x="577850" y="1295400"/>
            <a:ext cx="8915400" cy="3962400"/>
          </a:xfrm>
        </p:spPr>
        <p:txBody>
          <a:bodyPr/>
          <a:lstStyle/>
          <a:p>
            <a:pPr eaLnBrk="1" hangingPunct="1">
              <a:lnSpc>
                <a:spcPct val="80000"/>
              </a:lnSpc>
              <a:buClr>
                <a:schemeClr val="tx1"/>
              </a:buClr>
              <a:buSzTx/>
            </a:pPr>
            <a:r>
              <a:rPr lang="en-US" sz="2800" smtClean="0"/>
              <a:t>Perkembangan pada saat ini</a:t>
            </a:r>
          </a:p>
          <a:p>
            <a:pPr lvl="1" eaLnBrk="1" hangingPunct="1">
              <a:lnSpc>
                <a:spcPct val="80000"/>
              </a:lnSpc>
              <a:buClr>
                <a:schemeClr val="tx1"/>
              </a:buClr>
              <a:buSzTx/>
            </a:pPr>
            <a:r>
              <a:rPr lang="en-US" sz="2400" smtClean="0"/>
              <a:t>Perusahaan kembali ke core business</a:t>
            </a:r>
          </a:p>
          <a:p>
            <a:pPr lvl="1" eaLnBrk="1" hangingPunct="1">
              <a:lnSpc>
                <a:spcPct val="80000"/>
              </a:lnSpc>
              <a:buClr>
                <a:schemeClr val="tx1"/>
              </a:buClr>
              <a:buSzTx/>
            </a:pPr>
            <a:r>
              <a:rPr lang="en-US" sz="2400" smtClean="0"/>
              <a:t>Outsourcing</a:t>
            </a:r>
          </a:p>
          <a:p>
            <a:pPr lvl="1" eaLnBrk="1" hangingPunct="1">
              <a:lnSpc>
                <a:spcPct val="80000"/>
              </a:lnSpc>
              <a:buClr>
                <a:schemeClr val="tx1"/>
              </a:buClr>
              <a:buSzTx/>
            </a:pPr>
            <a:r>
              <a:rPr lang="en-US" sz="2400" smtClean="0"/>
              <a:t>Strategi</a:t>
            </a:r>
          </a:p>
          <a:p>
            <a:pPr lvl="2" eaLnBrk="1" hangingPunct="1">
              <a:lnSpc>
                <a:spcPct val="80000"/>
              </a:lnSpc>
              <a:buClr>
                <a:schemeClr val="tx1"/>
              </a:buClr>
              <a:buSzTx/>
            </a:pPr>
            <a:r>
              <a:rPr lang="en-US" sz="2000" smtClean="0"/>
              <a:t>Volume consolidation</a:t>
            </a:r>
          </a:p>
          <a:p>
            <a:pPr lvl="3" eaLnBrk="1" hangingPunct="1">
              <a:lnSpc>
                <a:spcPct val="80000"/>
              </a:lnSpc>
              <a:buClr>
                <a:schemeClr val="tx1"/>
              </a:buClr>
              <a:buSzTx/>
            </a:pPr>
            <a:r>
              <a:rPr lang="en-US" sz="1800" smtClean="0"/>
              <a:t>Volume consolidation through reduction of number supplier</a:t>
            </a:r>
          </a:p>
          <a:p>
            <a:pPr lvl="3" eaLnBrk="1" hangingPunct="1">
              <a:lnSpc>
                <a:spcPct val="80000"/>
              </a:lnSpc>
              <a:buClr>
                <a:schemeClr val="tx1"/>
              </a:buClr>
              <a:buSzTx/>
            </a:pPr>
            <a:r>
              <a:rPr lang="en-US" sz="1800" smtClean="0"/>
              <a:t>Sebelumnya perusahaan berhubungan dengan banyak supplier, keuntungan</a:t>
            </a:r>
          </a:p>
          <a:p>
            <a:pPr lvl="4" eaLnBrk="1" hangingPunct="1">
              <a:lnSpc>
                <a:spcPct val="80000"/>
              </a:lnSpc>
              <a:buClr>
                <a:schemeClr val="tx1"/>
              </a:buClr>
            </a:pPr>
            <a:r>
              <a:rPr lang="en-US" sz="1800" smtClean="0"/>
              <a:t>Mencari harga terendah </a:t>
            </a:r>
          </a:p>
          <a:p>
            <a:pPr lvl="4" eaLnBrk="1" hangingPunct="1">
              <a:lnSpc>
                <a:spcPct val="80000"/>
              </a:lnSpc>
              <a:buClr>
                <a:schemeClr val="tx1"/>
              </a:buClr>
            </a:pPr>
            <a:r>
              <a:rPr lang="en-US" sz="1800" smtClean="0"/>
              <a:t>Mengurangi tingkat ketergantungan dengan satu supplier</a:t>
            </a:r>
          </a:p>
          <a:p>
            <a:pPr lvl="3" eaLnBrk="1" hangingPunct="1">
              <a:lnSpc>
                <a:spcPct val="80000"/>
              </a:lnSpc>
              <a:buClr>
                <a:schemeClr val="tx1"/>
              </a:buClr>
              <a:buSzTx/>
            </a:pPr>
            <a:r>
              <a:rPr lang="en-US" sz="1800" smtClean="0"/>
              <a:t>Benefit of consolidation volume</a:t>
            </a:r>
          </a:p>
          <a:p>
            <a:pPr lvl="4" eaLnBrk="1" hangingPunct="1">
              <a:lnSpc>
                <a:spcPct val="80000"/>
              </a:lnSpc>
              <a:buClr>
                <a:schemeClr val="tx1"/>
              </a:buClr>
            </a:pPr>
            <a:r>
              <a:rPr lang="en-US" sz="1800" smtClean="0"/>
              <a:t>Meningkatkan share bisnis supplier</a:t>
            </a:r>
          </a:p>
          <a:p>
            <a:pPr lvl="4" eaLnBrk="1" hangingPunct="1">
              <a:lnSpc>
                <a:spcPct val="80000"/>
              </a:lnSpc>
              <a:buClr>
                <a:schemeClr val="tx1"/>
              </a:buClr>
            </a:pPr>
            <a:r>
              <a:rPr lang="en-US" sz="1800" smtClean="0"/>
              <a:t>Supplier dapat volume order lebih besar, economic scale tercapai, harga bisa turun</a:t>
            </a:r>
          </a:p>
          <a:p>
            <a:pPr lvl="4" eaLnBrk="1" hangingPunct="1">
              <a:lnSpc>
                <a:spcPct val="80000"/>
              </a:lnSpc>
              <a:buClr>
                <a:schemeClr val="tx1"/>
              </a:buClr>
            </a:pPr>
            <a:r>
              <a:rPr lang="en-US" sz="1800" smtClean="0"/>
              <a:t>Mau melakuakan investasi jika dibutuhkan Long-term relationship</a:t>
            </a:r>
          </a:p>
          <a:p>
            <a:pPr lvl="4" eaLnBrk="1" hangingPunct="1">
              <a:lnSpc>
                <a:spcPct val="80000"/>
              </a:lnSpc>
              <a:buClr>
                <a:schemeClr val="tx1"/>
              </a:buClr>
            </a:pPr>
            <a:r>
              <a:rPr lang="en-US" sz="1800" smtClean="0"/>
              <a:t>Adanya proses screening, pemilihan supplier </a:t>
            </a:r>
          </a:p>
          <a:p>
            <a:pPr lvl="3" eaLnBrk="1" hangingPunct="1">
              <a:lnSpc>
                <a:spcPct val="80000"/>
              </a:lnSpc>
              <a:buClr>
                <a:schemeClr val="tx1"/>
              </a:buClr>
              <a:buSzTx/>
            </a:pPr>
            <a:r>
              <a:rPr lang="en-US" sz="1800" smtClean="0"/>
              <a:t>Tapi perlu juga contingency plan</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0898" name="Picture 4"/>
          <p:cNvPicPr>
            <a:picLocks noGrp="1" noChangeAspect="1" noChangeArrowheads="1"/>
          </p:cNvPicPr>
          <p:nvPr>
            <p:ph idx="4294967295"/>
          </p:nvPr>
        </p:nvPicPr>
        <p:blipFill>
          <a:blip r:embed="rId3"/>
          <a:srcRect/>
          <a:stretch>
            <a:fillRect/>
          </a:stretch>
        </p:blipFill>
        <p:spPr>
          <a:xfrm>
            <a:off x="762000" y="533400"/>
            <a:ext cx="8839200" cy="5791200"/>
          </a:xfrm>
          <a:noFill/>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22" name="Picture 2"/>
          <p:cNvPicPr>
            <a:picLocks noGrp="1" noChangeAspect="1" noChangeArrowheads="1"/>
          </p:cNvPicPr>
          <p:nvPr>
            <p:ph idx="4294967295"/>
          </p:nvPr>
        </p:nvPicPr>
        <p:blipFill>
          <a:blip r:embed="rId3"/>
          <a:srcRect/>
          <a:stretch>
            <a:fillRect/>
          </a:stretch>
        </p:blipFill>
        <p:spPr>
          <a:xfrm>
            <a:off x="685800" y="685800"/>
            <a:ext cx="8839200" cy="5791200"/>
          </a:xfrm>
          <a:noFill/>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a:xfrm>
            <a:off x="495300" y="457200"/>
            <a:ext cx="8915400" cy="838200"/>
          </a:xfrm>
        </p:spPr>
        <p:txBody>
          <a:bodyPr/>
          <a:lstStyle/>
          <a:p>
            <a:pPr eaLnBrk="1" hangingPunct="1"/>
            <a:r>
              <a:rPr lang="sv-SE" sz="3200" b="1" smtClean="0"/>
              <a:t>Klasifikasi Supplier</a:t>
            </a:r>
            <a:endParaRPr lang="en-US" sz="3200" b="1" smtClean="0"/>
          </a:p>
        </p:txBody>
      </p:sp>
      <p:sp>
        <p:nvSpPr>
          <p:cNvPr id="82947" name="Rectangle 3"/>
          <p:cNvSpPr>
            <a:spLocks noGrp="1" noChangeArrowheads="1"/>
          </p:cNvSpPr>
          <p:nvPr>
            <p:ph type="body" idx="1"/>
          </p:nvPr>
        </p:nvSpPr>
        <p:spPr>
          <a:xfrm>
            <a:off x="577850" y="1143000"/>
            <a:ext cx="9080500" cy="5486400"/>
          </a:xfrm>
        </p:spPr>
        <p:txBody>
          <a:bodyPr/>
          <a:lstStyle/>
          <a:p>
            <a:pPr eaLnBrk="1" hangingPunct="1">
              <a:lnSpc>
                <a:spcPct val="90000"/>
              </a:lnSpc>
              <a:buClr>
                <a:schemeClr val="tx1"/>
              </a:buClr>
              <a:buSzTx/>
            </a:pPr>
            <a:r>
              <a:rPr lang="en-US" sz="2800" smtClean="0"/>
              <a:t>Buyer</a:t>
            </a:r>
          </a:p>
          <a:p>
            <a:pPr lvl="1" eaLnBrk="1" hangingPunct="1">
              <a:lnSpc>
                <a:spcPct val="90000"/>
              </a:lnSpc>
              <a:buClr>
                <a:schemeClr val="tx1"/>
              </a:buClr>
              <a:buSzTx/>
            </a:pPr>
            <a:r>
              <a:rPr lang="en-US" sz="2400" smtClean="0"/>
              <a:t>Risk or Exposure</a:t>
            </a:r>
          </a:p>
          <a:p>
            <a:pPr lvl="2" eaLnBrk="1" hangingPunct="1">
              <a:lnSpc>
                <a:spcPct val="90000"/>
              </a:lnSpc>
              <a:buClr>
                <a:schemeClr val="tx1"/>
              </a:buClr>
              <a:buSzTx/>
            </a:pPr>
            <a:r>
              <a:rPr lang="en-US" sz="2000" smtClean="0"/>
              <a:t>High (tinggi) :</a:t>
            </a:r>
            <a:endParaRPr lang="en-US" sz="2000" smtClean="0">
              <a:sym typeface="Wingdings" pitchFamily="2" charset="2"/>
            </a:endParaRPr>
          </a:p>
          <a:p>
            <a:pPr lvl="3" eaLnBrk="1" hangingPunct="1">
              <a:lnSpc>
                <a:spcPct val="90000"/>
              </a:lnSpc>
              <a:buClr>
                <a:schemeClr val="tx1"/>
              </a:buClr>
              <a:buSzTx/>
            </a:pPr>
            <a:r>
              <a:rPr lang="en-US" sz="1800" smtClean="0">
                <a:sym typeface="Wingdings" pitchFamily="2" charset="2"/>
              </a:rPr>
              <a:t>Supplier sedikit, material tidak ada bisnis terhenti, mandatory (safety &amp; regulation)</a:t>
            </a:r>
          </a:p>
          <a:p>
            <a:pPr lvl="3" eaLnBrk="1" hangingPunct="1">
              <a:lnSpc>
                <a:spcPct val="90000"/>
              </a:lnSpc>
              <a:buClr>
                <a:schemeClr val="tx1"/>
              </a:buClr>
              <a:buSzTx/>
            </a:pPr>
            <a:r>
              <a:rPr lang="en-US" sz="1800" smtClean="0">
                <a:sym typeface="Wingdings" pitchFamily="2" charset="2"/>
              </a:rPr>
              <a:t>Supplier monopoli/oligopoli</a:t>
            </a:r>
          </a:p>
          <a:p>
            <a:pPr lvl="3" eaLnBrk="1" hangingPunct="1">
              <a:lnSpc>
                <a:spcPct val="90000"/>
              </a:lnSpc>
              <a:buClr>
                <a:schemeClr val="tx1"/>
              </a:buClr>
              <a:buSzTx/>
            </a:pPr>
            <a:r>
              <a:rPr lang="en-US" sz="1800" smtClean="0">
                <a:sym typeface="Wingdings" pitchFamily="2" charset="2"/>
              </a:rPr>
              <a:t>Single supplier</a:t>
            </a:r>
          </a:p>
          <a:p>
            <a:pPr lvl="3" eaLnBrk="1" hangingPunct="1">
              <a:lnSpc>
                <a:spcPct val="90000"/>
              </a:lnSpc>
              <a:buClr>
                <a:schemeClr val="tx1"/>
              </a:buClr>
              <a:buSzTx/>
            </a:pPr>
            <a:r>
              <a:rPr lang="en-US" sz="1800" smtClean="0">
                <a:sym typeface="Wingdings" pitchFamily="2" charset="2"/>
              </a:rPr>
              <a:t>Selalu menjadi prioritas pembayaran</a:t>
            </a:r>
          </a:p>
          <a:p>
            <a:pPr lvl="2" eaLnBrk="1" hangingPunct="1">
              <a:lnSpc>
                <a:spcPct val="90000"/>
              </a:lnSpc>
              <a:buClr>
                <a:schemeClr val="tx1"/>
              </a:buClr>
              <a:buSzTx/>
            </a:pPr>
            <a:r>
              <a:rPr lang="en-US" sz="2000" smtClean="0">
                <a:sym typeface="Wingdings" pitchFamily="2" charset="2"/>
              </a:rPr>
              <a:t>Low (rendah) : </a:t>
            </a:r>
          </a:p>
          <a:p>
            <a:pPr lvl="3" eaLnBrk="1" hangingPunct="1">
              <a:lnSpc>
                <a:spcPct val="90000"/>
              </a:lnSpc>
              <a:buClr>
                <a:schemeClr val="tx1"/>
              </a:buClr>
              <a:buSzTx/>
            </a:pPr>
            <a:r>
              <a:rPr lang="en-US" sz="1800" smtClean="0">
                <a:sym typeface="Wingdings" pitchFamily="2" charset="2"/>
              </a:rPr>
              <a:t>Supplier banyak, ada produk pengganti &amp; material/jasa tidak ada bisnis tetap jalan</a:t>
            </a:r>
          </a:p>
          <a:p>
            <a:pPr lvl="3" eaLnBrk="1" hangingPunct="1">
              <a:lnSpc>
                <a:spcPct val="90000"/>
              </a:lnSpc>
              <a:buClr>
                <a:schemeClr val="tx1"/>
              </a:buClr>
              <a:buSzTx/>
            </a:pPr>
            <a:r>
              <a:rPr lang="en-US" sz="1800" smtClean="0">
                <a:sym typeface="Wingdings" pitchFamily="2" charset="2"/>
              </a:rPr>
              <a:t>Persaingan sempurna</a:t>
            </a:r>
          </a:p>
          <a:p>
            <a:pPr lvl="3" eaLnBrk="1" hangingPunct="1">
              <a:lnSpc>
                <a:spcPct val="90000"/>
              </a:lnSpc>
              <a:buClr>
                <a:schemeClr val="tx1"/>
              </a:buClr>
              <a:buSzTx/>
            </a:pPr>
            <a:r>
              <a:rPr lang="en-US" sz="1800" smtClean="0">
                <a:sym typeface="Wingdings" pitchFamily="2" charset="2"/>
              </a:rPr>
              <a:t>Beberapa supplier</a:t>
            </a:r>
          </a:p>
          <a:p>
            <a:pPr lvl="3" eaLnBrk="1" hangingPunct="1">
              <a:lnSpc>
                <a:spcPct val="90000"/>
              </a:lnSpc>
              <a:buClr>
                <a:schemeClr val="tx1"/>
              </a:buClr>
              <a:buSzTx/>
            </a:pPr>
            <a:r>
              <a:rPr lang="en-US" sz="1800" smtClean="0">
                <a:sym typeface="Wingdings" pitchFamily="2" charset="2"/>
              </a:rPr>
              <a:t>Pembayaran tidak terlalu ketat</a:t>
            </a:r>
          </a:p>
          <a:p>
            <a:pPr lvl="2" eaLnBrk="1" hangingPunct="1">
              <a:lnSpc>
                <a:spcPct val="90000"/>
              </a:lnSpc>
              <a:buClr>
                <a:schemeClr val="tx1"/>
              </a:buClr>
              <a:buSzTx/>
            </a:pPr>
            <a:r>
              <a:rPr lang="en-US" sz="2000" smtClean="0"/>
              <a:t>Relative cost</a:t>
            </a:r>
          </a:p>
          <a:p>
            <a:pPr lvl="2" eaLnBrk="1" hangingPunct="1">
              <a:lnSpc>
                <a:spcPct val="90000"/>
              </a:lnSpc>
              <a:buClr>
                <a:schemeClr val="tx1"/>
              </a:buClr>
              <a:buSzTx/>
            </a:pPr>
            <a:r>
              <a:rPr lang="en-US" sz="2000" smtClean="0"/>
              <a:t>High </a:t>
            </a:r>
            <a:r>
              <a:rPr lang="en-US" sz="2000" smtClean="0">
                <a:sym typeface="Wingdings" pitchFamily="2" charset="2"/>
              </a:rPr>
              <a:t> pembelian banyak</a:t>
            </a:r>
          </a:p>
          <a:p>
            <a:pPr lvl="2" eaLnBrk="1" hangingPunct="1">
              <a:lnSpc>
                <a:spcPct val="90000"/>
              </a:lnSpc>
              <a:buClr>
                <a:schemeClr val="tx1"/>
              </a:buClr>
              <a:buSzTx/>
            </a:pPr>
            <a:r>
              <a:rPr lang="en-US" sz="2000" smtClean="0"/>
              <a:t>Low </a:t>
            </a:r>
            <a:r>
              <a:rPr lang="en-US" sz="2000" smtClean="0">
                <a:sym typeface="Wingdings" pitchFamily="2" charset="2"/>
              </a:rPr>
              <a:t> pembelian sedikit</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a:xfrm>
            <a:off x="495300" y="457200"/>
            <a:ext cx="8915400" cy="1066800"/>
          </a:xfrm>
        </p:spPr>
        <p:txBody>
          <a:bodyPr/>
          <a:lstStyle/>
          <a:p>
            <a:pPr eaLnBrk="1" hangingPunct="1"/>
            <a:r>
              <a:rPr lang="sv-SE" sz="3600" b="1" smtClean="0"/>
              <a:t>Klasifikasi Supplier</a:t>
            </a:r>
            <a:endParaRPr lang="en-US" sz="3600" b="1" smtClean="0"/>
          </a:p>
        </p:txBody>
      </p:sp>
      <p:sp>
        <p:nvSpPr>
          <p:cNvPr id="83971" name="Rectangle 3"/>
          <p:cNvSpPr>
            <a:spLocks noGrp="1" noChangeArrowheads="1"/>
          </p:cNvSpPr>
          <p:nvPr>
            <p:ph type="body" idx="1"/>
          </p:nvPr>
        </p:nvSpPr>
        <p:spPr>
          <a:xfrm>
            <a:off x="495300" y="1600200"/>
            <a:ext cx="8915400" cy="4495800"/>
          </a:xfrm>
        </p:spPr>
        <p:txBody>
          <a:bodyPr/>
          <a:lstStyle/>
          <a:p>
            <a:pPr eaLnBrk="1" hangingPunct="1">
              <a:buClr>
                <a:schemeClr val="tx1"/>
              </a:buClr>
              <a:buSzTx/>
            </a:pPr>
            <a:r>
              <a:rPr lang="en-US" sz="2800" smtClean="0"/>
              <a:t>Supplier</a:t>
            </a:r>
          </a:p>
          <a:p>
            <a:pPr lvl="1" eaLnBrk="1" hangingPunct="1">
              <a:buClr>
                <a:schemeClr val="tx1"/>
              </a:buClr>
              <a:buSzTx/>
            </a:pPr>
            <a:r>
              <a:rPr lang="en-US" sz="2400" smtClean="0"/>
              <a:t>Prefer customer </a:t>
            </a:r>
            <a:r>
              <a:rPr lang="en-US" sz="2400" smtClean="0">
                <a:sym typeface="Wingdings" pitchFamily="2" charset="2"/>
              </a:rPr>
              <a:t> memberikan profit dan volume, bisnis tergangu apabila kehilangan customer</a:t>
            </a:r>
          </a:p>
          <a:p>
            <a:pPr lvl="1" eaLnBrk="1" hangingPunct="1">
              <a:buClr>
                <a:schemeClr val="tx1"/>
              </a:buClr>
              <a:buSzTx/>
            </a:pPr>
            <a:r>
              <a:rPr lang="en-US" sz="2400" smtClean="0"/>
              <a:t>Sedikit supplier, namun andal</a:t>
            </a:r>
          </a:p>
          <a:p>
            <a:pPr lvl="1" eaLnBrk="1" hangingPunct="1">
              <a:buClr>
                <a:schemeClr val="tx1"/>
              </a:buClr>
              <a:buSzTx/>
            </a:pPr>
            <a:r>
              <a:rPr lang="en-US" sz="2400" smtClean="0"/>
              <a:t>Long term relationship (kepastian)</a:t>
            </a:r>
          </a:p>
          <a:p>
            <a:pPr lvl="1" eaLnBrk="1" hangingPunct="1">
              <a:buClr>
                <a:schemeClr val="tx1"/>
              </a:buClr>
              <a:buSzTx/>
            </a:pPr>
            <a:r>
              <a:rPr lang="en-US" sz="2400" smtClean="0"/>
              <a:t>Memudahkan negosiasi</a:t>
            </a:r>
          </a:p>
          <a:p>
            <a:pPr lvl="1" eaLnBrk="1" hangingPunct="1">
              <a:buClr>
                <a:schemeClr val="tx1"/>
              </a:buClr>
              <a:buSzTx/>
            </a:pPr>
            <a:r>
              <a:rPr lang="en-US" sz="2400" smtClean="0"/>
              <a:t>Mendapat skala ekonomis supplier</a:t>
            </a:r>
          </a:p>
          <a:p>
            <a:pPr eaLnBrk="1" hangingPunct="1">
              <a:buClr>
                <a:schemeClr val="tx1"/>
              </a:buClr>
              <a:buSzTx/>
            </a:pPr>
            <a:r>
              <a:rPr lang="en-US" sz="2800" smtClean="0"/>
              <a:t>Tidak semua material dan jasa diperlakukan sama</a:t>
            </a:r>
          </a:p>
          <a:p>
            <a:pPr eaLnBrk="1" hangingPunct="1">
              <a:buClr>
                <a:schemeClr val="tx1"/>
              </a:buClr>
              <a:buSzTx/>
            </a:pPr>
            <a:endParaRPr lang="en-US" sz="2800" smtClean="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a:xfrm>
            <a:off x="495300" y="457200"/>
            <a:ext cx="8915400" cy="990600"/>
          </a:xfrm>
        </p:spPr>
        <p:txBody>
          <a:bodyPr/>
          <a:lstStyle/>
          <a:p>
            <a:pPr eaLnBrk="1" hangingPunct="1"/>
            <a:r>
              <a:rPr lang="sv-SE" sz="3200" b="1" smtClean="0"/>
              <a:t>Klasifikasi Supplier</a:t>
            </a:r>
            <a:endParaRPr lang="en-US" sz="3200" b="1" smtClean="0"/>
          </a:p>
        </p:txBody>
      </p:sp>
      <p:sp>
        <p:nvSpPr>
          <p:cNvPr id="84995" name="Rectangle 3"/>
          <p:cNvSpPr>
            <a:spLocks noGrp="1" noChangeArrowheads="1"/>
          </p:cNvSpPr>
          <p:nvPr>
            <p:ph type="body" idx="1"/>
          </p:nvPr>
        </p:nvSpPr>
        <p:spPr>
          <a:xfrm>
            <a:off x="660400" y="1600200"/>
            <a:ext cx="8915400" cy="3962400"/>
          </a:xfrm>
        </p:spPr>
        <p:txBody>
          <a:bodyPr/>
          <a:lstStyle/>
          <a:p>
            <a:pPr eaLnBrk="1" hangingPunct="1">
              <a:lnSpc>
                <a:spcPct val="90000"/>
              </a:lnSpc>
              <a:buClr>
                <a:schemeClr val="tx1"/>
              </a:buClr>
              <a:buSzTx/>
            </a:pPr>
            <a:r>
              <a:rPr lang="en-US" smtClean="0"/>
              <a:t>Kondisi supplier dan buyer </a:t>
            </a:r>
          </a:p>
          <a:p>
            <a:pPr lvl="1" eaLnBrk="1" hangingPunct="1">
              <a:lnSpc>
                <a:spcPct val="90000"/>
              </a:lnSpc>
              <a:buClr>
                <a:schemeClr val="tx1"/>
              </a:buClr>
              <a:buSzTx/>
            </a:pPr>
            <a:r>
              <a:rPr lang="en-US" smtClean="0"/>
              <a:t>High exposure &amp; bukan key customer</a:t>
            </a:r>
          </a:p>
          <a:p>
            <a:pPr lvl="2" eaLnBrk="1" hangingPunct="1">
              <a:lnSpc>
                <a:spcPct val="90000"/>
              </a:lnSpc>
              <a:buClr>
                <a:schemeClr val="tx1"/>
              </a:buClr>
              <a:buSzTx/>
            </a:pPr>
            <a:r>
              <a:rPr lang="en-US" sz="2000" smtClean="0"/>
              <a:t>Akan menerapkan aktual pembayaran yang cepat</a:t>
            </a:r>
          </a:p>
          <a:p>
            <a:pPr lvl="2" eaLnBrk="1" hangingPunct="1">
              <a:lnSpc>
                <a:spcPct val="90000"/>
              </a:lnSpc>
              <a:buClr>
                <a:schemeClr val="tx1"/>
              </a:buClr>
              <a:buSzTx/>
            </a:pPr>
            <a:r>
              <a:rPr lang="en-US" sz="2000" smtClean="0"/>
              <a:t>Dapat memaksa terms</a:t>
            </a:r>
          </a:p>
          <a:p>
            <a:pPr lvl="1" eaLnBrk="1" hangingPunct="1">
              <a:lnSpc>
                <a:spcPct val="90000"/>
              </a:lnSpc>
              <a:buClr>
                <a:schemeClr val="tx1"/>
              </a:buClr>
              <a:buSzTx/>
            </a:pPr>
            <a:r>
              <a:rPr lang="en-US" smtClean="0"/>
              <a:t>Low exposure &amp; Key customer</a:t>
            </a:r>
          </a:p>
          <a:p>
            <a:pPr lvl="2" eaLnBrk="1" hangingPunct="1">
              <a:lnSpc>
                <a:spcPct val="90000"/>
              </a:lnSpc>
              <a:buClr>
                <a:schemeClr val="tx1"/>
              </a:buClr>
              <a:buSzTx/>
            </a:pPr>
            <a:r>
              <a:rPr lang="en-US" sz="2000" smtClean="0"/>
              <a:t>Lebih toleran terhadap pembayaran </a:t>
            </a:r>
          </a:p>
          <a:p>
            <a:pPr lvl="2" eaLnBrk="1" hangingPunct="1">
              <a:lnSpc>
                <a:spcPct val="90000"/>
              </a:lnSpc>
              <a:buClr>
                <a:schemeClr val="tx1"/>
              </a:buClr>
              <a:buSzTx/>
            </a:pPr>
            <a:r>
              <a:rPr lang="en-US" sz="2000" smtClean="0"/>
              <a:t>Mengikuti terms yang diterapkan perusahaan</a:t>
            </a:r>
          </a:p>
          <a:p>
            <a:pPr lvl="1" eaLnBrk="1" hangingPunct="1">
              <a:lnSpc>
                <a:spcPct val="90000"/>
              </a:lnSpc>
              <a:buClr>
                <a:schemeClr val="tx1"/>
              </a:buClr>
              <a:buSzTx/>
            </a:pPr>
            <a:r>
              <a:rPr lang="en-US" smtClean="0"/>
              <a:t>Penting !!!</a:t>
            </a:r>
          </a:p>
          <a:p>
            <a:pPr lvl="2" eaLnBrk="1" hangingPunct="1">
              <a:lnSpc>
                <a:spcPct val="90000"/>
              </a:lnSpc>
              <a:buClr>
                <a:schemeClr val="tx1"/>
              </a:buClr>
              <a:buSzTx/>
            </a:pPr>
            <a:r>
              <a:rPr lang="en-US" sz="2000" smtClean="0"/>
              <a:t>Pemetaan antara buyer dan supplier</a:t>
            </a:r>
          </a:p>
          <a:p>
            <a:pPr lvl="2" eaLnBrk="1" hangingPunct="1">
              <a:lnSpc>
                <a:spcPct val="90000"/>
              </a:lnSpc>
              <a:buClr>
                <a:schemeClr val="tx1"/>
              </a:buClr>
              <a:buSzTx/>
            </a:pPr>
            <a:r>
              <a:rPr lang="en-US" sz="2000" smtClean="0"/>
              <a:t>Perlu kerja sama dengan purchasing</a:t>
            </a:r>
          </a:p>
          <a:p>
            <a:pPr lvl="2" eaLnBrk="1" hangingPunct="1">
              <a:lnSpc>
                <a:spcPct val="90000"/>
              </a:lnSpc>
              <a:buClr>
                <a:schemeClr val="tx1"/>
              </a:buClr>
              <a:buSzTx/>
            </a:pPr>
            <a:r>
              <a:rPr lang="en-US" sz="2000" smtClean="0"/>
              <a:t>Bisa menentukan perusahaan yang dapat ditunda pembayarannya</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a:xfrm>
            <a:off x="495300" y="457200"/>
            <a:ext cx="8915400" cy="762000"/>
          </a:xfrm>
        </p:spPr>
        <p:txBody>
          <a:bodyPr/>
          <a:lstStyle/>
          <a:p>
            <a:pPr eaLnBrk="1" hangingPunct="1"/>
            <a:r>
              <a:rPr lang="en-US" smtClean="0"/>
              <a:t>Prepaid/Down Payment</a:t>
            </a:r>
          </a:p>
        </p:txBody>
      </p:sp>
      <p:sp>
        <p:nvSpPr>
          <p:cNvPr id="86019" name="Rectangle 3"/>
          <p:cNvSpPr>
            <a:spLocks noGrp="1" noChangeArrowheads="1"/>
          </p:cNvSpPr>
          <p:nvPr>
            <p:ph type="body" idx="1"/>
          </p:nvPr>
        </p:nvSpPr>
        <p:spPr>
          <a:xfrm>
            <a:off x="495300" y="1219200"/>
            <a:ext cx="9410700" cy="4876800"/>
          </a:xfrm>
        </p:spPr>
        <p:txBody>
          <a:bodyPr/>
          <a:lstStyle/>
          <a:p>
            <a:pPr eaLnBrk="1" hangingPunct="1">
              <a:lnSpc>
                <a:spcPct val="90000"/>
              </a:lnSpc>
              <a:buClr>
                <a:schemeClr val="tx1"/>
              </a:buClr>
            </a:pPr>
            <a:r>
              <a:rPr lang="en-US" sz="2400" smtClean="0"/>
              <a:t>Uang muka yang disyaratkan atau diminta olen supplier</a:t>
            </a:r>
          </a:p>
          <a:p>
            <a:pPr eaLnBrk="1" hangingPunct="1">
              <a:lnSpc>
                <a:spcPct val="90000"/>
              </a:lnSpc>
              <a:buClr>
                <a:schemeClr val="tx1"/>
              </a:buClr>
            </a:pPr>
            <a:r>
              <a:rPr lang="en-US" sz="2400" smtClean="0"/>
              <a:t>Cenderung akan membebani cashflow</a:t>
            </a:r>
          </a:p>
          <a:p>
            <a:pPr eaLnBrk="1" hangingPunct="1">
              <a:lnSpc>
                <a:spcPct val="90000"/>
              </a:lnSpc>
              <a:buClr>
                <a:schemeClr val="tx1"/>
              </a:buClr>
            </a:pPr>
            <a:r>
              <a:rPr lang="en-US" sz="2400" smtClean="0"/>
              <a:t>Supplier yang monopoli cenderung menerapkan ini</a:t>
            </a:r>
          </a:p>
          <a:p>
            <a:pPr eaLnBrk="1" hangingPunct="1">
              <a:lnSpc>
                <a:spcPct val="90000"/>
              </a:lnSpc>
              <a:buClr>
                <a:schemeClr val="tx1"/>
              </a:buClr>
            </a:pPr>
            <a:r>
              <a:rPr lang="en-US" sz="2400" smtClean="0"/>
              <a:t>Sedapat mungkin mencari supplier yang tidak mensyaratkan DP</a:t>
            </a:r>
          </a:p>
          <a:p>
            <a:pPr eaLnBrk="1" hangingPunct="1">
              <a:lnSpc>
                <a:spcPct val="90000"/>
              </a:lnSpc>
              <a:buClr>
                <a:schemeClr val="tx1"/>
              </a:buClr>
            </a:pPr>
            <a:r>
              <a:rPr lang="en-US" sz="2400" smtClean="0"/>
              <a:t>Perlu diatur dengan SOP yang ketat, proses maupun nominalnya</a:t>
            </a:r>
          </a:p>
          <a:p>
            <a:pPr eaLnBrk="1" hangingPunct="1">
              <a:lnSpc>
                <a:spcPct val="90000"/>
              </a:lnSpc>
              <a:buClr>
                <a:schemeClr val="tx1"/>
              </a:buClr>
            </a:pPr>
            <a:r>
              <a:rPr lang="en-US" sz="2400" smtClean="0"/>
              <a:t>Harus disetujui oleh pejabat yang berwenang</a:t>
            </a:r>
          </a:p>
          <a:p>
            <a:pPr eaLnBrk="1" hangingPunct="1">
              <a:lnSpc>
                <a:spcPct val="90000"/>
              </a:lnSpc>
              <a:buClr>
                <a:schemeClr val="tx1"/>
              </a:buClr>
            </a:pPr>
            <a:r>
              <a:rPr lang="en-US" sz="2400" smtClean="0"/>
              <a:t>DP yang sudah dibayarkan harus dicontrol dengan ketat, untuk menghindari fraud</a:t>
            </a:r>
          </a:p>
          <a:p>
            <a:pPr eaLnBrk="1" hangingPunct="1">
              <a:lnSpc>
                <a:spcPct val="90000"/>
              </a:lnSpc>
              <a:buClr>
                <a:schemeClr val="tx1"/>
              </a:buClr>
            </a:pPr>
            <a:r>
              <a:rPr lang="en-US" sz="2400" smtClean="0"/>
              <a:t>Pelunasan A/P harus dilakukan dengan mengclearing DP</a:t>
            </a:r>
          </a:p>
          <a:p>
            <a:pPr eaLnBrk="1" hangingPunct="1">
              <a:lnSpc>
                <a:spcPct val="90000"/>
              </a:lnSpc>
              <a:buClr>
                <a:schemeClr val="tx1"/>
              </a:buClr>
            </a:pPr>
            <a:r>
              <a:rPr lang="en-US" sz="2400" smtClean="0"/>
              <a:t>DP harus diminta kembali jika terjadi pembatalan pembelian</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ChangeArrowheads="1"/>
          </p:cNvSpPr>
          <p:nvPr>
            <p:ph type="title"/>
          </p:nvPr>
        </p:nvSpPr>
        <p:spPr>
          <a:xfrm>
            <a:off x="495300" y="457200"/>
            <a:ext cx="8915400" cy="990600"/>
          </a:xfrm>
        </p:spPr>
        <p:txBody>
          <a:bodyPr/>
          <a:lstStyle/>
          <a:p>
            <a:pPr algn="r" eaLnBrk="1" hangingPunct="1"/>
            <a:r>
              <a:rPr lang="en-US" b="1" u="sng" smtClean="0"/>
              <a:t>Retur Pembelian</a:t>
            </a:r>
          </a:p>
        </p:txBody>
      </p:sp>
      <p:sp>
        <p:nvSpPr>
          <p:cNvPr id="87043" name="Rectangle 3"/>
          <p:cNvSpPr>
            <a:spLocks noGrp="1" noChangeArrowheads="1"/>
          </p:cNvSpPr>
          <p:nvPr>
            <p:ph type="body" sz="half" idx="1"/>
          </p:nvPr>
        </p:nvSpPr>
        <p:spPr>
          <a:xfrm>
            <a:off x="412750" y="1447800"/>
            <a:ext cx="7512050" cy="5181600"/>
          </a:xfrm>
        </p:spPr>
        <p:txBody>
          <a:bodyPr/>
          <a:lstStyle/>
          <a:p>
            <a:pPr eaLnBrk="1" hangingPunct="1">
              <a:lnSpc>
                <a:spcPct val="80000"/>
              </a:lnSpc>
              <a:buClr>
                <a:schemeClr val="tx1"/>
              </a:buClr>
            </a:pPr>
            <a:r>
              <a:rPr lang="en-US" sz="2400" smtClean="0"/>
              <a:t>Pengembalian barang oleh perusahaan kepada supplier</a:t>
            </a:r>
          </a:p>
          <a:p>
            <a:pPr eaLnBrk="1" hangingPunct="1">
              <a:lnSpc>
                <a:spcPct val="80000"/>
              </a:lnSpc>
              <a:buClr>
                <a:schemeClr val="tx1"/>
              </a:buClr>
            </a:pPr>
            <a:r>
              <a:rPr lang="en-US" sz="2400" smtClean="0"/>
              <a:t>Disebabkan oleh reject, kadaluarsa atau kesalahan spesifikasi</a:t>
            </a:r>
          </a:p>
          <a:p>
            <a:pPr eaLnBrk="1" hangingPunct="1">
              <a:lnSpc>
                <a:spcPct val="80000"/>
              </a:lnSpc>
              <a:buClr>
                <a:schemeClr val="tx1"/>
              </a:buClr>
            </a:pPr>
            <a:r>
              <a:rPr lang="en-US" sz="2400" smtClean="0"/>
              <a:t>Dapat terjadi sebelum dan sesudah pembayaran</a:t>
            </a:r>
          </a:p>
          <a:p>
            <a:pPr eaLnBrk="1" hangingPunct="1">
              <a:lnSpc>
                <a:spcPct val="80000"/>
              </a:lnSpc>
              <a:buClr>
                <a:schemeClr val="tx1"/>
              </a:buClr>
            </a:pPr>
            <a:r>
              <a:rPr lang="en-US" sz="2400" smtClean="0"/>
              <a:t>Sebelum pembayaran : Tagihan supplier harus sudah mencerminkan retur</a:t>
            </a:r>
          </a:p>
          <a:p>
            <a:pPr eaLnBrk="1" hangingPunct="1">
              <a:lnSpc>
                <a:spcPct val="80000"/>
              </a:lnSpc>
              <a:buClr>
                <a:schemeClr val="tx1"/>
              </a:buClr>
            </a:pPr>
            <a:r>
              <a:rPr lang="en-US" sz="2400" smtClean="0"/>
              <a:t>Sesudah pembayaran : lakukan debit memo atau potong invoice berikutnya</a:t>
            </a:r>
          </a:p>
          <a:p>
            <a:pPr eaLnBrk="1" hangingPunct="1">
              <a:lnSpc>
                <a:spcPct val="80000"/>
              </a:lnSpc>
              <a:buClr>
                <a:schemeClr val="tx1"/>
              </a:buClr>
            </a:pPr>
            <a:r>
              <a:rPr lang="en-US" sz="2400" smtClean="0"/>
              <a:t>Dapat pula dengan tukar guling : tidak berpengaruh pada tagihan</a:t>
            </a:r>
          </a:p>
          <a:p>
            <a:pPr eaLnBrk="1" hangingPunct="1">
              <a:lnSpc>
                <a:spcPct val="80000"/>
              </a:lnSpc>
              <a:buClr>
                <a:schemeClr val="tx1"/>
              </a:buClr>
            </a:pPr>
            <a:r>
              <a:rPr lang="en-US" sz="2400" smtClean="0"/>
              <a:t>Administrasi retur harus dikontrol oleh pejabat yang berwenang</a:t>
            </a:r>
          </a:p>
          <a:p>
            <a:pPr eaLnBrk="1" hangingPunct="1">
              <a:lnSpc>
                <a:spcPct val="80000"/>
              </a:lnSpc>
              <a:buClr>
                <a:schemeClr val="tx1"/>
              </a:buClr>
            </a:pPr>
            <a:r>
              <a:rPr lang="en-US" sz="2400" smtClean="0"/>
              <a:t>Ada register administrasi retur</a:t>
            </a:r>
          </a:p>
        </p:txBody>
      </p:sp>
      <p:pic>
        <p:nvPicPr>
          <p:cNvPr id="87044" name="Picture 4" descr="g0106472"/>
          <p:cNvPicPr>
            <a:picLocks noGrp="1" noChangeAspect="1" noChangeArrowheads="1"/>
          </p:cNvPicPr>
          <p:nvPr>
            <p:ph sz="half" idx="2"/>
          </p:nvPr>
        </p:nvPicPr>
        <p:blipFill>
          <a:blip r:embed="rId3"/>
          <a:srcRect/>
          <a:stretch>
            <a:fillRect/>
          </a:stretch>
        </p:blipFill>
        <p:spPr>
          <a:xfrm>
            <a:off x="7924800" y="1066800"/>
            <a:ext cx="1733550" cy="4724400"/>
          </a:xfrm>
          <a:noFill/>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lstStyle/>
          <a:p>
            <a:r>
              <a:rPr lang="en-US" smtClean="0"/>
              <a:t>Penentuan Utang Jangka Pendek</a:t>
            </a:r>
          </a:p>
        </p:txBody>
      </p:sp>
      <p:sp>
        <p:nvSpPr>
          <p:cNvPr id="88067" name="Rectangle 3"/>
          <p:cNvSpPr>
            <a:spLocks noGrp="1" noChangeArrowheads="1"/>
          </p:cNvSpPr>
          <p:nvPr>
            <p:ph type="body" idx="1"/>
          </p:nvPr>
        </p:nvSpPr>
        <p:spPr/>
        <p:txBody>
          <a:bodyPr/>
          <a:lstStyle/>
          <a:p>
            <a:pPr marL="609600" indent="-609600">
              <a:lnSpc>
                <a:spcPct val="90000"/>
              </a:lnSpc>
              <a:buFontTx/>
              <a:buAutoNum type="arabicPeriod"/>
            </a:pPr>
            <a:r>
              <a:rPr lang="en-US" sz="2800" smtClean="0"/>
              <a:t>Satu tahun</a:t>
            </a:r>
          </a:p>
          <a:p>
            <a:pPr marL="609600" indent="-609600">
              <a:lnSpc>
                <a:spcPct val="90000"/>
              </a:lnSpc>
              <a:buFontTx/>
              <a:buAutoNum type="arabicPeriod"/>
            </a:pPr>
            <a:r>
              <a:rPr lang="en-US" sz="2800" smtClean="0"/>
              <a:t>Satu siklus usaha</a:t>
            </a:r>
          </a:p>
          <a:p>
            <a:pPr marL="609600" indent="-609600">
              <a:lnSpc>
                <a:spcPct val="90000"/>
              </a:lnSpc>
              <a:buFontTx/>
              <a:buAutoNum type="arabicPeriod"/>
            </a:pPr>
            <a:r>
              <a:rPr lang="en-US" sz="2800" i="1" smtClean="0"/>
              <a:t>Suatu kewajiban akan dikelompokkan sebagai utang jangka pendek apabila pelunasannya akan dilakukan dengan menggunakan sumber-sumber aktiva lancar atau dengan menimbulkan utang jangka pendek baru</a:t>
            </a:r>
            <a:r>
              <a:rPr lang="en-US" sz="2800" smtClean="0"/>
              <a:t> </a:t>
            </a:r>
          </a:p>
          <a:p>
            <a:pPr marL="609600" indent="-609600">
              <a:lnSpc>
                <a:spcPct val="90000"/>
              </a:lnSpc>
              <a:buFont typeface="Wingdings" pitchFamily="2" charset="2"/>
              <a:buNone/>
            </a:pPr>
            <a:endParaRPr lang="en-US" sz="2800" smtClean="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ChangeArrowheads="1"/>
          </p:cNvSpPr>
          <p:nvPr>
            <p:ph type="title"/>
          </p:nvPr>
        </p:nvSpPr>
        <p:spPr/>
        <p:txBody>
          <a:bodyPr/>
          <a:lstStyle/>
          <a:p>
            <a:r>
              <a:rPr lang="en-US" smtClean="0"/>
              <a:t>Pembagian Utang Jangka Pendek</a:t>
            </a:r>
          </a:p>
        </p:txBody>
      </p:sp>
      <p:sp>
        <p:nvSpPr>
          <p:cNvPr id="89091" name="Rectangle 3"/>
          <p:cNvSpPr>
            <a:spLocks noGrp="1" noChangeArrowheads="1"/>
          </p:cNvSpPr>
          <p:nvPr>
            <p:ph type="body" idx="1"/>
          </p:nvPr>
        </p:nvSpPr>
        <p:spPr/>
        <p:txBody>
          <a:bodyPr/>
          <a:lstStyle/>
          <a:p>
            <a:pPr marL="609600" indent="-609600">
              <a:buFontTx/>
              <a:buAutoNum type="arabicPeriod"/>
            </a:pPr>
            <a:r>
              <a:rPr lang="en-US" smtClean="0"/>
              <a:t>Utang jangka pendek yang jumlahnya dapat diketahui dengan pasti</a:t>
            </a:r>
          </a:p>
          <a:p>
            <a:pPr marL="609600" indent="-609600">
              <a:buFontTx/>
              <a:buAutoNum type="arabicPeriod"/>
            </a:pPr>
            <a:r>
              <a:rPr lang="en-US" smtClean="0"/>
              <a:t>Utang jangka pendek yang jumlahnya belum dapat ditetapkan</a:t>
            </a:r>
          </a:p>
          <a:p>
            <a:pPr marL="609600" indent="-609600">
              <a:buFontTx/>
              <a:buAutoNum type="arabicPeriod"/>
            </a:pPr>
            <a:r>
              <a:rPr lang="en-US" smtClean="0"/>
              <a:t>Utang-utang bersyarat</a:t>
            </a:r>
          </a:p>
          <a:p>
            <a:pPr marL="609600" indent="-609600">
              <a:buFont typeface="Wingdings" pitchFamily="2" charset="2"/>
              <a:buNone/>
            </a:pPr>
            <a:endParaRPr lang="en-US" smtClean="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ChangeArrowheads="1"/>
          </p:cNvSpPr>
          <p:nvPr>
            <p:ph type="title"/>
          </p:nvPr>
        </p:nvSpPr>
        <p:spPr/>
        <p:txBody>
          <a:bodyPr/>
          <a:lstStyle/>
          <a:p>
            <a:r>
              <a:rPr lang="en-US" sz="3200" smtClean="0"/>
              <a:t>Utang Jangka Pendek yang Sudah Pasti</a:t>
            </a:r>
          </a:p>
        </p:txBody>
      </p:sp>
      <p:sp>
        <p:nvSpPr>
          <p:cNvPr id="90115" name="Rectangle 3"/>
          <p:cNvSpPr>
            <a:spLocks noGrp="1" noChangeArrowheads="1"/>
          </p:cNvSpPr>
          <p:nvPr>
            <p:ph type="body" idx="1"/>
          </p:nvPr>
        </p:nvSpPr>
        <p:spPr/>
        <p:txBody>
          <a:bodyPr/>
          <a:lstStyle/>
          <a:p>
            <a:pPr marL="609600" indent="-609600">
              <a:buFontTx/>
              <a:buAutoNum type="arabicPeriod"/>
            </a:pPr>
            <a:r>
              <a:rPr lang="en-US" sz="2800" smtClean="0"/>
              <a:t>Jatuh tempo telah ditentukan</a:t>
            </a:r>
          </a:p>
          <a:p>
            <a:pPr marL="609600" indent="-609600">
              <a:buFontTx/>
              <a:buAutoNum type="arabicPeriod"/>
            </a:pPr>
            <a:r>
              <a:rPr lang="en-US" sz="2800" smtClean="0"/>
              <a:t>Jumlah yang harus dibayar telah diketahui</a:t>
            </a:r>
          </a:p>
          <a:p>
            <a:pPr marL="609600" indent="-609600">
              <a:buFontTx/>
              <a:buNone/>
            </a:pPr>
            <a:endParaRPr lang="en-US" sz="2800" smtClean="0"/>
          </a:p>
          <a:p>
            <a:pPr marL="609600" indent="-609600">
              <a:buFontTx/>
              <a:buNone/>
            </a:pPr>
            <a:r>
              <a:rPr lang="en-US" sz="2800" smtClean="0"/>
              <a:t>Misalnya: utang dagang, utang wesel, utang jangka panjang yang jatuh tempo dalam periode berjalan, Utang dividen, Uang muka, dana yang dikumpulkan untuk pihak ketiga, utang beban, pendapatan diterima di muka</a:t>
            </a:r>
          </a:p>
          <a:p>
            <a:pPr marL="609600" indent="-609600">
              <a:buFont typeface="Wingdings" pitchFamily="2" charset="2"/>
              <a:buNone/>
            </a:pPr>
            <a:endParaRPr lang="en-US" sz="2800" smtClean="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title"/>
          </p:nvPr>
        </p:nvSpPr>
        <p:spPr/>
        <p:txBody>
          <a:bodyPr/>
          <a:lstStyle/>
          <a:p>
            <a:r>
              <a:rPr lang="en-US" smtClean="0"/>
              <a:t>Hutang dagang</a:t>
            </a:r>
          </a:p>
        </p:txBody>
      </p:sp>
      <p:sp>
        <p:nvSpPr>
          <p:cNvPr id="91139" name="Rectangle 3"/>
          <p:cNvSpPr>
            <a:spLocks noGrp="1" noChangeArrowheads="1"/>
          </p:cNvSpPr>
          <p:nvPr>
            <p:ph type="body" idx="1"/>
          </p:nvPr>
        </p:nvSpPr>
        <p:spPr/>
        <p:txBody>
          <a:bodyPr/>
          <a:lstStyle/>
          <a:p>
            <a:r>
              <a:rPr lang="en-US" smtClean="0"/>
              <a:t>Timbul dari pembelian barang atau jasa untuk menunjang usaha utama perusahaan </a:t>
            </a:r>
          </a:p>
          <a:p>
            <a:r>
              <a:rPr lang="en-US" smtClean="0"/>
              <a:t>Termasuk juga barang yang sedang dikirim (apabila TOS nya FOB Shipping point)</a:t>
            </a:r>
          </a:p>
          <a:p>
            <a:endParaRPr lang="en-US" smtClean="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type="title"/>
          </p:nvPr>
        </p:nvSpPr>
        <p:spPr/>
        <p:txBody>
          <a:bodyPr/>
          <a:lstStyle/>
          <a:p>
            <a:r>
              <a:rPr lang="en-US" sz="4000" smtClean="0"/>
              <a:t>Utang Jangka Panjang yang Jatuh Tempo dalam Periode Itu</a:t>
            </a:r>
          </a:p>
        </p:txBody>
      </p:sp>
      <p:sp>
        <p:nvSpPr>
          <p:cNvPr id="92163" name="Rectangle 3"/>
          <p:cNvSpPr>
            <a:spLocks noGrp="1" noChangeArrowheads="1"/>
          </p:cNvSpPr>
          <p:nvPr>
            <p:ph type="body" idx="1"/>
          </p:nvPr>
        </p:nvSpPr>
        <p:spPr/>
        <p:txBody>
          <a:bodyPr/>
          <a:lstStyle/>
          <a:p>
            <a:r>
              <a:rPr lang="en-US" sz="2800" smtClean="0"/>
              <a:t>Apabila utang jangka panjang yang jatuh tempo dalam periode itu akan dilunasi dengan kas atau piutang atau aktiva lancar lainnya maka termasuk </a:t>
            </a:r>
            <a:r>
              <a:rPr lang="en-US" sz="2800" b="1" smtClean="0"/>
              <a:t>Utang Lancar. </a:t>
            </a:r>
          </a:p>
          <a:p>
            <a:r>
              <a:rPr lang="en-US" sz="2800" smtClean="0"/>
              <a:t>Apabila utang jangka panjang yang jatuh tempo dalam periode itu akan dilunasi dengan Obligasi atau Saham atau Utang Jangka Panjang lainnya maka termasuk </a:t>
            </a:r>
            <a:r>
              <a:rPr lang="en-US" sz="2800" b="1" smtClean="0"/>
              <a:t>Utang Jangka Panjang. </a:t>
            </a:r>
          </a:p>
          <a:p>
            <a:pPr>
              <a:buFont typeface="Wingdings" pitchFamily="2" charset="2"/>
              <a:buNone/>
            </a:pPr>
            <a:endParaRPr lang="en-US" sz="2800" smtClean="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title"/>
          </p:nvPr>
        </p:nvSpPr>
        <p:spPr/>
        <p:txBody>
          <a:bodyPr/>
          <a:lstStyle/>
          <a:p>
            <a:r>
              <a:rPr lang="en-US" smtClean="0"/>
              <a:t>Utang Dividen</a:t>
            </a:r>
          </a:p>
        </p:txBody>
      </p:sp>
      <p:sp>
        <p:nvSpPr>
          <p:cNvPr id="93187" name="Rectangle 3"/>
          <p:cNvSpPr>
            <a:spLocks noGrp="1" noChangeArrowheads="1"/>
          </p:cNvSpPr>
          <p:nvPr>
            <p:ph type="body" idx="1"/>
          </p:nvPr>
        </p:nvSpPr>
        <p:spPr/>
        <p:txBody>
          <a:bodyPr/>
          <a:lstStyle/>
          <a:p>
            <a:r>
              <a:rPr lang="en-US" smtClean="0"/>
              <a:t>Utang Dividen timbul pada saat pengumuman pembagian dividen oleh Rapat Pemegang Saham dan terutang sampai tanggal pembayaran</a:t>
            </a:r>
          </a:p>
          <a:p>
            <a:r>
              <a:rPr lang="en-US" smtClean="0"/>
              <a:t>Utang Dividen dicatat</a:t>
            </a:r>
          </a:p>
          <a:p>
            <a:pPr lvl="1">
              <a:buFont typeface="Wingdings" pitchFamily="2" charset="2"/>
              <a:buNone/>
            </a:pPr>
            <a:r>
              <a:rPr lang="en-US" smtClean="0"/>
              <a:t>Dr Laba ditahan		xxxxx</a:t>
            </a:r>
          </a:p>
          <a:p>
            <a:pPr lvl="3">
              <a:buFont typeface="Wingdings" pitchFamily="2" charset="2"/>
              <a:buNone/>
            </a:pPr>
            <a:r>
              <a:rPr lang="en-US" sz="2800" smtClean="0"/>
              <a:t>Cr Utang Dividen</a:t>
            </a:r>
            <a:r>
              <a:rPr lang="en-US" smtClean="0"/>
              <a:t> 		</a:t>
            </a:r>
            <a:r>
              <a:rPr lang="en-US" sz="2800" smtClean="0"/>
              <a:t>xxxxx</a:t>
            </a:r>
          </a:p>
          <a:p>
            <a:pPr>
              <a:buFont typeface="Wingdings" pitchFamily="2" charset="2"/>
              <a:buNone/>
            </a:pPr>
            <a:endParaRPr lang="en-US" smtClean="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p:txBody>
          <a:bodyPr/>
          <a:lstStyle/>
          <a:p>
            <a:r>
              <a:rPr lang="en-US" sz="4000" smtClean="0"/>
              <a:t>Uang Muka dan Pendapatan diterima dimuka</a:t>
            </a:r>
          </a:p>
        </p:txBody>
      </p:sp>
      <p:sp>
        <p:nvSpPr>
          <p:cNvPr id="94211" name="Rectangle 3"/>
          <p:cNvSpPr>
            <a:spLocks noGrp="1" noChangeArrowheads="1"/>
          </p:cNvSpPr>
          <p:nvPr>
            <p:ph type="body" idx="1"/>
          </p:nvPr>
        </p:nvSpPr>
        <p:spPr/>
        <p:txBody>
          <a:bodyPr/>
          <a:lstStyle/>
          <a:p>
            <a:pPr>
              <a:lnSpc>
                <a:spcPct val="90000"/>
              </a:lnSpc>
            </a:pPr>
            <a:r>
              <a:rPr lang="en-US" sz="2800" smtClean="0"/>
              <a:t>Uang Muka adalah pembayaran dimuka dari pembeli / </a:t>
            </a:r>
            <a:r>
              <a:rPr lang="en-US" sz="2800" i="1" smtClean="0"/>
              <a:t>customer </a:t>
            </a:r>
            <a:r>
              <a:rPr lang="en-US" sz="2800" smtClean="0"/>
              <a:t>untuk barang-barang atau jasa yang dipesan. </a:t>
            </a:r>
          </a:p>
          <a:p>
            <a:pPr>
              <a:lnSpc>
                <a:spcPct val="90000"/>
              </a:lnSpc>
            </a:pPr>
            <a:r>
              <a:rPr lang="en-US" sz="2800" smtClean="0"/>
              <a:t>Uang Jaminan Pembelian yang dibayarkan oleh pembeli/</a:t>
            </a:r>
            <a:r>
              <a:rPr lang="en-US" sz="2800" i="1" smtClean="0"/>
              <a:t>customer</a:t>
            </a:r>
            <a:r>
              <a:rPr lang="en-US" sz="2800" smtClean="0"/>
              <a:t> adalah Utang, jika jaminan tersebut dapat ditarik kembali (</a:t>
            </a:r>
            <a:r>
              <a:rPr lang="en-US" sz="2800" i="1" smtClean="0"/>
              <a:t>refundable</a:t>
            </a:r>
            <a:r>
              <a:rPr lang="en-US" sz="2800" smtClean="0"/>
              <a:t>) sewaktu-waktu. </a:t>
            </a:r>
          </a:p>
          <a:p>
            <a:pPr>
              <a:lnSpc>
                <a:spcPct val="90000"/>
              </a:lnSpc>
            </a:pPr>
            <a:r>
              <a:rPr lang="en-US" sz="2800" smtClean="0"/>
              <a:t>Pendapatan diterima dimuka diakui sebagai utang, sampai dengan penyerahan barang atau jasa</a:t>
            </a:r>
          </a:p>
          <a:p>
            <a:pPr>
              <a:lnSpc>
                <a:spcPct val="90000"/>
              </a:lnSpc>
              <a:buFont typeface="Wingdings" pitchFamily="2" charset="2"/>
              <a:buNone/>
            </a:pPr>
            <a:endParaRPr lang="en-US" sz="2800" smtClean="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ChangeArrowheads="1"/>
          </p:cNvSpPr>
          <p:nvPr>
            <p:ph type="title"/>
          </p:nvPr>
        </p:nvSpPr>
        <p:spPr/>
        <p:txBody>
          <a:bodyPr/>
          <a:lstStyle/>
          <a:p>
            <a:r>
              <a:rPr lang="en-US" sz="4000" smtClean="0"/>
              <a:t>Dana yang dikumpulkan Untuk Pihak Ketiga</a:t>
            </a:r>
          </a:p>
        </p:txBody>
      </p:sp>
      <p:sp>
        <p:nvSpPr>
          <p:cNvPr id="95235" name="Rectangle 3"/>
          <p:cNvSpPr>
            <a:spLocks noGrp="1" noChangeArrowheads="1"/>
          </p:cNvSpPr>
          <p:nvPr>
            <p:ph type="body" idx="1"/>
          </p:nvPr>
        </p:nvSpPr>
        <p:spPr/>
        <p:txBody>
          <a:bodyPr/>
          <a:lstStyle/>
          <a:p>
            <a:pPr>
              <a:lnSpc>
                <a:spcPct val="90000"/>
              </a:lnSpc>
            </a:pPr>
            <a:r>
              <a:rPr lang="en-US" sz="2800" smtClean="0"/>
              <a:t>Dana yang ditarik dari pegawai/pembeli untuk selanjutnya diserahkan ke pihak ketiga (contohnya diserahkan ke pemerintah)</a:t>
            </a:r>
          </a:p>
          <a:p>
            <a:pPr>
              <a:lnSpc>
                <a:spcPct val="90000"/>
              </a:lnSpc>
            </a:pPr>
            <a:r>
              <a:rPr lang="en-US" sz="2400" smtClean="0"/>
              <a:t>Dr Gaji dan upah	      Rp1.200.000</a:t>
            </a:r>
          </a:p>
          <a:p>
            <a:pPr lvl="1">
              <a:lnSpc>
                <a:spcPct val="90000"/>
              </a:lnSpc>
              <a:buFont typeface="Wingdings" pitchFamily="2" charset="2"/>
              <a:buNone/>
            </a:pPr>
            <a:r>
              <a:rPr lang="en-US" sz="2400" smtClean="0"/>
              <a:t>     Cr Kas				   Rp.1.020.000</a:t>
            </a:r>
          </a:p>
          <a:p>
            <a:pPr lvl="1">
              <a:lnSpc>
                <a:spcPct val="90000"/>
              </a:lnSpc>
              <a:buFont typeface="Wingdings" pitchFamily="2" charset="2"/>
              <a:buNone/>
            </a:pPr>
            <a:r>
              <a:rPr lang="en-US" sz="2400" smtClean="0"/>
              <a:t>     Cr Utang PPH 			   Rp.   180.000</a:t>
            </a:r>
          </a:p>
          <a:p>
            <a:pPr>
              <a:lnSpc>
                <a:spcPct val="90000"/>
              </a:lnSpc>
            </a:pPr>
            <a:r>
              <a:rPr lang="en-US" sz="2400" smtClean="0"/>
              <a:t>Dr Piutang 	       Rp11.000.000</a:t>
            </a:r>
          </a:p>
          <a:p>
            <a:pPr lvl="1">
              <a:lnSpc>
                <a:spcPct val="90000"/>
              </a:lnSpc>
              <a:buFont typeface="Wingdings" pitchFamily="2" charset="2"/>
              <a:buNone/>
            </a:pPr>
            <a:r>
              <a:rPr lang="en-US" sz="2400" smtClean="0"/>
              <a:t>     Cr Penjualan			   Rp.10.000.000</a:t>
            </a:r>
          </a:p>
          <a:p>
            <a:pPr lvl="1">
              <a:lnSpc>
                <a:spcPct val="90000"/>
              </a:lnSpc>
              <a:buFont typeface="Wingdings" pitchFamily="2" charset="2"/>
              <a:buNone/>
            </a:pPr>
            <a:r>
              <a:rPr lang="en-US" sz="2400" smtClean="0"/>
              <a:t>     Cr Utang PPN keluaran         Rp.  1.000.000 </a:t>
            </a:r>
          </a:p>
          <a:p>
            <a:pPr>
              <a:lnSpc>
                <a:spcPct val="90000"/>
              </a:lnSpc>
              <a:buFont typeface="Wingdings" pitchFamily="2" charset="2"/>
              <a:buNone/>
            </a:pPr>
            <a:endParaRPr lang="en-US" sz="2800" smtClean="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ChangeArrowheads="1"/>
          </p:cNvSpPr>
          <p:nvPr>
            <p:ph type="title"/>
          </p:nvPr>
        </p:nvSpPr>
        <p:spPr/>
        <p:txBody>
          <a:bodyPr/>
          <a:lstStyle/>
          <a:p>
            <a:r>
              <a:rPr lang="en-US" sz="4000" smtClean="0"/>
              <a:t>Utang Beban (Biaya yang masih harus dibayar)</a:t>
            </a:r>
          </a:p>
        </p:txBody>
      </p:sp>
      <p:sp>
        <p:nvSpPr>
          <p:cNvPr id="96259" name="Rectangle 3"/>
          <p:cNvSpPr>
            <a:spLocks noGrp="1" noChangeArrowheads="1"/>
          </p:cNvSpPr>
          <p:nvPr>
            <p:ph type="body" idx="1"/>
          </p:nvPr>
        </p:nvSpPr>
        <p:spPr/>
        <p:txBody>
          <a:bodyPr/>
          <a:lstStyle/>
          <a:p>
            <a:r>
              <a:rPr lang="en-US" sz="3600" smtClean="0"/>
              <a:t>Utang bonus</a:t>
            </a:r>
          </a:p>
          <a:p>
            <a:pPr lvl="1"/>
            <a:r>
              <a:rPr lang="en-US" smtClean="0"/>
              <a:t>Dari % laba sebelum dikurangi bonus dan PPH</a:t>
            </a:r>
          </a:p>
          <a:p>
            <a:pPr lvl="1"/>
            <a:r>
              <a:rPr lang="en-US" smtClean="0"/>
              <a:t>Dari % laba sesudah dikurangi PPH</a:t>
            </a:r>
          </a:p>
          <a:p>
            <a:pPr lvl="1"/>
            <a:r>
              <a:rPr lang="en-US" smtClean="0"/>
              <a:t>Dari % laba sesudah dikurangi dan PPH</a:t>
            </a:r>
          </a:p>
          <a:p>
            <a:r>
              <a:rPr lang="en-US" sz="3600" smtClean="0"/>
              <a:t>Utang gaji dan upah</a:t>
            </a:r>
          </a:p>
          <a:p>
            <a:r>
              <a:rPr lang="en-US" sz="3600" smtClean="0"/>
              <a:t>Utang bunga, sewa dan lainnya</a:t>
            </a:r>
          </a:p>
          <a:p>
            <a:pPr>
              <a:buFont typeface="Wingdings" pitchFamily="2" charset="2"/>
              <a:buNone/>
            </a:pPr>
            <a:endParaRPr lang="en-US" smtClean="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ChangeArrowheads="1"/>
          </p:cNvSpPr>
          <p:nvPr>
            <p:ph type="title"/>
          </p:nvPr>
        </p:nvSpPr>
        <p:spPr/>
        <p:txBody>
          <a:bodyPr/>
          <a:lstStyle/>
          <a:p>
            <a:r>
              <a:rPr lang="en-US" smtClean="0"/>
              <a:t>Taksiran Utang</a:t>
            </a:r>
          </a:p>
        </p:txBody>
      </p:sp>
      <p:sp>
        <p:nvSpPr>
          <p:cNvPr id="97283" name="Rectangle 3"/>
          <p:cNvSpPr>
            <a:spLocks noGrp="1" noChangeArrowheads="1"/>
          </p:cNvSpPr>
          <p:nvPr>
            <p:ph type="body" idx="1"/>
          </p:nvPr>
        </p:nvSpPr>
        <p:spPr/>
        <p:txBody>
          <a:bodyPr/>
          <a:lstStyle/>
          <a:p>
            <a:pPr>
              <a:lnSpc>
                <a:spcPct val="90000"/>
              </a:lnSpc>
              <a:buFont typeface="Wingdings" pitchFamily="2" charset="2"/>
              <a:buNone/>
            </a:pPr>
            <a:r>
              <a:rPr lang="en-US" sz="2400" smtClean="0"/>
              <a:t>Taksiran utang ini mungkin dikelompokkan sebagai utang jangka pendek atau jangka panjang, tergantung pada saat pelunasan utang tersebut. Jika pelunasannya segera, maka dikelompokkan sebgai utang jangka pendek, tetapi jika pelunasasnnya akan dilakukan beberapa periode yang akan datang maka dikelompokkan sebgai utang jangka panjang</a:t>
            </a:r>
          </a:p>
          <a:p>
            <a:pPr>
              <a:lnSpc>
                <a:spcPct val="90000"/>
              </a:lnSpc>
            </a:pPr>
            <a:r>
              <a:rPr lang="en-US" sz="2400" smtClean="0"/>
              <a:t>Taksiran Utang Pajak penghasilan </a:t>
            </a:r>
          </a:p>
          <a:p>
            <a:pPr>
              <a:lnSpc>
                <a:spcPct val="90000"/>
              </a:lnSpc>
            </a:pPr>
            <a:r>
              <a:rPr lang="en-US" sz="2400" smtClean="0"/>
              <a:t>Taksiran Utang Garansi </a:t>
            </a:r>
          </a:p>
          <a:p>
            <a:pPr>
              <a:lnSpc>
                <a:spcPct val="90000"/>
              </a:lnSpc>
            </a:pPr>
            <a:r>
              <a:rPr lang="en-US" sz="2400" smtClean="0"/>
              <a:t>Taksiran Utang Hadiah yang beredar</a:t>
            </a:r>
          </a:p>
          <a:p>
            <a:pPr>
              <a:lnSpc>
                <a:spcPct val="90000"/>
              </a:lnSpc>
            </a:pPr>
            <a:r>
              <a:rPr lang="en-US" sz="2400" smtClean="0"/>
              <a:t>Taksiran Utang Pensiun (Utang Jangka Panjang)</a:t>
            </a:r>
          </a:p>
          <a:p>
            <a:pPr>
              <a:lnSpc>
                <a:spcPct val="90000"/>
              </a:lnSpc>
              <a:buFont typeface="Wingdings" pitchFamily="2" charset="2"/>
              <a:buNone/>
            </a:pPr>
            <a:endParaRPr lang="en-US" sz="2400" smtClean="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ChangeArrowheads="1"/>
          </p:cNvSpPr>
          <p:nvPr>
            <p:ph type="title"/>
          </p:nvPr>
        </p:nvSpPr>
        <p:spPr/>
        <p:txBody>
          <a:bodyPr/>
          <a:lstStyle/>
          <a:p>
            <a:r>
              <a:rPr lang="en-US" sz="4000" smtClean="0"/>
              <a:t>Utang-Utang Bersyarat (Contigent Liabilities)</a:t>
            </a:r>
          </a:p>
        </p:txBody>
      </p:sp>
      <p:sp>
        <p:nvSpPr>
          <p:cNvPr id="98307" name="Rectangle 3"/>
          <p:cNvSpPr>
            <a:spLocks noGrp="1" noChangeArrowheads="1"/>
          </p:cNvSpPr>
          <p:nvPr>
            <p:ph type="body" idx="1"/>
          </p:nvPr>
        </p:nvSpPr>
        <p:spPr/>
        <p:txBody>
          <a:bodyPr/>
          <a:lstStyle/>
          <a:p>
            <a:r>
              <a:rPr lang="en-US" smtClean="0"/>
              <a:t>Sengketa hukum</a:t>
            </a:r>
          </a:p>
          <a:p>
            <a:r>
              <a:rPr lang="en-US" smtClean="0"/>
              <a:t>Jaminan terhadap utang anak perusahaan</a:t>
            </a:r>
          </a:p>
          <a:p>
            <a:r>
              <a:rPr lang="en-US" smtClean="0"/>
              <a:t>Piutang wesel didiskontokan dan piutang dijaminkan</a:t>
            </a:r>
          </a:p>
          <a:p>
            <a:r>
              <a:rPr lang="en-US" smtClean="0"/>
              <a:t>Garansi terhadap penurunan harga barang-barang yang dijual</a:t>
            </a:r>
          </a:p>
          <a:p>
            <a:pPr>
              <a:buFont typeface="Wingdings" pitchFamily="2" charset="2"/>
              <a:buNone/>
            </a:pPr>
            <a:endParaRPr lang="en-US" smtClean="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9330" name="Picture 2" descr="g0902043"/>
          <p:cNvPicPr>
            <a:picLocks noChangeAspect="1" noChangeArrowheads="1"/>
          </p:cNvPicPr>
          <p:nvPr/>
        </p:nvPicPr>
        <p:blipFill>
          <a:blip r:embed="rId3"/>
          <a:srcRect/>
          <a:stretch>
            <a:fillRect/>
          </a:stretch>
        </p:blipFill>
        <p:spPr bwMode="auto">
          <a:xfrm>
            <a:off x="7010400" y="5045075"/>
            <a:ext cx="2641600" cy="1812925"/>
          </a:xfrm>
          <a:prstGeom prst="rect">
            <a:avLst/>
          </a:prstGeom>
          <a:noFill/>
          <a:ln w="9525">
            <a:noFill/>
            <a:miter lim="800000"/>
            <a:headEnd/>
            <a:tailEnd/>
          </a:ln>
        </p:spPr>
      </p:pic>
      <p:sp>
        <p:nvSpPr>
          <p:cNvPr id="99331" name="Rectangle 3"/>
          <p:cNvSpPr>
            <a:spLocks noGrp="1" noChangeArrowheads="1"/>
          </p:cNvSpPr>
          <p:nvPr>
            <p:ph type="ctrTitle"/>
          </p:nvPr>
        </p:nvSpPr>
        <p:spPr>
          <a:xfrm>
            <a:off x="412750" y="1676400"/>
            <a:ext cx="9080500" cy="1828800"/>
          </a:xfrm>
        </p:spPr>
        <p:txBody>
          <a:bodyPr/>
          <a:lstStyle/>
          <a:p>
            <a:pPr algn="r" eaLnBrk="1" hangingPunct="1"/>
            <a:r>
              <a:rPr lang="en-US" sz="3600" b="1" smtClean="0"/>
              <a:t>PENGARUH ACCOUNTS PAYABLE</a:t>
            </a:r>
            <a:r>
              <a:rPr lang="en-US" sz="4000" b="1" smtClean="0"/>
              <a:t> </a:t>
            </a:r>
            <a:br>
              <a:rPr lang="en-US" sz="4000" b="1" smtClean="0"/>
            </a:br>
            <a:r>
              <a:rPr lang="en-US" sz="4000" b="1" smtClean="0"/>
              <a:t>TERHADAP CASH FLOW</a:t>
            </a:r>
          </a:p>
        </p:txBody>
      </p:sp>
      <p:sp>
        <p:nvSpPr>
          <p:cNvPr id="99332" name="Rectangle 4"/>
          <p:cNvSpPr>
            <a:spLocks noGrp="1" noChangeArrowheads="1"/>
          </p:cNvSpPr>
          <p:nvPr>
            <p:ph type="subTitle" idx="1"/>
          </p:nvPr>
        </p:nvSpPr>
        <p:spPr>
          <a:xfrm>
            <a:off x="660400" y="3886200"/>
            <a:ext cx="8915400" cy="1752600"/>
          </a:xfrm>
        </p:spPr>
        <p:txBody>
          <a:bodyPr/>
          <a:lstStyle/>
          <a:p>
            <a:pPr marL="565150" indent="-565150" algn="l" eaLnBrk="1" hangingPunct="1">
              <a:buClr>
                <a:schemeClr val="tx1"/>
              </a:buClr>
              <a:buFont typeface="Wingdings" pitchFamily="2" charset="2"/>
              <a:buChar char="n"/>
            </a:pPr>
            <a:r>
              <a:rPr lang="en-US" sz="3000" smtClean="0"/>
              <a:t>Operating Cycle Cash</a:t>
            </a:r>
          </a:p>
          <a:p>
            <a:pPr marL="565150" indent="-565150" algn="l" eaLnBrk="1" hangingPunct="1">
              <a:buClr>
                <a:schemeClr val="tx1"/>
              </a:buClr>
              <a:buFont typeface="Wingdings" pitchFamily="2" charset="2"/>
              <a:buChar char="n"/>
            </a:pPr>
            <a:r>
              <a:rPr lang="en-US" sz="3000" smtClean="0"/>
              <a:t>Pengaruh Terhadap Cash dan Working Capital</a:t>
            </a: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AutoShape 2"/>
          <p:cNvSpPr>
            <a:spLocks noChangeArrowheads="1"/>
          </p:cNvSpPr>
          <p:nvPr/>
        </p:nvSpPr>
        <p:spPr bwMode="auto">
          <a:xfrm>
            <a:off x="495300" y="1371600"/>
            <a:ext cx="2228850" cy="762000"/>
          </a:xfrm>
          <a:prstGeom prst="rightArrow">
            <a:avLst>
              <a:gd name="adj1" fmla="val 50000"/>
              <a:gd name="adj2" fmla="val 73125"/>
            </a:avLst>
          </a:prstGeom>
          <a:solidFill>
            <a:schemeClr val="bg1"/>
          </a:solidFill>
          <a:ln w="9525">
            <a:solidFill>
              <a:schemeClr val="tx1"/>
            </a:solidFill>
            <a:miter lim="800000"/>
            <a:headEnd/>
            <a:tailEnd/>
          </a:ln>
        </p:spPr>
        <p:txBody>
          <a:bodyPr wrap="none" anchor="ctr"/>
          <a:lstStyle/>
          <a:p>
            <a:endParaRPr lang="en-US"/>
          </a:p>
        </p:txBody>
      </p:sp>
      <p:sp>
        <p:nvSpPr>
          <p:cNvPr id="100355" name="Oval 3"/>
          <p:cNvSpPr>
            <a:spLocks noChangeArrowheads="1"/>
          </p:cNvSpPr>
          <p:nvPr/>
        </p:nvSpPr>
        <p:spPr bwMode="auto">
          <a:xfrm>
            <a:off x="825500" y="1752600"/>
            <a:ext cx="8172450" cy="4495800"/>
          </a:xfrm>
          <a:prstGeom prst="ellipse">
            <a:avLst/>
          </a:prstGeom>
          <a:solidFill>
            <a:schemeClr val="bg1"/>
          </a:solidFill>
          <a:ln w="9525">
            <a:solidFill>
              <a:schemeClr val="tx1"/>
            </a:solidFill>
            <a:round/>
            <a:headEnd/>
            <a:tailEnd/>
          </a:ln>
        </p:spPr>
        <p:txBody>
          <a:bodyPr wrap="none" anchor="ctr"/>
          <a:lstStyle/>
          <a:p>
            <a:endParaRPr lang="en-US"/>
          </a:p>
        </p:txBody>
      </p:sp>
      <p:sp>
        <p:nvSpPr>
          <p:cNvPr id="100356" name="Rectangle 4"/>
          <p:cNvSpPr>
            <a:spLocks noGrp="1" noChangeArrowheads="1"/>
          </p:cNvSpPr>
          <p:nvPr>
            <p:ph type="title"/>
          </p:nvPr>
        </p:nvSpPr>
        <p:spPr>
          <a:xfrm>
            <a:off x="495300" y="457200"/>
            <a:ext cx="8915400" cy="914400"/>
          </a:xfrm>
        </p:spPr>
        <p:txBody>
          <a:bodyPr/>
          <a:lstStyle/>
          <a:p>
            <a:pPr eaLnBrk="1" hangingPunct="1"/>
            <a:r>
              <a:rPr lang="en-US" sz="4000" smtClean="0"/>
              <a:t>Pengaruh Terhadap Cash</a:t>
            </a:r>
          </a:p>
        </p:txBody>
      </p:sp>
      <p:sp>
        <p:nvSpPr>
          <p:cNvPr id="100357" name="AutoShape 5"/>
          <p:cNvSpPr>
            <a:spLocks noChangeArrowheads="1"/>
          </p:cNvSpPr>
          <p:nvPr/>
        </p:nvSpPr>
        <p:spPr bwMode="auto">
          <a:xfrm>
            <a:off x="4210050" y="2438400"/>
            <a:ext cx="1376363" cy="533400"/>
          </a:xfrm>
          <a:prstGeom prst="roundRect">
            <a:avLst>
              <a:gd name="adj" fmla="val 16667"/>
            </a:avLst>
          </a:prstGeom>
          <a:solidFill>
            <a:schemeClr val="bg1"/>
          </a:solidFill>
          <a:ln w="9525">
            <a:solidFill>
              <a:srgbClr val="000000"/>
            </a:solidFill>
            <a:miter lim="800000"/>
            <a:headEnd/>
            <a:tailEnd/>
          </a:ln>
        </p:spPr>
        <p:txBody>
          <a:bodyPr wrap="none" anchor="ctr"/>
          <a:lstStyle/>
          <a:p>
            <a:pPr algn="ctr"/>
            <a:r>
              <a:rPr lang="en-US" sz="1600" b="1"/>
              <a:t>Cash</a:t>
            </a:r>
          </a:p>
        </p:txBody>
      </p:sp>
      <p:sp>
        <p:nvSpPr>
          <p:cNvPr id="100358" name="AutoShape 6"/>
          <p:cNvSpPr>
            <a:spLocks noChangeArrowheads="1"/>
          </p:cNvSpPr>
          <p:nvPr/>
        </p:nvSpPr>
        <p:spPr bwMode="auto">
          <a:xfrm>
            <a:off x="7181850" y="3505200"/>
            <a:ext cx="1376363" cy="533400"/>
          </a:xfrm>
          <a:prstGeom prst="roundRect">
            <a:avLst>
              <a:gd name="adj" fmla="val 16667"/>
            </a:avLst>
          </a:prstGeom>
          <a:solidFill>
            <a:schemeClr val="bg1"/>
          </a:solidFill>
          <a:ln w="9525">
            <a:solidFill>
              <a:srgbClr val="000000"/>
            </a:solidFill>
            <a:miter lim="800000"/>
            <a:headEnd/>
            <a:tailEnd/>
          </a:ln>
        </p:spPr>
        <p:txBody>
          <a:bodyPr wrap="none" anchor="ctr"/>
          <a:lstStyle/>
          <a:p>
            <a:pPr algn="ctr"/>
            <a:r>
              <a:rPr lang="en-US" sz="1600" b="1"/>
              <a:t>Purchased</a:t>
            </a:r>
          </a:p>
          <a:p>
            <a:pPr algn="ctr"/>
            <a:r>
              <a:rPr lang="en-US" sz="1600" b="1"/>
              <a:t>Materials</a:t>
            </a:r>
          </a:p>
        </p:txBody>
      </p:sp>
      <p:sp>
        <p:nvSpPr>
          <p:cNvPr id="100359" name="AutoShape 7"/>
          <p:cNvSpPr>
            <a:spLocks noChangeArrowheads="1"/>
          </p:cNvSpPr>
          <p:nvPr/>
        </p:nvSpPr>
        <p:spPr bwMode="auto">
          <a:xfrm>
            <a:off x="4210050" y="5029200"/>
            <a:ext cx="1376363" cy="533400"/>
          </a:xfrm>
          <a:prstGeom prst="roundRect">
            <a:avLst>
              <a:gd name="adj" fmla="val 16667"/>
            </a:avLst>
          </a:prstGeom>
          <a:solidFill>
            <a:schemeClr val="bg1"/>
          </a:solidFill>
          <a:ln w="9525">
            <a:solidFill>
              <a:srgbClr val="000000"/>
            </a:solidFill>
            <a:miter lim="800000"/>
            <a:headEnd/>
            <a:tailEnd/>
          </a:ln>
        </p:spPr>
        <p:txBody>
          <a:bodyPr wrap="none" anchor="ctr"/>
          <a:lstStyle/>
          <a:p>
            <a:pPr algn="ctr"/>
            <a:r>
              <a:rPr lang="en-US" sz="1600" b="1"/>
              <a:t>Inventory</a:t>
            </a:r>
          </a:p>
        </p:txBody>
      </p:sp>
      <p:sp>
        <p:nvSpPr>
          <p:cNvPr id="100360" name="AutoShape 8"/>
          <p:cNvSpPr>
            <a:spLocks noChangeArrowheads="1"/>
          </p:cNvSpPr>
          <p:nvPr/>
        </p:nvSpPr>
        <p:spPr bwMode="auto">
          <a:xfrm>
            <a:off x="1568450" y="3581400"/>
            <a:ext cx="1376363" cy="533400"/>
          </a:xfrm>
          <a:prstGeom prst="roundRect">
            <a:avLst>
              <a:gd name="adj" fmla="val 16667"/>
            </a:avLst>
          </a:prstGeom>
          <a:solidFill>
            <a:schemeClr val="bg1"/>
          </a:solidFill>
          <a:ln w="9525">
            <a:solidFill>
              <a:srgbClr val="000000"/>
            </a:solidFill>
            <a:miter lim="800000"/>
            <a:headEnd/>
            <a:tailEnd/>
          </a:ln>
        </p:spPr>
        <p:txBody>
          <a:bodyPr wrap="none" anchor="ctr"/>
          <a:lstStyle/>
          <a:p>
            <a:pPr algn="ctr"/>
            <a:r>
              <a:rPr lang="en-US" sz="1600" b="1"/>
              <a:t>Account </a:t>
            </a:r>
          </a:p>
          <a:p>
            <a:pPr algn="ctr"/>
            <a:r>
              <a:rPr lang="en-US" sz="1600" b="1"/>
              <a:t>Receivable</a:t>
            </a:r>
          </a:p>
        </p:txBody>
      </p:sp>
      <p:sp>
        <p:nvSpPr>
          <p:cNvPr id="100361" name="Line 9"/>
          <p:cNvSpPr>
            <a:spLocks noChangeShapeType="1"/>
          </p:cNvSpPr>
          <p:nvPr/>
        </p:nvSpPr>
        <p:spPr bwMode="auto">
          <a:xfrm flipV="1">
            <a:off x="2228850" y="2667000"/>
            <a:ext cx="1943100" cy="914400"/>
          </a:xfrm>
          <a:prstGeom prst="line">
            <a:avLst/>
          </a:prstGeom>
          <a:noFill/>
          <a:ln w="25400">
            <a:solidFill>
              <a:schemeClr val="tx1"/>
            </a:solidFill>
            <a:miter lim="800000"/>
            <a:headEnd/>
            <a:tailEnd type="triangle" w="med" len="med"/>
          </a:ln>
        </p:spPr>
        <p:txBody>
          <a:bodyPr wrap="none"/>
          <a:lstStyle/>
          <a:p>
            <a:endParaRPr lang="en-US"/>
          </a:p>
        </p:txBody>
      </p:sp>
      <p:sp>
        <p:nvSpPr>
          <p:cNvPr id="100362" name="Line 10"/>
          <p:cNvSpPr>
            <a:spLocks noChangeShapeType="1"/>
          </p:cNvSpPr>
          <p:nvPr/>
        </p:nvSpPr>
        <p:spPr bwMode="auto">
          <a:xfrm flipH="1" flipV="1">
            <a:off x="2228850" y="4114800"/>
            <a:ext cx="1943100" cy="1143000"/>
          </a:xfrm>
          <a:prstGeom prst="line">
            <a:avLst/>
          </a:prstGeom>
          <a:noFill/>
          <a:ln w="25400">
            <a:solidFill>
              <a:schemeClr val="tx1"/>
            </a:solidFill>
            <a:miter lim="800000"/>
            <a:headEnd/>
            <a:tailEnd type="triangle" w="med" len="med"/>
          </a:ln>
        </p:spPr>
        <p:txBody>
          <a:bodyPr wrap="none"/>
          <a:lstStyle/>
          <a:p>
            <a:endParaRPr lang="en-US"/>
          </a:p>
        </p:txBody>
      </p:sp>
      <p:sp>
        <p:nvSpPr>
          <p:cNvPr id="100363" name="Line 11"/>
          <p:cNvSpPr>
            <a:spLocks noChangeShapeType="1"/>
          </p:cNvSpPr>
          <p:nvPr/>
        </p:nvSpPr>
        <p:spPr bwMode="auto">
          <a:xfrm>
            <a:off x="5613400" y="2667000"/>
            <a:ext cx="2185988" cy="838200"/>
          </a:xfrm>
          <a:prstGeom prst="line">
            <a:avLst/>
          </a:prstGeom>
          <a:noFill/>
          <a:ln w="25400">
            <a:solidFill>
              <a:schemeClr val="tx1"/>
            </a:solidFill>
            <a:prstDash val="dash"/>
            <a:miter lim="800000"/>
            <a:headEnd/>
            <a:tailEnd type="triangle" w="med" len="med"/>
          </a:ln>
        </p:spPr>
        <p:txBody>
          <a:bodyPr wrap="none"/>
          <a:lstStyle/>
          <a:p>
            <a:endParaRPr lang="en-US"/>
          </a:p>
        </p:txBody>
      </p:sp>
      <p:sp>
        <p:nvSpPr>
          <p:cNvPr id="100364" name="Line 12"/>
          <p:cNvSpPr>
            <a:spLocks noChangeShapeType="1"/>
          </p:cNvSpPr>
          <p:nvPr/>
        </p:nvSpPr>
        <p:spPr bwMode="auto">
          <a:xfrm flipH="1">
            <a:off x="5613400" y="4038600"/>
            <a:ext cx="2185988" cy="1219200"/>
          </a:xfrm>
          <a:prstGeom prst="line">
            <a:avLst/>
          </a:prstGeom>
          <a:noFill/>
          <a:ln w="25400">
            <a:solidFill>
              <a:schemeClr val="tx1"/>
            </a:solidFill>
            <a:miter lim="800000"/>
            <a:headEnd/>
            <a:tailEnd type="triangle" w="med" len="med"/>
          </a:ln>
        </p:spPr>
        <p:txBody>
          <a:bodyPr wrap="none"/>
          <a:lstStyle/>
          <a:p>
            <a:endParaRPr lang="en-US"/>
          </a:p>
        </p:txBody>
      </p:sp>
      <p:sp>
        <p:nvSpPr>
          <p:cNvPr id="100365" name="Text Box 13"/>
          <p:cNvSpPr txBox="1">
            <a:spLocks noChangeArrowheads="1"/>
          </p:cNvSpPr>
          <p:nvPr/>
        </p:nvSpPr>
        <p:spPr bwMode="auto">
          <a:xfrm>
            <a:off x="2459038" y="2776538"/>
            <a:ext cx="1003300" cy="274637"/>
          </a:xfrm>
          <a:prstGeom prst="rect">
            <a:avLst/>
          </a:prstGeom>
          <a:noFill/>
          <a:ln w="9525">
            <a:noFill/>
            <a:miter lim="800000"/>
            <a:headEnd/>
            <a:tailEnd/>
          </a:ln>
        </p:spPr>
        <p:txBody>
          <a:bodyPr wrap="none">
            <a:spAutoFit/>
          </a:bodyPr>
          <a:lstStyle/>
          <a:p>
            <a:r>
              <a:rPr lang="en-US" sz="1200"/>
              <a:t>Collections</a:t>
            </a:r>
          </a:p>
        </p:txBody>
      </p:sp>
      <p:sp>
        <p:nvSpPr>
          <p:cNvPr id="100366" name="Text Box 14"/>
          <p:cNvSpPr txBox="1">
            <a:spLocks noChangeArrowheads="1"/>
          </p:cNvSpPr>
          <p:nvPr/>
        </p:nvSpPr>
        <p:spPr bwMode="auto">
          <a:xfrm>
            <a:off x="2311400" y="4724400"/>
            <a:ext cx="611188" cy="274638"/>
          </a:xfrm>
          <a:prstGeom prst="rect">
            <a:avLst/>
          </a:prstGeom>
          <a:noFill/>
          <a:ln w="9525">
            <a:noFill/>
            <a:miter lim="800000"/>
            <a:headEnd/>
            <a:tailEnd/>
          </a:ln>
        </p:spPr>
        <p:txBody>
          <a:bodyPr wrap="none">
            <a:spAutoFit/>
          </a:bodyPr>
          <a:lstStyle/>
          <a:p>
            <a:r>
              <a:rPr lang="en-US" sz="1200"/>
              <a:t>Sales</a:t>
            </a:r>
          </a:p>
        </p:txBody>
      </p:sp>
      <p:sp>
        <p:nvSpPr>
          <p:cNvPr id="100367" name="Text Box 15"/>
          <p:cNvSpPr txBox="1">
            <a:spLocks noChangeArrowheads="1"/>
          </p:cNvSpPr>
          <p:nvPr/>
        </p:nvSpPr>
        <p:spPr bwMode="auto">
          <a:xfrm>
            <a:off x="6604000" y="4724400"/>
            <a:ext cx="1241425" cy="274638"/>
          </a:xfrm>
          <a:prstGeom prst="rect">
            <a:avLst/>
          </a:prstGeom>
          <a:noFill/>
          <a:ln w="9525">
            <a:noFill/>
            <a:miter lim="800000"/>
            <a:headEnd/>
            <a:tailEnd/>
          </a:ln>
        </p:spPr>
        <p:txBody>
          <a:bodyPr wrap="none">
            <a:spAutoFit/>
          </a:bodyPr>
          <a:lstStyle/>
          <a:p>
            <a:r>
              <a:rPr lang="en-US" sz="1200"/>
              <a:t>Manufacturing</a:t>
            </a:r>
          </a:p>
        </p:txBody>
      </p:sp>
      <p:sp>
        <p:nvSpPr>
          <p:cNvPr id="100368" name="Text Box 16"/>
          <p:cNvSpPr txBox="1">
            <a:spLocks noChangeArrowheads="1"/>
          </p:cNvSpPr>
          <p:nvPr/>
        </p:nvSpPr>
        <p:spPr bwMode="auto">
          <a:xfrm>
            <a:off x="6604000" y="2743200"/>
            <a:ext cx="1022350" cy="274638"/>
          </a:xfrm>
          <a:prstGeom prst="rect">
            <a:avLst/>
          </a:prstGeom>
          <a:noFill/>
          <a:ln w="9525">
            <a:noFill/>
            <a:miter lim="800000"/>
            <a:headEnd/>
            <a:tailEnd/>
          </a:ln>
        </p:spPr>
        <p:txBody>
          <a:bodyPr wrap="none">
            <a:spAutoFit/>
          </a:bodyPr>
          <a:lstStyle/>
          <a:p>
            <a:r>
              <a:rPr lang="en-US" sz="1200"/>
              <a:t>Purchasing</a:t>
            </a:r>
          </a:p>
        </p:txBody>
      </p:sp>
      <p:sp>
        <p:nvSpPr>
          <p:cNvPr id="100369" name="Line 17"/>
          <p:cNvSpPr>
            <a:spLocks noChangeShapeType="1"/>
          </p:cNvSpPr>
          <p:nvPr/>
        </p:nvSpPr>
        <p:spPr bwMode="auto">
          <a:xfrm>
            <a:off x="6191250" y="5562600"/>
            <a:ext cx="1457325" cy="1588"/>
          </a:xfrm>
          <a:prstGeom prst="line">
            <a:avLst/>
          </a:prstGeom>
          <a:noFill/>
          <a:ln w="25400">
            <a:solidFill>
              <a:srgbClr val="000000"/>
            </a:solidFill>
            <a:miter lim="800000"/>
            <a:headEnd/>
            <a:tailEnd type="triangle" w="med" len="med"/>
          </a:ln>
        </p:spPr>
        <p:txBody>
          <a:bodyPr wrap="none"/>
          <a:lstStyle/>
          <a:p>
            <a:endParaRPr lang="en-US"/>
          </a:p>
        </p:txBody>
      </p:sp>
      <p:sp>
        <p:nvSpPr>
          <p:cNvPr id="100370" name="Line 18"/>
          <p:cNvSpPr>
            <a:spLocks noChangeShapeType="1"/>
          </p:cNvSpPr>
          <p:nvPr/>
        </p:nvSpPr>
        <p:spPr bwMode="auto">
          <a:xfrm>
            <a:off x="2311400" y="5334000"/>
            <a:ext cx="1457325" cy="1588"/>
          </a:xfrm>
          <a:prstGeom prst="line">
            <a:avLst/>
          </a:prstGeom>
          <a:noFill/>
          <a:ln w="25400">
            <a:solidFill>
              <a:srgbClr val="000000"/>
            </a:solidFill>
            <a:prstDash val="dash"/>
            <a:miter lim="800000"/>
            <a:headEnd/>
            <a:tailEnd type="triangle" w="med" len="med"/>
          </a:ln>
        </p:spPr>
        <p:txBody>
          <a:bodyPr wrap="none"/>
          <a:lstStyle/>
          <a:p>
            <a:endParaRPr lang="en-US"/>
          </a:p>
        </p:txBody>
      </p:sp>
      <p:sp>
        <p:nvSpPr>
          <p:cNvPr id="100371" name="Text Box 19"/>
          <p:cNvSpPr txBox="1">
            <a:spLocks noChangeArrowheads="1"/>
          </p:cNvSpPr>
          <p:nvPr/>
        </p:nvSpPr>
        <p:spPr bwMode="auto">
          <a:xfrm>
            <a:off x="2146300" y="5410200"/>
            <a:ext cx="1754188" cy="274638"/>
          </a:xfrm>
          <a:prstGeom prst="rect">
            <a:avLst/>
          </a:prstGeom>
          <a:noFill/>
          <a:ln w="9525">
            <a:noFill/>
            <a:miter lim="800000"/>
            <a:headEnd/>
            <a:tailEnd/>
          </a:ln>
        </p:spPr>
        <p:txBody>
          <a:bodyPr wrap="none">
            <a:spAutoFit/>
          </a:bodyPr>
          <a:lstStyle/>
          <a:p>
            <a:r>
              <a:rPr lang="en-US" sz="1200">
                <a:solidFill>
                  <a:srgbClr val="000000"/>
                </a:solidFill>
              </a:rPr>
              <a:t>As slowly as possible</a:t>
            </a:r>
          </a:p>
        </p:txBody>
      </p:sp>
      <p:sp>
        <p:nvSpPr>
          <p:cNvPr id="100372" name="Text Box 20"/>
          <p:cNvSpPr txBox="1">
            <a:spLocks noChangeArrowheads="1"/>
          </p:cNvSpPr>
          <p:nvPr/>
        </p:nvSpPr>
        <p:spPr bwMode="auto">
          <a:xfrm>
            <a:off x="6026150" y="5181600"/>
            <a:ext cx="1809750" cy="274638"/>
          </a:xfrm>
          <a:prstGeom prst="rect">
            <a:avLst/>
          </a:prstGeom>
          <a:noFill/>
          <a:ln w="9525">
            <a:noFill/>
            <a:miter lim="800000"/>
            <a:headEnd/>
            <a:tailEnd/>
          </a:ln>
        </p:spPr>
        <p:txBody>
          <a:bodyPr wrap="none">
            <a:spAutoFit/>
          </a:bodyPr>
          <a:lstStyle/>
          <a:p>
            <a:r>
              <a:rPr lang="en-US" sz="1200">
                <a:solidFill>
                  <a:srgbClr val="000000"/>
                </a:solidFill>
              </a:rPr>
              <a:t>As quickly as possible</a:t>
            </a:r>
          </a:p>
        </p:txBody>
      </p:sp>
      <p:sp>
        <p:nvSpPr>
          <p:cNvPr id="100373" name="AutoShape 21"/>
          <p:cNvSpPr>
            <a:spLocks noChangeArrowheads="1"/>
          </p:cNvSpPr>
          <p:nvPr/>
        </p:nvSpPr>
        <p:spPr bwMode="auto">
          <a:xfrm>
            <a:off x="5035550" y="6400800"/>
            <a:ext cx="1238250" cy="304800"/>
          </a:xfrm>
          <a:prstGeom prst="curvedUpArrow">
            <a:avLst>
              <a:gd name="adj1" fmla="val 81250"/>
              <a:gd name="adj2" fmla="val 162500"/>
              <a:gd name="adj3" fmla="val 33333"/>
            </a:avLst>
          </a:prstGeom>
          <a:solidFill>
            <a:srgbClr val="CC3300"/>
          </a:solidFill>
          <a:ln w="9525">
            <a:solidFill>
              <a:srgbClr val="000000"/>
            </a:solidFill>
            <a:miter lim="800000"/>
            <a:headEnd/>
            <a:tailEnd/>
          </a:ln>
        </p:spPr>
        <p:txBody>
          <a:bodyPr wrap="none" anchor="ctr"/>
          <a:lstStyle/>
          <a:p>
            <a:endParaRPr lang="en-US"/>
          </a:p>
        </p:txBody>
      </p:sp>
      <p:sp>
        <p:nvSpPr>
          <p:cNvPr id="100374" name="AutoShape 22"/>
          <p:cNvSpPr>
            <a:spLocks noChangeArrowheads="1"/>
          </p:cNvSpPr>
          <p:nvPr/>
        </p:nvSpPr>
        <p:spPr bwMode="auto">
          <a:xfrm>
            <a:off x="495300" y="3352800"/>
            <a:ext cx="247650" cy="990600"/>
          </a:xfrm>
          <a:prstGeom prst="curvedRightArrow">
            <a:avLst>
              <a:gd name="adj1" fmla="val 80000"/>
              <a:gd name="adj2" fmla="val 160000"/>
              <a:gd name="adj3" fmla="val 40278"/>
            </a:avLst>
          </a:prstGeom>
          <a:solidFill>
            <a:srgbClr val="CC3300"/>
          </a:solidFill>
          <a:ln w="9525">
            <a:solidFill>
              <a:srgbClr val="000000"/>
            </a:solidFill>
            <a:miter lim="800000"/>
            <a:headEnd/>
            <a:tailEnd/>
          </a:ln>
        </p:spPr>
        <p:txBody>
          <a:bodyPr wrap="none" anchor="ctr"/>
          <a:lstStyle/>
          <a:p>
            <a:endParaRPr lang="en-US"/>
          </a:p>
        </p:txBody>
      </p:sp>
      <p:sp>
        <p:nvSpPr>
          <p:cNvPr id="100375" name="AutoShape 23"/>
          <p:cNvSpPr>
            <a:spLocks noChangeArrowheads="1"/>
          </p:cNvSpPr>
          <p:nvPr/>
        </p:nvSpPr>
        <p:spPr bwMode="auto">
          <a:xfrm rot="-5114182">
            <a:off x="8694738" y="3814762"/>
            <a:ext cx="1143000" cy="371475"/>
          </a:xfrm>
          <a:prstGeom prst="curvedUpArrow">
            <a:avLst>
              <a:gd name="adj1" fmla="val 64501"/>
              <a:gd name="adj2" fmla="val 130940"/>
              <a:gd name="adj3" fmla="val 33333"/>
            </a:avLst>
          </a:prstGeom>
          <a:solidFill>
            <a:srgbClr val="CC3300"/>
          </a:solidFill>
          <a:ln w="9525">
            <a:solidFill>
              <a:srgbClr val="000000"/>
            </a:solidFill>
            <a:miter lim="800000"/>
            <a:headEnd/>
            <a:tailEnd/>
          </a:ln>
        </p:spPr>
        <p:txBody>
          <a:bodyPr wrap="none" anchor="ctr"/>
          <a:lstStyle/>
          <a:p>
            <a:endParaRPr lang="en-US"/>
          </a:p>
        </p:txBody>
      </p:sp>
      <p:sp>
        <p:nvSpPr>
          <p:cNvPr id="100376" name="AutoShape 24"/>
          <p:cNvSpPr>
            <a:spLocks noChangeArrowheads="1"/>
          </p:cNvSpPr>
          <p:nvPr/>
        </p:nvSpPr>
        <p:spPr bwMode="auto">
          <a:xfrm rot="-10547150">
            <a:off x="4127500" y="1295400"/>
            <a:ext cx="1238250" cy="304800"/>
          </a:xfrm>
          <a:prstGeom prst="curvedUpArrow">
            <a:avLst>
              <a:gd name="adj1" fmla="val 81250"/>
              <a:gd name="adj2" fmla="val 162500"/>
              <a:gd name="adj3" fmla="val 33333"/>
            </a:avLst>
          </a:prstGeom>
          <a:solidFill>
            <a:srgbClr val="CC3300"/>
          </a:solidFill>
          <a:ln w="9525">
            <a:solidFill>
              <a:srgbClr val="000000"/>
            </a:solidFill>
            <a:miter lim="800000"/>
            <a:headEnd/>
            <a:tailEnd/>
          </a:ln>
        </p:spPr>
        <p:txBody>
          <a:bodyPr wrap="none" anchor="ctr"/>
          <a:lstStyle/>
          <a:p>
            <a:endParaRPr lang="en-US"/>
          </a:p>
        </p:txBody>
      </p:sp>
      <p:sp>
        <p:nvSpPr>
          <p:cNvPr id="100377" name="Text Box 25"/>
          <p:cNvSpPr txBox="1">
            <a:spLocks noChangeArrowheads="1"/>
          </p:cNvSpPr>
          <p:nvPr/>
        </p:nvSpPr>
        <p:spPr bwMode="auto">
          <a:xfrm>
            <a:off x="412750" y="1447800"/>
            <a:ext cx="2559050" cy="412750"/>
          </a:xfrm>
          <a:prstGeom prst="rect">
            <a:avLst/>
          </a:prstGeom>
          <a:noFill/>
          <a:ln w="9525">
            <a:noFill/>
            <a:miter lim="800000"/>
            <a:headEnd/>
            <a:tailEnd/>
          </a:ln>
        </p:spPr>
        <p:txBody>
          <a:bodyPr>
            <a:spAutoFit/>
          </a:bodyPr>
          <a:lstStyle/>
          <a:p>
            <a:pPr>
              <a:spcBef>
                <a:spcPct val="50000"/>
              </a:spcBef>
            </a:pPr>
            <a:r>
              <a:rPr lang="en-US" sz="3200" baseline="-25000">
                <a:solidFill>
                  <a:srgbClr val="000000"/>
                </a:solidFill>
                <a:latin typeface="Tahoma" pitchFamily="34" charset="0"/>
              </a:rPr>
              <a:t>Operating Cycle</a:t>
            </a: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p:txBody>
          <a:bodyPr/>
          <a:lstStyle/>
          <a:p>
            <a:pPr eaLnBrk="1" hangingPunct="1"/>
            <a:r>
              <a:rPr lang="en-US" sz="4000" smtClean="0"/>
              <a:t>Pengaruh Terhadap Cash</a:t>
            </a:r>
          </a:p>
        </p:txBody>
      </p:sp>
      <p:graphicFrame>
        <p:nvGraphicFramePr>
          <p:cNvPr id="4098" name="Object 3"/>
          <p:cNvGraphicFramePr>
            <a:graphicFrameLocks noChangeAspect="1"/>
          </p:cNvGraphicFramePr>
          <p:nvPr>
            <p:ph sz="half" idx="2"/>
          </p:nvPr>
        </p:nvGraphicFramePr>
        <p:xfrm>
          <a:off x="908050" y="1447800"/>
          <a:ext cx="7594600" cy="4876800"/>
        </p:xfrm>
        <a:graphic>
          <a:graphicData uri="http://schemas.openxmlformats.org/presentationml/2006/ole">
            <p:oleObj spid="_x0000_s240642" name="Worksheet" r:id="rId4" imgW="4829175" imgH="5038725" progId="Excel.Sheet.8">
              <p:link updateAutomatic="1"/>
            </p:oleObj>
          </a:graphicData>
        </a:graphic>
      </p:graphicFrame>
      <p:pic>
        <p:nvPicPr>
          <p:cNvPr id="4100" name="Picture 4" descr="g0419038"/>
          <p:cNvPicPr>
            <a:picLocks noChangeAspect="1" noChangeArrowheads="1"/>
          </p:cNvPicPr>
          <p:nvPr/>
        </p:nvPicPr>
        <p:blipFill>
          <a:blip r:embed="rId5"/>
          <a:srcRect/>
          <a:stretch>
            <a:fillRect/>
          </a:stretch>
        </p:blipFill>
        <p:spPr bwMode="auto">
          <a:xfrm>
            <a:off x="8372475" y="304800"/>
            <a:ext cx="1368425" cy="23622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ChangeArrowheads="1"/>
          </p:cNvSpPr>
          <p:nvPr>
            <p:ph type="title"/>
          </p:nvPr>
        </p:nvSpPr>
        <p:spPr>
          <a:xfrm>
            <a:off x="495300" y="457200"/>
            <a:ext cx="8915400" cy="990600"/>
          </a:xfrm>
        </p:spPr>
        <p:txBody>
          <a:bodyPr/>
          <a:lstStyle/>
          <a:p>
            <a:pPr eaLnBrk="1" hangingPunct="1"/>
            <a:r>
              <a:rPr lang="en-US" smtClean="0"/>
              <a:t>Pengaruh Terhadap Cash</a:t>
            </a:r>
          </a:p>
        </p:txBody>
      </p:sp>
      <p:sp>
        <p:nvSpPr>
          <p:cNvPr id="101379" name="Rectangle 3"/>
          <p:cNvSpPr>
            <a:spLocks noGrp="1" noChangeArrowheads="1"/>
          </p:cNvSpPr>
          <p:nvPr>
            <p:ph type="body" idx="1"/>
          </p:nvPr>
        </p:nvSpPr>
        <p:spPr>
          <a:xfrm>
            <a:off x="495300" y="1295400"/>
            <a:ext cx="8915400" cy="4114800"/>
          </a:xfrm>
        </p:spPr>
        <p:txBody>
          <a:bodyPr/>
          <a:lstStyle/>
          <a:p>
            <a:pPr eaLnBrk="1" hangingPunct="1">
              <a:buClr>
                <a:schemeClr val="tx1"/>
              </a:buClr>
              <a:buSzTx/>
            </a:pPr>
            <a:r>
              <a:rPr lang="en-US" sz="2800" smtClean="0"/>
              <a:t>Semakin pendek credit term </a:t>
            </a:r>
            <a:r>
              <a:rPr lang="en-US" sz="2800" smtClean="0">
                <a:sym typeface="Wingdings" pitchFamily="2" charset="2"/>
              </a:rPr>
              <a:t> semakin besar kebutuhan modal kerja</a:t>
            </a:r>
          </a:p>
          <a:p>
            <a:pPr eaLnBrk="1" hangingPunct="1">
              <a:buClr>
                <a:schemeClr val="tx1"/>
              </a:buClr>
              <a:buSzTx/>
            </a:pPr>
            <a:r>
              <a:rPr lang="en-US" sz="2800" smtClean="0">
                <a:sym typeface="Wingdings" pitchFamily="2" charset="2"/>
              </a:rPr>
              <a:t>Semakin kecil margin  semakin lama pengembalian modal</a:t>
            </a:r>
          </a:p>
          <a:p>
            <a:pPr eaLnBrk="1" hangingPunct="1">
              <a:buClr>
                <a:schemeClr val="tx1"/>
              </a:buClr>
              <a:buSzTx/>
            </a:pPr>
            <a:r>
              <a:rPr lang="en-US" sz="2800" smtClean="0">
                <a:sym typeface="Wingdings" pitchFamily="2" charset="2"/>
              </a:rPr>
              <a:t>Perusahaan idealnya memiliki terms yang seimbang antara terms dari customer dan supplier &amp; kecukupan margin</a:t>
            </a:r>
          </a:p>
          <a:p>
            <a:pPr eaLnBrk="1" hangingPunct="1">
              <a:buClr>
                <a:schemeClr val="tx1"/>
              </a:buClr>
              <a:buSzTx/>
            </a:pPr>
            <a:r>
              <a:rPr lang="en-US" sz="2800" smtClean="0">
                <a:sym typeface="Wingdings" pitchFamily="2" charset="2"/>
              </a:rPr>
              <a:t>Sangat tergantung industri</a:t>
            </a:r>
          </a:p>
          <a:p>
            <a:pPr lvl="2" eaLnBrk="1" hangingPunct="1">
              <a:buClr>
                <a:schemeClr val="tx1"/>
              </a:buClr>
              <a:buSzTx/>
            </a:pPr>
            <a:r>
              <a:rPr lang="en-US" sz="2000" smtClean="0"/>
              <a:t>Intermediaries </a:t>
            </a:r>
            <a:r>
              <a:rPr lang="en-US" sz="2000" smtClean="0">
                <a:sym typeface="Wingdings" pitchFamily="2" charset="2"/>
              </a:rPr>
              <a:t> low margin  term &amp; price sensitive</a:t>
            </a:r>
          </a:p>
          <a:p>
            <a:pPr lvl="2" eaLnBrk="1" hangingPunct="1">
              <a:buClr>
                <a:schemeClr val="tx1"/>
              </a:buClr>
              <a:buSzTx/>
            </a:pPr>
            <a:r>
              <a:rPr lang="en-US" sz="2000" smtClean="0">
                <a:sym typeface="Wingdings" pitchFamily="2" charset="2"/>
              </a:rPr>
              <a:t>Consumer Goods  high margin  low price &amp; term sensitive</a:t>
            </a:r>
            <a:endParaRPr lang="en-US" sz="2000" smtClean="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ChangeArrowheads="1"/>
          </p:cNvSpPr>
          <p:nvPr>
            <p:ph type="title"/>
          </p:nvPr>
        </p:nvSpPr>
        <p:spPr/>
        <p:txBody>
          <a:bodyPr/>
          <a:lstStyle/>
          <a:p>
            <a:r>
              <a:rPr lang="en-US" smtClean="0"/>
              <a:t>Penentuan Biaya Modal</a:t>
            </a:r>
          </a:p>
        </p:txBody>
      </p:sp>
      <p:sp>
        <p:nvSpPr>
          <p:cNvPr id="102403" name="Rectangle 3"/>
          <p:cNvSpPr>
            <a:spLocks noGrp="1" noChangeArrowheads="1"/>
          </p:cNvSpPr>
          <p:nvPr>
            <p:ph type="body" idx="1"/>
          </p:nvPr>
        </p:nvSpPr>
        <p:spPr/>
        <p:txBody>
          <a:bodyPr/>
          <a:lstStyle/>
          <a:p>
            <a:pPr>
              <a:lnSpc>
                <a:spcPct val="80000"/>
              </a:lnSpc>
            </a:pPr>
            <a:r>
              <a:rPr lang="en-US" sz="2800" b="1" smtClean="0"/>
              <a:t>Biaya Modal dari Hutang Perniagaan.</a:t>
            </a:r>
            <a:endParaRPr lang="en-US" sz="2800" smtClean="0"/>
          </a:p>
          <a:p>
            <a:pPr>
              <a:lnSpc>
                <a:spcPct val="80000"/>
              </a:lnSpc>
            </a:pPr>
            <a:r>
              <a:rPr lang="en-US" sz="2800" smtClean="0"/>
              <a:t>Biaya modal ini bersifat explicit, karena perusahaan gagal mem-bayar pada tepat waktu, sehingga kehilangan kesempatan untuk mendapatkan discount.</a:t>
            </a:r>
          </a:p>
          <a:p>
            <a:pPr>
              <a:lnSpc>
                <a:spcPct val="80000"/>
              </a:lnSpc>
            </a:pPr>
            <a:r>
              <a:rPr lang="en-US" sz="2800" smtClean="0"/>
              <a:t>	        Cash Discount</a:t>
            </a:r>
          </a:p>
          <a:p>
            <a:pPr>
              <a:lnSpc>
                <a:spcPct val="80000"/>
              </a:lnSpc>
            </a:pPr>
            <a:r>
              <a:rPr lang="en-US" sz="2800" smtClean="0"/>
              <a:t>Cod   =				x 100%</a:t>
            </a:r>
          </a:p>
          <a:p>
            <a:pPr>
              <a:lnSpc>
                <a:spcPct val="80000"/>
              </a:lnSpc>
            </a:pPr>
            <a:r>
              <a:rPr lang="en-US" sz="2800" smtClean="0"/>
              <a:t>	      Average Payable</a:t>
            </a:r>
          </a:p>
          <a:p>
            <a:pPr>
              <a:lnSpc>
                <a:spcPct val="80000"/>
              </a:lnSpc>
            </a:pPr>
            <a:r>
              <a:rPr lang="en-US" sz="2800" smtClean="0"/>
              <a:t>Cod After Tax = (Cod before tax)(1-t).</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ChangeArrowheads="1"/>
          </p:cNvSpPr>
          <p:nvPr>
            <p:ph type="title"/>
          </p:nvPr>
        </p:nvSpPr>
        <p:spPr/>
        <p:txBody>
          <a:bodyPr/>
          <a:lstStyle/>
          <a:p>
            <a:endParaRPr lang="en-US" smtClean="0"/>
          </a:p>
        </p:txBody>
      </p:sp>
      <p:sp>
        <p:nvSpPr>
          <p:cNvPr id="103427" name="Rectangle 3"/>
          <p:cNvSpPr>
            <a:spLocks noGrp="1" noChangeArrowheads="1"/>
          </p:cNvSpPr>
          <p:nvPr>
            <p:ph type="body" idx="1"/>
          </p:nvPr>
        </p:nvSpPr>
        <p:spPr/>
        <p:txBody>
          <a:bodyPr/>
          <a:lstStyle/>
          <a:p>
            <a:pPr>
              <a:lnSpc>
                <a:spcPct val="80000"/>
              </a:lnSpc>
            </a:pPr>
            <a:r>
              <a:rPr lang="en-US" sz="1600" b="1" smtClean="0"/>
              <a:t>Biaya Modal dari Hutang Wesel.</a:t>
            </a:r>
            <a:endParaRPr lang="en-US" sz="1600" smtClean="0"/>
          </a:p>
          <a:p>
            <a:pPr>
              <a:lnSpc>
                <a:spcPct val="80000"/>
              </a:lnSpc>
            </a:pPr>
            <a:r>
              <a:rPr lang="en-US" sz="1600" smtClean="0"/>
              <a:t>Dalam hutang wesel bunga dibayar dimuka, dengan memotong jumlah yang akan diterima.</a:t>
            </a:r>
          </a:p>
          <a:p>
            <a:pPr>
              <a:lnSpc>
                <a:spcPct val="80000"/>
              </a:lnSpc>
            </a:pPr>
            <a:r>
              <a:rPr lang="en-US" sz="1600" smtClean="0"/>
              <a:t>	      		Interest Payment</a:t>
            </a:r>
          </a:p>
          <a:p>
            <a:pPr>
              <a:lnSpc>
                <a:spcPct val="80000"/>
              </a:lnSpc>
            </a:pPr>
            <a:r>
              <a:rPr lang="en-US" sz="1600" smtClean="0"/>
              <a:t>Cod  =							x 100%</a:t>
            </a:r>
          </a:p>
          <a:p>
            <a:pPr>
              <a:lnSpc>
                <a:spcPct val="80000"/>
              </a:lnSpc>
            </a:pPr>
            <a:r>
              <a:rPr lang="en-US" sz="1600" smtClean="0"/>
              <a:t>	     Nominal Wesel – Interest Payment	</a:t>
            </a:r>
          </a:p>
          <a:p>
            <a:pPr>
              <a:lnSpc>
                <a:spcPct val="80000"/>
              </a:lnSpc>
            </a:pPr>
            <a:r>
              <a:rPr lang="en-US" sz="1600" smtClean="0"/>
              <a:t>Cod After Tax = (Cod before tax)(1-tax).</a:t>
            </a:r>
            <a:endParaRPr lang="en-US" sz="1600" b="1" smtClean="0"/>
          </a:p>
          <a:p>
            <a:pPr>
              <a:lnSpc>
                <a:spcPct val="80000"/>
              </a:lnSpc>
            </a:pPr>
            <a:r>
              <a:rPr lang="en-US" sz="1600" b="1" smtClean="0"/>
              <a:t>Biaya Modal dari Hutang Jangka Pendek.</a:t>
            </a:r>
            <a:endParaRPr lang="en-US" sz="1600" smtClean="0"/>
          </a:p>
          <a:p>
            <a:pPr>
              <a:lnSpc>
                <a:spcPct val="80000"/>
              </a:lnSpc>
            </a:pPr>
            <a:r>
              <a:rPr lang="en-US" sz="1600" smtClean="0"/>
              <a:t>Hutang jangka pendek dikeluarkan oleh bank, disebut kredit bank, jangka waktu pinjaman paling lama satu tahun. Biasanya bank me-motong bunganya didepan, plus premi asuransi, sehingga jumlah yang diterima dibawah nilai nominal hutangnya.</a:t>
            </a:r>
          </a:p>
          <a:p>
            <a:pPr>
              <a:lnSpc>
                <a:spcPct val="80000"/>
              </a:lnSpc>
            </a:pPr>
            <a:r>
              <a:rPr lang="en-US" sz="1600" smtClean="0"/>
              <a:t>	</a:t>
            </a:r>
          </a:p>
          <a:p>
            <a:pPr>
              <a:lnSpc>
                <a:spcPct val="80000"/>
              </a:lnSpc>
            </a:pPr>
            <a:r>
              <a:rPr lang="en-US" sz="1600" smtClean="0"/>
              <a:t>     Interest Payment + Premi Asuransi</a:t>
            </a:r>
          </a:p>
          <a:p>
            <a:pPr>
              <a:lnSpc>
                <a:spcPct val="80000"/>
              </a:lnSpc>
            </a:pPr>
            <a:r>
              <a:rPr lang="en-US" sz="1600" smtClean="0"/>
              <a:t>Cod  =  							  x 100%</a:t>
            </a:r>
          </a:p>
          <a:p>
            <a:pPr>
              <a:lnSpc>
                <a:spcPct val="80000"/>
              </a:lnSpc>
            </a:pPr>
            <a:r>
              <a:rPr lang="en-US" sz="1600" smtClean="0"/>
              <a:t>	      Nilai Nominal Hutang – (IP + PA)</a:t>
            </a:r>
          </a:p>
          <a:p>
            <a:pPr>
              <a:lnSpc>
                <a:spcPct val="80000"/>
              </a:lnSpc>
            </a:pPr>
            <a:r>
              <a:rPr lang="en-US" sz="1600" smtClean="0"/>
              <a:t>Cod After Tax = (Cod before tax)(1-tax).</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ChangeArrowheads="1"/>
          </p:cNvSpPr>
          <p:nvPr>
            <p:ph type="ctrTitle"/>
          </p:nvPr>
        </p:nvSpPr>
        <p:spPr/>
        <p:txBody>
          <a:bodyPr/>
          <a:lstStyle/>
          <a:p>
            <a:pPr algn="r" eaLnBrk="1" hangingPunct="1"/>
            <a:r>
              <a:rPr lang="en-US" sz="4800" smtClean="0">
                <a:latin typeface="Impact" pitchFamily="34" charset="0"/>
              </a:rPr>
              <a:t>Report-report</a:t>
            </a:r>
            <a:br>
              <a:rPr lang="en-US" sz="4800" smtClean="0">
                <a:latin typeface="Impact" pitchFamily="34" charset="0"/>
              </a:rPr>
            </a:br>
            <a:r>
              <a:rPr lang="en-US" sz="4800" smtClean="0">
                <a:latin typeface="Impact" pitchFamily="34" charset="0"/>
              </a:rPr>
              <a:t>yang Terkait dengan A/P</a:t>
            </a:r>
          </a:p>
        </p:txBody>
      </p:sp>
      <p:sp>
        <p:nvSpPr>
          <p:cNvPr id="104451" name="Text Box 3"/>
          <p:cNvSpPr txBox="1">
            <a:spLocks noChangeArrowheads="1"/>
          </p:cNvSpPr>
          <p:nvPr/>
        </p:nvSpPr>
        <p:spPr bwMode="auto">
          <a:xfrm>
            <a:off x="742950" y="4038600"/>
            <a:ext cx="6934200" cy="1917700"/>
          </a:xfrm>
          <a:prstGeom prst="rect">
            <a:avLst/>
          </a:prstGeom>
          <a:noFill/>
          <a:ln w="9525">
            <a:noFill/>
            <a:miter lim="800000"/>
            <a:headEnd/>
            <a:tailEnd/>
          </a:ln>
        </p:spPr>
        <p:txBody>
          <a:bodyPr>
            <a:spAutoFit/>
          </a:bodyPr>
          <a:lstStyle/>
          <a:p>
            <a:pPr marL="631825" indent="-631825">
              <a:buFont typeface="Wingdings" pitchFamily="2" charset="2"/>
              <a:buChar char="q"/>
            </a:pPr>
            <a:r>
              <a:rPr lang="en-US" sz="2400" b="1">
                <a:latin typeface="Tahoma" pitchFamily="34" charset="0"/>
              </a:rPr>
              <a:t>Aging Report</a:t>
            </a:r>
          </a:p>
          <a:p>
            <a:pPr marL="631825" indent="-631825">
              <a:buFont typeface="Wingdings" pitchFamily="2" charset="2"/>
              <a:buChar char="q"/>
            </a:pPr>
            <a:r>
              <a:rPr lang="en-US" sz="2400" b="1">
                <a:latin typeface="Tahoma" pitchFamily="34" charset="0"/>
              </a:rPr>
              <a:t>Down/Advanced Payment Report</a:t>
            </a:r>
          </a:p>
          <a:p>
            <a:pPr marL="631825" indent="-631825">
              <a:buFont typeface="Wingdings" pitchFamily="2" charset="2"/>
              <a:buChar char="q"/>
            </a:pPr>
            <a:r>
              <a:rPr lang="en-US" sz="2400" b="1">
                <a:latin typeface="Tahoma" pitchFamily="34" charset="0"/>
              </a:rPr>
              <a:t>Cash Flow Report</a:t>
            </a:r>
          </a:p>
          <a:p>
            <a:pPr marL="631825" indent="-631825">
              <a:buFont typeface="Wingdings" pitchFamily="2" charset="2"/>
              <a:buChar char="q"/>
            </a:pPr>
            <a:r>
              <a:rPr lang="en-US" sz="2400" b="1">
                <a:latin typeface="Tahoma" pitchFamily="34" charset="0"/>
              </a:rPr>
              <a:t>Cash Reconciliation Report</a:t>
            </a:r>
          </a:p>
          <a:p>
            <a:pPr marL="631825" indent="-631825">
              <a:buFont typeface="Wingdings" pitchFamily="2" charset="2"/>
              <a:buChar char="q"/>
            </a:pPr>
            <a:r>
              <a:rPr lang="en-US" sz="2400" b="1">
                <a:latin typeface="Tahoma" pitchFamily="34" charset="0"/>
              </a:rPr>
              <a:t>Statement of Account</a:t>
            </a:r>
          </a:p>
        </p:txBody>
      </p:sp>
      <p:pic>
        <p:nvPicPr>
          <p:cNvPr id="104452" name="Picture 4" descr="g0126207"/>
          <p:cNvPicPr>
            <a:picLocks noChangeAspect="1" noChangeArrowheads="1"/>
          </p:cNvPicPr>
          <p:nvPr/>
        </p:nvPicPr>
        <p:blipFill>
          <a:blip r:embed="rId3"/>
          <a:srcRect/>
          <a:stretch>
            <a:fillRect/>
          </a:stretch>
        </p:blipFill>
        <p:spPr bwMode="auto">
          <a:xfrm>
            <a:off x="247650" y="228600"/>
            <a:ext cx="3219450" cy="23622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ChangeArrowheads="1"/>
          </p:cNvSpPr>
          <p:nvPr>
            <p:ph type="title"/>
          </p:nvPr>
        </p:nvSpPr>
        <p:spPr>
          <a:xfrm>
            <a:off x="495300" y="457200"/>
            <a:ext cx="8915400" cy="838200"/>
          </a:xfrm>
        </p:spPr>
        <p:txBody>
          <a:bodyPr/>
          <a:lstStyle/>
          <a:p>
            <a:pPr eaLnBrk="1" hangingPunct="1"/>
            <a:r>
              <a:rPr lang="en-US" smtClean="0"/>
              <a:t>Aging Report</a:t>
            </a:r>
          </a:p>
        </p:txBody>
      </p:sp>
      <p:sp>
        <p:nvSpPr>
          <p:cNvPr id="105475" name="Rectangle 3"/>
          <p:cNvSpPr>
            <a:spLocks noGrp="1" noChangeArrowheads="1"/>
          </p:cNvSpPr>
          <p:nvPr>
            <p:ph type="body" idx="1"/>
          </p:nvPr>
        </p:nvSpPr>
        <p:spPr>
          <a:xfrm>
            <a:off x="495300" y="1371600"/>
            <a:ext cx="8915400" cy="4724400"/>
          </a:xfrm>
        </p:spPr>
        <p:txBody>
          <a:bodyPr/>
          <a:lstStyle/>
          <a:p>
            <a:pPr eaLnBrk="1" hangingPunct="1">
              <a:lnSpc>
                <a:spcPct val="90000"/>
              </a:lnSpc>
              <a:buClr>
                <a:schemeClr val="tx1"/>
              </a:buClr>
            </a:pPr>
            <a:r>
              <a:rPr lang="en-US" sz="2800" smtClean="0"/>
              <a:t>Bertujuan untuk mengetahui umur dari A/P</a:t>
            </a:r>
          </a:p>
          <a:p>
            <a:pPr eaLnBrk="1" hangingPunct="1">
              <a:lnSpc>
                <a:spcPct val="90000"/>
              </a:lnSpc>
              <a:buClr>
                <a:schemeClr val="tx1"/>
              </a:buClr>
            </a:pPr>
            <a:r>
              <a:rPr lang="en-US" sz="2800" smtClean="0"/>
              <a:t>Membantu penentuan prioritas pembayaran</a:t>
            </a:r>
          </a:p>
          <a:p>
            <a:pPr eaLnBrk="1" hangingPunct="1">
              <a:lnSpc>
                <a:spcPct val="90000"/>
              </a:lnSpc>
              <a:buClr>
                <a:schemeClr val="tx1"/>
              </a:buClr>
            </a:pPr>
            <a:r>
              <a:rPr lang="en-US" sz="2800" smtClean="0"/>
              <a:t>Mengukur credit limit dari supplier</a:t>
            </a:r>
          </a:p>
          <a:p>
            <a:pPr eaLnBrk="1" hangingPunct="1">
              <a:lnSpc>
                <a:spcPct val="90000"/>
              </a:lnSpc>
              <a:buClr>
                <a:schemeClr val="tx1"/>
              </a:buClr>
            </a:pPr>
            <a:r>
              <a:rPr lang="en-US" sz="2800" smtClean="0"/>
              <a:t>Supplier yang mempunyai posisi yang kuat akan ketat menjaga credit limitnya</a:t>
            </a:r>
          </a:p>
          <a:p>
            <a:pPr eaLnBrk="1" hangingPunct="1">
              <a:lnSpc>
                <a:spcPct val="90000"/>
              </a:lnSpc>
              <a:buClr>
                <a:schemeClr val="tx1"/>
              </a:buClr>
            </a:pPr>
            <a:r>
              <a:rPr lang="en-US" sz="2800" smtClean="0"/>
              <a:t>Menghindari supplier menunda/menahan delivery</a:t>
            </a:r>
          </a:p>
          <a:p>
            <a:pPr eaLnBrk="1" hangingPunct="1">
              <a:lnSpc>
                <a:spcPct val="90000"/>
              </a:lnSpc>
              <a:buClr>
                <a:schemeClr val="tx1"/>
              </a:buClr>
            </a:pPr>
            <a:r>
              <a:rPr lang="en-US" sz="2800" smtClean="0"/>
              <a:t>Umur A/P supplier yang lemah cenderung akan panjang</a:t>
            </a:r>
          </a:p>
          <a:p>
            <a:pPr eaLnBrk="1" hangingPunct="1">
              <a:lnSpc>
                <a:spcPct val="90000"/>
              </a:lnSpc>
              <a:buClr>
                <a:schemeClr val="tx1"/>
              </a:buClr>
            </a:pPr>
            <a:r>
              <a:rPr lang="en-US" sz="2800" smtClean="0"/>
              <a:t>Perlu dikembangkan strategi win-win solution dengan supplier</a:t>
            </a: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Text Box 2"/>
          <p:cNvSpPr txBox="1">
            <a:spLocks noChangeArrowheads="1"/>
          </p:cNvSpPr>
          <p:nvPr/>
        </p:nvSpPr>
        <p:spPr bwMode="auto">
          <a:xfrm>
            <a:off x="395288" y="336550"/>
            <a:ext cx="3959225" cy="641350"/>
          </a:xfrm>
          <a:prstGeom prst="rect">
            <a:avLst/>
          </a:prstGeom>
          <a:noFill/>
          <a:ln w="9525">
            <a:noFill/>
            <a:miter lim="800000"/>
            <a:headEnd/>
            <a:tailEnd/>
          </a:ln>
        </p:spPr>
        <p:txBody>
          <a:bodyPr wrap="none">
            <a:spAutoFit/>
          </a:bodyPr>
          <a:lstStyle/>
          <a:p>
            <a:r>
              <a:rPr lang="en-US" sz="3600" u="sng">
                <a:latin typeface="Tahoma" pitchFamily="34" charset="0"/>
              </a:rPr>
              <a:t>Aging A/P Report</a:t>
            </a:r>
          </a:p>
        </p:txBody>
      </p:sp>
      <p:pic>
        <p:nvPicPr>
          <p:cNvPr id="106499" name="Picture 3"/>
          <p:cNvPicPr>
            <a:picLocks noChangeAspect="1" noChangeArrowheads="1"/>
          </p:cNvPicPr>
          <p:nvPr/>
        </p:nvPicPr>
        <p:blipFill>
          <a:blip r:embed="rId3"/>
          <a:srcRect/>
          <a:stretch>
            <a:fillRect/>
          </a:stretch>
        </p:blipFill>
        <p:spPr bwMode="auto">
          <a:xfrm>
            <a:off x="247650" y="1143000"/>
            <a:ext cx="9493250" cy="4343400"/>
          </a:xfrm>
          <a:prstGeom prst="rect">
            <a:avLst/>
          </a:prstGeom>
          <a:noFill/>
          <a:ln w="9525">
            <a:solidFill>
              <a:srgbClr val="000066"/>
            </a:solidFill>
            <a:miter lim="800000"/>
            <a:headEnd/>
            <a:tailEnd/>
          </a:ln>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2"/>
          <p:cNvSpPr>
            <a:spLocks noChangeArrowheads="1"/>
          </p:cNvSpPr>
          <p:nvPr/>
        </p:nvSpPr>
        <p:spPr bwMode="auto">
          <a:xfrm>
            <a:off x="0" y="1662113"/>
            <a:ext cx="9906000" cy="3048000"/>
          </a:xfrm>
          <a:prstGeom prst="rect">
            <a:avLst/>
          </a:prstGeom>
          <a:noFill/>
          <a:ln w="9525">
            <a:solidFill>
              <a:schemeClr val="tx1"/>
            </a:solidFill>
            <a:miter lim="800000"/>
            <a:headEnd/>
            <a:tailEnd/>
          </a:ln>
        </p:spPr>
        <p:txBody>
          <a:bodyPr wrap="none" anchor="ctr"/>
          <a:lstStyle/>
          <a:p>
            <a:pPr algn="ctr"/>
            <a:endParaRPr lang="en-US"/>
          </a:p>
        </p:txBody>
      </p:sp>
      <p:sp>
        <p:nvSpPr>
          <p:cNvPr id="5124" name="Rectangle 3"/>
          <p:cNvSpPr>
            <a:spLocks noGrp="1" noChangeArrowheads="1"/>
          </p:cNvSpPr>
          <p:nvPr>
            <p:ph type="title"/>
          </p:nvPr>
        </p:nvSpPr>
        <p:spPr/>
        <p:txBody>
          <a:bodyPr/>
          <a:lstStyle/>
          <a:p>
            <a:pPr eaLnBrk="1" hangingPunct="1"/>
            <a:r>
              <a:rPr lang="en-US" smtClean="0"/>
              <a:t>Report Accounts Payable</a:t>
            </a:r>
          </a:p>
        </p:txBody>
      </p:sp>
      <p:graphicFrame>
        <p:nvGraphicFramePr>
          <p:cNvPr id="5122" name="Object 4"/>
          <p:cNvGraphicFramePr>
            <a:graphicFrameLocks noChangeAspect="1"/>
          </p:cNvGraphicFramePr>
          <p:nvPr>
            <p:ph idx="1"/>
          </p:nvPr>
        </p:nvGraphicFramePr>
        <p:xfrm>
          <a:off x="692150" y="2589213"/>
          <a:ext cx="8223250" cy="1754187"/>
        </p:xfrm>
        <a:graphic>
          <a:graphicData uri="http://schemas.openxmlformats.org/presentationml/2006/ole">
            <p:oleObj spid="_x0000_s241666" name="Worksheet" r:id="rId4" imgW="8877300" imgH="2628900" progId="Excel.Sheet.8">
              <p:link updateAutomatic="1"/>
            </p:oleObj>
          </a:graphicData>
        </a:graphic>
      </p:graphicFrame>
      <p:sp>
        <p:nvSpPr>
          <p:cNvPr id="5125" name="Oval 5"/>
          <p:cNvSpPr>
            <a:spLocks noChangeArrowheads="1"/>
          </p:cNvSpPr>
          <p:nvPr/>
        </p:nvSpPr>
        <p:spPr bwMode="auto">
          <a:xfrm>
            <a:off x="3219450" y="3948113"/>
            <a:ext cx="825500" cy="304800"/>
          </a:xfrm>
          <a:prstGeom prst="ellipse">
            <a:avLst/>
          </a:prstGeom>
          <a:noFill/>
          <a:ln w="9525">
            <a:solidFill>
              <a:schemeClr val="hlink"/>
            </a:solidFill>
            <a:round/>
            <a:headEnd/>
            <a:tailEnd/>
          </a:ln>
        </p:spPr>
        <p:txBody>
          <a:bodyPr wrap="none" anchor="ctr"/>
          <a:lstStyle/>
          <a:p>
            <a:endParaRPr lang="en-US"/>
          </a:p>
        </p:txBody>
      </p:sp>
      <p:sp>
        <p:nvSpPr>
          <p:cNvPr id="5126" name="Line 6"/>
          <p:cNvSpPr>
            <a:spLocks noChangeShapeType="1"/>
          </p:cNvSpPr>
          <p:nvPr/>
        </p:nvSpPr>
        <p:spPr bwMode="auto">
          <a:xfrm flipH="1">
            <a:off x="2228850" y="4252913"/>
            <a:ext cx="1320800" cy="1066800"/>
          </a:xfrm>
          <a:prstGeom prst="line">
            <a:avLst/>
          </a:prstGeom>
          <a:noFill/>
          <a:ln w="9525">
            <a:solidFill>
              <a:srgbClr val="080808"/>
            </a:solidFill>
            <a:round/>
            <a:headEnd/>
            <a:tailEnd type="triangle" w="med" len="med"/>
          </a:ln>
        </p:spPr>
        <p:txBody>
          <a:bodyPr/>
          <a:lstStyle/>
          <a:p>
            <a:endParaRPr lang="en-US"/>
          </a:p>
        </p:txBody>
      </p:sp>
      <p:sp>
        <p:nvSpPr>
          <p:cNvPr id="5127" name="Text Box 7"/>
          <p:cNvSpPr txBox="1">
            <a:spLocks noChangeArrowheads="1"/>
          </p:cNvSpPr>
          <p:nvPr/>
        </p:nvSpPr>
        <p:spPr bwMode="auto">
          <a:xfrm>
            <a:off x="1633538" y="5280025"/>
            <a:ext cx="1246187" cy="366713"/>
          </a:xfrm>
          <a:prstGeom prst="rect">
            <a:avLst/>
          </a:prstGeom>
          <a:noFill/>
          <a:ln w="9525">
            <a:noFill/>
            <a:miter lim="800000"/>
            <a:headEnd/>
            <a:tailEnd/>
          </a:ln>
        </p:spPr>
        <p:txBody>
          <a:bodyPr wrap="none">
            <a:spAutoFit/>
          </a:bodyPr>
          <a:lstStyle/>
          <a:p>
            <a:r>
              <a:rPr lang="en-US"/>
              <a:t>Exposure</a:t>
            </a:r>
          </a:p>
        </p:txBody>
      </p:sp>
      <p:sp>
        <p:nvSpPr>
          <p:cNvPr id="5128" name="Oval 8"/>
          <p:cNvSpPr>
            <a:spLocks noChangeArrowheads="1"/>
          </p:cNvSpPr>
          <p:nvPr/>
        </p:nvSpPr>
        <p:spPr bwMode="auto">
          <a:xfrm>
            <a:off x="5778500" y="3948113"/>
            <a:ext cx="825500" cy="304800"/>
          </a:xfrm>
          <a:prstGeom prst="ellipse">
            <a:avLst/>
          </a:prstGeom>
          <a:noFill/>
          <a:ln w="9525">
            <a:solidFill>
              <a:schemeClr val="hlink"/>
            </a:solidFill>
            <a:round/>
            <a:headEnd/>
            <a:tailEnd/>
          </a:ln>
        </p:spPr>
        <p:txBody>
          <a:bodyPr wrap="none" anchor="ctr"/>
          <a:lstStyle/>
          <a:p>
            <a:endParaRPr lang="en-US"/>
          </a:p>
        </p:txBody>
      </p:sp>
      <p:sp>
        <p:nvSpPr>
          <p:cNvPr id="5129" name="Line 9"/>
          <p:cNvSpPr>
            <a:spLocks noChangeShapeType="1"/>
          </p:cNvSpPr>
          <p:nvPr/>
        </p:nvSpPr>
        <p:spPr bwMode="auto">
          <a:xfrm flipH="1">
            <a:off x="4787900" y="4252913"/>
            <a:ext cx="1320800" cy="1066800"/>
          </a:xfrm>
          <a:prstGeom prst="line">
            <a:avLst/>
          </a:prstGeom>
          <a:noFill/>
          <a:ln w="9525">
            <a:solidFill>
              <a:srgbClr val="080808"/>
            </a:solidFill>
            <a:round/>
            <a:headEnd/>
            <a:tailEnd type="triangle" w="med" len="med"/>
          </a:ln>
        </p:spPr>
        <p:txBody>
          <a:bodyPr/>
          <a:lstStyle/>
          <a:p>
            <a:endParaRPr lang="en-US"/>
          </a:p>
        </p:txBody>
      </p:sp>
      <p:sp>
        <p:nvSpPr>
          <p:cNvPr id="5130" name="Text Box 10"/>
          <p:cNvSpPr txBox="1">
            <a:spLocks noChangeArrowheads="1"/>
          </p:cNvSpPr>
          <p:nvPr/>
        </p:nvSpPr>
        <p:spPr bwMode="auto">
          <a:xfrm>
            <a:off x="3708400" y="5257800"/>
            <a:ext cx="2716213" cy="366713"/>
          </a:xfrm>
          <a:prstGeom prst="rect">
            <a:avLst/>
          </a:prstGeom>
          <a:noFill/>
          <a:ln w="9525">
            <a:noFill/>
            <a:miter lim="800000"/>
            <a:headEnd/>
            <a:tailEnd/>
          </a:ln>
        </p:spPr>
        <p:txBody>
          <a:bodyPr wrap="none">
            <a:spAutoFit/>
          </a:bodyPr>
          <a:lstStyle/>
          <a:p>
            <a:r>
              <a:rPr lang="en-US"/>
              <a:t>Average Payable Days</a:t>
            </a:r>
          </a:p>
        </p:txBody>
      </p:sp>
      <p:sp>
        <p:nvSpPr>
          <p:cNvPr id="5131" name="Oval 11"/>
          <p:cNvSpPr>
            <a:spLocks noChangeArrowheads="1"/>
          </p:cNvSpPr>
          <p:nvPr/>
        </p:nvSpPr>
        <p:spPr bwMode="auto">
          <a:xfrm>
            <a:off x="6191250" y="2362200"/>
            <a:ext cx="2971800" cy="914400"/>
          </a:xfrm>
          <a:prstGeom prst="ellipse">
            <a:avLst/>
          </a:prstGeom>
          <a:noFill/>
          <a:ln w="9525">
            <a:solidFill>
              <a:srgbClr val="993300"/>
            </a:solidFill>
            <a:round/>
            <a:headEnd/>
            <a:tailEnd/>
          </a:ln>
        </p:spPr>
        <p:txBody>
          <a:bodyPr wrap="none" anchor="ctr"/>
          <a:lstStyle/>
          <a:p>
            <a:endParaRPr lang="en-US"/>
          </a:p>
        </p:txBody>
      </p:sp>
      <p:sp>
        <p:nvSpPr>
          <p:cNvPr id="5132" name="Line 12"/>
          <p:cNvSpPr>
            <a:spLocks noChangeShapeType="1"/>
          </p:cNvSpPr>
          <p:nvPr/>
        </p:nvSpPr>
        <p:spPr bwMode="auto">
          <a:xfrm flipH="1">
            <a:off x="7099300" y="4329113"/>
            <a:ext cx="1320800" cy="1066800"/>
          </a:xfrm>
          <a:prstGeom prst="line">
            <a:avLst/>
          </a:prstGeom>
          <a:noFill/>
          <a:ln w="9525">
            <a:solidFill>
              <a:srgbClr val="080808"/>
            </a:solidFill>
            <a:round/>
            <a:headEnd/>
            <a:tailEnd type="triangle" w="med" len="med"/>
          </a:ln>
        </p:spPr>
        <p:txBody>
          <a:bodyPr/>
          <a:lstStyle/>
          <a:p>
            <a:endParaRPr lang="en-US"/>
          </a:p>
        </p:txBody>
      </p:sp>
      <p:sp>
        <p:nvSpPr>
          <p:cNvPr id="5133" name="Text Box 13"/>
          <p:cNvSpPr txBox="1">
            <a:spLocks noChangeArrowheads="1"/>
          </p:cNvSpPr>
          <p:nvPr/>
        </p:nvSpPr>
        <p:spPr bwMode="auto">
          <a:xfrm>
            <a:off x="6751638" y="5356225"/>
            <a:ext cx="2443162" cy="366713"/>
          </a:xfrm>
          <a:prstGeom prst="rect">
            <a:avLst/>
          </a:prstGeom>
          <a:noFill/>
          <a:ln w="9525">
            <a:noFill/>
            <a:miter lim="800000"/>
            <a:headEnd/>
            <a:tailEnd/>
          </a:ln>
        </p:spPr>
        <p:txBody>
          <a:bodyPr wrap="none">
            <a:spAutoFit/>
          </a:bodyPr>
          <a:lstStyle/>
          <a:p>
            <a:r>
              <a:rPr lang="en-US"/>
              <a:t>Cash Disbursement </a:t>
            </a:r>
          </a:p>
        </p:txBody>
      </p:sp>
      <p:sp>
        <p:nvSpPr>
          <p:cNvPr id="5134" name="Text Box 14"/>
          <p:cNvSpPr txBox="1">
            <a:spLocks noChangeArrowheads="1"/>
          </p:cNvSpPr>
          <p:nvPr/>
        </p:nvSpPr>
        <p:spPr bwMode="auto">
          <a:xfrm>
            <a:off x="2559050" y="1600200"/>
            <a:ext cx="4794250" cy="366713"/>
          </a:xfrm>
          <a:prstGeom prst="rect">
            <a:avLst/>
          </a:prstGeom>
          <a:noFill/>
          <a:ln w="9525">
            <a:noFill/>
            <a:miter lim="800000"/>
            <a:headEnd/>
            <a:tailEnd/>
          </a:ln>
        </p:spPr>
        <p:txBody>
          <a:bodyPr wrap="none">
            <a:spAutoFit/>
          </a:bodyPr>
          <a:lstStyle/>
          <a:p>
            <a:r>
              <a:rPr lang="en-US">
                <a:solidFill>
                  <a:schemeClr val="bg2"/>
                </a:solidFill>
              </a:rPr>
              <a:t>Supporting Account Payable As Feb 2007</a:t>
            </a:r>
          </a:p>
        </p:txBody>
      </p:sp>
      <p:sp>
        <p:nvSpPr>
          <p:cNvPr id="5135" name="Oval 15"/>
          <p:cNvSpPr>
            <a:spLocks noChangeArrowheads="1"/>
          </p:cNvSpPr>
          <p:nvPr/>
        </p:nvSpPr>
        <p:spPr bwMode="auto">
          <a:xfrm>
            <a:off x="6769100" y="4024313"/>
            <a:ext cx="3054350" cy="457200"/>
          </a:xfrm>
          <a:prstGeom prst="ellipse">
            <a:avLst/>
          </a:prstGeom>
          <a:noFill/>
          <a:ln w="9525">
            <a:solidFill>
              <a:srgbClr val="993300"/>
            </a:solidFill>
            <a:round/>
            <a:headEnd/>
            <a:tailEnd/>
          </a:ln>
        </p:spPr>
        <p:txBody>
          <a:bodyPr wrap="none" anchor="ctr"/>
          <a:lstStyle/>
          <a:p>
            <a:endParaRPr lang="en-US"/>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7522" name="Picture 2"/>
          <p:cNvPicPr>
            <a:picLocks noChangeAspect="1" noChangeArrowheads="1"/>
          </p:cNvPicPr>
          <p:nvPr/>
        </p:nvPicPr>
        <p:blipFill>
          <a:blip r:embed="rId3"/>
          <a:srcRect/>
          <a:stretch>
            <a:fillRect/>
          </a:stretch>
        </p:blipFill>
        <p:spPr bwMode="auto">
          <a:xfrm>
            <a:off x="393700" y="1143000"/>
            <a:ext cx="9117013" cy="5078413"/>
          </a:xfrm>
          <a:prstGeom prst="rect">
            <a:avLst/>
          </a:prstGeom>
          <a:noFill/>
          <a:ln w="9525">
            <a:solidFill>
              <a:srgbClr val="CC3300"/>
            </a:solidFill>
            <a:miter lim="800000"/>
            <a:headEnd/>
            <a:tailEnd/>
          </a:ln>
        </p:spPr>
      </p:pic>
      <p:sp>
        <p:nvSpPr>
          <p:cNvPr id="107523" name="Text Box 3"/>
          <p:cNvSpPr txBox="1">
            <a:spLocks noChangeArrowheads="1"/>
          </p:cNvSpPr>
          <p:nvPr/>
        </p:nvSpPr>
        <p:spPr bwMode="auto">
          <a:xfrm>
            <a:off x="412750" y="457200"/>
            <a:ext cx="6623050" cy="579438"/>
          </a:xfrm>
          <a:prstGeom prst="rect">
            <a:avLst/>
          </a:prstGeom>
          <a:noFill/>
          <a:ln w="9525">
            <a:noFill/>
            <a:miter lim="800000"/>
            <a:headEnd/>
            <a:tailEnd/>
          </a:ln>
        </p:spPr>
        <p:txBody>
          <a:bodyPr wrap="none">
            <a:spAutoFit/>
          </a:bodyPr>
          <a:lstStyle/>
          <a:p>
            <a:r>
              <a:rPr lang="en-US" sz="3200" u="sng">
                <a:latin typeface="Tahoma" pitchFamily="34" charset="0"/>
              </a:rPr>
              <a:t>Down/Advanced Payment Report</a:t>
            </a: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495300" y="457200"/>
            <a:ext cx="8915400" cy="990600"/>
          </a:xfrm>
        </p:spPr>
        <p:txBody>
          <a:bodyPr/>
          <a:lstStyle/>
          <a:p>
            <a:pPr eaLnBrk="1" hangingPunct="1"/>
            <a:r>
              <a:rPr lang="en-US" smtClean="0"/>
              <a:t>Master Vendors File</a:t>
            </a:r>
          </a:p>
        </p:txBody>
      </p:sp>
      <p:sp>
        <p:nvSpPr>
          <p:cNvPr id="23555" name="Rectangle 3"/>
          <p:cNvSpPr>
            <a:spLocks noGrp="1" noChangeArrowheads="1"/>
          </p:cNvSpPr>
          <p:nvPr>
            <p:ph type="body" idx="1"/>
          </p:nvPr>
        </p:nvSpPr>
        <p:spPr>
          <a:xfrm>
            <a:off x="577850" y="1447800"/>
            <a:ext cx="8997950" cy="4648200"/>
          </a:xfrm>
        </p:spPr>
        <p:txBody>
          <a:bodyPr/>
          <a:lstStyle/>
          <a:p>
            <a:pPr eaLnBrk="1" hangingPunct="1">
              <a:lnSpc>
                <a:spcPct val="80000"/>
              </a:lnSpc>
              <a:buClr>
                <a:schemeClr val="tx1"/>
              </a:buClr>
              <a:buSzTx/>
            </a:pPr>
            <a:r>
              <a:rPr lang="en-US" sz="2400" smtClean="0"/>
              <a:t>Master Vendors File &amp; Vendor Files</a:t>
            </a:r>
          </a:p>
          <a:p>
            <a:pPr lvl="1" eaLnBrk="1" hangingPunct="1">
              <a:lnSpc>
                <a:spcPct val="80000"/>
              </a:lnSpc>
              <a:buClr>
                <a:schemeClr val="tx1"/>
              </a:buClr>
              <a:buSzTx/>
            </a:pPr>
            <a:r>
              <a:rPr lang="en-US" sz="2000" smtClean="0"/>
              <a:t>Master vendor files </a:t>
            </a:r>
          </a:p>
          <a:p>
            <a:pPr lvl="2" eaLnBrk="1" hangingPunct="1">
              <a:lnSpc>
                <a:spcPct val="80000"/>
              </a:lnSpc>
              <a:buClr>
                <a:schemeClr val="tx1"/>
              </a:buClr>
              <a:buSzTx/>
            </a:pPr>
            <a:r>
              <a:rPr lang="en-US" sz="1800" smtClean="0"/>
              <a:t>Informasi mengenai vendor tertentu</a:t>
            </a:r>
          </a:p>
          <a:p>
            <a:pPr lvl="3" eaLnBrk="1" hangingPunct="1">
              <a:lnSpc>
                <a:spcPct val="80000"/>
              </a:lnSpc>
              <a:buClr>
                <a:schemeClr val="tx1"/>
              </a:buClr>
              <a:buSzTx/>
            </a:pPr>
            <a:r>
              <a:rPr lang="en-US" sz="1600" smtClean="0"/>
              <a:t>Exact company name</a:t>
            </a:r>
          </a:p>
          <a:p>
            <a:pPr lvl="3" eaLnBrk="1" hangingPunct="1">
              <a:lnSpc>
                <a:spcPct val="80000"/>
              </a:lnSpc>
              <a:buClr>
                <a:schemeClr val="tx1"/>
              </a:buClr>
              <a:buSzTx/>
            </a:pPr>
            <a:r>
              <a:rPr lang="en-US" sz="1600" smtClean="0"/>
              <a:t>Address (mailing, office, bank etc)</a:t>
            </a:r>
          </a:p>
          <a:p>
            <a:pPr lvl="3" eaLnBrk="1" hangingPunct="1">
              <a:lnSpc>
                <a:spcPct val="80000"/>
              </a:lnSpc>
              <a:buClr>
                <a:schemeClr val="tx1"/>
              </a:buClr>
              <a:buSzTx/>
            </a:pPr>
            <a:r>
              <a:rPr lang="en-US" sz="1600" smtClean="0"/>
              <a:t>Organization chart</a:t>
            </a:r>
          </a:p>
          <a:p>
            <a:pPr lvl="4" eaLnBrk="1" hangingPunct="1">
              <a:lnSpc>
                <a:spcPct val="80000"/>
              </a:lnSpc>
              <a:buClr>
                <a:schemeClr val="tx1"/>
              </a:buClr>
            </a:pPr>
            <a:r>
              <a:rPr lang="en-US" sz="1600" smtClean="0"/>
              <a:t>Contact person </a:t>
            </a:r>
          </a:p>
          <a:p>
            <a:pPr lvl="4" eaLnBrk="1" hangingPunct="1">
              <a:lnSpc>
                <a:spcPct val="80000"/>
              </a:lnSpc>
              <a:buClr>
                <a:schemeClr val="tx1"/>
              </a:buClr>
            </a:pPr>
            <a:r>
              <a:rPr lang="en-US" sz="1600" smtClean="0"/>
              <a:t>CFO, CEO etc</a:t>
            </a:r>
          </a:p>
          <a:p>
            <a:pPr lvl="3" eaLnBrk="1" hangingPunct="1">
              <a:lnSpc>
                <a:spcPct val="80000"/>
              </a:lnSpc>
              <a:buClr>
                <a:schemeClr val="tx1"/>
              </a:buClr>
              <a:buSzTx/>
            </a:pPr>
            <a:r>
              <a:rPr lang="en-US" sz="1600" smtClean="0"/>
              <a:t>Product, service, Credit terms, NPWP etc</a:t>
            </a:r>
          </a:p>
          <a:p>
            <a:pPr lvl="3" eaLnBrk="1" hangingPunct="1">
              <a:lnSpc>
                <a:spcPct val="80000"/>
              </a:lnSpc>
              <a:buClr>
                <a:schemeClr val="tx1"/>
              </a:buClr>
              <a:buSzTx/>
            </a:pPr>
            <a:r>
              <a:rPr lang="en-US" sz="1600" smtClean="0"/>
              <a:t>Informasi yang dibutuhkan (evaluasi bagi purchasing)</a:t>
            </a:r>
          </a:p>
          <a:p>
            <a:pPr lvl="2" eaLnBrk="1" hangingPunct="1">
              <a:lnSpc>
                <a:spcPct val="80000"/>
              </a:lnSpc>
              <a:buClr>
                <a:schemeClr val="tx1"/>
              </a:buClr>
              <a:buSzTx/>
            </a:pPr>
            <a:r>
              <a:rPr lang="en-US" sz="1800" smtClean="0"/>
              <a:t>Merupakan alat control </a:t>
            </a:r>
          </a:p>
          <a:p>
            <a:pPr lvl="2" eaLnBrk="1" hangingPunct="1">
              <a:lnSpc>
                <a:spcPct val="80000"/>
              </a:lnSpc>
              <a:buClr>
                <a:schemeClr val="tx1"/>
              </a:buClr>
              <a:buSzTx/>
            </a:pPr>
            <a:r>
              <a:rPr lang="en-US" sz="1800" smtClean="0"/>
              <a:t>Tidak semua dapat mengakses dan mengganti</a:t>
            </a:r>
          </a:p>
          <a:p>
            <a:pPr lvl="1" eaLnBrk="1" hangingPunct="1">
              <a:lnSpc>
                <a:spcPct val="80000"/>
              </a:lnSpc>
              <a:buClr>
                <a:schemeClr val="tx1"/>
              </a:buClr>
              <a:buSzTx/>
            </a:pPr>
            <a:r>
              <a:rPr lang="en-US" sz="2000" smtClean="0"/>
              <a:t>Vendor Files</a:t>
            </a:r>
          </a:p>
          <a:p>
            <a:pPr lvl="2" eaLnBrk="1" hangingPunct="1">
              <a:lnSpc>
                <a:spcPct val="80000"/>
              </a:lnSpc>
              <a:buClr>
                <a:schemeClr val="tx1"/>
              </a:buClr>
              <a:buSzTx/>
            </a:pPr>
            <a:r>
              <a:rPr lang="en-US" sz="1800" smtClean="0"/>
              <a:t>Detail transaksi dan dokumen pendukung</a:t>
            </a:r>
          </a:p>
          <a:p>
            <a:pPr lvl="2" eaLnBrk="1" hangingPunct="1">
              <a:lnSpc>
                <a:spcPct val="80000"/>
              </a:lnSpc>
              <a:buClr>
                <a:schemeClr val="tx1"/>
              </a:buClr>
              <a:buSzTx/>
            </a:pPr>
            <a:r>
              <a:rPr lang="en-US" sz="1800" smtClean="0"/>
              <a:t>Semua invoice yang sudah dibayar</a:t>
            </a:r>
          </a:p>
          <a:p>
            <a:pPr lvl="2" eaLnBrk="1" hangingPunct="1">
              <a:lnSpc>
                <a:spcPct val="80000"/>
              </a:lnSpc>
              <a:buClr>
                <a:schemeClr val="tx1"/>
              </a:buClr>
              <a:buSzTx/>
            </a:pPr>
            <a:r>
              <a:rPr lang="en-US" sz="1800" smtClean="0"/>
              <a:t>Alat control</a:t>
            </a:r>
          </a:p>
          <a:p>
            <a:pPr lvl="2" eaLnBrk="1" hangingPunct="1">
              <a:lnSpc>
                <a:spcPct val="80000"/>
              </a:lnSpc>
              <a:buClr>
                <a:schemeClr val="tx1"/>
              </a:buClr>
              <a:buSzTx/>
            </a:pPr>
            <a:r>
              <a:rPr lang="en-US" sz="1800" smtClean="0"/>
              <a:t>Ada yang disatukan dengan master vendor files</a:t>
            </a: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495300" y="457200"/>
            <a:ext cx="8915400" cy="838200"/>
          </a:xfrm>
        </p:spPr>
        <p:txBody>
          <a:bodyPr/>
          <a:lstStyle/>
          <a:p>
            <a:pPr eaLnBrk="1" hangingPunct="1"/>
            <a:r>
              <a:rPr lang="en-US" smtClean="0"/>
              <a:t>Handling Invoice</a:t>
            </a:r>
          </a:p>
        </p:txBody>
      </p:sp>
      <p:sp>
        <p:nvSpPr>
          <p:cNvPr id="24579" name="Rectangle 3"/>
          <p:cNvSpPr>
            <a:spLocks noGrp="1" noChangeArrowheads="1"/>
          </p:cNvSpPr>
          <p:nvPr>
            <p:ph type="body" idx="1"/>
          </p:nvPr>
        </p:nvSpPr>
        <p:spPr>
          <a:xfrm>
            <a:off x="247650" y="1143000"/>
            <a:ext cx="9410700" cy="5105400"/>
          </a:xfrm>
        </p:spPr>
        <p:txBody>
          <a:bodyPr/>
          <a:lstStyle/>
          <a:p>
            <a:pPr eaLnBrk="1" hangingPunct="1">
              <a:lnSpc>
                <a:spcPct val="90000"/>
              </a:lnSpc>
              <a:buClr>
                <a:schemeClr val="tx1"/>
              </a:buClr>
              <a:buSzTx/>
            </a:pPr>
            <a:r>
              <a:rPr lang="en-US" sz="2400" smtClean="0"/>
              <a:t>Three-way match (lebih)</a:t>
            </a:r>
          </a:p>
          <a:p>
            <a:pPr lvl="1" eaLnBrk="1" hangingPunct="1">
              <a:lnSpc>
                <a:spcPct val="90000"/>
              </a:lnSpc>
              <a:buClr>
                <a:schemeClr val="tx1"/>
              </a:buClr>
              <a:buSzTx/>
            </a:pPr>
            <a:r>
              <a:rPr lang="en-US" sz="2000" smtClean="0"/>
              <a:t>Invoice</a:t>
            </a:r>
          </a:p>
          <a:p>
            <a:pPr lvl="2" eaLnBrk="1" hangingPunct="1">
              <a:lnSpc>
                <a:spcPct val="90000"/>
              </a:lnSpc>
              <a:buClr>
                <a:schemeClr val="tx1"/>
              </a:buClr>
              <a:buSzTx/>
            </a:pPr>
            <a:r>
              <a:rPr lang="en-US" sz="1800" smtClean="0"/>
              <a:t>Berisi</a:t>
            </a:r>
          </a:p>
          <a:p>
            <a:pPr lvl="3" eaLnBrk="1" hangingPunct="1">
              <a:lnSpc>
                <a:spcPct val="90000"/>
              </a:lnSpc>
              <a:buClr>
                <a:schemeClr val="tx1"/>
              </a:buClr>
              <a:buSzTx/>
            </a:pPr>
            <a:r>
              <a:rPr lang="en-US" sz="1600" smtClean="0"/>
              <a:t>Where to send the payment</a:t>
            </a:r>
          </a:p>
          <a:p>
            <a:pPr lvl="3" eaLnBrk="1" hangingPunct="1">
              <a:lnSpc>
                <a:spcPct val="90000"/>
              </a:lnSpc>
              <a:buClr>
                <a:schemeClr val="tx1"/>
              </a:buClr>
              <a:buSzTx/>
            </a:pPr>
            <a:r>
              <a:rPr lang="en-US" sz="1600" smtClean="0"/>
              <a:t>When the payment is due</a:t>
            </a:r>
          </a:p>
          <a:p>
            <a:pPr lvl="3" eaLnBrk="1" hangingPunct="1">
              <a:lnSpc>
                <a:spcPct val="90000"/>
              </a:lnSpc>
              <a:buClr>
                <a:schemeClr val="tx1"/>
              </a:buClr>
              <a:buSzTx/>
            </a:pPr>
            <a:r>
              <a:rPr lang="en-US" sz="1600" smtClean="0"/>
              <a:t>Payment terms, discount, rate </a:t>
            </a:r>
          </a:p>
          <a:p>
            <a:pPr lvl="3" eaLnBrk="1" hangingPunct="1">
              <a:lnSpc>
                <a:spcPct val="90000"/>
              </a:lnSpc>
              <a:buClr>
                <a:schemeClr val="tx1"/>
              </a:buClr>
              <a:buSzTx/>
            </a:pPr>
            <a:r>
              <a:rPr lang="en-US" sz="1600" smtClean="0"/>
              <a:t>Special instructions</a:t>
            </a:r>
          </a:p>
          <a:p>
            <a:pPr lvl="2" eaLnBrk="1" hangingPunct="1">
              <a:lnSpc>
                <a:spcPct val="90000"/>
              </a:lnSpc>
              <a:buClr>
                <a:schemeClr val="tx1"/>
              </a:buClr>
              <a:buSzTx/>
            </a:pPr>
            <a:r>
              <a:rPr lang="en-US" sz="1800" smtClean="0"/>
              <a:t>Tidak semua invoice sama</a:t>
            </a:r>
          </a:p>
          <a:p>
            <a:pPr lvl="3" eaLnBrk="1" hangingPunct="1">
              <a:lnSpc>
                <a:spcPct val="90000"/>
              </a:lnSpc>
              <a:buClr>
                <a:schemeClr val="tx1"/>
              </a:buClr>
              <a:buSzTx/>
            </a:pPr>
            <a:r>
              <a:rPr lang="en-US" sz="1600" smtClean="0"/>
              <a:t>Tidak standar tiap supplier</a:t>
            </a:r>
          </a:p>
          <a:p>
            <a:pPr lvl="3" eaLnBrk="1" hangingPunct="1">
              <a:lnSpc>
                <a:spcPct val="90000"/>
              </a:lnSpc>
              <a:buClr>
                <a:schemeClr val="tx1"/>
              </a:buClr>
              <a:buSzTx/>
            </a:pPr>
            <a:r>
              <a:rPr lang="en-US" sz="1600" smtClean="0"/>
              <a:t>Sering tidak lengkap dan terjadi kesalahan</a:t>
            </a:r>
          </a:p>
          <a:p>
            <a:pPr lvl="3" eaLnBrk="1" hangingPunct="1">
              <a:lnSpc>
                <a:spcPct val="90000"/>
              </a:lnSpc>
              <a:buClr>
                <a:schemeClr val="tx1"/>
              </a:buClr>
              <a:buSzTx/>
            </a:pPr>
            <a:r>
              <a:rPr lang="en-US" sz="1600" smtClean="0"/>
              <a:t>Tandai supplier yang sering salah</a:t>
            </a:r>
          </a:p>
          <a:p>
            <a:pPr lvl="2" eaLnBrk="1" hangingPunct="1">
              <a:lnSpc>
                <a:spcPct val="90000"/>
              </a:lnSpc>
              <a:buClr>
                <a:schemeClr val="tx1"/>
              </a:buClr>
              <a:buSzTx/>
            </a:pPr>
            <a:r>
              <a:rPr lang="en-US" sz="1800" smtClean="0"/>
              <a:t>Account Payable tidak bisa diukur kinerjanya berdasarkan jumlah invoice</a:t>
            </a:r>
          </a:p>
          <a:p>
            <a:pPr lvl="1" eaLnBrk="1" hangingPunct="1">
              <a:lnSpc>
                <a:spcPct val="90000"/>
              </a:lnSpc>
              <a:buClr>
                <a:schemeClr val="tx1"/>
              </a:buClr>
              <a:buSzTx/>
            </a:pPr>
            <a:r>
              <a:rPr lang="en-US" sz="2000" smtClean="0"/>
              <a:t>Purchased Order</a:t>
            </a:r>
          </a:p>
          <a:p>
            <a:pPr lvl="2" eaLnBrk="1" hangingPunct="1">
              <a:lnSpc>
                <a:spcPct val="90000"/>
              </a:lnSpc>
              <a:buClr>
                <a:schemeClr val="tx1"/>
              </a:buClr>
              <a:buSzTx/>
            </a:pPr>
            <a:r>
              <a:rPr lang="en-US" sz="1800" smtClean="0"/>
              <a:t>Apakah perlu di “cc” ke Account Payable ???</a:t>
            </a:r>
          </a:p>
          <a:p>
            <a:pPr lvl="2" eaLnBrk="1" hangingPunct="1">
              <a:lnSpc>
                <a:spcPct val="90000"/>
              </a:lnSpc>
              <a:buClr>
                <a:schemeClr val="tx1"/>
              </a:buClr>
              <a:buSzTx/>
            </a:pPr>
            <a:r>
              <a:rPr lang="en-US" sz="1800" smtClean="0"/>
              <a:t>Siapa yang harus approve ???</a:t>
            </a:r>
          </a:p>
          <a:p>
            <a:pPr lvl="2" eaLnBrk="1" hangingPunct="1">
              <a:lnSpc>
                <a:spcPct val="90000"/>
              </a:lnSpc>
              <a:buClr>
                <a:schemeClr val="tx1"/>
              </a:buClr>
              <a:buSzTx/>
            </a:pPr>
            <a:r>
              <a:rPr lang="en-US" sz="1800" smtClean="0"/>
              <a:t>Sering terjadi kesalahan</a:t>
            </a:r>
          </a:p>
          <a:p>
            <a:pPr lvl="3" eaLnBrk="1" hangingPunct="1">
              <a:lnSpc>
                <a:spcPct val="90000"/>
              </a:lnSpc>
              <a:buClr>
                <a:schemeClr val="tx1"/>
              </a:buClr>
              <a:buSzTx/>
            </a:pPr>
            <a:r>
              <a:rPr lang="en-US" sz="1600" smtClean="0"/>
              <a:t>Account, Perhitungan, Kelengkapan, </a:t>
            </a:r>
            <a:r>
              <a:rPr lang="en-US" sz="1600" b="1" i="1" smtClean="0"/>
              <a:t>RATIONAL</a:t>
            </a:r>
          </a:p>
          <a:p>
            <a:pPr lvl="1" eaLnBrk="1" hangingPunct="1">
              <a:lnSpc>
                <a:spcPct val="90000"/>
              </a:lnSpc>
              <a:buClr>
                <a:schemeClr val="tx1"/>
              </a:buClr>
              <a:buSzTx/>
            </a:pPr>
            <a:r>
              <a:rPr lang="en-US" sz="2000" smtClean="0"/>
              <a:t>Good Received dan Service Received</a:t>
            </a:r>
          </a:p>
        </p:txBody>
      </p:sp>
      <p:pic>
        <p:nvPicPr>
          <p:cNvPr id="24580" name="Picture 4" descr="g0101422"/>
          <p:cNvPicPr>
            <a:picLocks noChangeAspect="1" noChangeArrowheads="1"/>
          </p:cNvPicPr>
          <p:nvPr/>
        </p:nvPicPr>
        <p:blipFill>
          <a:blip r:embed="rId3"/>
          <a:srcRect/>
          <a:stretch>
            <a:fillRect/>
          </a:stretch>
        </p:blipFill>
        <p:spPr bwMode="auto">
          <a:xfrm>
            <a:off x="7099300" y="990600"/>
            <a:ext cx="2386013" cy="251618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pPr eaLnBrk="1" hangingPunct="1"/>
            <a:r>
              <a:rPr lang="en-US" smtClean="0"/>
              <a:t>Document</a:t>
            </a:r>
          </a:p>
        </p:txBody>
      </p:sp>
      <p:sp>
        <p:nvSpPr>
          <p:cNvPr id="25603" name="Rectangle 3"/>
          <p:cNvSpPr>
            <a:spLocks noGrp="1" noChangeArrowheads="1"/>
          </p:cNvSpPr>
          <p:nvPr>
            <p:ph type="body" idx="1"/>
          </p:nvPr>
        </p:nvSpPr>
        <p:spPr>
          <a:xfrm>
            <a:off x="495300" y="1447800"/>
            <a:ext cx="8915400" cy="4648200"/>
          </a:xfrm>
        </p:spPr>
        <p:txBody>
          <a:bodyPr/>
          <a:lstStyle/>
          <a:p>
            <a:pPr eaLnBrk="1" hangingPunct="1">
              <a:lnSpc>
                <a:spcPct val="80000"/>
              </a:lnSpc>
              <a:buClr>
                <a:schemeClr val="tx1"/>
              </a:buClr>
            </a:pPr>
            <a:r>
              <a:rPr lang="en-US" sz="1800" b="1" smtClean="0"/>
              <a:t>Purchase Request (PR):</a:t>
            </a:r>
            <a:r>
              <a:rPr lang="en-US" sz="1800" smtClean="0"/>
              <a:t> Permintaan pembelian dari departemen user ke bagian purchasing/procurement</a:t>
            </a:r>
          </a:p>
          <a:p>
            <a:pPr eaLnBrk="1" hangingPunct="1">
              <a:lnSpc>
                <a:spcPct val="80000"/>
              </a:lnSpc>
              <a:buClr>
                <a:schemeClr val="tx1"/>
              </a:buClr>
            </a:pPr>
            <a:r>
              <a:rPr lang="en-US" sz="1800" b="1" smtClean="0"/>
              <a:t>Purchasing order (PO)</a:t>
            </a:r>
            <a:r>
              <a:rPr lang="en-US" sz="1800" smtClean="0"/>
              <a:t> : Surat order dari bag. Purchase untuk supplier</a:t>
            </a:r>
          </a:p>
          <a:p>
            <a:pPr eaLnBrk="1" hangingPunct="1">
              <a:lnSpc>
                <a:spcPct val="80000"/>
              </a:lnSpc>
              <a:buClr>
                <a:schemeClr val="tx1"/>
              </a:buClr>
            </a:pPr>
            <a:r>
              <a:rPr lang="en-US" sz="1800" b="1" smtClean="0"/>
              <a:t>Delivery Notes</a:t>
            </a:r>
            <a:r>
              <a:rPr lang="en-US" sz="1800" smtClean="0"/>
              <a:t> : Surat jalan yang dilapirkan supplier saat delivery</a:t>
            </a:r>
          </a:p>
          <a:p>
            <a:pPr eaLnBrk="1" hangingPunct="1">
              <a:lnSpc>
                <a:spcPct val="80000"/>
              </a:lnSpc>
              <a:buClr>
                <a:schemeClr val="tx1"/>
              </a:buClr>
            </a:pPr>
            <a:r>
              <a:rPr lang="en-US" sz="1800" b="1" smtClean="0"/>
              <a:t>Goods Receipt Document</a:t>
            </a:r>
            <a:r>
              <a:rPr lang="en-US" sz="1800" smtClean="0"/>
              <a:t> : Surat tanda terima barang, yang dibuat oleh warehouse</a:t>
            </a:r>
          </a:p>
          <a:p>
            <a:pPr eaLnBrk="1" hangingPunct="1">
              <a:lnSpc>
                <a:spcPct val="80000"/>
              </a:lnSpc>
              <a:buClr>
                <a:schemeClr val="tx1"/>
              </a:buClr>
            </a:pPr>
            <a:r>
              <a:rPr lang="en-US" sz="1800" b="1" smtClean="0"/>
              <a:t>Bukti penerimaan invoice</a:t>
            </a:r>
            <a:r>
              <a:rPr lang="en-US" sz="1800" smtClean="0"/>
              <a:t> : Dibuat oleh perusahaan sebagai bukti bahwa invoice supplier sudah diterima</a:t>
            </a:r>
          </a:p>
          <a:p>
            <a:pPr eaLnBrk="1" hangingPunct="1">
              <a:lnSpc>
                <a:spcPct val="80000"/>
              </a:lnSpc>
              <a:buClr>
                <a:schemeClr val="tx1"/>
              </a:buClr>
            </a:pPr>
            <a:r>
              <a:rPr lang="en-US" sz="1800" b="1" smtClean="0"/>
              <a:t>Invoice</a:t>
            </a:r>
            <a:r>
              <a:rPr lang="en-US" sz="1800" smtClean="0"/>
              <a:t> : Surat tagihan yang dibuat oleh supplier</a:t>
            </a:r>
          </a:p>
          <a:p>
            <a:pPr eaLnBrk="1" hangingPunct="1">
              <a:lnSpc>
                <a:spcPct val="80000"/>
              </a:lnSpc>
              <a:buClr>
                <a:schemeClr val="tx1"/>
              </a:buClr>
            </a:pPr>
            <a:r>
              <a:rPr lang="en-US" sz="1800" b="1" smtClean="0"/>
              <a:t>Kwitansi bermaterai</a:t>
            </a:r>
            <a:r>
              <a:rPr lang="en-US" sz="1800" smtClean="0"/>
              <a:t> : Sebagai dokumen tanda pembayaran/pengeluaran uang</a:t>
            </a:r>
          </a:p>
          <a:p>
            <a:pPr eaLnBrk="1" hangingPunct="1">
              <a:lnSpc>
                <a:spcPct val="80000"/>
              </a:lnSpc>
              <a:buClr>
                <a:schemeClr val="tx1"/>
              </a:buClr>
            </a:pPr>
            <a:r>
              <a:rPr lang="en-US" sz="1800" b="1" smtClean="0"/>
              <a:t>Faktur Pajak standard</a:t>
            </a:r>
            <a:r>
              <a:rPr lang="en-US" sz="1800" smtClean="0"/>
              <a:t> : Bukti pemungutan PPN oleh supplier sebesar 10% dari transaksi</a:t>
            </a:r>
          </a:p>
          <a:p>
            <a:pPr eaLnBrk="1" hangingPunct="1">
              <a:lnSpc>
                <a:spcPct val="80000"/>
              </a:lnSpc>
              <a:buClr>
                <a:schemeClr val="tx1"/>
              </a:buClr>
            </a:pPr>
            <a:r>
              <a:rPr lang="en-US" sz="1800" b="1" smtClean="0"/>
              <a:t>Voucher Bukti Pengeluarang Uang (BPU)</a:t>
            </a:r>
            <a:r>
              <a:rPr lang="en-US" sz="1800" smtClean="0"/>
              <a:t> : Lembar bukti perintah pengeluaran uang untuk pembayaran oleh pembelian barang atau jasa beserta penghitungan pajaknya (PPN dan PPH) dan dikurangkan dengan advanced payment (jika ada)</a:t>
            </a:r>
          </a:p>
          <a:p>
            <a:pPr eaLnBrk="1" hangingPunct="1">
              <a:lnSpc>
                <a:spcPct val="80000"/>
              </a:lnSpc>
              <a:buClr>
                <a:schemeClr val="tx1"/>
              </a:buClr>
            </a:pPr>
            <a:r>
              <a:rPr lang="en-US" sz="1800" b="1" smtClean="0"/>
              <a:t>Bukti Pemotongan PPh pasal 21, 23</a:t>
            </a:r>
            <a:r>
              <a:rPr lang="en-US" sz="1800" smtClean="0"/>
              <a:t> : Pemotongan sesuai tarif yang dilakukan oleh perusahaan atas jasa dan barang yang dibeli.</a:t>
            </a: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26" name="Object 2"/>
          <p:cNvGraphicFramePr>
            <a:graphicFrameLocks noChangeAspect="1"/>
          </p:cNvGraphicFramePr>
          <p:nvPr/>
        </p:nvGraphicFramePr>
        <p:xfrm>
          <a:off x="4127500" y="5029200"/>
          <a:ext cx="1238250" cy="1068388"/>
        </p:xfrm>
        <a:graphic>
          <a:graphicData uri="http://schemas.openxmlformats.org/presentationml/2006/ole">
            <p:oleObj spid="_x0000_s462850" name="Clip" r:id="rId4" imgW="1761480" imgH="1584360" progId="">
              <p:embed/>
            </p:oleObj>
          </a:graphicData>
        </a:graphic>
      </p:graphicFrame>
      <p:pic>
        <p:nvPicPr>
          <p:cNvPr id="1028" name="Picture 3" descr="g0208111"/>
          <p:cNvPicPr>
            <a:picLocks noChangeAspect="1" noChangeArrowheads="1"/>
          </p:cNvPicPr>
          <p:nvPr/>
        </p:nvPicPr>
        <p:blipFill>
          <a:blip r:embed="rId5"/>
          <a:srcRect/>
          <a:stretch>
            <a:fillRect/>
          </a:stretch>
        </p:blipFill>
        <p:spPr bwMode="auto">
          <a:xfrm>
            <a:off x="742950" y="2590800"/>
            <a:ext cx="1290638" cy="1139825"/>
          </a:xfrm>
          <a:prstGeom prst="rect">
            <a:avLst/>
          </a:prstGeom>
          <a:noFill/>
          <a:ln w="9525">
            <a:noFill/>
            <a:miter lim="800000"/>
            <a:headEnd/>
            <a:tailEnd/>
          </a:ln>
        </p:spPr>
      </p:pic>
      <p:pic>
        <p:nvPicPr>
          <p:cNvPr id="1029" name="Picture 4"/>
          <p:cNvPicPr>
            <a:picLocks noChangeAspect="1" noChangeArrowheads="1"/>
          </p:cNvPicPr>
          <p:nvPr/>
        </p:nvPicPr>
        <p:blipFill>
          <a:blip r:embed="rId6"/>
          <a:srcRect/>
          <a:stretch>
            <a:fillRect/>
          </a:stretch>
        </p:blipFill>
        <p:spPr bwMode="auto">
          <a:xfrm>
            <a:off x="3797300" y="2514600"/>
            <a:ext cx="1122363" cy="1295400"/>
          </a:xfrm>
          <a:prstGeom prst="rect">
            <a:avLst/>
          </a:prstGeom>
          <a:noFill/>
          <a:ln w="9525">
            <a:noFill/>
            <a:miter lim="800000"/>
            <a:headEnd/>
            <a:tailEnd/>
          </a:ln>
        </p:spPr>
      </p:pic>
      <p:grpSp>
        <p:nvGrpSpPr>
          <p:cNvPr id="2" name="Group 5"/>
          <p:cNvGrpSpPr>
            <a:grpSpLocks/>
          </p:cNvGrpSpPr>
          <p:nvPr/>
        </p:nvGrpSpPr>
        <p:grpSpPr bwMode="auto">
          <a:xfrm>
            <a:off x="412750" y="381000"/>
            <a:ext cx="1073150" cy="758825"/>
            <a:chOff x="4080" y="3652"/>
            <a:chExt cx="681" cy="380"/>
          </a:xfrm>
        </p:grpSpPr>
        <p:sp>
          <p:nvSpPr>
            <p:cNvPr id="1189" name="Freeform 6"/>
            <p:cNvSpPr>
              <a:spLocks/>
            </p:cNvSpPr>
            <p:nvPr/>
          </p:nvSpPr>
          <p:spPr bwMode="auto">
            <a:xfrm>
              <a:off x="4082" y="3938"/>
              <a:ext cx="679" cy="94"/>
            </a:xfrm>
            <a:custGeom>
              <a:avLst/>
              <a:gdLst>
                <a:gd name="T0" fmla="*/ 0 w 1644"/>
                <a:gd name="T1" fmla="*/ 0 h 223"/>
                <a:gd name="T2" fmla="*/ 0 w 1644"/>
                <a:gd name="T3" fmla="*/ 0 h 223"/>
                <a:gd name="T4" fmla="*/ 0 w 1644"/>
                <a:gd name="T5" fmla="*/ 0 h 223"/>
                <a:gd name="T6" fmla="*/ 0 w 1644"/>
                <a:gd name="T7" fmla="*/ 0 h 223"/>
                <a:gd name="T8" fmla="*/ 0 w 1644"/>
                <a:gd name="T9" fmla="*/ 0 h 223"/>
                <a:gd name="T10" fmla="*/ 0 w 1644"/>
                <a:gd name="T11" fmla="*/ 0 h 223"/>
                <a:gd name="T12" fmla="*/ 0 60000 65536"/>
                <a:gd name="T13" fmla="*/ 0 60000 65536"/>
                <a:gd name="T14" fmla="*/ 0 60000 65536"/>
                <a:gd name="T15" fmla="*/ 0 60000 65536"/>
                <a:gd name="T16" fmla="*/ 0 60000 65536"/>
                <a:gd name="T17" fmla="*/ 0 60000 65536"/>
                <a:gd name="T18" fmla="*/ 0 w 1644"/>
                <a:gd name="T19" fmla="*/ 0 h 223"/>
                <a:gd name="T20" fmla="*/ 1644 w 1644"/>
                <a:gd name="T21" fmla="*/ 223 h 223"/>
              </a:gdLst>
              <a:ahLst/>
              <a:cxnLst>
                <a:cxn ang="T12">
                  <a:pos x="T0" y="T1"/>
                </a:cxn>
                <a:cxn ang="T13">
                  <a:pos x="T2" y="T3"/>
                </a:cxn>
                <a:cxn ang="T14">
                  <a:pos x="T4" y="T5"/>
                </a:cxn>
                <a:cxn ang="T15">
                  <a:pos x="T6" y="T7"/>
                </a:cxn>
                <a:cxn ang="T16">
                  <a:pos x="T8" y="T9"/>
                </a:cxn>
                <a:cxn ang="T17">
                  <a:pos x="T10" y="T11"/>
                </a:cxn>
              </a:cxnLst>
              <a:rect l="T18" t="T19" r="T20" b="T21"/>
              <a:pathLst>
                <a:path w="1644" h="223">
                  <a:moveTo>
                    <a:pt x="42" y="0"/>
                  </a:moveTo>
                  <a:lnTo>
                    <a:pt x="0" y="23"/>
                  </a:lnTo>
                  <a:lnTo>
                    <a:pt x="2" y="58"/>
                  </a:lnTo>
                  <a:lnTo>
                    <a:pt x="1644" y="223"/>
                  </a:lnTo>
                  <a:lnTo>
                    <a:pt x="1640" y="146"/>
                  </a:lnTo>
                  <a:lnTo>
                    <a:pt x="42" y="0"/>
                  </a:lnTo>
                  <a:close/>
                </a:path>
              </a:pathLst>
            </a:custGeom>
            <a:solidFill>
              <a:srgbClr val="BF591A"/>
            </a:solidFill>
            <a:ln w="9525">
              <a:noFill/>
              <a:round/>
              <a:headEnd/>
              <a:tailEnd/>
            </a:ln>
          </p:spPr>
          <p:txBody>
            <a:bodyPr/>
            <a:lstStyle/>
            <a:p>
              <a:endParaRPr lang="en-US"/>
            </a:p>
          </p:txBody>
        </p:sp>
        <p:sp>
          <p:nvSpPr>
            <p:cNvPr id="1190" name="Freeform 7"/>
            <p:cNvSpPr>
              <a:spLocks/>
            </p:cNvSpPr>
            <p:nvPr/>
          </p:nvSpPr>
          <p:spPr bwMode="auto">
            <a:xfrm>
              <a:off x="4080" y="3863"/>
              <a:ext cx="681" cy="155"/>
            </a:xfrm>
            <a:custGeom>
              <a:avLst/>
              <a:gdLst>
                <a:gd name="T0" fmla="*/ 0 w 1650"/>
                <a:gd name="T1" fmla="*/ 0 h 367"/>
                <a:gd name="T2" fmla="*/ 0 w 1650"/>
                <a:gd name="T3" fmla="*/ 0 h 367"/>
                <a:gd name="T4" fmla="*/ 0 w 1650"/>
                <a:gd name="T5" fmla="*/ 0 h 367"/>
                <a:gd name="T6" fmla="*/ 0 w 1650"/>
                <a:gd name="T7" fmla="*/ 0 h 367"/>
                <a:gd name="T8" fmla="*/ 0 w 1650"/>
                <a:gd name="T9" fmla="*/ 0 h 367"/>
                <a:gd name="T10" fmla="*/ 0 60000 65536"/>
                <a:gd name="T11" fmla="*/ 0 60000 65536"/>
                <a:gd name="T12" fmla="*/ 0 60000 65536"/>
                <a:gd name="T13" fmla="*/ 0 60000 65536"/>
                <a:gd name="T14" fmla="*/ 0 60000 65536"/>
                <a:gd name="T15" fmla="*/ 0 w 1650"/>
                <a:gd name="T16" fmla="*/ 0 h 367"/>
                <a:gd name="T17" fmla="*/ 1650 w 1650"/>
                <a:gd name="T18" fmla="*/ 367 h 367"/>
              </a:gdLst>
              <a:ahLst/>
              <a:cxnLst>
                <a:cxn ang="T10">
                  <a:pos x="T0" y="T1"/>
                </a:cxn>
                <a:cxn ang="T11">
                  <a:pos x="T2" y="T3"/>
                </a:cxn>
                <a:cxn ang="T12">
                  <a:pos x="T4" y="T5"/>
                </a:cxn>
                <a:cxn ang="T13">
                  <a:pos x="T6" y="T7"/>
                </a:cxn>
                <a:cxn ang="T14">
                  <a:pos x="T8" y="T9"/>
                </a:cxn>
              </a:cxnLst>
              <a:rect l="T15" t="T16" r="T17" b="T18"/>
              <a:pathLst>
                <a:path w="1650" h="367">
                  <a:moveTo>
                    <a:pt x="1650" y="138"/>
                  </a:moveTo>
                  <a:lnTo>
                    <a:pt x="368" y="0"/>
                  </a:lnTo>
                  <a:lnTo>
                    <a:pt x="0" y="201"/>
                  </a:lnTo>
                  <a:lnTo>
                    <a:pt x="1646" y="367"/>
                  </a:lnTo>
                  <a:lnTo>
                    <a:pt x="1650" y="138"/>
                  </a:lnTo>
                  <a:close/>
                </a:path>
              </a:pathLst>
            </a:custGeom>
            <a:solidFill>
              <a:srgbClr val="DEAB78"/>
            </a:solidFill>
            <a:ln w="9525">
              <a:noFill/>
              <a:round/>
              <a:headEnd/>
              <a:tailEnd/>
            </a:ln>
          </p:spPr>
          <p:txBody>
            <a:bodyPr/>
            <a:lstStyle/>
            <a:p>
              <a:endParaRPr lang="en-US"/>
            </a:p>
          </p:txBody>
        </p:sp>
        <p:sp>
          <p:nvSpPr>
            <p:cNvPr id="1191" name="Freeform 8"/>
            <p:cNvSpPr>
              <a:spLocks/>
            </p:cNvSpPr>
            <p:nvPr/>
          </p:nvSpPr>
          <p:spPr bwMode="auto">
            <a:xfrm>
              <a:off x="4465" y="3764"/>
              <a:ext cx="273" cy="184"/>
            </a:xfrm>
            <a:custGeom>
              <a:avLst/>
              <a:gdLst>
                <a:gd name="T0" fmla="*/ 0 w 662"/>
                <a:gd name="T1" fmla="*/ 0 h 434"/>
                <a:gd name="T2" fmla="*/ 0 w 662"/>
                <a:gd name="T3" fmla="*/ 0 h 434"/>
                <a:gd name="T4" fmla="*/ 0 w 662"/>
                <a:gd name="T5" fmla="*/ 0 h 434"/>
                <a:gd name="T6" fmla="*/ 0 w 662"/>
                <a:gd name="T7" fmla="*/ 0 h 434"/>
                <a:gd name="T8" fmla="*/ 0 w 662"/>
                <a:gd name="T9" fmla="*/ 0 h 434"/>
                <a:gd name="T10" fmla="*/ 0 w 662"/>
                <a:gd name="T11" fmla="*/ 0 h 434"/>
                <a:gd name="T12" fmla="*/ 0 w 662"/>
                <a:gd name="T13" fmla="*/ 0 h 434"/>
                <a:gd name="T14" fmla="*/ 0 w 662"/>
                <a:gd name="T15" fmla="*/ 0 h 434"/>
                <a:gd name="T16" fmla="*/ 0 w 662"/>
                <a:gd name="T17" fmla="*/ 0 h 434"/>
                <a:gd name="T18" fmla="*/ 0 w 662"/>
                <a:gd name="T19" fmla="*/ 0 h 434"/>
                <a:gd name="T20" fmla="*/ 0 w 662"/>
                <a:gd name="T21" fmla="*/ 0 h 434"/>
                <a:gd name="T22" fmla="*/ 0 w 662"/>
                <a:gd name="T23" fmla="*/ 0 h 434"/>
                <a:gd name="T24" fmla="*/ 0 w 662"/>
                <a:gd name="T25" fmla="*/ 0 h 434"/>
                <a:gd name="T26" fmla="*/ 0 w 662"/>
                <a:gd name="T27" fmla="*/ 0 h 434"/>
                <a:gd name="T28" fmla="*/ 0 w 662"/>
                <a:gd name="T29" fmla="*/ 0 h 434"/>
                <a:gd name="T30" fmla="*/ 0 w 662"/>
                <a:gd name="T31" fmla="*/ 0 h 434"/>
                <a:gd name="T32" fmla="*/ 0 w 662"/>
                <a:gd name="T33" fmla="*/ 0 h 434"/>
                <a:gd name="T34" fmla="*/ 0 w 662"/>
                <a:gd name="T35" fmla="*/ 0 h 434"/>
                <a:gd name="T36" fmla="*/ 0 w 662"/>
                <a:gd name="T37" fmla="*/ 0 h 434"/>
                <a:gd name="T38" fmla="*/ 0 w 662"/>
                <a:gd name="T39" fmla="*/ 0 h 434"/>
                <a:gd name="T40" fmla="*/ 0 w 662"/>
                <a:gd name="T41" fmla="*/ 0 h 434"/>
                <a:gd name="T42" fmla="*/ 0 w 662"/>
                <a:gd name="T43" fmla="*/ 0 h 434"/>
                <a:gd name="T44" fmla="*/ 0 w 662"/>
                <a:gd name="T45" fmla="*/ 0 h 434"/>
                <a:gd name="T46" fmla="*/ 0 w 662"/>
                <a:gd name="T47" fmla="*/ 0 h 434"/>
                <a:gd name="T48" fmla="*/ 0 w 662"/>
                <a:gd name="T49" fmla="*/ 0 h 434"/>
                <a:gd name="T50" fmla="*/ 0 w 662"/>
                <a:gd name="T51" fmla="*/ 0 h 434"/>
                <a:gd name="T52" fmla="*/ 0 w 662"/>
                <a:gd name="T53" fmla="*/ 0 h 434"/>
                <a:gd name="T54" fmla="*/ 0 w 662"/>
                <a:gd name="T55" fmla="*/ 0 h 434"/>
                <a:gd name="T56" fmla="*/ 0 w 662"/>
                <a:gd name="T57" fmla="*/ 0 h 434"/>
                <a:gd name="T58" fmla="*/ 0 w 662"/>
                <a:gd name="T59" fmla="*/ 0 h 434"/>
                <a:gd name="T60" fmla="*/ 0 w 662"/>
                <a:gd name="T61" fmla="*/ 0 h 434"/>
                <a:gd name="T62" fmla="*/ 0 w 662"/>
                <a:gd name="T63" fmla="*/ 0 h 434"/>
                <a:gd name="T64" fmla="*/ 0 w 662"/>
                <a:gd name="T65" fmla="*/ 0 h 434"/>
                <a:gd name="T66" fmla="*/ 0 w 662"/>
                <a:gd name="T67" fmla="*/ 0 h 434"/>
                <a:gd name="T68" fmla="*/ 0 w 662"/>
                <a:gd name="T69" fmla="*/ 0 h 434"/>
                <a:gd name="T70" fmla="*/ 0 w 662"/>
                <a:gd name="T71" fmla="*/ 0 h 434"/>
                <a:gd name="T72" fmla="*/ 0 w 662"/>
                <a:gd name="T73" fmla="*/ 0 h 434"/>
                <a:gd name="T74" fmla="*/ 0 w 662"/>
                <a:gd name="T75" fmla="*/ 0 h 434"/>
                <a:gd name="T76" fmla="*/ 0 w 662"/>
                <a:gd name="T77" fmla="*/ 0 h 434"/>
                <a:gd name="T78" fmla="*/ 0 w 662"/>
                <a:gd name="T79" fmla="*/ 0 h 434"/>
                <a:gd name="T80" fmla="*/ 0 w 662"/>
                <a:gd name="T81" fmla="*/ 0 h 434"/>
                <a:gd name="T82" fmla="*/ 0 w 662"/>
                <a:gd name="T83" fmla="*/ 0 h 434"/>
                <a:gd name="T84" fmla="*/ 0 w 662"/>
                <a:gd name="T85" fmla="*/ 0 h 434"/>
                <a:gd name="T86" fmla="*/ 0 w 662"/>
                <a:gd name="T87" fmla="*/ 0 h 434"/>
                <a:gd name="T88" fmla="*/ 0 w 662"/>
                <a:gd name="T89" fmla="*/ 0 h 434"/>
                <a:gd name="T90" fmla="*/ 0 w 662"/>
                <a:gd name="T91" fmla="*/ 0 h 434"/>
                <a:gd name="T92" fmla="*/ 0 w 662"/>
                <a:gd name="T93" fmla="*/ 0 h 434"/>
                <a:gd name="T94" fmla="*/ 0 w 662"/>
                <a:gd name="T95" fmla="*/ 0 h 434"/>
                <a:gd name="T96" fmla="*/ 0 w 662"/>
                <a:gd name="T97" fmla="*/ 0 h 434"/>
                <a:gd name="T98" fmla="*/ 0 w 662"/>
                <a:gd name="T99" fmla="*/ 0 h 434"/>
                <a:gd name="T100" fmla="*/ 0 w 662"/>
                <a:gd name="T101" fmla="*/ 0 h 434"/>
                <a:gd name="T102" fmla="*/ 0 w 662"/>
                <a:gd name="T103" fmla="*/ 0 h 434"/>
                <a:gd name="T104" fmla="*/ 0 w 662"/>
                <a:gd name="T105" fmla="*/ 0 h 434"/>
                <a:gd name="T106" fmla="*/ 0 w 662"/>
                <a:gd name="T107" fmla="*/ 0 h 434"/>
                <a:gd name="T108" fmla="*/ 0 w 662"/>
                <a:gd name="T109" fmla="*/ 0 h 434"/>
                <a:gd name="T110" fmla="*/ 0 w 662"/>
                <a:gd name="T111" fmla="*/ 0 h 434"/>
                <a:gd name="T112" fmla="*/ 0 w 662"/>
                <a:gd name="T113" fmla="*/ 0 h 434"/>
                <a:gd name="T114" fmla="*/ 0 w 662"/>
                <a:gd name="T115" fmla="*/ 0 h 43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662"/>
                <a:gd name="T175" fmla="*/ 0 h 434"/>
                <a:gd name="T176" fmla="*/ 662 w 662"/>
                <a:gd name="T177" fmla="*/ 434 h 43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662" h="434">
                  <a:moveTo>
                    <a:pt x="360" y="8"/>
                  </a:moveTo>
                  <a:lnTo>
                    <a:pt x="362" y="8"/>
                  </a:lnTo>
                  <a:lnTo>
                    <a:pt x="368" y="10"/>
                  </a:lnTo>
                  <a:lnTo>
                    <a:pt x="385" y="17"/>
                  </a:lnTo>
                  <a:lnTo>
                    <a:pt x="410" y="25"/>
                  </a:lnTo>
                  <a:lnTo>
                    <a:pt x="472" y="48"/>
                  </a:lnTo>
                  <a:lnTo>
                    <a:pt x="500" y="56"/>
                  </a:lnTo>
                  <a:lnTo>
                    <a:pt x="521" y="64"/>
                  </a:lnTo>
                  <a:lnTo>
                    <a:pt x="529" y="66"/>
                  </a:lnTo>
                  <a:lnTo>
                    <a:pt x="533" y="66"/>
                  </a:lnTo>
                  <a:lnTo>
                    <a:pt x="541" y="67"/>
                  </a:lnTo>
                  <a:lnTo>
                    <a:pt x="548" y="71"/>
                  </a:lnTo>
                  <a:lnTo>
                    <a:pt x="567" y="85"/>
                  </a:lnTo>
                  <a:lnTo>
                    <a:pt x="583" y="106"/>
                  </a:lnTo>
                  <a:lnTo>
                    <a:pt x="592" y="127"/>
                  </a:lnTo>
                  <a:lnTo>
                    <a:pt x="594" y="140"/>
                  </a:lnTo>
                  <a:lnTo>
                    <a:pt x="598" y="160"/>
                  </a:lnTo>
                  <a:lnTo>
                    <a:pt x="612" y="208"/>
                  </a:lnTo>
                  <a:lnTo>
                    <a:pt x="627" y="256"/>
                  </a:lnTo>
                  <a:lnTo>
                    <a:pt x="635" y="275"/>
                  </a:lnTo>
                  <a:lnTo>
                    <a:pt x="640" y="290"/>
                  </a:lnTo>
                  <a:lnTo>
                    <a:pt x="646" y="304"/>
                  </a:lnTo>
                  <a:lnTo>
                    <a:pt x="650" y="319"/>
                  </a:lnTo>
                  <a:lnTo>
                    <a:pt x="658" y="356"/>
                  </a:lnTo>
                  <a:lnTo>
                    <a:pt x="662" y="390"/>
                  </a:lnTo>
                  <a:lnTo>
                    <a:pt x="662" y="415"/>
                  </a:lnTo>
                  <a:lnTo>
                    <a:pt x="660" y="423"/>
                  </a:lnTo>
                  <a:lnTo>
                    <a:pt x="652" y="429"/>
                  </a:lnTo>
                  <a:lnTo>
                    <a:pt x="642" y="432"/>
                  </a:lnTo>
                  <a:lnTo>
                    <a:pt x="631" y="434"/>
                  </a:lnTo>
                  <a:lnTo>
                    <a:pt x="573" y="434"/>
                  </a:lnTo>
                  <a:lnTo>
                    <a:pt x="556" y="434"/>
                  </a:lnTo>
                  <a:lnTo>
                    <a:pt x="531" y="432"/>
                  </a:lnTo>
                  <a:lnTo>
                    <a:pt x="472" y="427"/>
                  </a:lnTo>
                  <a:lnTo>
                    <a:pt x="445" y="425"/>
                  </a:lnTo>
                  <a:lnTo>
                    <a:pt x="422" y="421"/>
                  </a:lnTo>
                  <a:lnTo>
                    <a:pt x="404" y="419"/>
                  </a:lnTo>
                  <a:lnTo>
                    <a:pt x="399" y="419"/>
                  </a:lnTo>
                  <a:lnTo>
                    <a:pt x="0" y="298"/>
                  </a:lnTo>
                  <a:lnTo>
                    <a:pt x="55" y="254"/>
                  </a:lnTo>
                  <a:lnTo>
                    <a:pt x="80" y="258"/>
                  </a:lnTo>
                  <a:lnTo>
                    <a:pt x="86" y="238"/>
                  </a:lnTo>
                  <a:lnTo>
                    <a:pt x="113" y="242"/>
                  </a:lnTo>
                  <a:lnTo>
                    <a:pt x="128" y="194"/>
                  </a:lnTo>
                  <a:lnTo>
                    <a:pt x="122" y="165"/>
                  </a:lnTo>
                  <a:lnTo>
                    <a:pt x="143" y="160"/>
                  </a:lnTo>
                  <a:lnTo>
                    <a:pt x="161" y="114"/>
                  </a:lnTo>
                  <a:lnTo>
                    <a:pt x="161" y="110"/>
                  </a:lnTo>
                  <a:lnTo>
                    <a:pt x="165" y="102"/>
                  </a:lnTo>
                  <a:lnTo>
                    <a:pt x="172" y="77"/>
                  </a:lnTo>
                  <a:lnTo>
                    <a:pt x="184" y="48"/>
                  </a:lnTo>
                  <a:lnTo>
                    <a:pt x="189" y="37"/>
                  </a:lnTo>
                  <a:lnTo>
                    <a:pt x="195" y="29"/>
                  </a:lnTo>
                  <a:lnTo>
                    <a:pt x="213" y="19"/>
                  </a:lnTo>
                  <a:lnTo>
                    <a:pt x="234" y="10"/>
                  </a:lnTo>
                  <a:lnTo>
                    <a:pt x="259" y="4"/>
                  </a:lnTo>
                  <a:lnTo>
                    <a:pt x="278" y="0"/>
                  </a:lnTo>
                  <a:lnTo>
                    <a:pt x="360" y="8"/>
                  </a:lnTo>
                  <a:close/>
                </a:path>
              </a:pathLst>
            </a:custGeom>
            <a:solidFill>
              <a:srgbClr val="F7450A"/>
            </a:solidFill>
            <a:ln w="9525">
              <a:noFill/>
              <a:round/>
              <a:headEnd/>
              <a:tailEnd/>
            </a:ln>
          </p:spPr>
          <p:txBody>
            <a:bodyPr/>
            <a:lstStyle/>
            <a:p>
              <a:endParaRPr lang="en-US"/>
            </a:p>
          </p:txBody>
        </p:sp>
        <p:sp>
          <p:nvSpPr>
            <p:cNvPr id="1192" name="Freeform 9"/>
            <p:cNvSpPr>
              <a:spLocks/>
            </p:cNvSpPr>
            <p:nvPr/>
          </p:nvSpPr>
          <p:spPr bwMode="auto">
            <a:xfrm>
              <a:off x="4572" y="3768"/>
              <a:ext cx="64" cy="140"/>
            </a:xfrm>
            <a:custGeom>
              <a:avLst/>
              <a:gdLst>
                <a:gd name="T0" fmla="*/ 0 w 155"/>
                <a:gd name="T1" fmla="*/ 0 h 330"/>
                <a:gd name="T2" fmla="*/ 0 w 155"/>
                <a:gd name="T3" fmla="*/ 0 h 330"/>
                <a:gd name="T4" fmla="*/ 0 w 155"/>
                <a:gd name="T5" fmla="*/ 0 h 330"/>
                <a:gd name="T6" fmla="*/ 0 w 155"/>
                <a:gd name="T7" fmla="*/ 0 h 330"/>
                <a:gd name="T8" fmla="*/ 0 60000 65536"/>
                <a:gd name="T9" fmla="*/ 0 60000 65536"/>
                <a:gd name="T10" fmla="*/ 0 60000 65536"/>
                <a:gd name="T11" fmla="*/ 0 60000 65536"/>
                <a:gd name="T12" fmla="*/ 0 w 155"/>
                <a:gd name="T13" fmla="*/ 0 h 330"/>
                <a:gd name="T14" fmla="*/ 155 w 155"/>
                <a:gd name="T15" fmla="*/ 330 h 330"/>
              </a:gdLst>
              <a:ahLst/>
              <a:cxnLst>
                <a:cxn ang="T8">
                  <a:pos x="T0" y="T1"/>
                </a:cxn>
                <a:cxn ang="T9">
                  <a:pos x="T2" y="T3"/>
                </a:cxn>
                <a:cxn ang="T10">
                  <a:pos x="T4" y="T5"/>
                </a:cxn>
                <a:cxn ang="T11">
                  <a:pos x="T6" y="T7"/>
                </a:cxn>
              </a:cxnLst>
              <a:rect l="T12" t="T13" r="T14" b="T15"/>
              <a:pathLst>
                <a:path w="155" h="330">
                  <a:moveTo>
                    <a:pt x="5" y="0"/>
                  </a:moveTo>
                  <a:lnTo>
                    <a:pt x="155" y="19"/>
                  </a:lnTo>
                  <a:lnTo>
                    <a:pt x="0" y="330"/>
                  </a:lnTo>
                  <a:lnTo>
                    <a:pt x="5" y="0"/>
                  </a:lnTo>
                  <a:close/>
                </a:path>
              </a:pathLst>
            </a:custGeom>
            <a:solidFill>
              <a:srgbClr val="FFCCB3"/>
            </a:solidFill>
            <a:ln w="9525">
              <a:noFill/>
              <a:round/>
              <a:headEnd/>
              <a:tailEnd/>
            </a:ln>
          </p:spPr>
          <p:txBody>
            <a:bodyPr/>
            <a:lstStyle/>
            <a:p>
              <a:endParaRPr lang="en-US"/>
            </a:p>
          </p:txBody>
        </p:sp>
        <p:sp>
          <p:nvSpPr>
            <p:cNvPr id="1193" name="Freeform 10"/>
            <p:cNvSpPr>
              <a:spLocks/>
            </p:cNvSpPr>
            <p:nvPr/>
          </p:nvSpPr>
          <p:spPr bwMode="auto">
            <a:xfrm>
              <a:off x="4589" y="3779"/>
              <a:ext cx="37" cy="42"/>
            </a:xfrm>
            <a:custGeom>
              <a:avLst/>
              <a:gdLst>
                <a:gd name="T0" fmla="*/ 0 w 88"/>
                <a:gd name="T1" fmla="*/ 0 h 100"/>
                <a:gd name="T2" fmla="*/ 0 w 88"/>
                <a:gd name="T3" fmla="*/ 0 h 100"/>
                <a:gd name="T4" fmla="*/ 0 w 88"/>
                <a:gd name="T5" fmla="*/ 0 h 100"/>
                <a:gd name="T6" fmla="*/ 0 w 88"/>
                <a:gd name="T7" fmla="*/ 0 h 100"/>
                <a:gd name="T8" fmla="*/ 0 w 88"/>
                <a:gd name="T9" fmla="*/ 0 h 100"/>
                <a:gd name="T10" fmla="*/ 0 w 88"/>
                <a:gd name="T11" fmla="*/ 0 h 100"/>
                <a:gd name="T12" fmla="*/ 0 w 88"/>
                <a:gd name="T13" fmla="*/ 0 h 100"/>
                <a:gd name="T14" fmla="*/ 0 w 88"/>
                <a:gd name="T15" fmla="*/ 0 h 100"/>
                <a:gd name="T16" fmla="*/ 0 60000 65536"/>
                <a:gd name="T17" fmla="*/ 0 60000 65536"/>
                <a:gd name="T18" fmla="*/ 0 60000 65536"/>
                <a:gd name="T19" fmla="*/ 0 60000 65536"/>
                <a:gd name="T20" fmla="*/ 0 60000 65536"/>
                <a:gd name="T21" fmla="*/ 0 60000 65536"/>
                <a:gd name="T22" fmla="*/ 0 60000 65536"/>
                <a:gd name="T23" fmla="*/ 0 60000 65536"/>
                <a:gd name="T24" fmla="*/ 0 w 88"/>
                <a:gd name="T25" fmla="*/ 0 h 100"/>
                <a:gd name="T26" fmla="*/ 88 w 88"/>
                <a:gd name="T27" fmla="*/ 100 h 1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88" h="100">
                  <a:moveTo>
                    <a:pt x="0" y="48"/>
                  </a:moveTo>
                  <a:lnTo>
                    <a:pt x="40" y="100"/>
                  </a:lnTo>
                  <a:lnTo>
                    <a:pt x="88" y="0"/>
                  </a:lnTo>
                  <a:lnTo>
                    <a:pt x="86" y="2"/>
                  </a:lnTo>
                  <a:lnTo>
                    <a:pt x="82" y="4"/>
                  </a:lnTo>
                  <a:lnTo>
                    <a:pt x="71" y="15"/>
                  </a:lnTo>
                  <a:lnTo>
                    <a:pt x="34" y="38"/>
                  </a:lnTo>
                  <a:lnTo>
                    <a:pt x="0" y="48"/>
                  </a:lnTo>
                  <a:close/>
                </a:path>
              </a:pathLst>
            </a:custGeom>
            <a:solidFill>
              <a:srgbClr val="FF9980"/>
            </a:solidFill>
            <a:ln w="9525">
              <a:noFill/>
              <a:round/>
              <a:headEnd/>
              <a:tailEnd/>
            </a:ln>
          </p:spPr>
          <p:txBody>
            <a:bodyPr/>
            <a:lstStyle/>
            <a:p>
              <a:endParaRPr lang="en-US"/>
            </a:p>
          </p:txBody>
        </p:sp>
        <p:sp>
          <p:nvSpPr>
            <p:cNvPr id="1194" name="Freeform 11"/>
            <p:cNvSpPr>
              <a:spLocks/>
            </p:cNvSpPr>
            <p:nvPr/>
          </p:nvSpPr>
          <p:spPr bwMode="auto">
            <a:xfrm>
              <a:off x="4574" y="3772"/>
              <a:ext cx="15" cy="39"/>
            </a:xfrm>
            <a:custGeom>
              <a:avLst/>
              <a:gdLst>
                <a:gd name="T0" fmla="*/ 0 w 37"/>
                <a:gd name="T1" fmla="*/ 0 h 93"/>
                <a:gd name="T2" fmla="*/ 0 w 37"/>
                <a:gd name="T3" fmla="*/ 0 h 93"/>
                <a:gd name="T4" fmla="*/ 0 w 37"/>
                <a:gd name="T5" fmla="*/ 0 h 93"/>
                <a:gd name="T6" fmla="*/ 0 w 37"/>
                <a:gd name="T7" fmla="*/ 0 h 93"/>
                <a:gd name="T8" fmla="*/ 0 w 37"/>
                <a:gd name="T9" fmla="*/ 0 h 93"/>
                <a:gd name="T10" fmla="*/ 0 w 37"/>
                <a:gd name="T11" fmla="*/ 0 h 93"/>
                <a:gd name="T12" fmla="*/ 0 w 37"/>
                <a:gd name="T13" fmla="*/ 0 h 93"/>
                <a:gd name="T14" fmla="*/ 0 w 37"/>
                <a:gd name="T15" fmla="*/ 0 h 93"/>
                <a:gd name="T16" fmla="*/ 0 w 37"/>
                <a:gd name="T17" fmla="*/ 0 h 93"/>
                <a:gd name="T18" fmla="*/ 0 w 37"/>
                <a:gd name="T19" fmla="*/ 0 h 9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7"/>
                <a:gd name="T31" fmla="*/ 0 h 93"/>
                <a:gd name="T32" fmla="*/ 37 w 37"/>
                <a:gd name="T33" fmla="*/ 93 h 9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7" h="93">
                  <a:moveTo>
                    <a:pt x="12" y="0"/>
                  </a:moveTo>
                  <a:lnTo>
                    <a:pt x="12" y="6"/>
                  </a:lnTo>
                  <a:lnTo>
                    <a:pt x="14" y="18"/>
                  </a:lnTo>
                  <a:lnTo>
                    <a:pt x="18" y="31"/>
                  </a:lnTo>
                  <a:lnTo>
                    <a:pt x="21" y="41"/>
                  </a:lnTo>
                  <a:lnTo>
                    <a:pt x="31" y="56"/>
                  </a:lnTo>
                  <a:lnTo>
                    <a:pt x="35" y="62"/>
                  </a:lnTo>
                  <a:lnTo>
                    <a:pt x="37" y="66"/>
                  </a:lnTo>
                  <a:lnTo>
                    <a:pt x="0" y="93"/>
                  </a:lnTo>
                  <a:lnTo>
                    <a:pt x="12" y="0"/>
                  </a:lnTo>
                  <a:close/>
                </a:path>
              </a:pathLst>
            </a:custGeom>
            <a:solidFill>
              <a:srgbClr val="FF9980"/>
            </a:solidFill>
            <a:ln w="9525">
              <a:noFill/>
              <a:round/>
              <a:headEnd/>
              <a:tailEnd/>
            </a:ln>
          </p:spPr>
          <p:txBody>
            <a:bodyPr/>
            <a:lstStyle/>
            <a:p>
              <a:endParaRPr lang="en-US"/>
            </a:p>
          </p:txBody>
        </p:sp>
        <p:sp>
          <p:nvSpPr>
            <p:cNvPr id="1195" name="Freeform 12"/>
            <p:cNvSpPr>
              <a:spLocks/>
            </p:cNvSpPr>
            <p:nvPr/>
          </p:nvSpPr>
          <p:spPr bwMode="auto">
            <a:xfrm>
              <a:off x="4574" y="3768"/>
              <a:ext cx="63" cy="145"/>
            </a:xfrm>
            <a:custGeom>
              <a:avLst/>
              <a:gdLst>
                <a:gd name="T0" fmla="*/ 0 w 154"/>
                <a:gd name="T1" fmla="*/ 0 h 344"/>
                <a:gd name="T2" fmla="*/ 0 w 154"/>
                <a:gd name="T3" fmla="*/ 0 h 344"/>
                <a:gd name="T4" fmla="*/ 0 w 154"/>
                <a:gd name="T5" fmla="*/ 0 h 344"/>
                <a:gd name="T6" fmla="*/ 0 w 154"/>
                <a:gd name="T7" fmla="*/ 0 h 344"/>
                <a:gd name="T8" fmla="*/ 0 60000 65536"/>
                <a:gd name="T9" fmla="*/ 0 60000 65536"/>
                <a:gd name="T10" fmla="*/ 0 60000 65536"/>
                <a:gd name="T11" fmla="*/ 0 60000 65536"/>
                <a:gd name="T12" fmla="*/ 0 w 154"/>
                <a:gd name="T13" fmla="*/ 0 h 344"/>
                <a:gd name="T14" fmla="*/ 154 w 154"/>
                <a:gd name="T15" fmla="*/ 344 h 344"/>
              </a:gdLst>
              <a:ahLst/>
              <a:cxnLst>
                <a:cxn ang="T8">
                  <a:pos x="T0" y="T1"/>
                </a:cxn>
                <a:cxn ang="T9">
                  <a:pos x="T2" y="T3"/>
                </a:cxn>
                <a:cxn ang="T10">
                  <a:pos x="T4" y="T5"/>
                </a:cxn>
                <a:cxn ang="T11">
                  <a:pos x="T6" y="T7"/>
                </a:cxn>
              </a:cxnLst>
              <a:rect l="T12" t="T13" r="T14" b="T15"/>
              <a:pathLst>
                <a:path w="154" h="344">
                  <a:moveTo>
                    <a:pt x="104" y="0"/>
                  </a:moveTo>
                  <a:lnTo>
                    <a:pt x="0" y="344"/>
                  </a:lnTo>
                  <a:lnTo>
                    <a:pt x="154" y="58"/>
                  </a:lnTo>
                  <a:lnTo>
                    <a:pt x="104" y="0"/>
                  </a:lnTo>
                  <a:close/>
                </a:path>
              </a:pathLst>
            </a:custGeom>
            <a:solidFill>
              <a:srgbClr val="BF1A00"/>
            </a:solidFill>
            <a:ln w="9525">
              <a:noFill/>
              <a:round/>
              <a:headEnd/>
              <a:tailEnd/>
            </a:ln>
          </p:spPr>
          <p:txBody>
            <a:bodyPr/>
            <a:lstStyle/>
            <a:p>
              <a:endParaRPr lang="en-US"/>
            </a:p>
          </p:txBody>
        </p:sp>
        <p:sp>
          <p:nvSpPr>
            <p:cNvPr id="1196" name="Freeform 13"/>
            <p:cNvSpPr>
              <a:spLocks/>
            </p:cNvSpPr>
            <p:nvPr/>
          </p:nvSpPr>
          <p:spPr bwMode="auto">
            <a:xfrm>
              <a:off x="4559" y="3768"/>
              <a:ext cx="20" cy="143"/>
            </a:xfrm>
            <a:custGeom>
              <a:avLst/>
              <a:gdLst>
                <a:gd name="T0" fmla="*/ 0 w 50"/>
                <a:gd name="T1" fmla="*/ 0 h 336"/>
                <a:gd name="T2" fmla="*/ 0 w 50"/>
                <a:gd name="T3" fmla="*/ 0 h 336"/>
                <a:gd name="T4" fmla="*/ 0 w 50"/>
                <a:gd name="T5" fmla="*/ 0 h 336"/>
                <a:gd name="T6" fmla="*/ 0 w 50"/>
                <a:gd name="T7" fmla="*/ 0 h 336"/>
                <a:gd name="T8" fmla="*/ 0 60000 65536"/>
                <a:gd name="T9" fmla="*/ 0 60000 65536"/>
                <a:gd name="T10" fmla="*/ 0 60000 65536"/>
                <a:gd name="T11" fmla="*/ 0 60000 65536"/>
                <a:gd name="T12" fmla="*/ 0 w 50"/>
                <a:gd name="T13" fmla="*/ 0 h 336"/>
                <a:gd name="T14" fmla="*/ 50 w 50"/>
                <a:gd name="T15" fmla="*/ 336 h 336"/>
              </a:gdLst>
              <a:ahLst/>
              <a:cxnLst>
                <a:cxn ang="T8">
                  <a:pos x="T0" y="T1"/>
                </a:cxn>
                <a:cxn ang="T9">
                  <a:pos x="T2" y="T3"/>
                </a:cxn>
                <a:cxn ang="T10">
                  <a:pos x="T4" y="T5"/>
                </a:cxn>
                <a:cxn ang="T11">
                  <a:pos x="T6" y="T7"/>
                </a:cxn>
              </a:cxnLst>
              <a:rect l="T12" t="T13" r="T14" b="T15"/>
              <a:pathLst>
                <a:path w="50" h="336">
                  <a:moveTo>
                    <a:pt x="50" y="0"/>
                  </a:moveTo>
                  <a:lnTo>
                    <a:pt x="29" y="336"/>
                  </a:lnTo>
                  <a:lnTo>
                    <a:pt x="0" y="46"/>
                  </a:lnTo>
                  <a:lnTo>
                    <a:pt x="50" y="0"/>
                  </a:lnTo>
                  <a:close/>
                </a:path>
              </a:pathLst>
            </a:custGeom>
            <a:solidFill>
              <a:srgbClr val="BF1A00"/>
            </a:solidFill>
            <a:ln w="9525">
              <a:noFill/>
              <a:round/>
              <a:headEnd/>
              <a:tailEnd/>
            </a:ln>
          </p:spPr>
          <p:txBody>
            <a:bodyPr/>
            <a:lstStyle/>
            <a:p>
              <a:endParaRPr lang="en-US"/>
            </a:p>
          </p:txBody>
        </p:sp>
        <p:sp>
          <p:nvSpPr>
            <p:cNvPr id="1197" name="Freeform 14"/>
            <p:cNvSpPr>
              <a:spLocks/>
            </p:cNvSpPr>
            <p:nvPr/>
          </p:nvSpPr>
          <p:spPr bwMode="auto">
            <a:xfrm>
              <a:off x="4576" y="3739"/>
              <a:ext cx="51" cy="61"/>
            </a:xfrm>
            <a:custGeom>
              <a:avLst/>
              <a:gdLst>
                <a:gd name="T0" fmla="*/ 0 w 125"/>
                <a:gd name="T1" fmla="*/ 0 h 144"/>
                <a:gd name="T2" fmla="*/ 0 w 125"/>
                <a:gd name="T3" fmla="*/ 0 h 144"/>
                <a:gd name="T4" fmla="*/ 0 w 125"/>
                <a:gd name="T5" fmla="*/ 0 h 144"/>
                <a:gd name="T6" fmla="*/ 0 w 125"/>
                <a:gd name="T7" fmla="*/ 0 h 144"/>
                <a:gd name="T8" fmla="*/ 0 w 125"/>
                <a:gd name="T9" fmla="*/ 0 h 144"/>
                <a:gd name="T10" fmla="*/ 0 w 125"/>
                <a:gd name="T11" fmla="*/ 0 h 144"/>
                <a:gd name="T12" fmla="*/ 0 w 125"/>
                <a:gd name="T13" fmla="*/ 0 h 144"/>
                <a:gd name="T14" fmla="*/ 0 w 125"/>
                <a:gd name="T15" fmla="*/ 0 h 144"/>
                <a:gd name="T16" fmla="*/ 0 w 125"/>
                <a:gd name="T17" fmla="*/ 0 h 144"/>
                <a:gd name="T18" fmla="*/ 0 w 125"/>
                <a:gd name="T19" fmla="*/ 0 h 144"/>
                <a:gd name="T20" fmla="*/ 0 w 125"/>
                <a:gd name="T21" fmla="*/ 0 h 144"/>
                <a:gd name="T22" fmla="*/ 0 w 125"/>
                <a:gd name="T23" fmla="*/ 0 h 144"/>
                <a:gd name="T24" fmla="*/ 0 w 125"/>
                <a:gd name="T25" fmla="*/ 0 h 14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25"/>
                <a:gd name="T40" fmla="*/ 0 h 144"/>
                <a:gd name="T41" fmla="*/ 125 w 125"/>
                <a:gd name="T42" fmla="*/ 144 h 14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25" h="144">
                  <a:moveTo>
                    <a:pt x="0" y="69"/>
                  </a:moveTo>
                  <a:lnTo>
                    <a:pt x="17" y="136"/>
                  </a:lnTo>
                  <a:lnTo>
                    <a:pt x="21" y="138"/>
                  </a:lnTo>
                  <a:lnTo>
                    <a:pt x="33" y="142"/>
                  </a:lnTo>
                  <a:lnTo>
                    <a:pt x="46" y="144"/>
                  </a:lnTo>
                  <a:lnTo>
                    <a:pt x="63" y="140"/>
                  </a:lnTo>
                  <a:lnTo>
                    <a:pt x="98" y="121"/>
                  </a:lnTo>
                  <a:lnTo>
                    <a:pt x="111" y="113"/>
                  </a:lnTo>
                  <a:lnTo>
                    <a:pt x="113" y="109"/>
                  </a:lnTo>
                  <a:lnTo>
                    <a:pt x="115" y="109"/>
                  </a:lnTo>
                  <a:lnTo>
                    <a:pt x="125" y="0"/>
                  </a:lnTo>
                  <a:lnTo>
                    <a:pt x="37" y="25"/>
                  </a:lnTo>
                  <a:lnTo>
                    <a:pt x="0" y="69"/>
                  </a:lnTo>
                  <a:close/>
                </a:path>
              </a:pathLst>
            </a:custGeom>
            <a:solidFill>
              <a:srgbClr val="F0DAA3"/>
            </a:solidFill>
            <a:ln w="9525">
              <a:noFill/>
              <a:round/>
              <a:headEnd/>
              <a:tailEnd/>
            </a:ln>
          </p:spPr>
          <p:txBody>
            <a:bodyPr/>
            <a:lstStyle/>
            <a:p>
              <a:endParaRPr lang="en-US"/>
            </a:p>
          </p:txBody>
        </p:sp>
        <p:sp>
          <p:nvSpPr>
            <p:cNvPr id="1198" name="Freeform 15"/>
            <p:cNvSpPr>
              <a:spLocks/>
            </p:cNvSpPr>
            <p:nvPr/>
          </p:nvSpPr>
          <p:spPr bwMode="auto">
            <a:xfrm>
              <a:off x="4548" y="3748"/>
              <a:ext cx="14" cy="9"/>
            </a:xfrm>
            <a:custGeom>
              <a:avLst/>
              <a:gdLst>
                <a:gd name="T0" fmla="*/ 0 w 35"/>
                <a:gd name="T1" fmla="*/ 0 h 21"/>
                <a:gd name="T2" fmla="*/ 0 w 35"/>
                <a:gd name="T3" fmla="*/ 0 h 21"/>
                <a:gd name="T4" fmla="*/ 0 w 35"/>
                <a:gd name="T5" fmla="*/ 0 h 21"/>
                <a:gd name="T6" fmla="*/ 0 w 35"/>
                <a:gd name="T7" fmla="*/ 0 h 21"/>
                <a:gd name="T8" fmla="*/ 0 w 35"/>
                <a:gd name="T9" fmla="*/ 0 h 21"/>
                <a:gd name="T10" fmla="*/ 0 w 35"/>
                <a:gd name="T11" fmla="*/ 0 h 21"/>
                <a:gd name="T12" fmla="*/ 0 60000 65536"/>
                <a:gd name="T13" fmla="*/ 0 60000 65536"/>
                <a:gd name="T14" fmla="*/ 0 60000 65536"/>
                <a:gd name="T15" fmla="*/ 0 60000 65536"/>
                <a:gd name="T16" fmla="*/ 0 60000 65536"/>
                <a:gd name="T17" fmla="*/ 0 60000 65536"/>
                <a:gd name="T18" fmla="*/ 0 w 35"/>
                <a:gd name="T19" fmla="*/ 0 h 21"/>
                <a:gd name="T20" fmla="*/ 35 w 35"/>
                <a:gd name="T21" fmla="*/ 21 h 21"/>
              </a:gdLst>
              <a:ahLst/>
              <a:cxnLst>
                <a:cxn ang="T12">
                  <a:pos x="T0" y="T1"/>
                </a:cxn>
                <a:cxn ang="T13">
                  <a:pos x="T2" y="T3"/>
                </a:cxn>
                <a:cxn ang="T14">
                  <a:pos x="T4" y="T5"/>
                </a:cxn>
                <a:cxn ang="T15">
                  <a:pos x="T6" y="T7"/>
                </a:cxn>
                <a:cxn ang="T16">
                  <a:pos x="T8" y="T9"/>
                </a:cxn>
                <a:cxn ang="T17">
                  <a:pos x="T10" y="T11"/>
                </a:cxn>
              </a:cxnLst>
              <a:rect l="T18" t="T19" r="T20" b="T21"/>
              <a:pathLst>
                <a:path w="35" h="21">
                  <a:moveTo>
                    <a:pt x="0" y="0"/>
                  </a:moveTo>
                  <a:lnTo>
                    <a:pt x="0" y="13"/>
                  </a:lnTo>
                  <a:lnTo>
                    <a:pt x="10" y="17"/>
                  </a:lnTo>
                  <a:lnTo>
                    <a:pt x="35" y="21"/>
                  </a:lnTo>
                  <a:lnTo>
                    <a:pt x="17" y="2"/>
                  </a:lnTo>
                  <a:lnTo>
                    <a:pt x="0" y="0"/>
                  </a:lnTo>
                  <a:close/>
                </a:path>
              </a:pathLst>
            </a:custGeom>
            <a:solidFill>
              <a:srgbClr val="FFFFFF"/>
            </a:solidFill>
            <a:ln w="9525">
              <a:noFill/>
              <a:round/>
              <a:headEnd/>
              <a:tailEnd/>
            </a:ln>
          </p:spPr>
          <p:txBody>
            <a:bodyPr/>
            <a:lstStyle/>
            <a:p>
              <a:endParaRPr lang="en-US"/>
            </a:p>
          </p:txBody>
        </p:sp>
        <p:sp>
          <p:nvSpPr>
            <p:cNvPr id="1199" name="Freeform 16"/>
            <p:cNvSpPr>
              <a:spLocks/>
            </p:cNvSpPr>
            <p:nvPr/>
          </p:nvSpPr>
          <p:spPr bwMode="auto">
            <a:xfrm>
              <a:off x="4540" y="3668"/>
              <a:ext cx="98" cy="111"/>
            </a:xfrm>
            <a:custGeom>
              <a:avLst/>
              <a:gdLst>
                <a:gd name="T0" fmla="*/ 0 w 238"/>
                <a:gd name="T1" fmla="*/ 0 h 265"/>
                <a:gd name="T2" fmla="*/ 0 w 238"/>
                <a:gd name="T3" fmla="*/ 0 h 265"/>
                <a:gd name="T4" fmla="*/ 0 w 238"/>
                <a:gd name="T5" fmla="*/ 0 h 265"/>
                <a:gd name="T6" fmla="*/ 0 w 238"/>
                <a:gd name="T7" fmla="*/ 0 h 265"/>
                <a:gd name="T8" fmla="*/ 0 w 238"/>
                <a:gd name="T9" fmla="*/ 0 h 265"/>
                <a:gd name="T10" fmla="*/ 0 w 238"/>
                <a:gd name="T11" fmla="*/ 0 h 265"/>
                <a:gd name="T12" fmla="*/ 0 w 238"/>
                <a:gd name="T13" fmla="*/ 0 h 265"/>
                <a:gd name="T14" fmla="*/ 0 w 238"/>
                <a:gd name="T15" fmla="*/ 0 h 265"/>
                <a:gd name="T16" fmla="*/ 0 w 238"/>
                <a:gd name="T17" fmla="*/ 0 h 265"/>
                <a:gd name="T18" fmla="*/ 0 w 238"/>
                <a:gd name="T19" fmla="*/ 0 h 265"/>
                <a:gd name="T20" fmla="*/ 0 w 238"/>
                <a:gd name="T21" fmla="*/ 0 h 265"/>
                <a:gd name="T22" fmla="*/ 0 w 238"/>
                <a:gd name="T23" fmla="*/ 0 h 265"/>
                <a:gd name="T24" fmla="*/ 0 w 238"/>
                <a:gd name="T25" fmla="*/ 0 h 265"/>
                <a:gd name="T26" fmla="*/ 0 w 238"/>
                <a:gd name="T27" fmla="*/ 0 h 265"/>
                <a:gd name="T28" fmla="*/ 0 w 238"/>
                <a:gd name="T29" fmla="*/ 0 h 265"/>
                <a:gd name="T30" fmla="*/ 0 w 238"/>
                <a:gd name="T31" fmla="*/ 0 h 265"/>
                <a:gd name="T32" fmla="*/ 0 w 238"/>
                <a:gd name="T33" fmla="*/ 0 h 265"/>
                <a:gd name="T34" fmla="*/ 0 w 238"/>
                <a:gd name="T35" fmla="*/ 0 h 265"/>
                <a:gd name="T36" fmla="*/ 0 w 238"/>
                <a:gd name="T37" fmla="*/ 0 h 265"/>
                <a:gd name="T38" fmla="*/ 0 w 238"/>
                <a:gd name="T39" fmla="*/ 0 h 265"/>
                <a:gd name="T40" fmla="*/ 0 w 238"/>
                <a:gd name="T41" fmla="*/ 0 h 265"/>
                <a:gd name="T42" fmla="*/ 0 w 238"/>
                <a:gd name="T43" fmla="*/ 0 h 265"/>
                <a:gd name="T44" fmla="*/ 0 w 238"/>
                <a:gd name="T45" fmla="*/ 0 h 265"/>
                <a:gd name="T46" fmla="*/ 0 w 238"/>
                <a:gd name="T47" fmla="*/ 0 h 265"/>
                <a:gd name="T48" fmla="*/ 0 w 238"/>
                <a:gd name="T49" fmla="*/ 0 h 265"/>
                <a:gd name="T50" fmla="*/ 0 w 238"/>
                <a:gd name="T51" fmla="*/ 0 h 265"/>
                <a:gd name="T52" fmla="*/ 0 w 238"/>
                <a:gd name="T53" fmla="*/ 0 h 265"/>
                <a:gd name="T54" fmla="*/ 0 w 238"/>
                <a:gd name="T55" fmla="*/ 0 h 265"/>
                <a:gd name="T56" fmla="*/ 0 w 238"/>
                <a:gd name="T57" fmla="*/ 0 h 265"/>
                <a:gd name="T58" fmla="*/ 0 w 238"/>
                <a:gd name="T59" fmla="*/ 0 h 265"/>
                <a:gd name="T60" fmla="*/ 0 w 238"/>
                <a:gd name="T61" fmla="*/ 0 h 265"/>
                <a:gd name="T62" fmla="*/ 0 w 238"/>
                <a:gd name="T63" fmla="*/ 0 h 265"/>
                <a:gd name="T64" fmla="*/ 0 w 238"/>
                <a:gd name="T65" fmla="*/ 0 h 265"/>
                <a:gd name="T66" fmla="*/ 0 w 238"/>
                <a:gd name="T67" fmla="*/ 0 h 265"/>
                <a:gd name="T68" fmla="*/ 0 w 238"/>
                <a:gd name="T69" fmla="*/ 0 h 265"/>
                <a:gd name="T70" fmla="*/ 0 w 238"/>
                <a:gd name="T71" fmla="*/ 0 h 265"/>
                <a:gd name="T72" fmla="*/ 0 w 238"/>
                <a:gd name="T73" fmla="*/ 0 h 265"/>
                <a:gd name="T74" fmla="*/ 0 w 238"/>
                <a:gd name="T75" fmla="*/ 0 h 265"/>
                <a:gd name="T76" fmla="*/ 0 w 238"/>
                <a:gd name="T77" fmla="*/ 0 h 265"/>
                <a:gd name="T78" fmla="*/ 0 w 238"/>
                <a:gd name="T79" fmla="*/ 0 h 265"/>
                <a:gd name="T80" fmla="*/ 0 w 238"/>
                <a:gd name="T81" fmla="*/ 0 h 265"/>
                <a:gd name="T82" fmla="*/ 0 w 238"/>
                <a:gd name="T83" fmla="*/ 0 h 265"/>
                <a:gd name="T84" fmla="*/ 0 w 238"/>
                <a:gd name="T85" fmla="*/ 0 h 265"/>
                <a:gd name="T86" fmla="*/ 0 w 238"/>
                <a:gd name="T87" fmla="*/ 0 h 265"/>
                <a:gd name="T88" fmla="*/ 0 w 238"/>
                <a:gd name="T89" fmla="*/ 0 h 265"/>
                <a:gd name="T90" fmla="*/ 0 w 238"/>
                <a:gd name="T91" fmla="*/ 0 h 265"/>
                <a:gd name="T92" fmla="*/ 0 w 238"/>
                <a:gd name="T93" fmla="*/ 0 h 265"/>
                <a:gd name="T94" fmla="*/ 0 w 238"/>
                <a:gd name="T95" fmla="*/ 0 h 265"/>
                <a:gd name="T96" fmla="*/ 0 w 238"/>
                <a:gd name="T97" fmla="*/ 0 h 265"/>
                <a:gd name="T98" fmla="*/ 0 w 238"/>
                <a:gd name="T99" fmla="*/ 0 h 265"/>
                <a:gd name="T100" fmla="*/ 0 w 238"/>
                <a:gd name="T101" fmla="*/ 0 h 265"/>
                <a:gd name="T102" fmla="*/ 0 w 238"/>
                <a:gd name="T103" fmla="*/ 0 h 265"/>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238"/>
                <a:gd name="T157" fmla="*/ 0 h 265"/>
                <a:gd name="T158" fmla="*/ 238 w 238"/>
                <a:gd name="T159" fmla="*/ 265 h 265"/>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238" h="265">
                  <a:moveTo>
                    <a:pt x="40" y="30"/>
                  </a:moveTo>
                  <a:lnTo>
                    <a:pt x="38" y="36"/>
                  </a:lnTo>
                  <a:lnTo>
                    <a:pt x="34" y="48"/>
                  </a:lnTo>
                  <a:lnTo>
                    <a:pt x="29" y="59"/>
                  </a:lnTo>
                  <a:lnTo>
                    <a:pt x="27" y="69"/>
                  </a:lnTo>
                  <a:lnTo>
                    <a:pt x="25" y="76"/>
                  </a:lnTo>
                  <a:lnTo>
                    <a:pt x="23" y="90"/>
                  </a:lnTo>
                  <a:lnTo>
                    <a:pt x="23" y="101"/>
                  </a:lnTo>
                  <a:lnTo>
                    <a:pt x="25" y="113"/>
                  </a:lnTo>
                  <a:lnTo>
                    <a:pt x="25" y="123"/>
                  </a:lnTo>
                  <a:lnTo>
                    <a:pt x="23" y="134"/>
                  </a:lnTo>
                  <a:lnTo>
                    <a:pt x="17" y="142"/>
                  </a:lnTo>
                  <a:lnTo>
                    <a:pt x="9" y="148"/>
                  </a:lnTo>
                  <a:lnTo>
                    <a:pt x="2" y="153"/>
                  </a:lnTo>
                  <a:lnTo>
                    <a:pt x="0" y="161"/>
                  </a:lnTo>
                  <a:lnTo>
                    <a:pt x="2" y="169"/>
                  </a:lnTo>
                  <a:lnTo>
                    <a:pt x="6" y="172"/>
                  </a:lnTo>
                  <a:lnTo>
                    <a:pt x="15" y="174"/>
                  </a:lnTo>
                  <a:lnTo>
                    <a:pt x="19" y="176"/>
                  </a:lnTo>
                  <a:lnTo>
                    <a:pt x="13" y="194"/>
                  </a:lnTo>
                  <a:lnTo>
                    <a:pt x="17" y="196"/>
                  </a:lnTo>
                  <a:lnTo>
                    <a:pt x="40" y="207"/>
                  </a:lnTo>
                  <a:lnTo>
                    <a:pt x="48" y="211"/>
                  </a:lnTo>
                  <a:lnTo>
                    <a:pt x="46" y="213"/>
                  </a:lnTo>
                  <a:lnTo>
                    <a:pt x="34" y="215"/>
                  </a:lnTo>
                  <a:lnTo>
                    <a:pt x="21" y="217"/>
                  </a:lnTo>
                  <a:lnTo>
                    <a:pt x="15" y="217"/>
                  </a:lnTo>
                  <a:lnTo>
                    <a:pt x="17" y="222"/>
                  </a:lnTo>
                  <a:lnTo>
                    <a:pt x="21" y="228"/>
                  </a:lnTo>
                  <a:lnTo>
                    <a:pt x="25" y="230"/>
                  </a:lnTo>
                  <a:lnTo>
                    <a:pt x="27" y="238"/>
                  </a:lnTo>
                  <a:lnTo>
                    <a:pt x="27" y="251"/>
                  </a:lnTo>
                  <a:lnTo>
                    <a:pt x="32" y="257"/>
                  </a:lnTo>
                  <a:lnTo>
                    <a:pt x="40" y="263"/>
                  </a:lnTo>
                  <a:lnTo>
                    <a:pt x="52" y="265"/>
                  </a:lnTo>
                  <a:lnTo>
                    <a:pt x="63" y="263"/>
                  </a:lnTo>
                  <a:lnTo>
                    <a:pt x="78" y="261"/>
                  </a:lnTo>
                  <a:lnTo>
                    <a:pt x="100" y="257"/>
                  </a:lnTo>
                  <a:lnTo>
                    <a:pt x="119" y="251"/>
                  </a:lnTo>
                  <a:lnTo>
                    <a:pt x="134" y="245"/>
                  </a:lnTo>
                  <a:lnTo>
                    <a:pt x="148" y="222"/>
                  </a:lnTo>
                  <a:lnTo>
                    <a:pt x="151" y="213"/>
                  </a:lnTo>
                  <a:lnTo>
                    <a:pt x="153" y="209"/>
                  </a:lnTo>
                  <a:lnTo>
                    <a:pt x="157" y="211"/>
                  </a:lnTo>
                  <a:lnTo>
                    <a:pt x="167" y="213"/>
                  </a:lnTo>
                  <a:lnTo>
                    <a:pt x="176" y="207"/>
                  </a:lnTo>
                  <a:lnTo>
                    <a:pt x="186" y="196"/>
                  </a:lnTo>
                  <a:lnTo>
                    <a:pt x="188" y="182"/>
                  </a:lnTo>
                  <a:lnTo>
                    <a:pt x="190" y="165"/>
                  </a:lnTo>
                  <a:lnTo>
                    <a:pt x="190" y="144"/>
                  </a:lnTo>
                  <a:lnTo>
                    <a:pt x="238" y="0"/>
                  </a:lnTo>
                  <a:lnTo>
                    <a:pt x="40" y="30"/>
                  </a:lnTo>
                  <a:close/>
                </a:path>
              </a:pathLst>
            </a:custGeom>
            <a:solidFill>
              <a:srgbClr val="F0DAA3"/>
            </a:solidFill>
            <a:ln w="9525">
              <a:noFill/>
              <a:round/>
              <a:headEnd/>
              <a:tailEnd/>
            </a:ln>
          </p:spPr>
          <p:txBody>
            <a:bodyPr/>
            <a:lstStyle/>
            <a:p>
              <a:endParaRPr lang="en-US"/>
            </a:p>
          </p:txBody>
        </p:sp>
        <p:sp>
          <p:nvSpPr>
            <p:cNvPr id="1200" name="Freeform 17"/>
            <p:cNvSpPr>
              <a:spLocks/>
            </p:cNvSpPr>
            <p:nvPr/>
          </p:nvSpPr>
          <p:spPr bwMode="auto">
            <a:xfrm>
              <a:off x="4546" y="3747"/>
              <a:ext cx="16" cy="16"/>
            </a:xfrm>
            <a:custGeom>
              <a:avLst/>
              <a:gdLst>
                <a:gd name="T0" fmla="*/ 0 w 41"/>
                <a:gd name="T1" fmla="*/ 0 h 38"/>
                <a:gd name="T2" fmla="*/ 0 w 41"/>
                <a:gd name="T3" fmla="*/ 0 h 38"/>
                <a:gd name="T4" fmla="*/ 0 w 41"/>
                <a:gd name="T5" fmla="*/ 0 h 38"/>
                <a:gd name="T6" fmla="*/ 0 w 41"/>
                <a:gd name="T7" fmla="*/ 0 h 38"/>
                <a:gd name="T8" fmla="*/ 0 w 41"/>
                <a:gd name="T9" fmla="*/ 0 h 38"/>
                <a:gd name="T10" fmla="*/ 0 w 41"/>
                <a:gd name="T11" fmla="*/ 0 h 38"/>
                <a:gd name="T12" fmla="*/ 0 w 41"/>
                <a:gd name="T13" fmla="*/ 0 h 38"/>
                <a:gd name="T14" fmla="*/ 0 w 41"/>
                <a:gd name="T15" fmla="*/ 0 h 38"/>
                <a:gd name="T16" fmla="*/ 0 w 41"/>
                <a:gd name="T17" fmla="*/ 0 h 38"/>
                <a:gd name="T18" fmla="*/ 0 w 41"/>
                <a:gd name="T19" fmla="*/ 0 h 38"/>
                <a:gd name="T20" fmla="*/ 0 w 41"/>
                <a:gd name="T21" fmla="*/ 0 h 38"/>
                <a:gd name="T22" fmla="*/ 0 w 41"/>
                <a:gd name="T23" fmla="*/ 0 h 38"/>
                <a:gd name="T24" fmla="*/ 0 w 41"/>
                <a:gd name="T25" fmla="*/ 0 h 38"/>
                <a:gd name="T26" fmla="*/ 0 w 41"/>
                <a:gd name="T27" fmla="*/ 0 h 38"/>
                <a:gd name="T28" fmla="*/ 0 w 41"/>
                <a:gd name="T29" fmla="*/ 0 h 38"/>
                <a:gd name="T30" fmla="*/ 0 w 41"/>
                <a:gd name="T31" fmla="*/ 0 h 38"/>
                <a:gd name="T32" fmla="*/ 0 w 41"/>
                <a:gd name="T33" fmla="*/ 0 h 38"/>
                <a:gd name="T34" fmla="*/ 0 w 41"/>
                <a:gd name="T35" fmla="*/ 0 h 38"/>
                <a:gd name="T36" fmla="*/ 0 w 41"/>
                <a:gd name="T37" fmla="*/ 0 h 3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41"/>
                <a:gd name="T58" fmla="*/ 0 h 38"/>
                <a:gd name="T59" fmla="*/ 41 w 41"/>
                <a:gd name="T60" fmla="*/ 38 h 3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41" h="38">
                  <a:moveTo>
                    <a:pt x="0" y="2"/>
                  </a:moveTo>
                  <a:lnTo>
                    <a:pt x="2" y="8"/>
                  </a:lnTo>
                  <a:lnTo>
                    <a:pt x="6" y="8"/>
                  </a:lnTo>
                  <a:lnTo>
                    <a:pt x="12" y="11"/>
                  </a:lnTo>
                  <a:lnTo>
                    <a:pt x="21" y="17"/>
                  </a:lnTo>
                  <a:lnTo>
                    <a:pt x="29" y="21"/>
                  </a:lnTo>
                  <a:lnTo>
                    <a:pt x="33" y="23"/>
                  </a:lnTo>
                  <a:lnTo>
                    <a:pt x="29" y="23"/>
                  </a:lnTo>
                  <a:lnTo>
                    <a:pt x="23" y="25"/>
                  </a:lnTo>
                  <a:lnTo>
                    <a:pt x="8" y="27"/>
                  </a:lnTo>
                  <a:lnTo>
                    <a:pt x="2" y="29"/>
                  </a:lnTo>
                  <a:lnTo>
                    <a:pt x="0" y="31"/>
                  </a:lnTo>
                  <a:lnTo>
                    <a:pt x="2" y="34"/>
                  </a:lnTo>
                  <a:lnTo>
                    <a:pt x="10" y="38"/>
                  </a:lnTo>
                  <a:lnTo>
                    <a:pt x="18" y="36"/>
                  </a:lnTo>
                  <a:lnTo>
                    <a:pt x="41" y="23"/>
                  </a:lnTo>
                  <a:lnTo>
                    <a:pt x="8" y="0"/>
                  </a:lnTo>
                  <a:lnTo>
                    <a:pt x="2" y="0"/>
                  </a:lnTo>
                  <a:lnTo>
                    <a:pt x="0" y="2"/>
                  </a:lnTo>
                  <a:close/>
                </a:path>
              </a:pathLst>
            </a:custGeom>
            <a:solidFill>
              <a:srgbClr val="FF331A"/>
            </a:solidFill>
            <a:ln w="9525">
              <a:noFill/>
              <a:round/>
              <a:headEnd/>
              <a:tailEnd/>
            </a:ln>
          </p:spPr>
          <p:txBody>
            <a:bodyPr/>
            <a:lstStyle/>
            <a:p>
              <a:endParaRPr lang="en-US"/>
            </a:p>
          </p:txBody>
        </p:sp>
        <p:sp>
          <p:nvSpPr>
            <p:cNvPr id="1201" name="Freeform 18"/>
            <p:cNvSpPr>
              <a:spLocks/>
            </p:cNvSpPr>
            <p:nvPr/>
          </p:nvSpPr>
          <p:spPr bwMode="auto">
            <a:xfrm>
              <a:off x="4620" y="3807"/>
              <a:ext cx="20" cy="98"/>
            </a:xfrm>
            <a:custGeom>
              <a:avLst/>
              <a:gdLst>
                <a:gd name="T0" fmla="*/ 0 w 48"/>
                <a:gd name="T1" fmla="*/ 0 h 231"/>
                <a:gd name="T2" fmla="*/ 0 w 48"/>
                <a:gd name="T3" fmla="*/ 0 h 231"/>
                <a:gd name="T4" fmla="*/ 0 w 48"/>
                <a:gd name="T5" fmla="*/ 0 h 231"/>
                <a:gd name="T6" fmla="*/ 0 w 48"/>
                <a:gd name="T7" fmla="*/ 0 h 231"/>
                <a:gd name="T8" fmla="*/ 0 w 48"/>
                <a:gd name="T9" fmla="*/ 0 h 231"/>
                <a:gd name="T10" fmla="*/ 0 w 48"/>
                <a:gd name="T11" fmla="*/ 0 h 231"/>
                <a:gd name="T12" fmla="*/ 0 60000 65536"/>
                <a:gd name="T13" fmla="*/ 0 60000 65536"/>
                <a:gd name="T14" fmla="*/ 0 60000 65536"/>
                <a:gd name="T15" fmla="*/ 0 60000 65536"/>
                <a:gd name="T16" fmla="*/ 0 60000 65536"/>
                <a:gd name="T17" fmla="*/ 0 60000 65536"/>
                <a:gd name="T18" fmla="*/ 0 w 48"/>
                <a:gd name="T19" fmla="*/ 0 h 231"/>
                <a:gd name="T20" fmla="*/ 48 w 48"/>
                <a:gd name="T21" fmla="*/ 231 h 231"/>
              </a:gdLst>
              <a:ahLst/>
              <a:cxnLst>
                <a:cxn ang="T12">
                  <a:pos x="T0" y="T1"/>
                </a:cxn>
                <a:cxn ang="T13">
                  <a:pos x="T2" y="T3"/>
                </a:cxn>
                <a:cxn ang="T14">
                  <a:pos x="T4" y="T5"/>
                </a:cxn>
                <a:cxn ang="T15">
                  <a:pos x="T6" y="T7"/>
                </a:cxn>
                <a:cxn ang="T16">
                  <a:pos x="T8" y="T9"/>
                </a:cxn>
                <a:cxn ang="T17">
                  <a:pos x="T10" y="T11"/>
                </a:cxn>
              </a:cxnLst>
              <a:rect l="T18" t="T19" r="T20" b="T21"/>
              <a:pathLst>
                <a:path w="48" h="231">
                  <a:moveTo>
                    <a:pt x="48" y="0"/>
                  </a:moveTo>
                  <a:lnTo>
                    <a:pt x="0" y="231"/>
                  </a:lnTo>
                  <a:lnTo>
                    <a:pt x="17" y="85"/>
                  </a:lnTo>
                  <a:lnTo>
                    <a:pt x="13" y="27"/>
                  </a:lnTo>
                  <a:lnTo>
                    <a:pt x="23" y="54"/>
                  </a:lnTo>
                  <a:lnTo>
                    <a:pt x="48" y="0"/>
                  </a:lnTo>
                  <a:close/>
                </a:path>
              </a:pathLst>
            </a:custGeom>
            <a:solidFill>
              <a:srgbClr val="BF1A00"/>
            </a:solidFill>
            <a:ln w="9525">
              <a:noFill/>
              <a:round/>
              <a:headEnd/>
              <a:tailEnd/>
            </a:ln>
          </p:spPr>
          <p:txBody>
            <a:bodyPr/>
            <a:lstStyle/>
            <a:p>
              <a:endParaRPr lang="en-US"/>
            </a:p>
          </p:txBody>
        </p:sp>
        <p:sp>
          <p:nvSpPr>
            <p:cNvPr id="1202" name="Freeform 19"/>
            <p:cNvSpPr>
              <a:spLocks/>
            </p:cNvSpPr>
            <p:nvPr/>
          </p:nvSpPr>
          <p:spPr bwMode="auto">
            <a:xfrm>
              <a:off x="4642" y="3849"/>
              <a:ext cx="81" cy="85"/>
            </a:xfrm>
            <a:custGeom>
              <a:avLst/>
              <a:gdLst>
                <a:gd name="T0" fmla="*/ 0 w 196"/>
                <a:gd name="T1" fmla="*/ 0 h 200"/>
                <a:gd name="T2" fmla="*/ 0 w 196"/>
                <a:gd name="T3" fmla="*/ 0 h 200"/>
                <a:gd name="T4" fmla="*/ 0 w 196"/>
                <a:gd name="T5" fmla="*/ 0 h 200"/>
                <a:gd name="T6" fmla="*/ 0 w 196"/>
                <a:gd name="T7" fmla="*/ 0 h 200"/>
                <a:gd name="T8" fmla="*/ 0 w 196"/>
                <a:gd name="T9" fmla="*/ 0 h 200"/>
                <a:gd name="T10" fmla="*/ 0 w 196"/>
                <a:gd name="T11" fmla="*/ 0 h 200"/>
                <a:gd name="T12" fmla="*/ 0 w 196"/>
                <a:gd name="T13" fmla="*/ 0 h 200"/>
                <a:gd name="T14" fmla="*/ 0 w 196"/>
                <a:gd name="T15" fmla="*/ 0 h 200"/>
                <a:gd name="T16" fmla="*/ 0 w 196"/>
                <a:gd name="T17" fmla="*/ 0 h 200"/>
                <a:gd name="T18" fmla="*/ 0 w 196"/>
                <a:gd name="T19" fmla="*/ 0 h 200"/>
                <a:gd name="T20" fmla="*/ 0 w 196"/>
                <a:gd name="T21" fmla="*/ 0 h 2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96"/>
                <a:gd name="T34" fmla="*/ 0 h 200"/>
                <a:gd name="T35" fmla="*/ 196 w 196"/>
                <a:gd name="T36" fmla="*/ 200 h 20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96" h="200">
                  <a:moveTo>
                    <a:pt x="44" y="0"/>
                  </a:moveTo>
                  <a:lnTo>
                    <a:pt x="92" y="104"/>
                  </a:lnTo>
                  <a:lnTo>
                    <a:pt x="196" y="152"/>
                  </a:lnTo>
                  <a:lnTo>
                    <a:pt x="112" y="125"/>
                  </a:lnTo>
                  <a:lnTo>
                    <a:pt x="196" y="200"/>
                  </a:lnTo>
                  <a:lnTo>
                    <a:pt x="89" y="133"/>
                  </a:lnTo>
                  <a:lnTo>
                    <a:pt x="102" y="171"/>
                  </a:lnTo>
                  <a:lnTo>
                    <a:pt x="62" y="131"/>
                  </a:lnTo>
                  <a:lnTo>
                    <a:pt x="0" y="136"/>
                  </a:lnTo>
                  <a:lnTo>
                    <a:pt x="71" y="109"/>
                  </a:lnTo>
                  <a:lnTo>
                    <a:pt x="44" y="0"/>
                  </a:lnTo>
                  <a:close/>
                </a:path>
              </a:pathLst>
            </a:custGeom>
            <a:solidFill>
              <a:srgbClr val="BF1A00"/>
            </a:solidFill>
            <a:ln w="9525">
              <a:noFill/>
              <a:round/>
              <a:headEnd/>
              <a:tailEnd/>
            </a:ln>
          </p:spPr>
          <p:txBody>
            <a:bodyPr/>
            <a:lstStyle/>
            <a:p>
              <a:endParaRPr lang="en-US"/>
            </a:p>
          </p:txBody>
        </p:sp>
        <p:sp>
          <p:nvSpPr>
            <p:cNvPr id="1203" name="Freeform 20"/>
            <p:cNvSpPr>
              <a:spLocks/>
            </p:cNvSpPr>
            <p:nvPr/>
          </p:nvSpPr>
          <p:spPr bwMode="auto">
            <a:xfrm>
              <a:off x="4358" y="3889"/>
              <a:ext cx="118" cy="23"/>
            </a:xfrm>
            <a:custGeom>
              <a:avLst/>
              <a:gdLst>
                <a:gd name="T0" fmla="*/ 0 w 286"/>
                <a:gd name="T1" fmla="*/ 0 h 54"/>
                <a:gd name="T2" fmla="*/ 0 w 286"/>
                <a:gd name="T3" fmla="*/ 0 h 54"/>
                <a:gd name="T4" fmla="*/ 0 w 286"/>
                <a:gd name="T5" fmla="*/ 0 h 54"/>
                <a:gd name="T6" fmla="*/ 0 w 286"/>
                <a:gd name="T7" fmla="*/ 0 h 54"/>
                <a:gd name="T8" fmla="*/ 0 w 286"/>
                <a:gd name="T9" fmla="*/ 0 h 54"/>
                <a:gd name="T10" fmla="*/ 0 w 286"/>
                <a:gd name="T11" fmla="*/ 0 h 54"/>
                <a:gd name="T12" fmla="*/ 0 w 286"/>
                <a:gd name="T13" fmla="*/ 0 h 54"/>
                <a:gd name="T14" fmla="*/ 0 w 286"/>
                <a:gd name="T15" fmla="*/ 0 h 54"/>
                <a:gd name="T16" fmla="*/ 0 w 286"/>
                <a:gd name="T17" fmla="*/ 0 h 54"/>
                <a:gd name="T18" fmla="*/ 0 w 286"/>
                <a:gd name="T19" fmla="*/ 0 h 54"/>
                <a:gd name="T20" fmla="*/ 0 w 286"/>
                <a:gd name="T21" fmla="*/ 0 h 54"/>
                <a:gd name="T22" fmla="*/ 0 w 286"/>
                <a:gd name="T23" fmla="*/ 0 h 54"/>
                <a:gd name="T24" fmla="*/ 0 w 286"/>
                <a:gd name="T25" fmla="*/ 0 h 54"/>
                <a:gd name="T26" fmla="*/ 0 w 286"/>
                <a:gd name="T27" fmla="*/ 0 h 54"/>
                <a:gd name="T28" fmla="*/ 0 w 286"/>
                <a:gd name="T29" fmla="*/ 0 h 54"/>
                <a:gd name="T30" fmla="*/ 0 w 286"/>
                <a:gd name="T31" fmla="*/ 0 h 54"/>
                <a:gd name="T32" fmla="*/ 0 w 286"/>
                <a:gd name="T33" fmla="*/ 0 h 54"/>
                <a:gd name="T34" fmla="*/ 0 w 286"/>
                <a:gd name="T35" fmla="*/ 0 h 54"/>
                <a:gd name="T36" fmla="*/ 0 w 286"/>
                <a:gd name="T37" fmla="*/ 0 h 54"/>
                <a:gd name="T38" fmla="*/ 0 w 286"/>
                <a:gd name="T39" fmla="*/ 0 h 54"/>
                <a:gd name="T40" fmla="*/ 0 w 286"/>
                <a:gd name="T41" fmla="*/ 0 h 5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86"/>
                <a:gd name="T64" fmla="*/ 0 h 54"/>
                <a:gd name="T65" fmla="*/ 286 w 286"/>
                <a:gd name="T66" fmla="*/ 54 h 5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86" h="54">
                  <a:moveTo>
                    <a:pt x="0" y="0"/>
                  </a:moveTo>
                  <a:lnTo>
                    <a:pt x="4" y="0"/>
                  </a:lnTo>
                  <a:lnTo>
                    <a:pt x="14" y="4"/>
                  </a:lnTo>
                  <a:lnTo>
                    <a:pt x="27" y="6"/>
                  </a:lnTo>
                  <a:lnTo>
                    <a:pt x="45" y="10"/>
                  </a:lnTo>
                  <a:lnTo>
                    <a:pt x="85" y="15"/>
                  </a:lnTo>
                  <a:lnTo>
                    <a:pt x="125" y="15"/>
                  </a:lnTo>
                  <a:lnTo>
                    <a:pt x="146" y="14"/>
                  </a:lnTo>
                  <a:lnTo>
                    <a:pt x="171" y="12"/>
                  </a:lnTo>
                  <a:lnTo>
                    <a:pt x="223" y="8"/>
                  </a:lnTo>
                  <a:lnTo>
                    <a:pt x="248" y="8"/>
                  </a:lnTo>
                  <a:lnTo>
                    <a:pt x="267" y="6"/>
                  </a:lnTo>
                  <a:lnTo>
                    <a:pt x="286" y="6"/>
                  </a:lnTo>
                  <a:lnTo>
                    <a:pt x="102" y="54"/>
                  </a:lnTo>
                  <a:lnTo>
                    <a:pt x="98" y="54"/>
                  </a:lnTo>
                  <a:lnTo>
                    <a:pt x="91" y="52"/>
                  </a:lnTo>
                  <a:lnTo>
                    <a:pt x="62" y="44"/>
                  </a:lnTo>
                  <a:lnTo>
                    <a:pt x="31" y="33"/>
                  </a:lnTo>
                  <a:lnTo>
                    <a:pt x="20" y="27"/>
                  </a:lnTo>
                  <a:lnTo>
                    <a:pt x="10" y="21"/>
                  </a:lnTo>
                  <a:lnTo>
                    <a:pt x="0" y="0"/>
                  </a:lnTo>
                  <a:close/>
                </a:path>
              </a:pathLst>
            </a:custGeom>
            <a:solidFill>
              <a:srgbClr val="DEDEDE"/>
            </a:solidFill>
            <a:ln w="9525">
              <a:noFill/>
              <a:round/>
              <a:headEnd/>
              <a:tailEnd/>
            </a:ln>
          </p:spPr>
          <p:txBody>
            <a:bodyPr/>
            <a:lstStyle/>
            <a:p>
              <a:endParaRPr lang="en-US"/>
            </a:p>
          </p:txBody>
        </p:sp>
        <p:sp>
          <p:nvSpPr>
            <p:cNvPr id="1204" name="Freeform 21"/>
            <p:cNvSpPr>
              <a:spLocks/>
            </p:cNvSpPr>
            <p:nvPr/>
          </p:nvSpPr>
          <p:spPr bwMode="auto">
            <a:xfrm>
              <a:off x="4360" y="3867"/>
              <a:ext cx="197" cy="68"/>
            </a:xfrm>
            <a:custGeom>
              <a:avLst/>
              <a:gdLst>
                <a:gd name="T0" fmla="*/ 0 w 478"/>
                <a:gd name="T1" fmla="*/ 0 h 162"/>
                <a:gd name="T2" fmla="*/ 0 w 478"/>
                <a:gd name="T3" fmla="*/ 0 h 162"/>
                <a:gd name="T4" fmla="*/ 0 w 478"/>
                <a:gd name="T5" fmla="*/ 0 h 162"/>
                <a:gd name="T6" fmla="*/ 0 w 478"/>
                <a:gd name="T7" fmla="*/ 0 h 162"/>
                <a:gd name="T8" fmla="*/ 0 w 478"/>
                <a:gd name="T9" fmla="*/ 0 h 162"/>
                <a:gd name="T10" fmla="*/ 0 w 478"/>
                <a:gd name="T11" fmla="*/ 0 h 162"/>
                <a:gd name="T12" fmla="*/ 0 w 478"/>
                <a:gd name="T13" fmla="*/ 0 h 162"/>
                <a:gd name="T14" fmla="*/ 0 w 478"/>
                <a:gd name="T15" fmla="*/ 0 h 162"/>
                <a:gd name="T16" fmla="*/ 0 w 478"/>
                <a:gd name="T17" fmla="*/ 0 h 162"/>
                <a:gd name="T18" fmla="*/ 0 w 478"/>
                <a:gd name="T19" fmla="*/ 0 h 162"/>
                <a:gd name="T20" fmla="*/ 0 w 478"/>
                <a:gd name="T21" fmla="*/ 0 h 162"/>
                <a:gd name="T22" fmla="*/ 0 w 478"/>
                <a:gd name="T23" fmla="*/ 0 h 162"/>
                <a:gd name="T24" fmla="*/ 0 w 478"/>
                <a:gd name="T25" fmla="*/ 0 h 162"/>
                <a:gd name="T26" fmla="*/ 0 w 478"/>
                <a:gd name="T27" fmla="*/ 0 h 162"/>
                <a:gd name="T28" fmla="*/ 0 w 478"/>
                <a:gd name="T29" fmla="*/ 0 h 162"/>
                <a:gd name="T30" fmla="*/ 0 w 478"/>
                <a:gd name="T31" fmla="*/ 0 h 162"/>
                <a:gd name="T32" fmla="*/ 0 w 478"/>
                <a:gd name="T33" fmla="*/ 0 h 162"/>
                <a:gd name="T34" fmla="*/ 0 w 478"/>
                <a:gd name="T35" fmla="*/ 0 h 162"/>
                <a:gd name="T36" fmla="*/ 0 w 478"/>
                <a:gd name="T37" fmla="*/ 0 h 162"/>
                <a:gd name="T38" fmla="*/ 0 w 478"/>
                <a:gd name="T39" fmla="*/ 0 h 162"/>
                <a:gd name="T40" fmla="*/ 0 w 478"/>
                <a:gd name="T41" fmla="*/ 0 h 162"/>
                <a:gd name="T42" fmla="*/ 0 w 478"/>
                <a:gd name="T43" fmla="*/ 0 h 162"/>
                <a:gd name="T44" fmla="*/ 0 w 478"/>
                <a:gd name="T45" fmla="*/ 0 h 162"/>
                <a:gd name="T46" fmla="*/ 0 w 478"/>
                <a:gd name="T47" fmla="*/ 0 h 162"/>
                <a:gd name="T48" fmla="*/ 0 w 478"/>
                <a:gd name="T49" fmla="*/ 0 h 162"/>
                <a:gd name="T50" fmla="*/ 0 w 478"/>
                <a:gd name="T51" fmla="*/ 0 h 162"/>
                <a:gd name="T52" fmla="*/ 0 w 478"/>
                <a:gd name="T53" fmla="*/ 0 h 162"/>
                <a:gd name="T54" fmla="*/ 0 w 478"/>
                <a:gd name="T55" fmla="*/ 0 h 162"/>
                <a:gd name="T56" fmla="*/ 0 w 478"/>
                <a:gd name="T57" fmla="*/ 0 h 162"/>
                <a:gd name="T58" fmla="*/ 0 w 478"/>
                <a:gd name="T59" fmla="*/ 0 h 162"/>
                <a:gd name="T60" fmla="*/ 0 w 478"/>
                <a:gd name="T61" fmla="*/ 0 h 162"/>
                <a:gd name="T62" fmla="*/ 0 w 478"/>
                <a:gd name="T63" fmla="*/ 0 h 162"/>
                <a:gd name="T64" fmla="*/ 0 w 478"/>
                <a:gd name="T65" fmla="*/ 0 h 16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478"/>
                <a:gd name="T100" fmla="*/ 0 h 162"/>
                <a:gd name="T101" fmla="*/ 478 w 478"/>
                <a:gd name="T102" fmla="*/ 162 h 162"/>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478" h="162">
                  <a:moveTo>
                    <a:pt x="0" y="94"/>
                  </a:moveTo>
                  <a:lnTo>
                    <a:pt x="2" y="94"/>
                  </a:lnTo>
                  <a:lnTo>
                    <a:pt x="6" y="92"/>
                  </a:lnTo>
                  <a:lnTo>
                    <a:pt x="25" y="91"/>
                  </a:lnTo>
                  <a:lnTo>
                    <a:pt x="50" y="87"/>
                  </a:lnTo>
                  <a:lnTo>
                    <a:pt x="83" y="83"/>
                  </a:lnTo>
                  <a:lnTo>
                    <a:pt x="150" y="71"/>
                  </a:lnTo>
                  <a:lnTo>
                    <a:pt x="181" y="67"/>
                  </a:lnTo>
                  <a:lnTo>
                    <a:pt x="204" y="64"/>
                  </a:lnTo>
                  <a:lnTo>
                    <a:pt x="246" y="58"/>
                  </a:lnTo>
                  <a:lnTo>
                    <a:pt x="290" y="50"/>
                  </a:lnTo>
                  <a:lnTo>
                    <a:pt x="332" y="42"/>
                  </a:lnTo>
                  <a:lnTo>
                    <a:pt x="369" y="31"/>
                  </a:lnTo>
                  <a:lnTo>
                    <a:pt x="436" y="10"/>
                  </a:lnTo>
                  <a:lnTo>
                    <a:pt x="451" y="6"/>
                  </a:lnTo>
                  <a:lnTo>
                    <a:pt x="463" y="2"/>
                  </a:lnTo>
                  <a:lnTo>
                    <a:pt x="470" y="0"/>
                  </a:lnTo>
                  <a:lnTo>
                    <a:pt x="472" y="0"/>
                  </a:lnTo>
                  <a:lnTo>
                    <a:pt x="478" y="144"/>
                  </a:lnTo>
                  <a:lnTo>
                    <a:pt x="470" y="144"/>
                  </a:lnTo>
                  <a:lnTo>
                    <a:pt x="453" y="148"/>
                  </a:lnTo>
                  <a:lnTo>
                    <a:pt x="424" y="150"/>
                  </a:lnTo>
                  <a:lnTo>
                    <a:pt x="390" y="154"/>
                  </a:lnTo>
                  <a:lnTo>
                    <a:pt x="313" y="160"/>
                  </a:lnTo>
                  <a:lnTo>
                    <a:pt x="277" y="162"/>
                  </a:lnTo>
                  <a:lnTo>
                    <a:pt x="244" y="162"/>
                  </a:lnTo>
                  <a:lnTo>
                    <a:pt x="186" y="160"/>
                  </a:lnTo>
                  <a:lnTo>
                    <a:pt x="133" y="154"/>
                  </a:lnTo>
                  <a:lnTo>
                    <a:pt x="108" y="152"/>
                  </a:lnTo>
                  <a:lnTo>
                    <a:pt x="87" y="148"/>
                  </a:lnTo>
                  <a:lnTo>
                    <a:pt x="67" y="142"/>
                  </a:lnTo>
                  <a:lnTo>
                    <a:pt x="52" y="135"/>
                  </a:lnTo>
                  <a:lnTo>
                    <a:pt x="0" y="94"/>
                  </a:lnTo>
                  <a:close/>
                </a:path>
              </a:pathLst>
            </a:custGeom>
            <a:solidFill>
              <a:srgbClr val="FFFFFF"/>
            </a:solidFill>
            <a:ln w="9525">
              <a:noFill/>
              <a:round/>
              <a:headEnd/>
              <a:tailEnd/>
            </a:ln>
          </p:spPr>
          <p:txBody>
            <a:bodyPr/>
            <a:lstStyle/>
            <a:p>
              <a:endParaRPr lang="en-US"/>
            </a:p>
          </p:txBody>
        </p:sp>
        <p:sp>
          <p:nvSpPr>
            <p:cNvPr id="1205" name="Freeform 22"/>
            <p:cNvSpPr>
              <a:spLocks/>
            </p:cNvSpPr>
            <p:nvPr/>
          </p:nvSpPr>
          <p:spPr bwMode="auto">
            <a:xfrm>
              <a:off x="4527" y="3903"/>
              <a:ext cx="112" cy="44"/>
            </a:xfrm>
            <a:custGeom>
              <a:avLst/>
              <a:gdLst>
                <a:gd name="T0" fmla="*/ 0 w 273"/>
                <a:gd name="T1" fmla="*/ 0 h 103"/>
                <a:gd name="T2" fmla="*/ 0 w 273"/>
                <a:gd name="T3" fmla="*/ 0 h 103"/>
                <a:gd name="T4" fmla="*/ 0 w 273"/>
                <a:gd name="T5" fmla="*/ 0 h 103"/>
                <a:gd name="T6" fmla="*/ 0 w 273"/>
                <a:gd name="T7" fmla="*/ 0 h 103"/>
                <a:gd name="T8" fmla="*/ 0 w 273"/>
                <a:gd name="T9" fmla="*/ 0 h 103"/>
                <a:gd name="T10" fmla="*/ 0 w 273"/>
                <a:gd name="T11" fmla="*/ 0 h 103"/>
                <a:gd name="T12" fmla="*/ 0 w 273"/>
                <a:gd name="T13" fmla="*/ 0 h 103"/>
                <a:gd name="T14" fmla="*/ 0 w 273"/>
                <a:gd name="T15" fmla="*/ 0 h 103"/>
                <a:gd name="T16" fmla="*/ 0 w 273"/>
                <a:gd name="T17" fmla="*/ 0 h 103"/>
                <a:gd name="T18" fmla="*/ 0 w 273"/>
                <a:gd name="T19" fmla="*/ 0 h 103"/>
                <a:gd name="T20" fmla="*/ 0 w 273"/>
                <a:gd name="T21" fmla="*/ 0 h 103"/>
                <a:gd name="T22" fmla="*/ 0 w 273"/>
                <a:gd name="T23" fmla="*/ 0 h 103"/>
                <a:gd name="T24" fmla="*/ 0 w 273"/>
                <a:gd name="T25" fmla="*/ 0 h 103"/>
                <a:gd name="T26" fmla="*/ 0 w 273"/>
                <a:gd name="T27" fmla="*/ 0 h 103"/>
                <a:gd name="T28" fmla="*/ 0 w 273"/>
                <a:gd name="T29" fmla="*/ 0 h 103"/>
                <a:gd name="T30" fmla="*/ 0 w 273"/>
                <a:gd name="T31" fmla="*/ 0 h 103"/>
                <a:gd name="T32" fmla="*/ 0 w 273"/>
                <a:gd name="T33" fmla="*/ 0 h 103"/>
                <a:gd name="T34" fmla="*/ 0 w 273"/>
                <a:gd name="T35" fmla="*/ 0 h 103"/>
                <a:gd name="T36" fmla="*/ 0 w 273"/>
                <a:gd name="T37" fmla="*/ 0 h 103"/>
                <a:gd name="T38" fmla="*/ 0 w 273"/>
                <a:gd name="T39" fmla="*/ 0 h 103"/>
                <a:gd name="T40" fmla="*/ 0 w 273"/>
                <a:gd name="T41" fmla="*/ 0 h 103"/>
                <a:gd name="T42" fmla="*/ 0 w 273"/>
                <a:gd name="T43" fmla="*/ 0 h 103"/>
                <a:gd name="T44" fmla="*/ 0 w 273"/>
                <a:gd name="T45" fmla="*/ 0 h 103"/>
                <a:gd name="T46" fmla="*/ 0 w 273"/>
                <a:gd name="T47" fmla="*/ 0 h 103"/>
                <a:gd name="T48" fmla="*/ 0 w 273"/>
                <a:gd name="T49" fmla="*/ 0 h 103"/>
                <a:gd name="T50" fmla="*/ 0 w 273"/>
                <a:gd name="T51" fmla="*/ 0 h 103"/>
                <a:gd name="T52" fmla="*/ 0 w 273"/>
                <a:gd name="T53" fmla="*/ 0 h 103"/>
                <a:gd name="T54" fmla="*/ 0 w 273"/>
                <a:gd name="T55" fmla="*/ 0 h 103"/>
                <a:gd name="T56" fmla="*/ 0 w 273"/>
                <a:gd name="T57" fmla="*/ 0 h 103"/>
                <a:gd name="T58" fmla="*/ 0 w 273"/>
                <a:gd name="T59" fmla="*/ 0 h 103"/>
                <a:gd name="T60" fmla="*/ 0 w 273"/>
                <a:gd name="T61" fmla="*/ 0 h 103"/>
                <a:gd name="T62" fmla="*/ 0 w 273"/>
                <a:gd name="T63" fmla="*/ 0 h 103"/>
                <a:gd name="T64" fmla="*/ 0 w 273"/>
                <a:gd name="T65" fmla="*/ 0 h 103"/>
                <a:gd name="T66" fmla="*/ 0 w 273"/>
                <a:gd name="T67" fmla="*/ 0 h 103"/>
                <a:gd name="T68" fmla="*/ 0 w 273"/>
                <a:gd name="T69" fmla="*/ 0 h 103"/>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273"/>
                <a:gd name="T106" fmla="*/ 0 h 103"/>
                <a:gd name="T107" fmla="*/ 273 w 273"/>
                <a:gd name="T108" fmla="*/ 103 h 103"/>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273" h="103">
                  <a:moveTo>
                    <a:pt x="267" y="15"/>
                  </a:moveTo>
                  <a:lnTo>
                    <a:pt x="269" y="19"/>
                  </a:lnTo>
                  <a:lnTo>
                    <a:pt x="271" y="28"/>
                  </a:lnTo>
                  <a:lnTo>
                    <a:pt x="273" y="40"/>
                  </a:lnTo>
                  <a:lnTo>
                    <a:pt x="273" y="50"/>
                  </a:lnTo>
                  <a:lnTo>
                    <a:pt x="267" y="61"/>
                  </a:lnTo>
                  <a:lnTo>
                    <a:pt x="257" y="75"/>
                  </a:lnTo>
                  <a:lnTo>
                    <a:pt x="250" y="86"/>
                  </a:lnTo>
                  <a:lnTo>
                    <a:pt x="246" y="90"/>
                  </a:lnTo>
                  <a:lnTo>
                    <a:pt x="246" y="92"/>
                  </a:lnTo>
                  <a:lnTo>
                    <a:pt x="194" y="96"/>
                  </a:lnTo>
                  <a:lnTo>
                    <a:pt x="192" y="96"/>
                  </a:lnTo>
                  <a:lnTo>
                    <a:pt x="188" y="98"/>
                  </a:lnTo>
                  <a:lnTo>
                    <a:pt x="173" y="100"/>
                  </a:lnTo>
                  <a:lnTo>
                    <a:pt x="154" y="103"/>
                  </a:lnTo>
                  <a:lnTo>
                    <a:pt x="136" y="103"/>
                  </a:lnTo>
                  <a:lnTo>
                    <a:pt x="121" y="101"/>
                  </a:lnTo>
                  <a:lnTo>
                    <a:pt x="104" y="96"/>
                  </a:lnTo>
                  <a:lnTo>
                    <a:pt x="88" y="88"/>
                  </a:lnTo>
                  <a:lnTo>
                    <a:pt x="85" y="86"/>
                  </a:lnTo>
                  <a:lnTo>
                    <a:pt x="83" y="86"/>
                  </a:lnTo>
                  <a:lnTo>
                    <a:pt x="75" y="53"/>
                  </a:lnTo>
                  <a:lnTo>
                    <a:pt x="8" y="53"/>
                  </a:lnTo>
                  <a:lnTo>
                    <a:pt x="6" y="52"/>
                  </a:lnTo>
                  <a:lnTo>
                    <a:pt x="4" y="48"/>
                  </a:lnTo>
                  <a:lnTo>
                    <a:pt x="0" y="38"/>
                  </a:lnTo>
                  <a:lnTo>
                    <a:pt x="4" y="34"/>
                  </a:lnTo>
                  <a:lnTo>
                    <a:pt x="14" y="32"/>
                  </a:lnTo>
                  <a:lnTo>
                    <a:pt x="40" y="27"/>
                  </a:lnTo>
                  <a:lnTo>
                    <a:pt x="69" y="23"/>
                  </a:lnTo>
                  <a:lnTo>
                    <a:pt x="77" y="21"/>
                  </a:lnTo>
                  <a:lnTo>
                    <a:pt x="81" y="21"/>
                  </a:lnTo>
                  <a:lnTo>
                    <a:pt x="127" y="0"/>
                  </a:lnTo>
                  <a:lnTo>
                    <a:pt x="188" y="28"/>
                  </a:lnTo>
                  <a:lnTo>
                    <a:pt x="267" y="15"/>
                  </a:lnTo>
                  <a:close/>
                </a:path>
              </a:pathLst>
            </a:custGeom>
            <a:solidFill>
              <a:srgbClr val="F0DAA3"/>
            </a:solidFill>
            <a:ln w="9525">
              <a:noFill/>
              <a:round/>
              <a:headEnd/>
              <a:tailEnd/>
            </a:ln>
          </p:spPr>
          <p:txBody>
            <a:bodyPr/>
            <a:lstStyle/>
            <a:p>
              <a:endParaRPr lang="en-US"/>
            </a:p>
          </p:txBody>
        </p:sp>
        <p:sp>
          <p:nvSpPr>
            <p:cNvPr id="1206" name="Freeform 23"/>
            <p:cNvSpPr>
              <a:spLocks/>
            </p:cNvSpPr>
            <p:nvPr/>
          </p:nvSpPr>
          <p:spPr bwMode="auto">
            <a:xfrm>
              <a:off x="4558" y="3924"/>
              <a:ext cx="24" cy="23"/>
            </a:xfrm>
            <a:custGeom>
              <a:avLst/>
              <a:gdLst>
                <a:gd name="T0" fmla="*/ 0 w 58"/>
                <a:gd name="T1" fmla="*/ 0 h 55"/>
                <a:gd name="T2" fmla="*/ 0 w 58"/>
                <a:gd name="T3" fmla="*/ 0 h 55"/>
                <a:gd name="T4" fmla="*/ 0 w 58"/>
                <a:gd name="T5" fmla="*/ 0 h 55"/>
                <a:gd name="T6" fmla="*/ 0 w 58"/>
                <a:gd name="T7" fmla="*/ 0 h 55"/>
                <a:gd name="T8" fmla="*/ 0 w 58"/>
                <a:gd name="T9" fmla="*/ 0 h 55"/>
                <a:gd name="T10" fmla="*/ 0 60000 65536"/>
                <a:gd name="T11" fmla="*/ 0 60000 65536"/>
                <a:gd name="T12" fmla="*/ 0 60000 65536"/>
                <a:gd name="T13" fmla="*/ 0 60000 65536"/>
                <a:gd name="T14" fmla="*/ 0 60000 65536"/>
                <a:gd name="T15" fmla="*/ 0 w 58"/>
                <a:gd name="T16" fmla="*/ 0 h 55"/>
                <a:gd name="T17" fmla="*/ 58 w 58"/>
                <a:gd name="T18" fmla="*/ 55 h 55"/>
              </a:gdLst>
              <a:ahLst/>
              <a:cxnLst>
                <a:cxn ang="T10">
                  <a:pos x="T0" y="T1"/>
                </a:cxn>
                <a:cxn ang="T11">
                  <a:pos x="T2" y="T3"/>
                </a:cxn>
                <a:cxn ang="T12">
                  <a:pos x="T4" y="T5"/>
                </a:cxn>
                <a:cxn ang="T13">
                  <a:pos x="T6" y="T7"/>
                </a:cxn>
                <a:cxn ang="T14">
                  <a:pos x="T8" y="T9"/>
                </a:cxn>
              </a:cxnLst>
              <a:rect l="T15" t="T16" r="T17" b="T18"/>
              <a:pathLst>
                <a:path w="58" h="55">
                  <a:moveTo>
                    <a:pt x="0" y="4"/>
                  </a:moveTo>
                  <a:lnTo>
                    <a:pt x="25" y="0"/>
                  </a:lnTo>
                  <a:lnTo>
                    <a:pt x="58" y="55"/>
                  </a:lnTo>
                  <a:lnTo>
                    <a:pt x="8" y="38"/>
                  </a:lnTo>
                  <a:lnTo>
                    <a:pt x="0" y="4"/>
                  </a:lnTo>
                  <a:close/>
                </a:path>
              </a:pathLst>
            </a:custGeom>
            <a:solidFill>
              <a:srgbClr val="896F44"/>
            </a:solidFill>
            <a:ln w="9525">
              <a:noFill/>
              <a:round/>
              <a:headEnd/>
              <a:tailEnd/>
            </a:ln>
          </p:spPr>
          <p:txBody>
            <a:bodyPr/>
            <a:lstStyle/>
            <a:p>
              <a:endParaRPr lang="en-US"/>
            </a:p>
          </p:txBody>
        </p:sp>
        <p:sp>
          <p:nvSpPr>
            <p:cNvPr id="1207" name="Freeform 24"/>
            <p:cNvSpPr>
              <a:spLocks/>
            </p:cNvSpPr>
            <p:nvPr/>
          </p:nvSpPr>
          <p:spPr bwMode="auto">
            <a:xfrm>
              <a:off x="4528" y="3920"/>
              <a:ext cx="10" cy="4"/>
            </a:xfrm>
            <a:custGeom>
              <a:avLst/>
              <a:gdLst>
                <a:gd name="T0" fmla="*/ 0 w 23"/>
                <a:gd name="T1" fmla="*/ 0 h 12"/>
                <a:gd name="T2" fmla="*/ 0 w 23"/>
                <a:gd name="T3" fmla="*/ 0 h 12"/>
                <a:gd name="T4" fmla="*/ 0 w 23"/>
                <a:gd name="T5" fmla="*/ 0 h 12"/>
                <a:gd name="T6" fmla="*/ 0 w 23"/>
                <a:gd name="T7" fmla="*/ 0 h 12"/>
                <a:gd name="T8" fmla="*/ 0 w 23"/>
                <a:gd name="T9" fmla="*/ 0 h 12"/>
                <a:gd name="T10" fmla="*/ 0 w 23"/>
                <a:gd name="T11" fmla="*/ 0 h 12"/>
                <a:gd name="T12" fmla="*/ 0 w 23"/>
                <a:gd name="T13" fmla="*/ 0 h 12"/>
                <a:gd name="T14" fmla="*/ 0 w 23"/>
                <a:gd name="T15" fmla="*/ 0 h 12"/>
                <a:gd name="T16" fmla="*/ 0 w 23"/>
                <a:gd name="T17" fmla="*/ 0 h 1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3"/>
                <a:gd name="T28" fmla="*/ 0 h 12"/>
                <a:gd name="T29" fmla="*/ 23 w 23"/>
                <a:gd name="T30" fmla="*/ 12 h 1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3" h="12">
                  <a:moveTo>
                    <a:pt x="0" y="2"/>
                  </a:moveTo>
                  <a:lnTo>
                    <a:pt x="4" y="6"/>
                  </a:lnTo>
                  <a:lnTo>
                    <a:pt x="6" y="12"/>
                  </a:lnTo>
                  <a:lnTo>
                    <a:pt x="12" y="12"/>
                  </a:lnTo>
                  <a:lnTo>
                    <a:pt x="19" y="10"/>
                  </a:lnTo>
                  <a:lnTo>
                    <a:pt x="23" y="8"/>
                  </a:lnTo>
                  <a:lnTo>
                    <a:pt x="21" y="4"/>
                  </a:lnTo>
                  <a:lnTo>
                    <a:pt x="12" y="0"/>
                  </a:lnTo>
                  <a:lnTo>
                    <a:pt x="0" y="2"/>
                  </a:lnTo>
                  <a:close/>
                </a:path>
              </a:pathLst>
            </a:custGeom>
            <a:solidFill>
              <a:srgbClr val="FFFFFF"/>
            </a:solidFill>
            <a:ln w="9525">
              <a:noFill/>
              <a:round/>
              <a:headEnd/>
              <a:tailEnd/>
            </a:ln>
          </p:spPr>
          <p:txBody>
            <a:bodyPr/>
            <a:lstStyle/>
            <a:p>
              <a:endParaRPr lang="en-US"/>
            </a:p>
          </p:txBody>
        </p:sp>
        <p:sp>
          <p:nvSpPr>
            <p:cNvPr id="1208" name="Freeform 25"/>
            <p:cNvSpPr>
              <a:spLocks/>
            </p:cNvSpPr>
            <p:nvPr/>
          </p:nvSpPr>
          <p:spPr bwMode="auto">
            <a:xfrm>
              <a:off x="4560" y="3718"/>
              <a:ext cx="11" cy="8"/>
            </a:xfrm>
            <a:custGeom>
              <a:avLst/>
              <a:gdLst>
                <a:gd name="T0" fmla="*/ 0 w 25"/>
                <a:gd name="T1" fmla="*/ 0 h 19"/>
                <a:gd name="T2" fmla="*/ 0 w 25"/>
                <a:gd name="T3" fmla="*/ 0 h 19"/>
                <a:gd name="T4" fmla="*/ 0 w 25"/>
                <a:gd name="T5" fmla="*/ 0 h 19"/>
                <a:gd name="T6" fmla="*/ 0 w 25"/>
                <a:gd name="T7" fmla="*/ 0 h 19"/>
                <a:gd name="T8" fmla="*/ 0 w 25"/>
                <a:gd name="T9" fmla="*/ 0 h 19"/>
                <a:gd name="T10" fmla="*/ 0 w 25"/>
                <a:gd name="T11" fmla="*/ 0 h 19"/>
                <a:gd name="T12" fmla="*/ 0 w 25"/>
                <a:gd name="T13" fmla="*/ 0 h 19"/>
                <a:gd name="T14" fmla="*/ 0 w 25"/>
                <a:gd name="T15" fmla="*/ 0 h 19"/>
                <a:gd name="T16" fmla="*/ 0 w 25"/>
                <a:gd name="T17" fmla="*/ 0 h 1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5"/>
                <a:gd name="T28" fmla="*/ 0 h 19"/>
                <a:gd name="T29" fmla="*/ 25 w 25"/>
                <a:gd name="T30" fmla="*/ 19 h 1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5" h="19">
                  <a:moveTo>
                    <a:pt x="0" y="0"/>
                  </a:moveTo>
                  <a:lnTo>
                    <a:pt x="4" y="2"/>
                  </a:lnTo>
                  <a:lnTo>
                    <a:pt x="19" y="9"/>
                  </a:lnTo>
                  <a:lnTo>
                    <a:pt x="25" y="15"/>
                  </a:lnTo>
                  <a:lnTo>
                    <a:pt x="25" y="19"/>
                  </a:lnTo>
                  <a:lnTo>
                    <a:pt x="4" y="19"/>
                  </a:lnTo>
                  <a:lnTo>
                    <a:pt x="2" y="17"/>
                  </a:lnTo>
                  <a:lnTo>
                    <a:pt x="0" y="7"/>
                  </a:lnTo>
                  <a:lnTo>
                    <a:pt x="0" y="0"/>
                  </a:lnTo>
                  <a:close/>
                </a:path>
              </a:pathLst>
            </a:custGeom>
            <a:solidFill>
              <a:srgbClr val="F7F7F7"/>
            </a:solidFill>
            <a:ln w="9525">
              <a:noFill/>
              <a:round/>
              <a:headEnd/>
              <a:tailEnd/>
            </a:ln>
          </p:spPr>
          <p:txBody>
            <a:bodyPr/>
            <a:lstStyle/>
            <a:p>
              <a:endParaRPr lang="en-US"/>
            </a:p>
          </p:txBody>
        </p:sp>
        <p:sp>
          <p:nvSpPr>
            <p:cNvPr id="1209" name="Freeform 26"/>
            <p:cNvSpPr>
              <a:spLocks/>
            </p:cNvSpPr>
            <p:nvPr/>
          </p:nvSpPr>
          <p:spPr bwMode="auto">
            <a:xfrm>
              <a:off x="4557" y="3710"/>
              <a:ext cx="20" cy="9"/>
            </a:xfrm>
            <a:custGeom>
              <a:avLst/>
              <a:gdLst>
                <a:gd name="T0" fmla="*/ 0 w 48"/>
                <a:gd name="T1" fmla="*/ 0 h 23"/>
                <a:gd name="T2" fmla="*/ 0 w 48"/>
                <a:gd name="T3" fmla="*/ 0 h 23"/>
                <a:gd name="T4" fmla="*/ 0 w 48"/>
                <a:gd name="T5" fmla="*/ 0 h 23"/>
                <a:gd name="T6" fmla="*/ 0 w 48"/>
                <a:gd name="T7" fmla="*/ 0 h 23"/>
                <a:gd name="T8" fmla="*/ 0 w 48"/>
                <a:gd name="T9" fmla="*/ 0 h 23"/>
                <a:gd name="T10" fmla="*/ 0 60000 65536"/>
                <a:gd name="T11" fmla="*/ 0 60000 65536"/>
                <a:gd name="T12" fmla="*/ 0 60000 65536"/>
                <a:gd name="T13" fmla="*/ 0 60000 65536"/>
                <a:gd name="T14" fmla="*/ 0 60000 65536"/>
                <a:gd name="T15" fmla="*/ 0 w 48"/>
                <a:gd name="T16" fmla="*/ 0 h 23"/>
                <a:gd name="T17" fmla="*/ 48 w 48"/>
                <a:gd name="T18" fmla="*/ 23 h 23"/>
              </a:gdLst>
              <a:ahLst/>
              <a:cxnLst>
                <a:cxn ang="T10">
                  <a:pos x="T0" y="T1"/>
                </a:cxn>
                <a:cxn ang="T11">
                  <a:pos x="T2" y="T3"/>
                </a:cxn>
                <a:cxn ang="T12">
                  <a:pos x="T4" y="T5"/>
                </a:cxn>
                <a:cxn ang="T13">
                  <a:pos x="T6" y="T7"/>
                </a:cxn>
                <a:cxn ang="T14">
                  <a:pos x="T8" y="T9"/>
                </a:cxn>
              </a:cxnLst>
              <a:rect l="T15" t="T16" r="T17" b="T18"/>
              <a:pathLst>
                <a:path w="48" h="23">
                  <a:moveTo>
                    <a:pt x="0" y="1"/>
                  </a:moveTo>
                  <a:lnTo>
                    <a:pt x="21" y="5"/>
                  </a:lnTo>
                  <a:lnTo>
                    <a:pt x="48" y="23"/>
                  </a:lnTo>
                  <a:lnTo>
                    <a:pt x="21" y="0"/>
                  </a:lnTo>
                  <a:lnTo>
                    <a:pt x="0" y="1"/>
                  </a:lnTo>
                  <a:close/>
                </a:path>
              </a:pathLst>
            </a:custGeom>
            <a:solidFill>
              <a:srgbClr val="000000"/>
            </a:solidFill>
            <a:ln w="9525">
              <a:noFill/>
              <a:round/>
              <a:headEnd/>
              <a:tailEnd/>
            </a:ln>
          </p:spPr>
          <p:txBody>
            <a:bodyPr/>
            <a:lstStyle/>
            <a:p>
              <a:endParaRPr lang="en-US"/>
            </a:p>
          </p:txBody>
        </p:sp>
        <p:sp>
          <p:nvSpPr>
            <p:cNvPr id="1210" name="Freeform 27"/>
            <p:cNvSpPr>
              <a:spLocks/>
            </p:cNvSpPr>
            <p:nvPr/>
          </p:nvSpPr>
          <p:spPr bwMode="auto">
            <a:xfrm>
              <a:off x="4561" y="3725"/>
              <a:ext cx="11" cy="3"/>
            </a:xfrm>
            <a:custGeom>
              <a:avLst/>
              <a:gdLst>
                <a:gd name="T0" fmla="*/ 0 w 25"/>
                <a:gd name="T1" fmla="*/ 0 h 6"/>
                <a:gd name="T2" fmla="*/ 0 w 25"/>
                <a:gd name="T3" fmla="*/ 0 h 6"/>
                <a:gd name="T4" fmla="*/ 0 w 25"/>
                <a:gd name="T5" fmla="*/ 1 h 6"/>
                <a:gd name="T6" fmla="*/ 0 w 25"/>
                <a:gd name="T7" fmla="*/ 0 h 6"/>
                <a:gd name="T8" fmla="*/ 0 60000 65536"/>
                <a:gd name="T9" fmla="*/ 0 60000 65536"/>
                <a:gd name="T10" fmla="*/ 0 60000 65536"/>
                <a:gd name="T11" fmla="*/ 0 60000 65536"/>
                <a:gd name="T12" fmla="*/ 0 w 25"/>
                <a:gd name="T13" fmla="*/ 0 h 6"/>
                <a:gd name="T14" fmla="*/ 25 w 25"/>
                <a:gd name="T15" fmla="*/ 6 h 6"/>
              </a:gdLst>
              <a:ahLst/>
              <a:cxnLst>
                <a:cxn ang="T8">
                  <a:pos x="T0" y="T1"/>
                </a:cxn>
                <a:cxn ang="T9">
                  <a:pos x="T2" y="T3"/>
                </a:cxn>
                <a:cxn ang="T10">
                  <a:pos x="T4" y="T5"/>
                </a:cxn>
                <a:cxn ang="T11">
                  <a:pos x="T6" y="T7"/>
                </a:cxn>
              </a:cxnLst>
              <a:rect l="T12" t="T13" r="T14" b="T15"/>
              <a:pathLst>
                <a:path w="25" h="6">
                  <a:moveTo>
                    <a:pt x="0" y="0"/>
                  </a:moveTo>
                  <a:lnTo>
                    <a:pt x="25" y="0"/>
                  </a:lnTo>
                  <a:lnTo>
                    <a:pt x="2" y="6"/>
                  </a:lnTo>
                  <a:lnTo>
                    <a:pt x="0" y="0"/>
                  </a:lnTo>
                  <a:close/>
                </a:path>
              </a:pathLst>
            </a:custGeom>
            <a:solidFill>
              <a:srgbClr val="A62600"/>
            </a:solidFill>
            <a:ln w="9525">
              <a:noFill/>
              <a:round/>
              <a:headEnd/>
              <a:tailEnd/>
            </a:ln>
          </p:spPr>
          <p:txBody>
            <a:bodyPr/>
            <a:lstStyle/>
            <a:p>
              <a:endParaRPr lang="en-US"/>
            </a:p>
          </p:txBody>
        </p:sp>
        <p:sp>
          <p:nvSpPr>
            <p:cNvPr id="1211" name="Oval 28"/>
            <p:cNvSpPr>
              <a:spLocks noChangeArrowheads="1"/>
            </p:cNvSpPr>
            <p:nvPr/>
          </p:nvSpPr>
          <p:spPr bwMode="auto">
            <a:xfrm>
              <a:off x="4560" y="3718"/>
              <a:ext cx="5" cy="6"/>
            </a:xfrm>
            <a:prstGeom prst="ellipse">
              <a:avLst/>
            </a:prstGeom>
            <a:solidFill>
              <a:srgbClr val="008CFF"/>
            </a:solidFill>
            <a:ln w="9525">
              <a:noFill/>
              <a:round/>
              <a:headEnd/>
              <a:tailEnd/>
            </a:ln>
          </p:spPr>
          <p:txBody>
            <a:bodyPr/>
            <a:lstStyle/>
            <a:p>
              <a:endParaRPr lang="en-US"/>
            </a:p>
          </p:txBody>
        </p:sp>
        <p:sp>
          <p:nvSpPr>
            <p:cNvPr id="1212" name="Freeform 29"/>
            <p:cNvSpPr>
              <a:spLocks/>
            </p:cNvSpPr>
            <p:nvPr/>
          </p:nvSpPr>
          <p:spPr bwMode="auto">
            <a:xfrm>
              <a:off x="4560" y="3715"/>
              <a:ext cx="12" cy="10"/>
            </a:xfrm>
            <a:custGeom>
              <a:avLst/>
              <a:gdLst>
                <a:gd name="T0" fmla="*/ 0 w 27"/>
                <a:gd name="T1" fmla="*/ 0 h 25"/>
                <a:gd name="T2" fmla="*/ 0 w 27"/>
                <a:gd name="T3" fmla="*/ 0 h 25"/>
                <a:gd name="T4" fmla="*/ 0 w 27"/>
                <a:gd name="T5" fmla="*/ 0 h 25"/>
                <a:gd name="T6" fmla="*/ 0 w 27"/>
                <a:gd name="T7" fmla="*/ 0 h 25"/>
                <a:gd name="T8" fmla="*/ 0 w 27"/>
                <a:gd name="T9" fmla="*/ 0 h 25"/>
                <a:gd name="T10" fmla="*/ 0 w 27"/>
                <a:gd name="T11" fmla="*/ 0 h 25"/>
                <a:gd name="T12" fmla="*/ 0 w 27"/>
                <a:gd name="T13" fmla="*/ 0 h 25"/>
                <a:gd name="T14" fmla="*/ 0 w 27"/>
                <a:gd name="T15" fmla="*/ 0 h 25"/>
                <a:gd name="T16" fmla="*/ 0 w 27"/>
                <a:gd name="T17" fmla="*/ 0 h 25"/>
                <a:gd name="T18" fmla="*/ 0 w 27"/>
                <a:gd name="T19" fmla="*/ 0 h 25"/>
                <a:gd name="T20" fmla="*/ 0 w 27"/>
                <a:gd name="T21" fmla="*/ 0 h 25"/>
                <a:gd name="T22" fmla="*/ 0 w 27"/>
                <a:gd name="T23" fmla="*/ 0 h 25"/>
                <a:gd name="T24" fmla="*/ 0 w 27"/>
                <a:gd name="T25" fmla="*/ 0 h 2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7"/>
                <a:gd name="T40" fmla="*/ 0 h 25"/>
                <a:gd name="T41" fmla="*/ 27 w 27"/>
                <a:gd name="T42" fmla="*/ 25 h 2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7" h="25">
                  <a:moveTo>
                    <a:pt x="0" y="10"/>
                  </a:moveTo>
                  <a:lnTo>
                    <a:pt x="5" y="12"/>
                  </a:lnTo>
                  <a:lnTo>
                    <a:pt x="15" y="15"/>
                  </a:lnTo>
                  <a:lnTo>
                    <a:pt x="23" y="21"/>
                  </a:lnTo>
                  <a:lnTo>
                    <a:pt x="27" y="25"/>
                  </a:lnTo>
                  <a:lnTo>
                    <a:pt x="27" y="23"/>
                  </a:lnTo>
                  <a:lnTo>
                    <a:pt x="25" y="19"/>
                  </a:lnTo>
                  <a:lnTo>
                    <a:pt x="21" y="13"/>
                  </a:lnTo>
                  <a:lnTo>
                    <a:pt x="13" y="8"/>
                  </a:lnTo>
                  <a:lnTo>
                    <a:pt x="7" y="2"/>
                  </a:lnTo>
                  <a:lnTo>
                    <a:pt x="4" y="0"/>
                  </a:lnTo>
                  <a:lnTo>
                    <a:pt x="2" y="0"/>
                  </a:lnTo>
                  <a:lnTo>
                    <a:pt x="0" y="10"/>
                  </a:lnTo>
                  <a:close/>
                </a:path>
              </a:pathLst>
            </a:custGeom>
            <a:solidFill>
              <a:srgbClr val="D95900"/>
            </a:solidFill>
            <a:ln w="9525">
              <a:noFill/>
              <a:round/>
              <a:headEnd/>
              <a:tailEnd/>
            </a:ln>
          </p:spPr>
          <p:txBody>
            <a:bodyPr/>
            <a:lstStyle/>
            <a:p>
              <a:endParaRPr lang="en-US"/>
            </a:p>
          </p:txBody>
        </p:sp>
        <p:sp>
          <p:nvSpPr>
            <p:cNvPr id="1213" name="Freeform 30"/>
            <p:cNvSpPr>
              <a:spLocks/>
            </p:cNvSpPr>
            <p:nvPr/>
          </p:nvSpPr>
          <p:spPr bwMode="auto">
            <a:xfrm>
              <a:off x="4543" y="3830"/>
              <a:ext cx="10" cy="38"/>
            </a:xfrm>
            <a:custGeom>
              <a:avLst/>
              <a:gdLst>
                <a:gd name="T0" fmla="*/ 0 w 24"/>
                <a:gd name="T1" fmla="*/ 0 h 90"/>
                <a:gd name="T2" fmla="*/ 0 w 24"/>
                <a:gd name="T3" fmla="*/ 0 h 90"/>
                <a:gd name="T4" fmla="*/ 0 w 24"/>
                <a:gd name="T5" fmla="*/ 0 h 90"/>
                <a:gd name="T6" fmla="*/ 0 w 24"/>
                <a:gd name="T7" fmla="*/ 0 h 90"/>
                <a:gd name="T8" fmla="*/ 0 60000 65536"/>
                <a:gd name="T9" fmla="*/ 0 60000 65536"/>
                <a:gd name="T10" fmla="*/ 0 60000 65536"/>
                <a:gd name="T11" fmla="*/ 0 60000 65536"/>
                <a:gd name="T12" fmla="*/ 0 w 24"/>
                <a:gd name="T13" fmla="*/ 0 h 90"/>
                <a:gd name="T14" fmla="*/ 24 w 24"/>
                <a:gd name="T15" fmla="*/ 90 h 90"/>
              </a:gdLst>
              <a:ahLst/>
              <a:cxnLst>
                <a:cxn ang="T8">
                  <a:pos x="T0" y="T1"/>
                </a:cxn>
                <a:cxn ang="T9">
                  <a:pos x="T2" y="T3"/>
                </a:cxn>
                <a:cxn ang="T10">
                  <a:pos x="T4" y="T5"/>
                </a:cxn>
                <a:cxn ang="T11">
                  <a:pos x="T6" y="T7"/>
                </a:cxn>
              </a:cxnLst>
              <a:rect l="T12" t="T13" r="T14" b="T15"/>
              <a:pathLst>
                <a:path w="24" h="90">
                  <a:moveTo>
                    <a:pt x="6" y="0"/>
                  </a:moveTo>
                  <a:lnTo>
                    <a:pt x="0" y="90"/>
                  </a:lnTo>
                  <a:lnTo>
                    <a:pt x="24" y="13"/>
                  </a:lnTo>
                  <a:lnTo>
                    <a:pt x="6" y="0"/>
                  </a:lnTo>
                  <a:close/>
                </a:path>
              </a:pathLst>
            </a:custGeom>
            <a:solidFill>
              <a:srgbClr val="BF1A00"/>
            </a:solidFill>
            <a:ln w="9525">
              <a:noFill/>
              <a:round/>
              <a:headEnd/>
              <a:tailEnd/>
            </a:ln>
          </p:spPr>
          <p:txBody>
            <a:bodyPr/>
            <a:lstStyle/>
            <a:p>
              <a:endParaRPr lang="en-US"/>
            </a:p>
          </p:txBody>
        </p:sp>
        <p:sp>
          <p:nvSpPr>
            <p:cNvPr id="1214" name="Freeform 31"/>
            <p:cNvSpPr>
              <a:spLocks/>
            </p:cNvSpPr>
            <p:nvPr/>
          </p:nvSpPr>
          <p:spPr bwMode="auto">
            <a:xfrm>
              <a:off x="4524" y="3837"/>
              <a:ext cx="17" cy="15"/>
            </a:xfrm>
            <a:custGeom>
              <a:avLst/>
              <a:gdLst>
                <a:gd name="T0" fmla="*/ 0 w 43"/>
                <a:gd name="T1" fmla="*/ 0 h 35"/>
                <a:gd name="T2" fmla="*/ 0 w 43"/>
                <a:gd name="T3" fmla="*/ 0 h 35"/>
                <a:gd name="T4" fmla="*/ 0 w 43"/>
                <a:gd name="T5" fmla="*/ 0 h 35"/>
                <a:gd name="T6" fmla="*/ 0 w 43"/>
                <a:gd name="T7" fmla="*/ 0 h 35"/>
                <a:gd name="T8" fmla="*/ 0 60000 65536"/>
                <a:gd name="T9" fmla="*/ 0 60000 65536"/>
                <a:gd name="T10" fmla="*/ 0 60000 65536"/>
                <a:gd name="T11" fmla="*/ 0 60000 65536"/>
                <a:gd name="T12" fmla="*/ 0 w 43"/>
                <a:gd name="T13" fmla="*/ 0 h 35"/>
                <a:gd name="T14" fmla="*/ 43 w 43"/>
                <a:gd name="T15" fmla="*/ 35 h 35"/>
              </a:gdLst>
              <a:ahLst/>
              <a:cxnLst>
                <a:cxn ang="T8">
                  <a:pos x="T0" y="T1"/>
                </a:cxn>
                <a:cxn ang="T9">
                  <a:pos x="T2" y="T3"/>
                </a:cxn>
                <a:cxn ang="T10">
                  <a:pos x="T4" y="T5"/>
                </a:cxn>
                <a:cxn ang="T11">
                  <a:pos x="T6" y="T7"/>
                </a:cxn>
              </a:cxnLst>
              <a:rect l="T12" t="T13" r="T14" b="T15"/>
              <a:pathLst>
                <a:path w="43" h="35">
                  <a:moveTo>
                    <a:pt x="0" y="0"/>
                  </a:moveTo>
                  <a:lnTo>
                    <a:pt x="43" y="14"/>
                  </a:lnTo>
                  <a:lnTo>
                    <a:pt x="37" y="35"/>
                  </a:lnTo>
                  <a:lnTo>
                    <a:pt x="0" y="0"/>
                  </a:lnTo>
                  <a:close/>
                </a:path>
              </a:pathLst>
            </a:custGeom>
            <a:solidFill>
              <a:srgbClr val="BF1A00"/>
            </a:solidFill>
            <a:ln w="9525">
              <a:noFill/>
              <a:round/>
              <a:headEnd/>
              <a:tailEnd/>
            </a:ln>
          </p:spPr>
          <p:txBody>
            <a:bodyPr/>
            <a:lstStyle/>
            <a:p>
              <a:endParaRPr lang="en-US"/>
            </a:p>
          </p:txBody>
        </p:sp>
        <p:sp>
          <p:nvSpPr>
            <p:cNvPr id="1215" name="Freeform 32"/>
            <p:cNvSpPr>
              <a:spLocks/>
            </p:cNvSpPr>
            <p:nvPr/>
          </p:nvSpPr>
          <p:spPr bwMode="auto">
            <a:xfrm>
              <a:off x="4522" y="3847"/>
              <a:ext cx="12" cy="21"/>
            </a:xfrm>
            <a:custGeom>
              <a:avLst/>
              <a:gdLst>
                <a:gd name="T0" fmla="*/ 0 w 26"/>
                <a:gd name="T1" fmla="*/ 0 h 50"/>
                <a:gd name="T2" fmla="*/ 0 w 26"/>
                <a:gd name="T3" fmla="*/ 0 h 50"/>
                <a:gd name="T4" fmla="*/ 0 w 26"/>
                <a:gd name="T5" fmla="*/ 0 h 50"/>
                <a:gd name="T6" fmla="*/ 0 w 26"/>
                <a:gd name="T7" fmla="*/ 0 h 50"/>
                <a:gd name="T8" fmla="*/ 0 60000 65536"/>
                <a:gd name="T9" fmla="*/ 0 60000 65536"/>
                <a:gd name="T10" fmla="*/ 0 60000 65536"/>
                <a:gd name="T11" fmla="*/ 0 60000 65536"/>
                <a:gd name="T12" fmla="*/ 0 w 26"/>
                <a:gd name="T13" fmla="*/ 0 h 50"/>
                <a:gd name="T14" fmla="*/ 26 w 26"/>
                <a:gd name="T15" fmla="*/ 50 h 50"/>
              </a:gdLst>
              <a:ahLst/>
              <a:cxnLst>
                <a:cxn ang="T8">
                  <a:pos x="T0" y="T1"/>
                </a:cxn>
                <a:cxn ang="T9">
                  <a:pos x="T2" y="T3"/>
                </a:cxn>
                <a:cxn ang="T10">
                  <a:pos x="T4" y="T5"/>
                </a:cxn>
                <a:cxn ang="T11">
                  <a:pos x="T6" y="T7"/>
                </a:cxn>
              </a:cxnLst>
              <a:rect l="T12" t="T13" r="T14" b="T15"/>
              <a:pathLst>
                <a:path w="26" h="50">
                  <a:moveTo>
                    <a:pt x="0" y="0"/>
                  </a:moveTo>
                  <a:lnTo>
                    <a:pt x="26" y="46"/>
                  </a:lnTo>
                  <a:lnTo>
                    <a:pt x="3" y="50"/>
                  </a:lnTo>
                  <a:lnTo>
                    <a:pt x="0" y="0"/>
                  </a:lnTo>
                  <a:close/>
                </a:path>
              </a:pathLst>
            </a:custGeom>
            <a:solidFill>
              <a:srgbClr val="BF1A00"/>
            </a:solidFill>
            <a:ln w="9525">
              <a:noFill/>
              <a:round/>
              <a:headEnd/>
              <a:tailEnd/>
            </a:ln>
          </p:spPr>
          <p:txBody>
            <a:bodyPr/>
            <a:lstStyle/>
            <a:p>
              <a:endParaRPr lang="en-US"/>
            </a:p>
          </p:txBody>
        </p:sp>
        <p:sp>
          <p:nvSpPr>
            <p:cNvPr id="1216" name="Freeform 33"/>
            <p:cNvSpPr>
              <a:spLocks/>
            </p:cNvSpPr>
            <p:nvPr/>
          </p:nvSpPr>
          <p:spPr bwMode="auto">
            <a:xfrm>
              <a:off x="4541" y="3737"/>
              <a:ext cx="19" cy="10"/>
            </a:xfrm>
            <a:custGeom>
              <a:avLst/>
              <a:gdLst>
                <a:gd name="T0" fmla="*/ 0 w 44"/>
                <a:gd name="T1" fmla="*/ 0 h 23"/>
                <a:gd name="T2" fmla="*/ 0 w 44"/>
                <a:gd name="T3" fmla="*/ 0 h 23"/>
                <a:gd name="T4" fmla="*/ 0 w 44"/>
                <a:gd name="T5" fmla="*/ 0 h 23"/>
                <a:gd name="T6" fmla="*/ 0 w 44"/>
                <a:gd name="T7" fmla="*/ 0 h 23"/>
                <a:gd name="T8" fmla="*/ 0 w 44"/>
                <a:gd name="T9" fmla="*/ 0 h 23"/>
                <a:gd name="T10" fmla="*/ 0 w 44"/>
                <a:gd name="T11" fmla="*/ 0 h 23"/>
                <a:gd name="T12" fmla="*/ 0 w 44"/>
                <a:gd name="T13" fmla="*/ 0 h 23"/>
                <a:gd name="T14" fmla="*/ 0 w 44"/>
                <a:gd name="T15" fmla="*/ 0 h 23"/>
                <a:gd name="T16" fmla="*/ 0 w 44"/>
                <a:gd name="T17" fmla="*/ 0 h 23"/>
                <a:gd name="T18" fmla="*/ 0 w 44"/>
                <a:gd name="T19" fmla="*/ 0 h 23"/>
                <a:gd name="T20" fmla="*/ 0 w 44"/>
                <a:gd name="T21" fmla="*/ 0 h 23"/>
                <a:gd name="T22" fmla="*/ 0 w 44"/>
                <a:gd name="T23" fmla="*/ 0 h 2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4"/>
                <a:gd name="T37" fmla="*/ 0 h 23"/>
                <a:gd name="T38" fmla="*/ 44 w 44"/>
                <a:gd name="T39" fmla="*/ 23 h 2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4" h="23">
                  <a:moveTo>
                    <a:pt x="17" y="6"/>
                  </a:moveTo>
                  <a:lnTo>
                    <a:pt x="23" y="9"/>
                  </a:lnTo>
                  <a:lnTo>
                    <a:pt x="27" y="9"/>
                  </a:lnTo>
                  <a:lnTo>
                    <a:pt x="28" y="0"/>
                  </a:lnTo>
                  <a:lnTo>
                    <a:pt x="44" y="23"/>
                  </a:lnTo>
                  <a:lnTo>
                    <a:pt x="30" y="13"/>
                  </a:lnTo>
                  <a:lnTo>
                    <a:pt x="21" y="11"/>
                  </a:lnTo>
                  <a:lnTo>
                    <a:pt x="9" y="9"/>
                  </a:lnTo>
                  <a:lnTo>
                    <a:pt x="2" y="7"/>
                  </a:lnTo>
                  <a:lnTo>
                    <a:pt x="0" y="4"/>
                  </a:lnTo>
                  <a:lnTo>
                    <a:pt x="7" y="4"/>
                  </a:lnTo>
                  <a:lnTo>
                    <a:pt x="17" y="6"/>
                  </a:lnTo>
                  <a:close/>
                </a:path>
              </a:pathLst>
            </a:custGeom>
            <a:solidFill>
              <a:srgbClr val="AD894B"/>
            </a:solidFill>
            <a:ln w="9525">
              <a:noFill/>
              <a:round/>
              <a:headEnd/>
              <a:tailEnd/>
            </a:ln>
          </p:spPr>
          <p:txBody>
            <a:bodyPr/>
            <a:lstStyle/>
            <a:p>
              <a:endParaRPr lang="en-US"/>
            </a:p>
          </p:txBody>
        </p:sp>
        <p:sp>
          <p:nvSpPr>
            <p:cNvPr id="1217" name="Freeform 34"/>
            <p:cNvSpPr>
              <a:spLocks/>
            </p:cNvSpPr>
            <p:nvPr/>
          </p:nvSpPr>
          <p:spPr bwMode="auto">
            <a:xfrm>
              <a:off x="4561" y="3715"/>
              <a:ext cx="11" cy="10"/>
            </a:xfrm>
            <a:custGeom>
              <a:avLst/>
              <a:gdLst>
                <a:gd name="T0" fmla="*/ 0 w 25"/>
                <a:gd name="T1" fmla="*/ 0 h 25"/>
                <a:gd name="T2" fmla="*/ 0 w 25"/>
                <a:gd name="T3" fmla="*/ 0 h 25"/>
                <a:gd name="T4" fmla="*/ 0 w 25"/>
                <a:gd name="T5" fmla="*/ 0 h 25"/>
                <a:gd name="T6" fmla="*/ 0 w 25"/>
                <a:gd name="T7" fmla="*/ 0 h 25"/>
                <a:gd name="T8" fmla="*/ 0 w 25"/>
                <a:gd name="T9" fmla="*/ 0 h 25"/>
                <a:gd name="T10" fmla="*/ 0 w 25"/>
                <a:gd name="T11" fmla="*/ 0 h 25"/>
                <a:gd name="T12" fmla="*/ 0 w 25"/>
                <a:gd name="T13" fmla="*/ 0 h 25"/>
                <a:gd name="T14" fmla="*/ 0 w 25"/>
                <a:gd name="T15" fmla="*/ 0 h 25"/>
                <a:gd name="T16" fmla="*/ 0 w 25"/>
                <a:gd name="T17" fmla="*/ 0 h 2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5"/>
                <a:gd name="T28" fmla="*/ 0 h 25"/>
                <a:gd name="T29" fmla="*/ 25 w 25"/>
                <a:gd name="T30" fmla="*/ 25 h 2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5" h="25">
                  <a:moveTo>
                    <a:pt x="0" y="4"/>
                  </a:moveTo>
                  <a:lnTo>
                    <a:pt x="21" y="19"/>
                  </a:lnTo>
                  <a:lnTo>
                    <a:pt x="23" y="25"/>
                  </a:lnTo>
                  <a:lnTo>
                    <a:pt x="25" y="25"/>
                  </a:lnTo>
                  <a:lnTo>
                    <a:pt x="19" y="12"/>
                  </a:lnTo>
                  <a:lnTo>
                    <a:pt x="11" y="4"/>
                  </a:lnTo>
                  <a:lnTo>
                    <a:pt x="3" y="0"/>
                  </a:lnTo>
                  <a:lnTo>
                    <a:pt x="0" y="0"/>
                  </a:lnTo>
                  <a:lnTo>
                    <a:pt x="0" y="4"/>
                  </a:lnTo>
                  <a:close/>
                </a:path>
              </a:pathLst>
            </a:custGeom>
            <a:solidFill>
              <a:srgbClr val="A62600"/>
            </a:solidFill>
            <a:ln w="9525">
              <a:noFill/>
              <a:round/>
              <a:headEnd/>
              <a:tailEnd/>
            </a:ln>
          </p:spPr>
          <p:txBody>
            <a:bodyPr/>
            <a:lstStyle/>
            <a:p>
              <a:endParaRPr lang="en-US"/>
            </a:p>
          </p:txBody>
        </p:sp>
        <p:sp>
          <p:nvSpPr>
            <p:cNvPr id="1218" name="Freeform 35"/>
            <p:cNvSpPr>
              <a:spLocks/>
            </p:cNvSpPr>
            <p:nvPr/>
          </p:nvSpPr>
          <p:spPr bwMode="auto">
            <a:xfrm>
              <a:off x="4565" y="3699"/>
              <a:ext cx="56" cy="91"/>
            </a:xfrm>
            <a:custGeom>
              <a:avLst/>
              <a:gdLst>
                <a:gd name="T0" fmla="*/ 0 w 137"/>
                <a:gd name="T1" fmla="*/ 0 h 213"/>
                <a:gd name="T2" fmla="*/ 0 w 137"/>
                <a:gd name="T3" fmla="*/ 0 h 213"/>
                <a:gd name="T4" fmla="*/ 0 w 137"/>
                <a:gd name="T5" fmla="*/ 0 h 213"/>
                <a:gd name="T6" fmla="*/ 0 w 137"/>
                <a:gd name="T7" fmla="*/ 0 h 213"/>
                <a:gd name="T8" fmla="*/ 0 w 137"/>
                <a:gd name="T9" fmla="*/ 0 h 213"/>
                <a:gd name="T10" fmla="*/ 0 w 137"/>
                <a:gd name="T11" fmla="*/ 0 h 213"/>
                <a:gd name="T12" fmla="*/ 0 w 137"/>
                <a:gd name="T13" fmla="*/ 0 h 213"/>
                <a:gd name="T14" fmla="*/ 0 w 137"/>
                <a:gd name="T15" fmla="*/ 0 h 213"/>
                <a:gd name="T16" fmla="*/ 0 w 137"/>
                <a:gd name="T17" fmla="*/ 0 h 213"/>
                <a:gd name="T18" fmla="*/ 0 w 137"/>
                <a:gd name="T19" fmla="*/ 0 h 213"/>
                <a:gd name="T20" fmla="*/ 0 w 137"/>
                <a:gd name="T21" fmla="*/ 0 h 213"/>
                <a:gd name="T22" fmla="*/ 0 w 137"/>
                <a:gd name="T23" fmla="*/ 0 h 213"/>
                <a:gd name="T24" fmla="*/ 0 w 137"/>
                <a:gd name="T25" fmla="*/ 0 h 213"/>
                <a:gd name="T26" fmla="*/ 0 w 137"/>
                <a:gd name="T27" fmla="*/ 0 h 213"/>
                <a:gd name="T28" fmla="*/ 0 w 137"/>
                <a:gd name="T29" fmla="*/ 0 h 213"/>
                <a:gd name="T30" fmla="*/ 0 w 137"/>
                <a:gd name="T31" fmla="*/ 0 h 213"/>
                <a:gd name="T32" fmla="*/ 0 w 137"/>
                <a:gd name="T33" fmla="*/ 0 h 213"/>
                <a:gd name="T34" fmla="*/ 0 w 137"/>
                <a:gd name="T35" fmla="*/ 0 h 213"/>
                <a:gd name="T36" fmla="*/ 0 w 137"/>
                <a:gd name="T37" fmla="*/ 0 h 213"/>
                <a:gd name="T38" fmla="*/ 0 w 137"/>
                <a:gd name="T39" fmla="*/ 0 h 213"/>
                <a:gd name="T40" fmla="*/ 0 w 137"/>
                <a:gd name="T41" fmla="*/ 0 h 213"/>
                <a:gd name="T42" fmla="*/ 0 w 137"/>
                <a:gd name="T43" fmla="*/ 0 h 213"/>
                <a:gd name="T44" fmla="*/ 0 w 137"/>
                <a:gd name="T45" fmla="*/ 0 h 213"/>
                <a:gd name="T46" fmla="*/ 0 w 137"/>
                <a:gd name="T47" fmla="*/ 0 h 213"/>
                <a:gd name="T48" fmla="*/ 0 w 137"/>
                <a:gd name="T49" fmla="*/ 0 h 213"/>
                <a:gd name="T50" fmla="*/ 0 w 137"/>
                <a:gd name="T51" fmla="*/ 0 h 213"/>
                <a:gd name="T52" fmla="*/ 0 w 137"/>
                <a:gd name="T53" fmla="*/ 0 h 213"/>
                <a:gd name="T54" fmla="*/ 0 w 137"/>
                <a:gd name="T55" fmla="*/ 0 h 213"/>
                <a:gd name="T56" fmla="*/ 0 w 137"/>
                <a:gd name="T57" fmla="*/ 0 h 213"/>
                <a:gd name="T58" fmla="*/ 0 w 137"/>
                <a:gd name="T59" fmla="*/ 0 h 213"/>
                <a:gd name="T60" fmla="*/ 0 w 137"/>
                <a:gd name="T61" fmla="*/ 0 h 213"/>
                <a:gd name="T62" fmla="*/ 0 w 137"/>
                <a:gd name="T63" fmla="*/ 0 h 213"/>
                <a:gd name="T64" fmla="*/ 0 w 137"/>
                <a:gd name="T65" fmla="*/ 0 h 213"/>
                <a:gd name="T66" fmla="*/ 0 w 137"/>
                <a:gd name="T67" fmla="*/ 0 h 213"/>
                <a:gd name="T68" fmla="*/ 0 w 137"/>
                <a:gd name="T69" fmla="*/ 0 h 213"/>
                <a:gd name="T70" fmla="*/ 0 w 137"/>
                <a:gd name="T71" fmla="*/ 0 h 213"/>
                <a:gd name="T72" fmla="*/ 0 w 137"/>
                <a:gd name="T73" fmla="*/ 0 h 213"/>
                <a:gd name="T74" fmla="*/ 0 w 137"/>
                <a:gd name="T75" fmla="*/ 0 h 213"/>
                <a:gd name="T76" fmla="*/ 0 w 137"/>
                <a:gd name="T77" fmla="*/ 0 h 213"/>
                <a:gd name="T78" fmla="*/ 0 w 137"/>
                <a:gd name="T79" fmla="*/ 0 h 213"/>
                <a:gd name="T80" fmla="*/ 0 w 137"/>
                <a:gd name="T81" fmla="*/ 0 h 213"/>
                <a:gd name="T82" fmla="*/ 0 w 137"/>
                <a:gd name="T83" fmla="*/ 0 h 213"/>
                <a:gd name="T84" fmla="*/ 0 w 137"/>
                <a:gd name="T85" fmla="*/ 0 h 213"/>
                <a:gd name="T86" fmla="*/ 0 w 137"/>
                <a:gd name="T87" fmla="*/ 0 h 213"/>
                <a:gd name="T88" fmla="*/ 0 w 137"/>
                <a:gd name="T89" fmla="*/ 0 h 213"/>
                <a:gd name="T90" fmla="*/ 0 w 137"/>
                <a:gd name="T91" fmla="*/ 0 h 213"/>
                <a:gd name="T92" fmla="*/ 0 w 137"/>
                <a:gd name="T93" fmla="*/ 0 h 213"/>
                <a:gd name="T94" fmla="*/ 0 w 137"/>
                <a:gd name="T95" fmla="*/ 0 h 213"/>
                <a:gd name="T96" fmla="*/ 0 w 137"/>
                <a:gd name="T97" fmla="*/ 0 h 213"/>
                <a:gd name="T98" fmla="*/ 0 w 137"/>
                <a:gd name="T99" fmla="*/ 0 h 213"/>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37"/>
                <a:gd name="T151" fmla="*/ 0 h 213"/>
                <a:gd name="T152" fmla="*/ 137 w 137"/>
                <a:gd name="T153" fmla="*/ 213 h 213"/>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37" h="213">
                  <a:moveTo>
                    <a:pt x="69" y="1"/>
                  </a:moveTo>
                  <a:lnTo>
                    <a:pt x="66" y="3"/>
                  </a:lnTo>
                  <a:lnTo>
                    <a:pt x="60" y="7"/>
                  </a:lnTo>
                  <a:lnTo>
                    <a:pt x="52" y="15"/>
                  </a:lnTo>
                  <a:lnTo>
                    <a:pt x="46" y="25"/>
                  </a:lnTo>
                  <a:lnTo>
                    <a:pt x="43" y="34"/>
                  </a:lnTo>
                  <a:lnTo>
                    <a:pt x="37" y="42"/>
                  </a:lnTo>
                  <a:lnTo>
                    <a:pt x="29" y="48"/>
                  </a:lnTo>
                  <a:lnTo>
                    <a:pt x="25" y="48"/>
                  </a:lnTo>
                  <a:lnTo>
                    <a:pt x="23" y="49"/>
                  </a:lnTo>
                  <a:lnTo>
                    <a:pt x="23" y="51"/>
                  </a:lnTo>
                  <a:lnTo>
                    <a:pt x="25" y="55"/>
                  </a:lnTo>
                  <a:lnTo>
                    <a:pt x="25" y="59"/>
                  </a:lnTo>
                  <a:lnTo>
                    <a:pt x="18" y="63"/>
                  </a:lnTo>
                  <a:lnTo>
                    <a:pt x="18" y="67"/>
                  </a:lnTo>
                  <a:lnTo>
                    <a:pt x="19" y="71"/>
                  </a:lnTo>
                  <a:lnTo>
                    <a:pt x="25" y="82"/>
                  </a:lnTo>
                  <a:lnTo>
                    <a:pt x="27" y="86"/>
                  </a:lnTo>
                  <a:lnTo>
                    <a:pt x="27" y="94"/>
                  </a:lnTo>
                  <a:lnTo>
                    <a:pt x="23" y="101"/>
                  </a:lnTo>
                  <a:lnTo>
                    <a:pt x="16" y="109"/>
                  </a:lnTo>
                  <a:lnTo>
                    <a:pt x="10" y="119"/>
                  </a:lnTo>
                  <a:lnTo>
                    <a:pt x="10" y="130"/>
                  </a:lnTo>
                  <a:lnTo>
                    <a:pt x="14" y="140"/>
                  </a:lnTo>
                  <a:lnTo>
                    <a:pt x="16" y="144"/>
                  </a:lnTo>
                  <a:lnTo>
                    <a:pt x="16" y="147"/>
                  </a:lnTo>
                  <a:lnTo>
                    <a:pt x="16" y="163"/>
                  </a:lnTo>
                  <a:lnTo>
                    <a:pt x="12" y="172"/>
                  </a:lnTo>
                  <a:lnTo>
                    <a:pt x="4" y="178"/>
                  </a:lnTo>
                  <a:lnTo>
                    <a:pt x="0" y="182"/>
                  </a:lnTo>
                  <a:lnTo>
                    <a:pt x="0" y="186"/>
                  </a:lnTo>
                  <a:lnTo>
                    <a:pt x="14" y="188"/>
                  </a:lnTo>
                  <a:lnTo>
                    <a:pt x="23" y="184"/>
                  </a:lnTo>
                  <a:lnTo>
                    <a:pt x="39" y="180"/>
                  </a:lnTo>
                  <a:lnTo>
                    <a:pt x="56" y="174"/>
                  </a:lnTo>
                  <a:lnTo>
                    <a:pt x="69" y="169"/>
                  </a:lnTo>
                  <a:lnTo>
                    <a:pt x="77" y="161"/>
                  </a:lnTo>
                  <a:lnTo>
                    <a:pt x="83" y="159"/>
                  </a:lnTo>
                  <a:lnTo>
                    <a:pt x="85" y="159"/>
                  </a:lnTo>
                  <a:lnTo>
                    <a:pt x="83" y="165"/>
                  </a:lnTo>
                  <a:lnTo>
                    <a:pt x="73" y="174"/>
                  </a:lnTo>
                  <a:lnTo>
                    <a:pt x="62" y="180"/>
                  </a:lnTo>
                  <a:lnTo>
                    <a:pt x="50" y="184"/>
                  </a:lnTo>
                  <a:lnTo>
                    <a:pt x="44" y="186"/>
                  </a:lnTo>
                  <a:lnTo>
                    <a:pt x="44" y="188"/>
                  </a:lnTo>
                  <a:lnTo>
                    <a:pt x="46" y="195"/>
                  </a:lnTo>
                  <a:lnTo>
                    <a:pt x="50" y="211"/>
                  </a:lnTo>
                  <a:lnTo>
                    <a:pt x="52" y="213"/>
                  </a:lnTo>
                  <a:lnTo>
                    <a:pt x="58" y="211"/>
                  </a:lnTo>
                  <a:lnTo>
                    <a:pt x="69" y="205"/>
                  </a:lnTo>
                  <a:lnTo>
                    <a:pt x="83" y="194"/>
                  </a:lnTo>
                  <a:lnTo>
                    <a:pt x="90" y="180"/>
                  </a:lnTo>
                  <a:lnTo>
                    <a:pt x="94" y="169"/>
                  </a:lnTo>
                  <a:lnTo>
                    <a:pt x="96" y="157"/>
                  </a:lnTo>
                  <a:lnTo>
                    <a:pt x="96" y="146"/>
                  </a:lnTo>
                  <a:lnTo>
                    <a:pt x="98" y="144"/>
                  </a:lnTo>
                  <a:lnTo>
                    <a:pt x="106" y="144"/>
                  </a:lnTo>
                  <a:lnTo>
                    <a:pt x="117" y="142"/>
                  </a:lnTo>
                  <a:lnTo>
                    <a:pt x="129" y="138"/>
                  </a:lnTo>
                  <a:lnTo>
                    <a:pt x="135" y="134"/>
                  </a:lnTo>
                  <a:lnTo>
                    <a:pt x="137" y="132"/>
                  </a:lnTo>
                  <a:lnTo>
                    <a:pt x="133" y="132"/>
                  </a:lnTo>
                  <a:lnTo>
                    <a:pt x="123" y="136"/>
                  </a:lnTo>
                  <a:lnTo>
                    <a:pt x="112" y="138"/>
                  </a:lnTo>
                  <a:lnTo>
                    <a:pt x="102" y="138"/>
                  </a:lnTo>
                  <a:lnTo>
                    <a:pt x="92" y="140"/>
                  </a:lnTo>
                  <a:lnTo>
                    <a:pt x="89" y="146"/>
                  </a:lnTo>
                  <a:lnTo>
                    <a:pt x="89" y="122"/>
                  </a:lnTo>
                  <a:lnTo>
                    <a:pt x="89" y="119"/>
                  </a:lnTo>
                  <a:lnTo>
                    <a:pt x="87" y="119"/>
                  </a:lnTo>
                  <a:lnTo>
                    <a:pt x="77" y="126"/>
                  </a:lnTo>
                  <a:lnTo>
                    <a:pt x="62" y="134"/>
                  </a:lnTo>
                  <a:lnTo>
                    <a:pt x="46" y="136"/>
                  </a:lnTo>
                  <a:lnTo>
                    <a:pt x="41" y="136"/>
                  </a:lnTo>
                  <a:lnTo>
                    <a:pt x="43" y="134"/>
                  </a:lnTo>
                  <a:lnTo>
                    <a:pt x="44" y="134"/>
                  </a:lnTo>
                  <a:lnTo>
                    <a:pt x="50" y="132"/>
                  </a:lnTo>
                  <a:lnTo>
                    <a:pt x="60" y="126"/>
                  </a:lnTo>
                  <a:lnTo>
                    <a:pt x="69" y="122"/>
                  </a:lnTo>
                  <a:lnTo>
                    <a:pt x="77" y="119"/>
                  </a:lnTo>
                  <a:lnTo>
                    <a:pt x="83" y="111"/>
                  </a:lnTo>
                  <a:lnTo>
                    <a:pt x="87" y="97"/>
                  </a:lnTo>
                  <a:lnTo>
                    <a:pt x="89" y="90"/>
                  </a:lnTo>
                  <a:lnTo>
                    <a:pt x="90" y="88"/>
                  </a:lnTo>
                  <a:lnTo>
                    <a:pt x="96" y="88"/>
                  </a:lnTo>
                  <a:lnTo>
                    <a:pt x="106" y="99"/>
                  </a:lnTo>
                  <a:lnTo>
                    <a:pt x="104" y="111"/>
                  </a:lnTo>
                  <a:lnTo>
                    <a:pt x="102" y="117"/>
                  </a:lnTo>
                  <a:lnTo>
                    <a:pt x="106" y="121"/>
                  </a:lnTo>
                  <a:lnTo>
                    <a:pt x="117" y="117"/>
                  </a:lnTo>
                  <a:lnTo>
                    <a:pt x="121" y="105"/>
                  </a:lnTo>
                  <a:lnTo>
                    <a:pt x="121" y="73"/>
                  </a:lnTo>
                  <a:lnTo>
                    <a:pt x="117" y="53"/>
                  </a:lnTo>
                  <a:lnTo>
                    <a:pt x="114" y="40"/>
                  </a:lnTo>
                  <a:lnTo>
                    <a:pt x="102" y="30"/>
                  </a:lnTo>
                  <a:lnTo>
                    <a:pt x="89" y="17"/>
                  </a:lnTo>
                  <a:lnTo>
                    <a:pt x="77" y="5"/>
                  </a:lnTo>
                  <a:lnTo>
                    <a:pt x="73" y="1"/>
                  </a:lnTo>
                  <a:lnTo>
                    <a:pt x="71" y="0"/>
                  </a:lnTo>
                  <a:lnTo>
                    <a:pt x="69" y="1"/>
                  </a:lnTo>
                  <a:close/>
                </a:path>
              </a:pathLst>
            </a:custGeom>
            <a:solidFill>
              <a:srgbClr val="D1B17D"/>
            </a:solidFill>
            <a:ln w="9525">
              <a:noFill/>
              <a:round/>
              <a:headEnd/>
              <a:tailEnd/>
            </a:ln>
          </p:spPr>
          <p:txBody>
            <a:bodyPr/>
            <a:lstStyle/>
            <a:p>
              <a:endParaRPr lang="en-US"/>
            </a:p>
          </p:txBody>
        </p:sp>
        <p:sp>
          <p:nvSpPr>
            <p:cNvPr id="1219" name="Freeform 36"/>
            <p:cNvSpPr>
              <a:spLocks/>
            </p:cNvSpPr>
            <p:nvPr/>
          </p:nvSpPr>
          <p:spPr bwMode="auto">
            <a:xfrm>
              <a:off x="4550" y="3652"/>
              <a:ext cx="118" cy="138"/>
            </a:xfrm>
            <a:custGeom>
              <a:avLst/>
              <a:gdLst>
                <a:gd name="T0" fmla="*/ 0 w 286"/>
                <a:gd name="T1" fmla="*/ 0 h 327"/>
                <a:gd name="T2" fmla="*/ 0 w 286"/>
                <a:gd name="T3" fmla="*/ 0 h 327"/>
                <a:gd name="T4" fmla="*/ 0 w 286"/>
                <a:gd name="T5" fmla="*/ 0 h 327"/>
                <a:gd name="T6" fmla="*/ 0 w 286"/>
                <a:gd name="T7" fmla="*/ 0 h 327"/>
                <a:gd name="T8" fmla="*/ 0 w 286"/>
                <a:gd name="T9" fmla="*/ 0 h 327"/>
                <a:gd name="T10" fmla="*/ 0 w 286"/>
                <a:gd name="T11" fmla="*/ 0 h 327"/>
                <a:gd name="T12" fmla="*/ 0 w 286"/>
                <a:gd name="T13" fmla="*/ 0 h 327"/>
                <a:gd name="T14" fmla="*/ 0 w 286"/>
                <a:gd name="T15" fmla="*/ 0 h 327"/>
                <a:gd name="T16" fmla="*/ 0 w 286"/>
                <a:gd name="T17" fmla="*/ 0 h 327"/>
                <a:gd name="T18" fmla="*/ 0 w 286"/>
                <a:gd name="T19" fmla="*/ 0 h 327"/>
                <a:gd name="T20" fmla="*/ 0 w 286"/>
                <a:gd name="T21" fmla="*/ 0 h 327"/>
                <a:gd name="T22" fmla="*/ 0 w 286"/>
                <a:gd name="T23" fmla="*/ 0 h 327"/>
                <a:gd name="T24" fmla="*/ 0 w 286"/>
                <a:gd name="T25" fmla="*/ 0 h 327"/>
                <a:gd name="T26" fmla="*/ 0 w 286"/>
                <a:gd name="T27" fmla="*/ 0 h 327"/>
                <a:gd name="T28" fmla="*/ 0 w 286"/>
                <a:gd name="T29" fmla="*/ 0 h 327"/>
                <a:gd name="T30" fmla="*/ 0 w 286"/>
                <a:gd name="T31" fmla="*/ 0 h 327"/>
                <a:gd name="T32" fmla="*/ 0 w 286"/>
                <a:gd name="T33" fmla="*/ 0 h 327"/>
                <a:gd name="T34" fmla="*/ 0 w 286"/>
                <a:gd name="T35" fmla="*/ 0 h 327"/>
                <a:gd name="T36" fmla="*/ 0 w 286"/>
                <a:gd name="T37" fmla="*/ 0 h 327"/>
                <a:gd name="T38" fmla="*/ 0 w 286"/>
                <a:gd name="T39" fmla="*/ 0 h 327"/>
                <a:gd name="T40" fmla="*/ 0 w 286"/>
                <a:gd name="T41" fmla="*/ 0 h 327"/>
                <a:gd name="T42" fmla="*/ 0 w 286"/>
                <a:gd name="T43" fmla="*/ 0 h 327"/>
                <a:gd name="T44" fmla="*/ 0 w 286"/>
                <a:gd name="T45" fmla="*/ 0 h 327"/>
                <a:gd name="T46" fmla="*/ 0 w 286"/>
                <a:gd name="T47" fmla="*/ 0 h 327"/>
                <a:gd name="T48" fmla="*/ 0 w 286"/>
                <a:gd name="T49" fmla="*/ 0 h 327"/>
                <a:gd name="T50" fmla="*/ 0 w 286"/>
                <a:gd name="T51" fmla="*/ 0 h 327"/>
                <a:gd name="T52" fmla="*/ 0 w 286"/>
                <a:gd name="T53" fmla="*/ 0 h 327"/>
                <a:gd name="T54" fmla="*/ 0 w 286"/>
                <a:gd name="T55" fmla="*/ 0 h 327"/>
                <a:gd name="T56" fmla="*/ 0 w 286"/>
                <a:gd name="T57" fmla="*/ 0 h 327"/>
                <a:gd name="T58" fmla="*/ 0 w 286"/>
                <a:gd name="T59" fmla="*/ 0 h 327"/>
                <a:gd name="T60" fmla="*/ 0 w 286"/>
                <a:gd name="T61" fmla="*/ 0 h 327"/>
                <a:gd name="T62" fmla="*/ 0 w 286"/>
                <a:gd name="T63" fmla="*/ 0 h 327"/>
                <a:gd name="T64" fmla="*/ 0 w 286"/>
                <a:gd name="T65" fmla="*/ 0 h 327"/>
                <a:gd name="T66" fmla="*/ 0 w 286"/>
                <a:gd name="T67" fmla="*/ 0 h 327"/>
                <a:gd name="T68" fmla="*/ 0 w 286"/>
                <a:gd name="T69" fmla="*/ 0 h 327"/>
                <a:gd name="T70" fmla="*/ 0 w 286"/>
                <a:gd name="T71" fmla="*/ 0 h 327"/>
                <a:gd name="T72" fmla="*/ 0 w 286"/>
                <a:gd name="T73" fmla="*/ 0 h 327"/>
                <a:gd name="T74" fmla="*/ 0 w 286"/>
                <a:gd name="T75" fmla="*/ 0 h 327"/>
                <a:gd name="T76" fmla="*/ 0 w 286"/>
                <a:gd name="T77" fmla="*/ 0 h 327"/>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86"/>
                <a:gd name="T118" fmla="*/ 0 h 327"/>
                <a:gd name="T119" fmla="*/ 286 w 286"/>
                <a:gd name="T120" fmla="*/ 327 h 327"/>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86" h="327">
                  <a:moveTo>
                    <a:pt x="0" y="60"/>
                  </a:moveTo>
                  <a:lnTo>
                    <a:pt x="0" y="62"/>
                  </a:lnTo>
                  <a:lnTo>
                    <a:pt x="2" y="67"/>
                  </a:lnTo>
                  <a:lnTo>
                    <a:pt x="6" y="75"/>
                  </a:lnTo>
                  <a:lnTo>
                    <a:pt x="13" y="81"/>
                  </a:lnTo>
                  <a:lnTo>
                    <a:pt x="29" y="87"/>
                  </a:lnTo>
                  <a:lnTo>
                    <a:pt x="48" y="89"/>
                  </a:lnTo>
                  <a:lnTo>
                    <a:pt x="71" y="89"/>
                  </a:lnTo>
                  <a:lnTo>
                    <a:pt x="86" y="102"/>
                  </a:lnTo>
                  <a:lnTo>
                    <a:pt x="90" y="100"/>
                  </a:lnTo>
                  <a:lnTo>
                    <a:pt x="103" y="96"/>
                  </a:lnTo>
                  <a:lnTo>
                    <a:pt x="130" y="85"/>
                  </a:lnTo>
                  <a:lnTo>
                    <a:pt x="148" y="81"/>
                  </a:lnTo>
                  <a:lnTo>
                    <a:pt x="171" y="77"/>
                  </a:lnTo>
                  <a:lnTo>
                    <a:pt x="190" y="75"/>
                  </a:lnTo>
                  <a:lnTo>
                    <a:pt x="197" y="75"/>
                  </a:lnTo>
                  <a:lnTo>
                    <a:pt x="196" y="75"/>
                  </a:lnTo>
                  <a:lnTo>
                    <a:pt x="188" y="77"/>
                  </a:lnTo>
                  <a:lnTo>
                    <a:pt x="167" y="83"/>
                  </a:lnTo>
                  <a:lnTo>
                    <a:pt x="144" y="87"/>
                  </a:lnTo>
                  <a:lnTo>
                    <a:pt x="134" y="89"/>
                  </a:lnTo>
                  <a:lnTo>
                    <a:pt x="128" y="90"/>
                  </a:lnTo>
                  <a:lnTo>
                    <a:pt x="109" y="102"/>
                  </a:lnTo>
                  <a:lnTo>
                    <a:pt x="102" y="106"/>
                  </a:lnTo>
                  <a:lnTo>
                    <a:pt x="98" y="108"/>
                  </a:lnTo>
                  <a:lnTo>
                    <a:pt x="100" y="110"/>
                  </a:lnTo>
                  <a:lnTo>
                    <a:pt x="103" y="115"/>
                  </a:lnTo>
                  <a:lnTo>
                    <a:pt x="126" y="154"/>
                  </a:lnTo>
                  <a:lnTo>
                    <a:pt x="132" y="162"/>
                  </a:lnTo>
                  <a:lnTo>
                    <a:pt x="134" y="165"/>
                  </a:lnTo>
                  <a:lnTo>
                    <a:pt x="134" y="167"/>
                  </a:lnTo>
                  <a:lnTo>
                    <a:pt x="130" y="167"/>
                  </a:lnTo>
                  <a:lnTo>
                    <a:pt x="119" y="163"/>
                  </a:lnTo>
                  <a:lnTo>
                    <a:pt x="107" y="158"/>
                  </a:lnTo>
                  <a:lnTo>
                    <a:pt x="103" y="156"/>
                  </a:lnTo>
                  <a:lnTo>
                    <a:pt x="102" y="156"/>
                  </a:lnTo>
                  <a:lnTo>
                    <a:pt x="103" y="158"/>
                  </a:lnTo>
                  <a:lnTo>
                    <a:pt x="109" y="165"/>
                  </a:lnTo>
                  <a:lnTo>
                    <a:pt x="119" y="173"/>
                  </a:lnTo>
                  <a:lnTo>
                    <a:pt x="130" y="181"/>
                  </a:lnTo>
                  <a:lnTo>
                    <a:pt x="142" y="190"/>
                  </a:lnTo>
                  <a:lnTo>
                    <a:pt x="151" y="206"/>
                  </a:lnTo>
                  <a:lnTo>
                    <a:pt x="157" y="221"/>
                  </a:lnTo>
                  <a:lnTo>
                    <a:pt x="161" y="233"/>
                  </a:lnTo>
                  <a:lnTo>
                    <a:pt x="161" y="240"/>
                  </a:lnTo>
                  <a:lnTo>
                    <a:pt x="163" y="250"/>
                  </a:lnTo>
                  <a:lnTo>
                    <a:pt x="163" y="313"/>
                  </a:lnTo>
                  <a:lnTo>
                    <a:pt x="165" y="315"/>
                  </a:lnTo>
                  <a:lnTo>
                    <a:pt x="174" y="321"/>
                  </a:lnTo>
                  <a:lnTo>
                    <a:pt x="186" y="325"/>
                  </a:lnTo>
                  <a:lnTo>
                    <a:pt x="201" y="327"/>
                  </a:lnTo>
                  <a:lnTo>
                    <a:pt x="221" y="323"/>
                  </a:lnTo>
                  <a:lnTo>
                    <a:pt x="238" y="311"/>
                  </a:lnTo>
                  <a:lnTo>
                    <a:pt x="255" y="294"/>
                  </a:lnTo>
                  <a:lnTo>
                    <a:pt x="267" y="275"/>
                  </a:lnTo>
                  <a:lnTo>
                    <a:pt x="276" y="250"/>
                  </a:lnTo>
                  <a:lnTo>
                    <a:pt x="282" y="233"/>
                  </a:lnTo>
                  <a:lnTo>
                    <a:pt x="284" y="213"/>
                  </a:lnTo>
                  <a:lnTo>
                    <a:pt x="286" y="192"/>
                  </a:lnTo>
                  <a:lnTo>
                    <a:pt x="284" y="167"/>
                  </a:lnTo>
                  <a:lnTo>
                    <a:pt x="276" y="139"/>
                  </a:lnTo>
                  <a:lnTo>
                    <a:pt x="267" y="108"/>
                  </a:lnTo>
                  <a:lnTo>
                    <a:pt x="255" y="79"/>
                  </a:lnTo>
                  <a:lnTo>
                    <a:pt x="244" y="54"/>
                  </a:lnTo>
                  <a:lnTo>
                    <a:pt x="232" y="37"/>
                  </a:lnTo>
                  <a:lnTo>
                    <a:pt x="221" y="25"/>
                  </a:lnTo>
                  <a:lnTo>
                    <a:pt x="209" y="16"/>
                  </a:lnTo>
                  <a:lnTo>
                    <a:pt x="197" y="10"/>
                  </a:lnTo>
                  <a:lnTo>
                    <a:pt x="174" y="4"/>
                  </a:lnTo>
                  <a:lnTo>
                    <a:pt x="161" y="2"/>
                  </a:lnTo>
                  <a:lnTo>
                    <a:pt x="144" y="0"/>
                  </a:lnTo>
                  <a:lnTo>
                    <a:pt x="105" y="0"/>
                  </a:lnTo>
                  <a:lnTo>
                    <a:pt x="65" y="4"/>
                  </a:lnTo>
                  <a:lnTo>
                    <a:pt x="50" y="8"/>
                  </a:lnTo>
                  <a:lnTo>
                    <a:pt x="36" y="14"/>
                  </a:lnTo>
                  <a:lnTo>
                    <a:pt x="17" y="29"/>
                  </a:lnTo>
                  <a:lnTo>
                    <a:pt x="8" y="42"/>
                  </a:lnTo>
                  <a:lnTo>
                    <a:pt x="2" y="56"/>
                  </a:lnTo>
                  <a:lnTo>
                    <a:pt x="0" y="60"/>
                  </a:lnTo>
                  <a:close/>
                </a:path>
              </a:pathLst>
            </a:custGeom>
            <a:solidFill>
              <a:srgbClr val="333333"/>
            </a:solidFill>
            <a:ln w="9525">
              <a:noFill/>
              <a:round/>
              <a:headEnd/>
              <a:tailEnd/>
            </a:ln>
          </p:spPr>
          <p:txBody>
            <a:bodyPr/>
            <a:lstStyle/>
            <a:p>
              <a:endParaRPr lang="en-US"/>
            </a:p>
          </p:txBody>
        </p:sp>
        <p:grpSp>
          <p:nvGrpSpPr>
            <p:cNvPr id="3" name="Group 37"/>
            <p:cNvGrpSpPr>
              <a:grpSpLocks/>
            </p:cNvGrpSpPr>
            <p:nvPr/>
          </p:nvGrpSpPr>
          <p:grpSpPr bwMode="auto">
            <a:xfrm>
              <a:off x="4128" y="3739"/>
              <a:ext cx="336" cy="192"/>
              <a:chOff x="5157" y="2853"/>
              <a:chExt cx="952" cy="536"/>
            </a:xfrm>
          </p:grpSpPr>
          <p:sp>
            <p:nvSpPr>
              <p:cNvPr id="1221" name="Freeform 38"/>
              <p:cNvSpPr>
                <a:spLocks/>
              </p:cNvSpPr>
              <p:nvPr/>
            </p:nvSpPr>
            <p:spPr bwMode="auto">
              <a:xfrm>
                <a:off x="5467" y="2853"/>
                <a:ext cx="187" cy="459"/>
              </a:xfrm>
              <a:custGeom>
                <a:avLst/>
                <a:gdLst>
                  <a:gd name="T0" fmla="*/ 0 w 375"/>
                  <a:gd name="T1" fmla="*/ 0 h 919"/>
                  <a:gd name="T2" fmla="*/ 0 w 375"/>
                  <a:gd name="T3" fmla="*/ 0 h 919"/>
                  <a:gd name="T4" fmla="*/ 0 w 375"/>
                  <a:gd name="T5" fmla="*/ 0 h 919"/>
                  <a:gd name="T6" fmla="*/ 0 w 375"/>
                  <a:gd name="T7" fmla="*/ 0 h 919"/>
                  <a:gd name="T8" fmla="*/ 0 w 375"/>
                  <a:gd name="T9" fmla="*/ 0 h 919"/>
                  <a:gd name="T10" fmla="*/ 0 w 375"/>
                  <a:gd name="T11" fmla="*/ 0 h 919"/>
                  <a:gd name="T12" fmla="*/ 0 w 375"/>
                  <a:gd name="T13" fmla="*/ 0 h 919"/>
                  <a:gd name="T14" fmla="*/ 0 w 375"/>
                  <a:gd name="T15" fmla="*/ 0 h 919"/>
                  <a:gd name="T16" fmla="*/ 0 w 375"/>
                  <a:gd name="T17" fmla="*/ 0 h 919"/>
                  <a:gd name="T18" fmla="*/ 0 w 375"/>
                  <a:gd name="T19" fmla="*/ 0 h 919"/>
                  <a:gd name="T20" fmla="*/ 0 w 375"/>
                  <a:gd name="T21" fmla="*/ 0 h 919"/>
                  <a:gd name="T22" fmla="*/ 0 w 375"/>
                  <a:gd name="T23" fmla="*/ 0 h 919"/>
                  <a:gd name="T24" fmla="*/ 0 w 375"/>
                  <a:gd name="T25" fmla="*/ 0 h 919"/>
                  <a:gd name="T26" fmla="*/ 0 w 375"/>
                  <a:gd name="T27" fmla="*/ 0 h 919"/>
                  <a:gd name="T28" fmla="*/ 0 w 375"/>
                  <a:gd name="T29" fmla="*/ 0 h 919"/>
                  <a:gd name="T30" fmla="*/ 0 w 375"/>
                  <a:gd name="T31" fmla="*/ 0 h 919"/>
                  <a:gd name="T32" fmla="*/ 0 w 375"/>
                  <a:gd name="T33" fmla="*/ 0 h 919"/>
                  <a:gd name="T34" fmla="*/ 0 w 375"/>
                  <a:gd name="T35" fmla="*/ 0 h 919"/>
                  <a:gd name="T36" fmla="*/ 0 w 375"/>
                  <a:gd name="T37" fmla="*/ 0 h 919"/>
                  <a:gd name="T38" fmla="*/ 0 w 375"/>
                  <a:gd name="T39" fmla="*/ 0 h 919"/>
                  <a:gd name="T40" fmla="*/ 0 w 375"/>
                  <a:gd name="T41" fmla="*/ 0 h 919"/>
                  <a:gd name="T42" fmla="*/ 0 w 375"/>
                  <a:gd name="T43" fmla="*/ 0 h 919"/>
                  <a:gd name="T44" fmla="*/ 0 w 375"/>
                  <a:gd name="T45" fmla="*/ 0 h 919"/>
                  <a:gd name="T46" fmla="*/ 0 w 375"/>
                  <a:gd name="T47" fmla="*/ 0 h 919"/>
                  <a:gd name="T48" fmla="*/ 0 w 375"/>
                  <a:gd name="T49" fmla="*/ 0 h 919"/>
                  <a:gd name="T50" fmla="*/ 0 w 375"/>
                  <a:gd name="T51" fmla="*/ 0 h 919"/>
                  <a:gd name="T52" fmla="*/ 0 w 375"/>
                  <a:gd name="T53" fmla="*/ 0 h 919"/>
                  <a:gd name="T54" fmla="*/ 0 w 375"/>
                  <a:gd name="T55" fmla="*/ 0 h 919"/>
                  <a:gd name="T56" fmla="*/ 0 w 375"/>
                  <a:gd name="T57" fmla="*/ 0 h 919"/>
                  <a:gd name="T58" fmla="*/ 0 w 375"/>
                  <a:gd name="T59" fmla="*/ 0 h 919"/>
                  <a:gd name="T60" fmla="*/ 0 w 375"/>
                  <a:gd name="T61" fmla="*/ 0 h 919"/>
                  <a:gd name="T62" fmla="*/ 0 w 375"/>
                  <a:gd name="T63" fmla="*/ 0 h 919"/>
                  <a:gd name="T64" fmla="*/ 0 w 375"/>
                  <a:gd name="T65" fmla="*/ 0 h 919"/>
                  <a:gd name="T66" fmla="*/ 0 w 375"/>
                  <a:gd name="T67" fmla="*/ 0 h 919"/>
                  <a:gd name="T68" fmla="*/ 0 w 375"/>
                  <a:gd name="T69" fmla="*/ 0 h 919"/>
                  <a:gd name="T70" fmla="*/ 0 w 375"/>
                  <a:gd name="T71" fmla="*/ 0 h 919"/>
                  <a:gd name="T72" fmla="*/ 0 w 375"/>
                  <a:gd name="T73" fmla="*/ 0 h 919"/>
                  <a:gd name="T74" fmla="*/ 0 w 375"/>
                  <a:gd name="T75" fmla="*/ 0 h 919"/>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375"/>
                  <a:gd name="T115" fmla="*/ 0 h 919"/>
                  <a:gd name="T116" fmla="*/ 375 w 375"/>
                  <a:gd name="T117" fmla="*/ 919 h 919"/>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375" h="919">
                    <a:moveTo>
                      <a:pt x="140" y="2"/>
                    </a:moveTo>
                    <a:lnTo>
                      <a:pt x="27" y="27"/>
                    </a:lnTo>
                    <a:lnTo>
                      <a:pt x="20" y="31"/>
                    </a:lnTo>
                    <a:lnTo>
                      <a:pt x="14" y="35"/>
                    </a:lnTo>
                    <a:lnTo>
                      <a:pt x="10" y="39"/>
                    </a:lnTo>
                    <a:lnTo>
                      <a:pt x="4" y="44"/>
                    </a:lnTo>
                    <a:lnTo>
                      <a:pt x="2" y="50"/>
                    </a:lnTo>
                    <a:lnTo>
                      <a:pt x="0" y="56"/>
                    </a:lnTo>
                    <a:lnTo>
                      <a:pt x="0" y="64"/>
                    </a:lnTo>
                    <a:lnTo>
                      <a:pt x="0" y="72"/>
                    </a:lnTo>
                    <a:lnTo>
                      <a:pt x="188" y="892"/>
                    </a:lnTo>
                    <a:lnTo>
                      <a:pt x="190" y="898"/>
                    </a:lnTo>
                    <a:lnTo>
                      <a:pt x="196" y="903"/>
                    </a:lnTo>
                    <a:lnTo>
                      <a:pt x="200" y="909"/>
                    </a:lnTo>
                    <a:lnTo>
                      <a:pt x="206" y="913"/>
                    </a:lnTo>
                    <a:lnTo>
                      <a:pt x="212" y="917"/>
                    </a:lnTo>
                    <a:lnTo>
                      <a:pt x="217" y="919"/>
                    </a:lnTo>
                    <a:lnTo>
                      <a:pt x="225" y="919"/>
                    </a:lnTo>
                    <a:lnTo>
                      <a:pt x="233" y="919"/>
                    </a:lnTo>
                    <a:lnTo>
                      <a:pt x="347" y="892"/>
                    </a:lnTo>
                    <a:lnTo>
                      <a:pt x="353" y="890"/>
                    </a:lnTo>
                    <a:lnTo>
                      <a:pt x="359" y="886"/>
                    </a:lnTo>
                    <a:lnTo>
                      <a:pt x="365" y="882"/>
                    </a:lnTo>
                    <a:lnTo>
                      <a:pt x="369" y="876"/>
                    </a:lnTo>
                    <a:lnTo>
                      <a:pt x="373" y="870"/>
                    </a:lnTo>
                    <a:lnTo>
                      <a:pt x="375" y="863"/>
                    </a:lnTo>
                    <a:lnTo>
                      <a:pt x="375" y="857"/>
                    </a:lnTo>
                    <a:lnTo>
                      <a:pt x="373" y="849"/>
                    </a:lnTo>
                    <a:lnTo>
                      <a:pt x="184" y="29"/>
                    </a:lnTo>
                    <a:lnTo>
                      <a:pt x="183" y="21"/>
                    </a:lnTo>
                    <a:lnTo>
                      <a:pt x="179" y="17"/>
                    </a:lnTo>
                    <a:lnTo>
                      <a:pt x="173" y="11"/>
                    </a:lnTo>
                    <a:lnTo>
                      <a:pt x="169" y="6"/>
                    </a:lnTo>
                    <a:lnTo>
                      <a:pt x="161" y="4"/>
                    </a:lnTo>
                    <a:lnTo>
                      <a:pt x="155" y="2"/>
                    </a:lnTo>
                    <a:lnTo>
                      <a:pt x="148" y="0"/>
                    </a:lnTo>
                    <a:lnTo>
                      <a:pt x="140" y="2"/>
                    </a:lnTo>
                    <a:close/>
                  </a:path>
                </a:pathLst>
              </a:custGeom>
              <a:solidFill>
                <a:srgbClr val="ACB3B3"/>
              </a:solidFill>
              <a:ln w="9525">
                <a:noFill/>
                <a:round/>
                <a:headEnd/>
                <a:tailEnd/>
              </a:ln>
            </p:spPr>
            <p:txBody>
              <a:bodyPr/>
              <a:lstStyle/>
              <a:p>
                <a:endParaRPr lang="en-US"/>
              </a:p>
            </p:txBody>
          </p:sp>
          <p:sp>
            <p:nvSpPr>
              <p:cNvPr id="1222" name="Freeform 39"/>
              <p:cNvSpPr>
                <a:spLocks/>
              </p:cNvSpPr>
              <p:nvPr/>
            </p:nvSpPr>
            <p:spPr bwMode="auto">
              <a:xfrm>
                <a:off x="5467" y="2889"/>
                <a:ext cx="187" cy="423"/>
              </a:xfrm>
              <a:custGeom>
                <a:avLst/>
                <a:gdLst>
                  <a:gd name="T0" fmla="*/ 0 w 375"/>
                  <a:gd name="T1" fmla="*/ 0 h 847"/>
                  <a:gd name="T2" fmla="*/ 0 w 375"/>
                  <a:gd name="T3" fmla="*/ 0 h 847"/>
                  <a:gd name="T4" fmla="*/ 0 w 375"/>
                  <a:gd name="T5" fmla="*/ 0 h 847"/>
                  <a:gd name="T6" fmla="*/ 0 w 375"/>
                  <a:gd name="T7" fmla="*/ 0 h 847"/>
                  <a:gd name="T8" fmla="*/ 0 w 375"/>
                  <a:gd name="T9" fmla="*/ 0 h 847"/>
                  <a:gd name="T10" fmla="*/ 0 w 375"/>
                  <a:gd name="T11" fmla="*/ 0 h 847"/>
                  <a:gd name="T12" fmla="*/ 0 w 375"/>
                  <a:gd name="T13" fmla="*/ 0 h 847"/>
                  <a:gd name="T14" fmla="*/ 0 w 375"/>
                  <a:gd name="T15" fmla="*/ 0 h 847"/>
                  <a:gd name="T16" fmla="*/ 0 w 375"/>
                  <a:gd name="T17" fmla="*/ 0 h 847"/>
                  <a:gd name="T18" fmla="*/ 0 w 375"/>
                  <a:gd name="T19" fmla="*/ 0 h 847"/>
                  <a:gd name="T20" fmla="*/ 0 w 375"/>
                  <a:gd name="T21" fmla="*/ 0 h 847"/>
                  <a:gd name="T22" fmla="*/ 0 w 375"/>
                  <a:gd name="T23" fmla="*/ 0 h 847"/>
                  <a:gd name="T24" fmla="*/ 0 w 375"/>
                  <a:gd name="T25" fmla="*/ 0 h 847"/>
                  <a:gd name="T26" fmla="*/ 0 w 375"/>
                  <a:gd name="T27" fmla="*/ 0 h 847"/>
                  <a:gd name="T28" fmla="*/ 0 w 375"/>
                  <a:gd name="T29" fmla="*/ 0 h 847"/>
                  <a:gd name="T30" fmla="*/ 0 w 375"/>
                  <a:gd name="T31" fmla="*/ 0 h 847"/>
                  <a:gd name="T32" fmla="*/ 0 w 375"/>
                  <a:gd name="T33" fmla="*/ 0 h 847"/>
                  <a:gd name="T34" fmla="*/ 0 w 375"/>
                  <a:gd name="T35" fmla="*/ 0 h 847"/>
                  <a:gd name="T36" fmla="*/ 0 w 375"/>
                  <a:gd name="T37" fmla="*/ 0 h 84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375"/>
                  <a:gd name="T58" fmla="*/ 0 h 847"/>
                  <a:gd name="T59" fmla="*/ 375 w 375"/>
                  <a:gd name="T60" fmla="*/ 847 h 84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375" h="847">
                    <a:moveTo>
                      <a:pt x="0" y="0"/>
                    </a:moveTo>
                    <a:lnTo>
                      <a:pt x="188" y="820"/>
                    </a:lnTo>
                    <a:lnTo>
                      <a:pt x="190" y="826"/>
                    </a:lnTo>
                    <a:lnTo>
                      <a:pt x="196" y="831"/>
                    </a:lnTo>
                    <a:lnTo>
                      <a:pt x="200" y="837"/>
                    </a:lnTo>
                    <a:lnTo>
                      <a:pt x="206" y="841"/>
                    </a:lnTo>
                    <a:lnTo>
                      <a:pt x="212" y="845"/>
                    </a:lnTo>
                    <a:lnTo>
                      <a:pt x="217" y="847"/>
                    </a:lnTo>
                    <a:lnTo>
                      <a:pt x="225" y="847"/>
                    </a:lnTo>
                    <a:lnTo>
                      <a:pt x="233" y="847"/>
                    </a:lnTo>
                    <a:lnTo>
                      <a:pt x="345" y="820"/>
                    </a:lnTo>
                    <a:lnTo>
                      <a:pt x="353" y="818"/>
                    </a:lnTo>
                    <a:lnTo>
                      <a:pt x="359" y="814"/>
                    </a:lnTo>
                    <a:lnTo>
                      <a:pt x="365" y="810"/>
                    </a:lnTo>
                    <a:lnTo>
                      <a:pt x="369" y="804"/>
                    </a:lnTo>
                    <a:lnTo>
                      <a:pt x="371" y="796"/>
                    </a:lnTo>
                    <a:lnTo>
                      <a:pt x="373" y="791"/>
                    </a:lnTo>
                    <a:lnTo>
                      <a:pt x="375" y="783"/>
                    </a:lnTo>
                    <a:lnTo>
                      <a:pt x="373" y="775"/>
                    </a:lnTo>
                  </a:path>
                </a:pathLst>
              </a:custGeom>
              <a:noFill/>
              <a:ln w="3175">
                <a:solidFill>
                  <a:srgbClr val="798080"/>
                </a:solidFill>
                <a:round/>
                <a:headEnd/>
                <a:tailEnd/>
              </a:ln>
            </p:spPr>
            <p:txBody>
              <a:bodyPr/>
              <a:lstStyle/>
              <a:p>
                <a:endParaRPr lang="en-US"/>
              </a:p>
            </p:txBody>
          </p:sp>
          <p:sp>
            <p:nvSpPr>
              <p:cNvPr id="1223" name="Freeform 40"/>
              <p:cNvSpPr>
                <a:spLocks/>
              </p:cNvSpPr>
              <p:nvPr/>
            </p:nvSpPr>
            <p:spPr bwMode="auto">
              <a:xfrm>
                <a:off x="5158" y="2914"/>
                <a:ext cx="376" cy="374"/>
              </a:xfrm>
              <a:custGeom>
                <a:avLst/>
                <a:gdLst>
                  <a:gd name="T0" fmla="*/ 1 w 752"/>
                  <a:gd name="T1" fmla="*/ 0 h 748"/>
                  <a:gd name="T2" fmla="*/ 1 w 752"/>
                  <a:gd name="T3" fmla="*/ 1 h 748"/>
                  <a:gd name="T4" fmla="*/ 1 w 752"/>
                  <a:gd name="T5" fmla="*/ 1 h 748"/>
                  <a:gd name="T6" fmla="*/ 1 w 752"/>
                  <a:gd name="T7" fmla="*/ 1 h 748"/>
                  <a:gd name="T8" fmla="*/ 0 w 752"/>
                  <a:gd name="T9" fmla="*/ 1 h 748"/>
                  <a:gd name="T10" fmla="*/ 1 w 752"/>
                  <a:gd name="T11" fmla="*/ 1 h 748"/>
                  <a:gd name="T12" fmla="*/ 1 w 752"/>
                  <a:gd name="T13" fmla="*/ 1 h 748"/>
                  <a:gd name="T14" fmla="*/ 1 w 752"/>
                  <a:gd name="T15" fmla="*/ 1 h 748"/>
                  <a:gd name="T16" fmla="*/ 1 w 752"/>
                  <a:gd name="T17" fmla="*/ 1 h 748"/>
                  <a:gd name="T18" fmla="*/ 1 w 752"/>
                  <a:gd name="T19" fmla="*/ 0 h 74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52"/>
                  <a:gd name="T31" fmla="*/ 0 h 748"/>
                  <a:gd name="T32" fmla="*/ 752 w 752"/>
                  <a:gd name="T33" fmla="*/ 748 h 74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52" h="748">
                    <a:moveTo>
                      <a:pt x="574" y="0"/>
                    </a:moveTo>
                    <a:lnTo>
                      <a:pt x="752" y="746"/>
                    </a:lnTo>
                    <a:lnTo>
                      <a:pt x="384" y="748"/>
                    </a:lnTo>
                    <a:lnTo>
                      <a:pt x="69" y="745"/>
                    </a:lnTo>
                    <a:lnTo>
                      <a:pt x="0" y="460"/>
                    </a:lnTo>
                    <a:lnTo>
                      <a:pt x="184" y="333"/>
                    </a:lnTo>
                    <a:lnTo>
                      <a:pt x="259" y="159"/>
                    </a:lnTo>
                    <a:lnTo>
                      <a:pt x="574" y="2"/>
                    </a:lnTo>
                    <a:lnTo>
                      <a:pt x="574" y="0"/>
                    </a:lnTo>
                    <a:close/>
                  </a:path>
                </a:pathLst>
              </a:custGeom>
              <a:solidFill>
                <a:srgbClr val="ACB3B3"/>
              </a:solidFill>
              <a:ln w="9525">
                <a:noFill/>
                <a:round/>
                <a:headEnd/>
                <a:tailEnd/>
              </a:ln>
            </p:spPr>
            <p:txBody>
              <a:bodyPr/>
              <a:lstStyle/>
              <a:p>
                <a:endParaRPr lang="en-US"/>
              </a:p>
            </p:txBody>
          </p:sp>
          <p:sp>
            <p:nvSpPr>
              <p:cNvPr id="1224" name="Freeform 41"/>
              <p:cNvSpPr>
                <a:spLocks/>
              </p:cNvSpPr>
              <p:nvPr/>
            </p:nvSpPr>
            <p:spPr bwMode="auto">
              <a:xfrm>
                <a:off x="5157" y="3144"/>
                <a:ext cx="376" cy="143"/>
              </a:xfrm>
              <a:custGeom>
                <a:avLst/>
                <a:gdLst>
                  <a:gd name="T0" fmla="*/ 0 w 752"/>
                  <a:gd name="T1" fmla="*/ 0 h 286"/>
                  <a:gd name="T2" fmla="*/ 1 w 752"/>
                  <a:gd name="T3" fmla="*/ 1 h 286"/>
                  <a:gd name="T4" fmla="*/ 1 w 752"/>
                  <a:gd name="T5" fmla="*/ 1 h 286"/>
                  <a:gd name="T6" fmla="*/ 0 60000 65536"/>
                  <a:gd name="T7" fmla="*/ 0 60000 65536"/>
                  <a:gd name="T8" fmla="*/ 0 60000 65536"/>
                  <a:gd name="T9" fmla="*/ 0 w 752"/>
                  <a:gd name="T10" fmla="*/ 0 h 286"/>
                  <a:gd name="T11" fmla="*/ 752 w 752"/>
                  <a:gd name="T12" fmla="*/ 286 h 286"/>
                </a:gdLst>
                <a:ahLst/>
                <a:cxnLst>
                  <a:cxn ang="T6">
                    <a:pos x="T0" y="T1"/>
                  </a:cxn>
                  <a:cxn ang="T7">
                    <a:pos x="T2" y="T3"/>
                  </a:cxn>
                  <a:cxn ang="T8">
                    <a:pos x="T4" y="T5"/>
                  </a:cxn>
                </a:cxnLst>
                <a:rect l="T9" t="T10" r="T11" b="T12"/>
                <a:pathLst>
                  <a:path w="752" h="286">
                    <a:moveTo>
                      <a:pt x="0" y="0"/>
                    </a:moveTo>
                    <a:lnTo>
                      <a:pt x="71" y="286"/>
                    </a:lnTo>
                    <a:lnTo>
                      <a:pt x="752" y="286"/>
                    </a:lnTo>
                  </a:path>
                </a:pathLst>
              </a:custGeom>
              <a:noFill/>
              <a:ln w="3175">
                <a:solidFill>
                  <a:srgbClr val="798080"/>
                </a:solidFill>
                <a:round/>
                <a:headEnd/>
                <a:tailEnd/>
              </a:ln>
            </p:spPr>
            <p:txBody>
              <a:bodyPr/>
              <a:lstStyle/>
              <a:p>
                <a:endParaRPr lang="en-US"/>
              </a:p>
            </p:txBody>
          </p:sp>
          <p:sp>
            <p:nvSpPr>
              <p:cNvPr id="1225" name="Freeform 42"/>
              <p:cNvSpPr>
                <a:spLocks/>
              </p:cNvSpPr>
              <p:nvPr/>
            </p:nvSpPr>
            <p:spPr bwMode="auto">
              <a:xfrm>
                <a:off x="5270" y="3305"/>
                <a:ext cx="280" cy="60"/>
              </a:xfrm>
              <a:custGeom>
                <a:avLst/>
                <a:gdLst>
                  <a:gd name="T0" fmla="*/ 1 w 558"/>
                  <a:gd name="T1" fmla="*/ 0 h 121"/>
                  <a:gd name="T2" fmla="*/ 1 w 558"/>
                  <a:gd name="T3" fmla="*/ 0 h 121"/>
                  <a:gd name="T4" fmla="*/ 1 w 558"/>
                  <a:gd name="T5" fmla="*/ 0 h 121"/>
                  <a:gd name="T6" fmla="*/ 1 w 558"/>
                  <a:gd name="T7" fmla="*/ 0 h 121"/>
                  <a:gd name="T8" fmla="*/ 0 w 558"/>
                  <a:gd name="T9" fmla="*/ 0 h 121"/>
                  <a:gd name="T10" fmla="*/ 1 w 558"/>
                  <a:gd name="T11" fmla="*/ 0 h 121"/>
                  <a:gd name="T12" fmla="*/ 1 w 558"/>
                  <a:gd name="T13" fmla="*/ 0 h 121"/>
                  <a:gd name="T14" fmla="*/ 1 w 558"/>
                  <a:gd name="T15" fmla="*/ 0 h 121"/>
                  <a:gd name="T16" fmla="*/ 1 w 558"/>
                  <a:gd name="T17" fmla="*/ 0 h 121"/>
                  <a:gd name="T18" fmla="*/ 1 w 558"/>
                  <a:gd name="T19" fmla="*/ 0 h 12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58"/>
                  <a:gd name="T31" fmla="*/ 0 h 121"/>
                  <a:gd name="T32" fmla="*/ 558 w 558"/>
                  <a:gd name="T33" fmla="*/ 121 h 12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58" h="121">
                    <a:moveTo>
                      <a:pt x="556" y="55"/>
                    </a:moveTo>
                    <a:lnTo>
                      <a:pt x="366" y="55"/>
                    </a:lnTo>
                    <a:lnTo>
                      <a:pt x="275" y="0"/>
                    </a:lnTo>
                    <a:lnTo>
                      <a:pt x="180" y="55"/>
                    </a:lnTo>
                    <a:lnTo>
                      <a:pt x="0" y="55"/>
                    </a:lnTo>
                    <a:lnTo>
                      <a:pt x="2" y="121"/>
                    </a:lnTo>
                    <a:lnTo>
                      <a:pt x="558" y="121"/>
                    </a:lnTo>
                    <a:lnTo>
                      <a:pt x="558" y="55"/>
                    </a:lnTo>
                    <a:lnTo>
                      <a:pt x="556" y="55"/>
                    </a:lnTo>
                    <a:close/>
                  </a:path>
                </a:pathLst>
              </a:custGeom>
              <a:solidFill>
                <a:srgbClr val="ACB3B3"/>
              </a:solidFill>
              <a:ln w="9525">
                <a:noFill/>
                <a:round/>
                <a:headEnd/>
                <a:tailEnd/>
              </a:ln>
            </p:spPr>
            <p:txBody>
              <a:bodyPr/>
              <a:lstStyle/>
              <a:p>
                <a:endParaRPr lang="en-US"/>
              </a:p>
            </p:txBody>
          </p:sp>
          <p:sp>
            <p:nvSpPr>
              <p:cNvPr id="1226" name="Freeform 43"/>
              <p:cNvSpPr>
                <a:spLocks/>
              </p:cNvSpPr>
              <p:nvPr/>
            </p:nvSpPr>
            <p:spPr bwMode="auto">
              <a:xfrm>
                <a:off x="5270" y="3332"/>
                <a:ext cx="280" cy="33"/>
              </a:xfrm>
              <a:custGeom>
                <a:avLst/>
                <a:gdLst>
                  <a:gd name="T0" fmla="*/ 0 w 558"/>
                  <a:gd name="T1" fmla="*/ 0 h 66"/>
                  <a:gd name="T2" fmla="*/ 1 w 558"/>
                  <a:gd name="T3" fmla="*/ 1 h 66"/>
                  <a:gd name="T4" fmla="*/ 1 w 558"/>
                  <a:gd name="T5" fmla="*/ 1 h 66"/>
                  <a:gd name="T6" fmla="*/ 0 60000 65536"/>
                  <a:gd name="T7" fmla="*/ 0 60000 65536"/>
                  <a:gd name="T8" fmla="*/ 0 60000 65536"/>
                  <a:gd name="T9" fmla="*/ 0 w 558"/>
                  <a:gd name="T10" fmla="*/ 0 h 66"/>
                  <a:gd name="T11" fmla="*/ 558 w 558"/>
                  <a:gd name="T12" fmla="*/ 66 h 66"/>
                </a:gdLst>
                <a:ahLst/>
                <a:cxnLst>
                  <a:cxn ang="T6">
                    <a:pos x="T0" y="T1"/>
                  </a:cxn>
                  <a:cxn ang="T7">
                    <a:pos x="T2" y="T3"/>
                  </a:cxn>
                  <a:cxn ang="T8">
                    <a:pos x="T4" y="T5"/>
                  </a:cxn>
                </a:cxnLst>
                <a:rect l="T9" t="T10" r="T11" b="T12"/>
                <a:pathLst>
                  <a:path w="558" h="66">
                    <a:moveTo>
                      <a:pt x="0" y="0"/>
                    </a:moveTo>
                    <a:lnTo>
                      <a:pt x="3" y="66"/>
                    </a:lnTo>
                    <a:lnTo>
                      <a:pt x="558" y="66"/>
                    </a:lnTo>
                  </a:path>
                </a:pathLst>
              </a:custGeom>
              <a:noFill/>
              <a:ln w="3175">
                <a:solidFill>
                  <a:srgbClr val="798080"/>
                </a:solidFill>
                <a:round/>
                <a:headEnd/>
                <a:tailEnd/>
              </a:ln>
            </p:spPr>
            <p:txBody>
              <a:bodyPr/>
              <a:lstStyle/>
              <a:p>
                <a:endParaRPr lang="en-US"/>
              </a:p>
            </p:txBody>
          </p:sp>
          <p:sp>
            <p:nvSpPr>
              <p:cNvPr id="1227" name="Line 44"/>
              <p:cNvSpPr>
                <a:spLocks noChangeShapeType="1"/>
              </p:cNvSpPr>
              <p:nvPr/>
            </p:nvSpPr>
            <p:spPr bwMode="auto">
              <a:xfrm flipH="1">
                <a:off x="5270" y="3332"/>
                <a:ext cx="90" cy="1"/>
              </a:xfrm>
              <a:prstGeom prst="line">
                <a:avLst/>
              </a:prstGeom>
              <a:noFill/>
              <a:ln w="3175">
                <a:solidFill>
                  <a:srgbClr val="DFE6E6"/>
                </a:solidFill>
                <a:round/>
                <a:headEnd/>
                <a:tailEnd/>
              </a:ln>
            </p:spPr>
            <p:txBody>
              <a:bodyPr/>
              <a:lstStyle/>
              <a:p>
                <a:endParaRPr lang="en-US"/>
              </a:p>
            </p:txBody>
          </p:sp>
          <p:sp>
            <p:nvSpPr>
              <p:cNvPr id="1228" name="Line 45"/>
              <p:cNvSpPr>
                <a:spLocks noChangeShapeType="1"/>
              </p:cNvSpPr>
              <p:nvPr/>
            </p:nvSpPr>
            <p:spPr bwMode="auto">
              <a:xfrm flipH="1">
                <a:off x="5360" y="3304"/>
                <a:ext cx="49" cy="28"/>
              </a:xfrm>
              <a:prstGeom prst="line">
                <a:avLst/>
              </a:prstGeom>
              <a:noFill/>
              <a:ln w="3175">
                <a:solidFill>
                  <a:srgbClr val="798080"/>
                </a:solidFill>
                <a:round/>
                <a:headEnd/>
                <a:tailEnd/>
              </a:ln>
            </p:spPr>
            <p:txBody>
              <a:bodyPr/>
              <a:lstStyle/>
              <a:p>
                <a:endParaRPr lang="en-US"/>
              </a:p>
            </p:txBody>
          </p:sp>
          <p:sp>
            <p:nvSpPr>
              <p:cNvPr id="1229" name="Freeform 46"/>
              <p:cNvSpPr>
                <a:spLocks/>
              </p:cNvSpPr>
              <p:nvPr/>
            </p:nvSpPr>
            <p:spPr bwMode="auto">
              <a:xfrm>
                <a:off x="5409" y="3305"/>
                <a:ext cx="141" cy="60"/>
              </a:xfrm>
              <a:custGeom>
                <a:avLst/>
                <a:gdLst>
                  <a:gd name="T0" fmla="*/ 1 w 281"/>
                  <a:gd name="T1" fmla="*/ 0 h 121"/>
                  <a:gd name="T2" fmla="*/ 1 w 281"/>
                  <a:gd name="T3" fmla="*/ 0 h 121"/>
                  <a:gd name="T4" fmla="*/ 1 w 281"/>
                  <a:gd name="T5" fmla="*/ 0 h 121"/>
                  <a:gd name="T6" fmla="*/ 0 w 281"/>
                  <a:gd name="T7" fmla="*/ 0 h 121"/>
                  <a:gd name="T8" fmla="*/ 0 60000 65536"/>
                  <a:gd name="T9" fmla="*/ 0 60000 65536"/>
                  <a:gd name="T10" fmla="*/ 0 60000 65536"/>
                  <a:gd name="T11" fmla="*/ 0 60000 65536"/>
                  <a:gd name="T12" fmla="*/ 0 w 281"/>
                  <a:gd name="T13" fmla="*/ 0 h 121"/>
                  <a:gd name="T14" fmla="*/ 281 w 281"/>
                  <a:gd name="T15" fmla="*/ 121 h 121"/>
                </a:gdLst>
                <a:ahLst/>
                <a:cxnLst>
                  <a:cxn ang="T8">
                    <a:pos x="T0" y="T1"/>
                  </a:cxn>
                  <a:cxn ang="T9">
                    <a:pos x="T2" y="T3"/>
                  </a:cxn>
                  <a:cxn ang="T10">
                    <a:pos x="T4" y="T5"/>
                  </a:cxn>
                  <a:cxn ang="T11">
                    <a:pos x="T6" y="T7"/>
                  </a:cxn>
                </a:cxnLst>
                <a:rect l="T12" t="T13" r="T14" b="T15"/>
                <a:pathLst>
                  <a:path w="281" h="121">
                    <a:moveTo>
                      <a:pt x="281" y="121"/>
                    </a:moveTo>
                    <a:lnTo>
                      <a:pt x="281" y="55"/>
                    </a:lnTo>
                    <a:lnTo>
                      <a:pt x="89" y="55"/>
                    </a:lnTo>
                    <a:lnTo>
                      <a:pt x="0" y="0"/>
                    </a:lnTo>
                  </a:path>
                </a:pathLst>
              </a:custGeom>
              <a:noFill/>
              <a:ln w="3175">
                <a:solidFill>
                  <a:srgbClr val="DFE6E6"/>
                </a:solidFill>
                <a:round/>
                <a:headEnd/>
                <a:tailEnd/>
              </a:ln>
            </p:spPr>
            <p:txBody>
              <a:bodyPr/>
              <a:lstStyle/>
              <a:p>
                <a:endParaRPr lang="en-US"/>
              </a:p>
            </p:txBody>
          </p:sp>
          <p:sp>
            <p:nvSpPr>
              <p:cNvPr id="1230" name="Freeform 47"/>
              <p:cNvSpPr>
                <a:spLocks/>
              </p:cNvSpPr>
              <p:nvPr/>
            </p:nvSpPr>
            <p:spPr bwMode="auto">
              <a:xfrm>
                <a:off x="5747" y="3286"/>
                <a:ext cx="362" cy="103"/>
              </a:xfrm>
              <a:custGeom>
                <a:avLst/>
                <a:gdLst>
                  <a:gd name="T0" fmla="*/ 1 w 723"/>
                  <a:gd name="T1" fmla="*/ 1 h 205"/>
                  <a:gd name="T2" fmla="*/ 1 w 723"/>
                  <a:gd name="T3" fmla="*/ 0 h 205"/>
                  <a:gd name="T4" fmla="*/ 1 w 723"/>
                  <a:gd name="T5" fmla="*/ 0 h 205"/>
                  <a:gd name="T6" fmla="*/ 1 w 723"/>
                  <a:gd name="T7" fmla="*/ 1 h 205"/>
                  <a:gd name="T8" fmla="*/ 1 w 723"/>
                  <a:gd name="T9" fmla="*/ 1 h 205"/>
                  <a:gd name="T10" fmla="*/ 1 w 723"/>
                  <a:gd name="T11" fmla="*/ 1 h 205"/>
                  <a:gd name="T12" fmla="*/ 1 w 723"/>
                  <a:gd name="T13" fmla="*/ 1 h 205"/>
                  <a:gd name="T14" fmla="*/ 1 w 723"/>
                  <a:gd name="T15" fmla="*/ 1 h 205"/>
                  <a:gd name="T16" fmla="*/ 1 w 723"/>
                  <a:gd name="T17" fmla="*/ 1 h 205"/>
                  <a:gd name="T18" fmla="*/ 1 w 723"/>
                  <a:gd name="T19" fmla="*/ 1 h 205"/>
                  <a:gd name="T20" fmla="*/ 0 w 723"/>
                  <a:gd name="T21" fmla="*/ 1 h 205"/>
                  <a:gd name="T22" fmla="*/ 1 w 723"/>
                  <a:gd name="T23" fmla="*/ 1 h 205"/>
                  <a:gd name="T24" fmla="*/ 1 w 723"/>
                  <a:gd name="T25" fmla="*/ 1 h 205"/>
                  <a:gd name="T26" fmla="*/ 1 w 723"/>
                  <a:gd name="T27" fmla="*/ 1 h 205"/>
                  <a:gd name="T28" fmla="*/ 1 w 723"/>
                  <a:gd name="T29" fmla="*/ 1 h 205"/>
                  <a:gd name="T30" fmla="*/ 1 w 723"/>
                  <a:gd name="T31" fmla="*/ 1 h 205"/>
                  <a:gd name="T32" fmla="*/ 1 w 723"/>
                  <a:gd name="T33" fmla="*/ 1 h 205"/>
                  <a:gd name="T34" fmla="*/ 1 w 723"/>
                  <a:gd name="T35" fmla="*/ 1 h 205"/>
                  <a:gd name="T36" fmla="*/ 1 w 723"/>
                  <a:gd name="T37" fmla="*/ 1 h 205"/>
                  <a:gd name="T38" fmla="*/ 1 w 723"/>
                  <a:gd name="T39" fmla="*/ 1 h 205"/>
                  <a:gd name="T40" fmla="*/ 1 w 723"/>
                  <a:gd name="T41" fmla="*/ 1 h 205"/>
                  <a:gd name="T42" fmla="*/ 1 w 723"/>
                  <a:gd name="T43" fmla="*/ 1 h 205"/>
                  <a:gd name="T44" fmla="*/ 1 w 723"/>
                  <a:gd name="T45" fmla="*/ 1 h 205"/>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723"/>
                  <a:gd name="T70" fmla="*/ 0 h 205"/>
                  <a:gd name="T71" fmla="*/ 723 w 723"/>
                  <a:gd name="T72" fmla="*/ 205 h 205"/>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723" h="205">
                    <a:moveTo>
                      <a:pt x="667" y="95"/>
                    </a:moveTo>
                    <a:lnTo>
                      <a:pt x="75" y="0"/>
                    </a:lnTo>
                    <a:lnTo>
                      <a:pt x="64" y="0"/>
                    </a:lnTo>
                    <a:lnTo>
                      <a:pt x="54" y="3"/>
                    </a:lnTo>
                    <a:lnTo>
                      <a:pt x="44" y="11"/>
                    </a:lnTo>
                    <a:lnTo>
                      <a:pt x="37" y="21"/>
                    </a:lnTo>
                    <a:lnTo>
                      <a:pt x="31" y="32"/>
                    </a:lnTo>
                    <a:lnTo>
                      <a:pt x="27" y="46"/>
                    </a:lnTo>
                    <a:lnTo>
                      <a:pt x="21" y="60"/>
                    </a:lnTo>
                    <a:lnTo>
                      <a:pt x="19" y="75"/>
                    </a:lnTo>
                    <a:lnTo>
                      <a:pt x="0" y="205"/>
                    </a:lnTo>
                    <a:lnTo>
                      <a:pt x="723" y="205"/>
                    </a:lnTo>
                    <a:lnTo>
                      <a:pt x="723" y="172"/>
                    </a:lnTo>
                    <a:lnTo>
                      <a:pt x="723" y="158"/>
                    </a:lnTo>
                    <a:lnTo>
                      <a:pt x="719" y="143"/>
                    </a:lnTo>
                    <a:lnTo>
                      <a:pt x="713" y="131"/>
                    </a:lnTo>
                    <a:lnTo>
                      <a:pt x="708" y="120"/>
                    </a:lnTo>
                    <a:lnTo>
                      <a:pt x="698" y="110"/>
                    </a:lnTo>
                    <a:lnTo>
                      <a:pt x="688" y="102"/>
                    </a:lnTo>
                    <a:lnTo>
                      <a:pt x="679" y="98"/>
                    </a:lnTo>
                    <a:lnTo>
                      <a:pt x="667" y="95"/>
                    </a:lnTo>
                    <a:close/>
                  </a:path>
                </a:pathLst>
              </a:custGeom>
              <a:solidFill>
                <a:srgbClr val="ACB3B3"/>
              </a:solidFill>
              <a:ln w="9525">
                <a:noFill/>
                <a:round/>
                <a:headEnd/>
                <a:tailEnd/>
              </a:ln>
            </p:spPr>
            <p:txBody>
              <a:bodyPr/>
              <a:lstStyle/>
              <a:p>
                <a:endParaRPr lang="en-US"/>
              </a:p>
            </p:txBody>
          </p:sp>
          <p:sp>
            <p:nvSpPr>
              <p:cNvPr id="1231" name="Freeform 48"/>
              <p:cNvSpPr>
                <a:spLocks/>
              </p:cNvSpPr>
              <p:nvPr/>
            </p:nvSpPr>
            <p:spPr bwMode="auto">
              <a:xfrm>
                <a:off x="5747" y="3302"/>
                <a:ext cx="362" cy="87"/>
              </a:xfrm>
              <a:custGeom>
                <a:avLst/>
                <a:gdLst>
                  <a:gd name="T0" fmla="*/ 1 w 723"/>
                  <a:gd name="T1" fmla="*/ 0 h 174"/>
                  <a:gd name="T2" fmla="*/ 1 w 723"/>
                  <a:gd name="T3" fmla="*/ 1 h 174"/>
                  <a:gd name="T4" fmla="*/ 1 w 723"/>
                  <a:gd name="T5" fmla="*/ 1 h 174"/>
                  <a:gd name="T6" fmla="*/ 1 w 723"/>
                  <a:gd name="T7" fmla="*/ 1 h 174"/>
                  <a:gd name="T8" fmla="*/ 1 w 723"/>
                  <a:gd name="T9" fmla="*/ 1 h 174"/>
                  <a:gd name="T10" fmla="*/ 1 w 723"/>
                  <a:gd name="T11" fmla="*/ 1 h 174"/>
                  <a:gd name="T12" fmla="*/ 1 w 723"/>
                  <a:gd name="T13" fmla="*/ 1 h 174"/>
                  <a:gd name="T14" fmla="*/ 1 w 723"/>
                  <a:gd name="T15" fmla="*/ 1 h 174"/>
                  <a:gd name="T16" fmla="*/ 0 w 723"/>
                  <a:gd name="T17" fmla="*/ 1 h 174"/>
                  <a:gd name="T18" fmla="*/ 1 w 723"/>
                  <a:gd name="T19" fmla="*/ 1 h 17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23"/>
                  <a:gd name="T31" fmla="*/ 0 h 174"/>
                  <a:gd name="T32" fmla="*/ 723 w 723"/>
                  <a:gd name="T33" fmla="*/ 174 h 17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23" h="174">
                    <a:moveTo>
                      <a:pt x="33" y="0"/>
                    </a:moveTo>
                    <a:lnTo>
                      <a:pt x="27" y="11"/>
                    </a:lnTo>
                    <a:lnTo>
                      <a:pt x="23" y="31"/>
                    </a:lnTo>
                    <a:lnTo>
                      <a:pt x="17" y="52"/>
                    </a:lnTo>
                    <a:lnTo>
                      <a:pt x="13" y="77"/>
                    </a:lnTo>
                    <a:lnTo>
                      <a:pt x="9" y="104"/>
                    </a:lnTo>
                    <a:lnTo>
                      <a:pt x="6" y="129"/>
                    </a:lnTo>
                    <a:lnTo>
                      <a:pt x="4" y="155"/>
                    </a:lnTo>
                    <a:lnTo>
                      <a:pt x="0" y="174"/>
                    </a:lnTo>
                    <a:lnTo>
                      <a:pt x="723" y="174"/>
                    </a:lnTo>
                  </a:path>
                </a:pathLst>
              </a:custGeom>
              <a:noFill/>
              <a:ln w="3175">
                <a:solidFill>
                  <a:srgbClr val="798080"/>
                </a:solidFill>
                <a:round/>
                <a:headEnd/>
                <a:tailEnd/>
              </a:ln>
            </p:spPr>
            <p:txBody>
              <a:bodyPr/>
              <a:lstStyle/>
              <a:p>
                <a:endParaRPr lang="en-US"/>
              </a:p>
            </p:txBody>
          </p:sp>
          <p:sp>
            <p:nvSpPr>
              <p:cNvPr id="1232" name="Freeform 49"/>
              <p:cNvSpPr>
                <a:spLocks/>
              </p:cNvSpPr>
              <p:nvPr/>
            </p:nvSpPr>
            <p:spPr bwMode="auto">
              <a:xfrm>
                <a:off x="5762" y="3285"/>
                <a:ext cx="347" cy="104"/>
              </a:xfrm>
              <a:custGeom>
                <a:avLst/>
                <a:gdLst>
                  <a:gd name="T0" fmla="*/ 1 w 694"/>
                  <a:gd name="T1" fmla="*/ 1 h 207"/>
                  <a:gd name="T2" fmla="*/ 1 w 694"/>
                  <a:gd name="T3" fmla="*/ 1 h 207"/>
                  <a:gd name="T4" fmla="*/ 1 w 694"/>
                  <a:gd name="T5" fmla="*/ 1 h 207"/>
                  <a:gd name="T6" fmla="*/ 1 w 694"/>
                  <a:gd name="T7" fmla="*/ 1 h 207"/>
                  <a:gd name="T8" fmla="*/ 1 w 694"/>
                  <a:gd name="T9" fmla="*/ 1 h 207"/>
                  <a:gd name="T10" fmla="*/ 1 w 694"/>
                  <a:gd name="T11" fmla="*/ 1 h 207"/>
                  <a:gd name="T12" fmla="*/ 1 w 694"/>
                  <a:gd name="T13" fmla="*/ 1 h 207"/>
                  <a:gd name="T14" fmla="*/ 1 w 694"/>
                  <a:gd name="T15" fmla="*/ 1 h 207"/>
                  <a:gd name="T16" fmla="*/ 1 w 694"/>
                  <a:gd name="T17" fmla="*/ 1 h 207"/>
                  <a:gd name="T18" fmla="*/ 1 w 694"/>
                  <a:gd name="T19" fmla="*/ 1 h 207"/>
                  <a:gd name="T20" fmla="*/ 1 w 694"/>
                  <a:gd name="T21" fmla="*/ 1 h 207"/>
                  <a:gd name="T22" fmla="*/ 1 w 694"/>
                  <a:gd name="T23" fmla="*/ 0 h 207"/>
                  <a:gd name="T24" fmla="*/ 1 w 694"/>
                  <a:gd name="T25" fmla="*/ 1 h 207"/>
                  <a:gd name="T26" fmla="*/ 1 w 694"/>
                  <a:gd name="T27" fmla="*/ 1 h 207"/>
                  <a:gd name="T28" fmla="*/ 1 w 694"/>
                  <a:gd name="T29" fmla="*/ 1 h 207"/>
                  <a:gd name="T30" fmla="*/ 1 w 694"/>
                  <a:gd name="T31" fmla="*/ 1 h 207"/>
                  <a:gd name="T32" fmla="*/ 1 w 694"/>
                  <a:gd name="T33" fmla="*/ 1 h 207"/>
                  <a:gd name="T34" fmla="*/ 1 w 694"/>
                  <a:gd name="T35" fmla="*/ 1 h 207"/>
                  <a:gd name="T36" fmla="*/ 0 w 694"/>
                  <a:gd name="T37" fmla="*/ 1 h 20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694"/>
                  <a:gd name="T58" fmla="*/ 0 h 207"/>
                  <a:gd name="T59" fmla="*/ 694 w 694"/>
                  <a:gd name="T60" fmla="*/ 207 h 20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694" h="207">
                    <a:moveTo>
                      <a:pt x="694" y="207"/>
                    </a:moveTo>
                    <a:lnTo>
                      <a:pt x="694" y="174"/>
                    </a:lnTo>
                    <a:lnTo>
                      <a:pt x="694" y="159"/>
                    </a:lnTo>
                    <a:lnTo>
                      <a:pt x="690" y="145"/>
                    </a:lnTo>
                    <a:lnTo>
                      <a:pt x="684" y="133"/>
                    </a:lnTo>
                    <a:lnTo>
                      <a:pt x="679" y="122"/>
                    </a:lnTo>
                    <a:lnTo>
                      <a:pt x="669" y="112"/>
                    </a:lnTo>
                    <a:lnTo>
                      <a:pt x="659" y="104"/>
                    </a:lnTo>
                    <a:lnTo>
                      <a:pt x="650" y="100"/>
                    </a:lnTo>
                    <a:lnTo>
                      <a:pt x="638" y="97"/>
                    </a:lnTo>
                    <a:lnTo>
                      <a:pt x="46" y="2"/>
                    </a:lnTo>
                    <a:lnTo>
                      <a:pt x="37" y="0"/>
                    </a:lnTo>
                    <a:lnTo>
                      <a:pt x="29" y="2"/>
                    </a:lnTo>
                    <a:lnTo>
                      <a:pt x="23" y="3"/>
                    </a:lnTo>
                    <a:lnTo>
                      <a:pt x="15" y="7"/>
                    </a:lnTo>
                    <a:lnTo>
                      <a:pt x="11" y="13"/>
                    </a:lnTo>
                    <a:lnTo>
                      <a:pt x="8" y="21"/>
                    </a:lnTo>
                    <a:lnTo>
                      <a:pt x="4" y="31"/>
                    </a:lnTo>
                    <a:lnTo>
                      <a:pt x="0" y="42"/>
                    </a:lnTo>
                  </a:path>
                </a:pathLst>
              </a:custGeom>
              <a:noFill/>
              <a:ln w="3175">
                <a:solidFill>
                  <a:srgbClr val="DFE6E6"/>
                </a:solidFill>
                <a:round/>
                <a:headEnd/>
                <a:tailEnd/>
              </a:ln>
            </p:spPr>
            <p:txBody>
              <a:bodyPr/>
              <a:lstStyle/>
              <a:p>
                <a:endParaRPr lang="en-US"/>
              </a:p>
            </p:txBody>
          </p:sp>
          <p:sp>
            <p:nvSpPr>
              <p:cNvPr id="1233" name="Line 50"/>
              <p:cNvSpPr>
                <a:spLocks noChangeShapeType="1"/>
              </p:cNvSpPr>
              <p:nvPr/>
            </p:nvSpPr>
            <p:spPr bwMode="auto">
              <a:xfrm flipH="1" flipV="1">
                <a:off x="5445" y="2915"/>
                <a:ext cx="88" cy="372"/>
              </a:xfrm>
              <a:prstGeom prst="line">
                <a:avLst/>
              </a:prstGeom>
              <a:noFill/>
              <a:ln w="3175">
                <a:solidFill>
                  <a:srgbClr val="DFE6E6"/>
                </a:solidFill>
                <a:round/>
                <a:headEnd/>
                <a:tailEnd/>
              </a:ln>
            </p:spPr>
            <p:txBody>
              <a:bodyPr/>
              <a:lstStyle/>
              <a:p>
                <a:endParaRPr lang="en-US"/>
              </a:p>
            </p:txBody>
          </p:sp>
          <p:sp>
            <p:nvSpPr>
              <p:cNvPr id="1234" name="Freeform 51"/>
              <p:cNvSpPr>
                <a:spLocks/>
              </p:cNvSpPr>
              <p:nvPr/>
            </p:nvSpPr>
            <p:spPr bwMode="auto">
              <a:xfrm>
                <a:off x="5157" y="2915"/>
                <a:ext cx="288" cy="229"/>
              </a:xfrm>
              <a:custGeom>
                <a:avLst/>
                <a:gdLst>
                  <a:gd name="T0" fmla="*/ 0 w 576"/>
                  <a:gd name="T1" fmla="*/ 1 h 458"/>
                  <a:gd name="T2" fmla="*/ 1 w 576"/>
                  <a:gd name="T3" fmla="*/ 1 h 458"/>
                  <a:gd name="T4" fmla="*/ 1 w 576"/>
                  <a:gd name="T5" fmla="*/ 1 h 458"/>
                  <a:gd name="T6" fmla="*/ 1 w 576"/>
                  <a:gd name="T7" fmla="*/ 0 h 458"/>
                  <a:gd name="T8" fmla="*/ 0 60000 65536"/>
                  <a:gd name="T9" fmla="*/ 0 60000 65536"/>
                  <a:gd name="T10" fmla="*/ 0 60000 65536"/>
                  <a:gd name="T11" fmla="*/ 0 60000 65536"/>
                  <a:gd name="T12" fmla="*/ 0 w 576"/>
                  <a:gd name="T13" fmla="*/ 0 h 458"/>
                  <a:gd name="T14" fmla="*/ 576 w 576"/>
                  <a:gd name="T15" fmla="*/ 458 h 458"/>
                </a:gdLst>
                <a:ahLst/>
                <a:cxnLst>
                  <a:cxn ang="T8">
                    <a:pos x="T0" y="T1"/>
                  </a:cxn>
                  <a:cxn ang="T9">
                    <a:pos x="T2" y="T3"/>
                  </a:cxn>
                  <a:cxn ang="T10">
                    <a:pos x="T4" y="T5"/>
                  </a:cxn>
                  <a:cxn ang="T11">
                    <a:pos x="T6" y="T7"/>
                  </a:cxn>
                </a:cxnLst>
                <a:rect l="T12" t="T13" r="T14" b="T15"/>
                <a:pathLst>
                  <a:path w="576" h="458">
                    <a:moveTo>
                      <a:pt x="0" y="458"/>
                    </a:moveTo>
                    <a:lnTo>
                      <a:pt x="186" y="331"/>
                    </a:lnTo>
                    <a:lnTo>
                      <a:pt x="261" y="157"/>
                    </a:lnTo>
                    <a:lnTo>
                      <a:pt x="576" y="0"/>
                    </a:lnTo>
                  </a:path>
                </a:pathLst>
              </a:custGeom>
              <a:noFill/>
              <a:ln w="3175">
                <a:solidFill>
                  <a:srgbClr val="DFE6E6"/>
                </a:solidFill>
                <a:round/>
                <a:headEnd/>
                <a:tailEnd/>
              </a:ln>
            </p:spPr>
            <p:txBody>
              <a:bodyPr/>
              <a:lstStyle/>
              <a:p>
                <a:endParaRPr lang="en-US"/>
              </a:p>
            </p:txBody>
          </p:sp>
          <p:sp>
            <p:nvSpPr>
              <p:cNvPr id="1235" name="Freeform 52"/>
              <p:cNvSpPr>
                <a:spLocks/>
              </p:cNvSpPr>
              <p:nvPr/>
            </p:nvSpPr>
            <p:spPr bwMode="auto">
              <a:xfrm>
                <a:off x="5467" y="2854"/>
                <a:ext cx="186" cy="423"/>
              </a:xfrm>
              <a:custGeom>
                <a:avLst/>
                <a:gdLst>
                  <a:gd name="T0" fmla="*/ 0 w 373"/>
                  <a:gd name="T1" fmla="*/ 1 h 845"/>
                  <a:gd name="T2" fmla="*/ 0 w 373"/>
                  <a:gd name="T3" fmla="*/ 1 h 845"/>
                  <a:gd name="T4" fmla="*/ 0 w 373"/>
                  <a:gd name="T5" fmla="*/ 1 h 845"/>
                  <a:gd name="T6" fmla="*/ 0 w 373"/>
                  <a:gd name="T7" fmla="*/ 1 h 845"/>
                  <a:gd name="T8" fmla="*/ 0 w 373"/>
                  <a:gd name="T9" fmla="*/ 1 h 845"/>
                  <a:gd name="T10" fmla="*/ 0 w 373"/>
                  <a:gd name="T11" fmla="*/ 1 h 845"/>
                  <a:gd name="T12" fmla="*/ 0 w 373"/>
                  <a:gd name="T13" fmla="*/ 1 h 845"/>
                  <a:gd name="T14" fmla="*/ 0 w 373"/>
                  <a:gd name="T15" fmla="*/ 0 h 845"/>
                  <a:gd name="T16" fmla="*/ 0 w 373"/>
                  <a:gd name="T17" fmla="*/ 0 h 845"/>
                  <a:gd name="T18" fmla="*/ 0 w 373"/>
                  <a:gd name="T19" fmla="*/ 0 h 845"/>
                  <a:gd name="T20" fmla="*/ 0 w 373"/>
                  <a:gd name="T21" fmla="*/ 1 h 845"/>
                  <a:gd name="T22" fmla="*/ 0 w 373"/>
                  <a:gd name="T23" fmla="*/ 1 h 845"/>
                  <a:gd name="T24" fmla="*/ 0 w 373"/>
                  <a:gd name="T25" fmla="*/ 1 h 845"/>
                  <a:gd name="T26" fmla="*/ 0 w 373"/>
                  <a:gd name="T27" fmla="*/ 1 h 845"/>
                  <a:gd name="T28" fmla="*/ 0 w 373"/>
                  <a:gd name="T29" fmla="*/ 1 h 845"/>
                  <a:gd name="T30" fmla="*/ 0 w 373"/>
                  <a:gd name="T31" fmla="*/ 1 h 845"/>
                  <a:gd name="T32" fmla="*/ 0 w 373"/>
                  <a:gd name="T33" fmla="*/ 1 h 845"/>
                  <a:gd name="T34" fmla="*/ 0 w 373"/>
                  <a:gd name="T35" fmla="*/ 1 h 845"/>
                  <a:gd name="T36" fmla="*/ 0 w 373"/>
                  <a:gd name="T37" fmla="*/ 1 h 84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373"/>
                  <a:gd name="T58" fmla="*/ 0 h 845"/>
                  <a:gd name="T59" fmla="*/ 373 w 373"/>
                  <a:gd name="T60" fmla="*/ 845 h 84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373" h="845">
                    <a:moveTo>
                      <a:pt x="373" y="845"/>
                    </a:moveTo>
                    <a:lnTo>
                      <a:pt x="184" y="27"/>
                    </a:lnTo>
                    <a:lnTo>
                      <a:pt x="183" y="19"/>
                    </a:lnTo>
                    <a:lnTo>
                      <a:pt x="179" y="13"/>
                    </a:lnTo>
                    <a:lnTo>
                      <a:pt x="173" y="9"/>
                    </a:lnTo>
                    <a:lnTo>
                      <a:pt x="169" y="4"/>
                    </a:lnTo>
                    <a:lnTo>
                      <a:pt x="161" y="2"/>
                    </a:lnTo>
                    <a:lnTo>
                      <a:pt x="155" y="0"/>
                    </a:lnTo>
                    <a:lnTo>
                      <a:pt x="148" y="0"/>
                    </a:lnTo>
                    <a:lnTo>
                      <a:pt x="140" y="0"/>
                    </a:lnTo>
                    <a:lnTo>
                      <a:pt x="27" y="27"/>
                    </a:lnTo>
                    <a:lnTo>
                      <a:pt x="20" y="29"/>
                    </a:lnTo>
                    <a:lnTo>
                      <a:pt x="14" y="33"/>
                    </a:lnTo>
                    <a:lnTo>
                      <a:pt x="10" y="37"/>
                    </a:lnTo>
                    <a:lnTo>
                      <a:pt x="4" y="42"/>
                    </a:lnTo>
                    <a:lnTo>
                      <a:pt x="2" y="48"/>
                    </a:lnTo>
                    <a:lnTo>
                      <a:pt x="0" y="54"/>
                    </a:lnTo>
                    <a:lnTo>
                      <a:pt x="0" y="62"/>
                    </a:lnTo>
                    <a:lnTo>
                      <a:pt x="0" y="70"/>
                    </a:lnTo>
                  </a:path>
                </a:pathLst>
              </a:custGeom>
              <a:noFill/>
              <a:ln w="3175">
                <a:solidFill>
                  <a:srgbClr val="DFE6E6"/>
                </a:solidFill>
                <a:round/>
                <a:headEnd/>
                <a:tailEnd/>
              </a:ln>
            </p:spPr>
            <p:txBody>
              <a:bodyPr/>
              <a:lstStyle/>
              <a:p>
                <a:endParaRPr lang="en-US"/>
              </a:p>
            </p:txBody>
          </p:sp>
        </p:grpSp>
      </p:grpSp>
      <p:grpSp>
        <p:nvGrpSpPr>
          <p:cNvPr id="4" name="Group 53"/>
          <p:cNvGrpSpPr>
            <a:grpSpLocks/>
          </p:cNvGrpSpPr>
          <p:nvPr/>
        </p:nvGrpSpPr>
        <p:grpSpPr bwMode="auto">
          <a:xfrm>
            <a:off x="4127500" y="609600"/>
            <a:ext cx="1073150" cy="917575"/>
            <a:chOff x="4848" y="3120"/>
            <a:chExt cx="681" cy="533"/>
          </a:xfrm>
        </p:grpSpPr>
        <p:grpSp>
          <p:nvGrpSpPr>
            <p:cNvPr id="5" name="Group 54"/>
            <p:cNvGrpSpPr>
              <a:grpSpLocks/>
            </p:cNvGrpSpPr>
            <p:nvPr/>
          </p:nvGrpSpPr>
          <p:grpSpPr bwMode="auto">
            <a:xfrm>
              <a:off x="4848" y="3120"/>
              <a:ext cx="681" cy="533"/>
              <a:chOff x="4704" y="3024"/>
              <a:chExt cx="825" cy="629"/>
            </a:xfrm>
          </p:grpSpPr>
          <p:sp>
            <p:nvSpPr>
              <p:cNvPr id="1089" name="Rectangle 55"/>
              <p:cNvSpPr>
                <a:spLocks noChangeArrowheads="1"/>
              </p:cNvSpPr>
              <p:nvPr/>
            </p:nvSpPr>
            <p:spPr bwMode="auto">
              <a:xfrm>
                <a:off x="4768" y="3024"/>
                <a:ext cx="760" cy="626"/>
              </a:xfrm>
              <a:prstGeom prst="rect">
                <a:avLst/>
              </a:prstGeom>
              <a:solidFill>
                <a:srgbClr val="000000"/>
              </a:solidFill>
              <a:ln w="0">
                <a:solidFill>
                  <a:srgbClr val="000000"/>
                </a:solidFill>
                <a:miter lim="800000"/>
                <a:headEnd/>
                <a:tailEnd/>
              </a:ln>
            </p:spPr>
            <p:txBody>
              <a:bodyPr/>
              <a:lstStyle/>
              <a:p>
                <a:endParaRPr lang="en-US"/>
              </a:p>
            </p:txBody>
          </p:sp>
          <p:sp>
            <p:nvSpPr>
              <p:cNvPr id="1090" name="Freeform 56"/>
              <p:cNvSpPr>
                <a:spLocks/>
              </p:cNvSpPr>
              <p:nvPr/>
            </p:nvSpPr>
            <p:spPr bwMode="auto">
              <a:xfrm>
                <a:off x="5047" y="3134"/>
                <a:ext cx="295" cy="368"/>
              </a:xfrm>
              <a:custGeom>
                <a:avLst/>
                <a:gdLst>
                  <a:gd name="T0" fmla="*/ 1 w 589"/>
                  <a:gd name="T1" fmla="*/ 1 h 736"/>
                  <a:gd name="T2" fmla="*/ 1 w 589"/>
                  <a:gd name="T3" fmla="*/ 1 h 736"/>
                  <a:gd name="T4" fmla="*/ 1 w 589"/>
                  <a:gd name="T5" fmla="*/ 1 h 736"/>
                  <a:gd name="T6" fmla="*/ 1 w 589"/>
                  <a:gd name="T7" fmla="*/ 1 h 736"/>
                  <a:gd name="T8" fmla="*/ 1 w 589"/>
                  <a:gd name="T9" fmla="*/ 1 h 736"/>
                  <a:gd name="T10" fmla="*/ 1 w 589"/>
                  <a:gd name="T11" fmla="*/ 1 h 736"/>
                  <a:gd name="T12" fmla="*/ 1 w 589"/>
                  <a:gd name="T13" fmla="*/ 1 h 736"/>
                  <a:gd name="T14" fmla="*/ 1 w 589"/>
                  <a:gd name="T15" fmla="*/ 1 h 736"/>
                  <a:gd name="T16" fmla="*/ 1 w 589"/>
                  <a:gd name="T17" fmla="*/ 1 h 736"/>
                  <a:gd name="T18" fmla="*/ 1 w 589"/>
                  <a:gd name="T19" fmla="*/ 1 h 736"/>
                  <a:gd name="T20" fmla="*/ 1 w 589"/>
                  <a:gd name="T21" fmla="*/ 1 h 736"/>
                  <a:gd name="T22" fmla="*/ 1 w 589"/>
                  <a:gd name="T23" fmla="*/ 1 h 736"/>
                  <a:gd name="T24" fmla="*/ 1 w 589"/>
                  <a:gd name="T25" fmla="*/ 1 h 736"/>
                  <a:gd name="T26" fmla="*/ 1 w 589"/>
                  <a:gd name="T27" fmla="*/ 1 h 736"/>
                  <a:gd name="T28" fmla="*/ 1 w 589"/>
                  <a:gd name="T29" fmla="*/ 1 h 736"/>
                  <a:gd name="T30" fmla="*/ 1 w 589"/>
                  <a:gd name="T31" fmla="*/ 1 h 736"/>
                  <a:gd name="T32" fmla="*/ 1 w 589"/>
                  <a:gd name="T33" fmla="*/ 1 h 736"/>
                  <a:gd name="T34" fmla="*/ 1 w 589"/>
                  <a:gd name="T35" fmla="*/ 1 h 736"/>
                  <a:gd name="T36" fmla="*/ 1 w 589"/>
                  <a:gd name="T37" fmla="*/ 1 h 736"/>
                  <a:gd name="T38" fmla="*/ 1 w 589"/>
                  <a:gd name="T39" fmla="*/ 1 h 736"/>
                  <a:gd name="T40" fmla="*/ 1 w 589"/>
                  <a:gd name="T41" fmla="*/ 1 h 736"/>
                  <a:gd name="T42" fmla="*/ 1 w 589"/>
                  <a:gd name="T43" fmla="*/ 1 h 736"/>
                  <a:gd name="T44" fmla="*/ 1 w 589"/>
                  <a:gd name="T45" fmla="*/ 1 h 736"/>
                  <a:gd name="T46" fmla="*/ 1 w 589"/>
                  <a:gd name="T47" fmla="*/ 1 h 736"/>
                  <a:gd name="T48" fmla="*/ 1 w 589"/>
                  <a:gd name="T49" fmla="*/ 1 h 736"/>
                  <a:gd name="T50" fmla="*/ 1 w 589"/>
                  <a:gd name="T51" fmla="*/ 1 h 736"/>
                  <a:gd name="T52" fmla="*/ 1 w 589"/>
                  <a:gd name="T53" fmla="*/ 1 h 736"/>
                  <a:gd name="T54" fmla="*/ 0 w 589"/>
                  <a:gd name="T55" fmla="*/ 1 h 736"/>
                  <a:gd name="T56" fmla="*/ 0 w 589"/>
                  <a:gd name="T57" fmla="*/ 1 h 736"/>
                  <a:gd name="T58" fmla="*/ 1 w 589"/>
                  <a:gd name="T59" fmla="*/ 1 h 736"/>
                  <a:gd name="T60" fmla="*/ 1 w 589"/>
                  <a:gd name="T61" fmla="*/ 1 h 736"/>
                  <a:gd name="T62" fmla="*/ 1 w 589"/>
                  <a:gd name="T63" fmla="*/ 1 h 736"/>
                  <a:gd name="T64" fmla="*/ 1 w 589"/>
                  <a:gd name="T65" fmla="*/ 1 h 736"/>
                  <a:gd name="T66" fmla="*/ 1 w 589"/>
                  <a:gd name="T67" fmla="*/ 1 h 736"/>
                  <a:gd name="T68" fmla="*/ 1 w 589"/>
                  <a:gd name="T69" fmla="*/ 1 h 736"/>
                  <a:gd name="T70" fmla="*/ 1 w 589"/>
                  <a:gd name="T71" fmla="*/ 1 h 736"/>
                  <a:gd name="T72" fmla="*/ 1 w 589"/>
                  <a:gd name="T73" fmla="*/ 1 h 736"/>
                  <a:gd name="T74" fmla="*/ 1 w 589"/>
                  <a:gd name="T75" fmla="*/ 1 h 736"/>
                  <a:gd name="T76" fmla="*/ 1 w 589"/>
                  <a:gd name="T77" fmla="*/ 1 h 736"/>
                  <a:gd name="T78" fmla="*/ 1 w 589"/>
                  <a:gd name="T79" fmla="*/ 1 h 736"/>
                  <a:gd name="T80" fmla="*/ 1 w 589"/>
                  <a:gd name="T81" fmla="*/ 1 h 736"/>
                  <a:gd name="T82" fmla="*/ 1 w 589"/>
                  <a:gd name="T83" fmla="*/ 1 h 736"/>
                  <a:gd name="T84" fmla="*/ 1 w 589"/>
                  <a:gd name="T85" fmla="*/ 0 h 736"/>
                  <a:gd name="T86" fmla="*/ 1 w 589"/>
                  <a:gd name="T87" fmla="*/ 0 h 736"/>
                  <a:gd name="T88" fmla="*/ 1 w 589"/>
                  <a:gd name="T89" fmla="*/ 1 h 736"/>
                  <a:gd name="T90" fmla="*/ 1 w 589"/>
                  <a:gd name="T91" fmla="*/ 1 h 736"/>
                  <a:gd name="T92" fmla="*/ 1 w 589"/>
                  <a:gd name="T93" fmla="*/ 1 h 736"/>
                  <a:gd name="T94" fmla="*/ 1 w 589"/>
                  <a:gd name="T95" fmla="*/ 1 h 736"/>
                  <a:gd name="T96" fmla="*/ 1 w 589"/>
                  <a:gd name="T97" fmla="*/ 1 h 736"/>
                  <a:gd name="T98" fmla="*/ 1 w 589"/>
                  <a:gd name="T99" fmla="*/ 1 h 7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589"/>
                  <a:gd name="T151" fmla="*/ 0 h 736"/>
                  <a:gd name="T152" fmla="*/ 589 w 589"/>
                  <a:gd name="T153" fmla="*/ 736 h 7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589" h="736">
                    <a:moveTo>
                      <a:pt x="311" y="21"/>
                    </a:moveTo>
                    <a:lnTo>
                      <a:pt x="541" y="79"/>
                    </a:lnTo>
                    <a:lnTo>
                      <a:pt x="543" y="81"/>
                    </a:lnTo>
                    <a:lnTo>
                      <a:pt x="551" y="82"/>
                    </a:lnTo>
                    <a:lnTo>
                      <a:pt x="558" y="88"/>
                    </a:lnTo>
                    <a:lnTo>
                      <a:pt x="568" y="98"/>
                    </a:lnTo>
                    <a:lnTo>
                      <a:pt x="577" y="109"/>
                    </a:lnTo>
                    <a:lnTo>
                      <a:pt x="585" y="123"/>
                    </a:lnTo>
                    <a:lnTo>
                      <a:pt x="589" y="140"/>
                    </a:lnTo>
                    <a:lnTo>
                      <a:pt x="587" y="159"/>
                    </a:lnTo>
                    <a:lnTo>
                      <a:pt x="583" y="175"/>
                    </a:lnTo>
                    <a:lnTo>
                      <a:pt x="579" y="202"/>
                    </a:lnTo>
                    <a:lnTo>
                      <a:pt x="572" y="234"/>
                    </a:lnTo>
                    <a:lnTo>
                      <a:pt x="564" y="275"/>
                    </a:lnTo>
                    <a:lnTo>
                      <a:pt x="554" y="319"/>
                    </a:lnTo>
                    <a:lnTo>
                      <a:pt x="545" y="369"/>
                    </a:lnTo>
                    <a:lnTo>
                      <a:pt x="526" y="471"/>
                    </a:lnTo>
                    <a:lnTo>
                      <a:pt x="505" y="568"/>
                    </a:lnTo>
                    <a:lnTo>
                      <a:pt x="497" y="615"/>
                    </a:lnTo>
                    <a:lnTo>
                      <a:pt x="489" y="653"/>
                    </a:lnTo>
                    <a:lnTo>
                      <a:pt x="482" y="688"/>
                    </a:lnTo>
                    <a:lnTo>
                      <a:pt x="476" y="713"/>
                    </a:lnTo>
                    <a:lnTo>
                      <a:pt x="474" y="730"/>
                    </a:lnTo>
                    <a:lnTo>
                      <a:pt x="472" y="734"/>
                    </a:lnTo>
                    <a:lnTo>
                      <a:pt x="472" y="736"/>
                    </a:lnTo>
                    <a:lnTo>
                      <a:pt x="92" y="726"/>
                    </a:lnTo>
                    <a:lnTo>
                      <a:pt x="104" y="599"/>
                    </a:lnTo>
                    <a:lnTo>
                      <a:pt x="0" y="401"/>
                    </a:lnTo>
                    <a:lnTo>
                      <a:pt x="0" y="394"/>
                    </a:lnTo>
                    <a:lnTo>
                      <a:pt x="2" y="374"/>
                    </a:lnTo>
                    <a:lnTo>
                      <a:pt x="4" y="348"/>
                    </a:lnTo>
                    <a:lnTo>
                      <a:pt x="8" y="313"/>
                    </a:lnTo>
                    <a:lnTo>
                      <a:pt x="15" y="240"/>
                    </a:lnTo>
                    <a:lnTo>
                      <a:pt x="19" y="209"/>
                    </a:lnTo>
                    <a:lnTo>
                      <a:pt x="23" y="182"/>
                    </a:lnTo>
                    <a:lnTo>
                      <a:pt x="31" y="134"/>
                    </a:lnTo>
                    <a:lnTo>
                      <a:pt x="42" y="84"/>
                    </a:lnTo>
                    <a:lnTo>
                      <a:pt x="50" y="59"/>
                    </a:lnTo>
                    <a:lnTo>
                      <a:pt x="63" y="38"/>
                    </a:lnTo>
                    <a:lnTo>
                      <a:pt x="81" y="21"/>
                    </a:lnTo>
                    <a:lnTo>
                      <a:pt x="104" y="10"/>
                    </a:lnTo>
                    <a:lnTo>
                      <a:pt x="128" y="4"/>
                    </a:lnTo>
                    <a:lnTo>
                      <a:pt x="153" y="0"/>
                    </a:lnTo>
                    <a:lnTo>
                      <a:pt x="175" y="0"/>
                    </a:lnTo>
                    <a:lnTo>
                      <a:pt x="194" y="2"/>
                    </a:lnTo>
                    <a:lnTo>
                      <a:pt x="209" y="4"/>
                    </a:lnTo>
                    <a:lnTo>
                      <a:pt x="221" y="6"/>
                    </a:lnTo>
                    <a:lnTo>
                      <a:pt x="228" y="10"/>
                    </a:lnTo>
                    <a:lnTo>
                      <a:pt x="230" y="10"/>
                    </a:lnTo>
                    <a:lnTo>
                      <a:pt x="311" y="21"/>
                    </a:lnTo>
                    <a:close/>
                  </a:path>
                </a:pathLst>
              </a:custGeom>
              <a:solidFill>
                <a:srgbClr val="B34000"/>
              </a:solidFill>
              <a:ln w="9525">
                <a:noFill/>
                <a:round/>
                <a:headEnd/>
                <a:tailEnd/>
              </a:ln>
            </p:spPr>
            <p:txBody>
              <a:bodyPr/>
              <a:lstStyle/>
              <a:p>
                <a:endParaRPr lang="en-US"/>
              </a:p>
            </p:txBody>
          </p:sp>
          <p:sp>
            <p:nvSpPr>
              <p:cNvPr id="1091" name="Freeform 57"/>
              <p:cNvSpPr>
                <a:spLocks/>
              </p:cNvSpPr>
              <p:nvPr/>
            </p:nvSpPr>
            <p:spPr bwMode="auto">
              <a:xfrm>
                <a:off x="5111" y="3227"/>
                <a:ext cx="59" cy="128"/>
              </a:xfrm>
              <a:custGeom>
                <a:avLst/>
                <a:gdLst>
                  <a:gd name="T0" fmla="*/ 0 w 119"/>
                  <a:gd name="T1" fmla="*/ 0 h 258"/>
                  <a:gd name="T2" fmla="*/ 0 w 119"/>
                  <a:gd name="T3" fmla="*/ 0 h 258"/>
                  <a:gd name="T4" fmla="*/ 0 w 119"/>
                  <a:gd name="T5" fmla="*/ 0 h 258"/>
                  <a:gd name="T6" fmla="*/ 0 w 119"/>
                  <a:gd name="T7" fmla="*/ 0 h 258"/>
                  <a:gd name="T8" fmla="*/ 0 w 119"/>
                  <a:gd name="T9" fmla="*/ 0 h 258"/>
                  <a:gd name="T10" fmla="*/ 0 w 119"/>
                  <a:gd name="T11" fmla="*/ 0 h 258"/>
                  <a:gd name="T12" fmla="*/ 0 w 119"/>
                  <a:gd name="T13" fmla="*/ 0 h 258"/>
                  <a:gd name="T14" fmla="*/ 0 w 119"/>
                  <a:gd name="T15" fmla="*/ 0 h 258"/>
                  <a:gd name="T16" fmla="*/ 0 w 119"/>
                  <a:gd name="T17" fmla="*/ 0 h 258"/>
                  <a:gd name="T18" fmla="*/ 0 w 119"/>
                  <a:gd name="T19" fmla="*/ 0 h 258"/>
                  <a:gd name="T20" fmla="*/ 0 w 119"/>
                  <a:gd name="T21" fmla="*/ 0 h 25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19"/>
                  <a:gd name="T34" fmla="*/ 0 h 258"/>
                  <a:gd name="T35" fmla="*/ 119 w 119"/>
                  <a:gd name="T36" fmla="*/ 258 h 25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19" h="258">
                    <a:moveTo>
                      <a:pt x="0" y="20"/>
                    </a:moveTo>
                    <a:lnTo>
                      <a:pt x="34" y="0"/>
                    </a:lnTo>
                    <a:lnTo>
                      <a:pt x="119" y="258"/>
                    </a:lnTo>
                    <a:lnTo>
                      <a:pt x="115" y="254"/>
                    </a:lnTo>
                    <a:lnTo>
                      <a:pt x="105" y="244"/>
                    </a:lnTo>
                    <a:lnTo>
                      <a:pt x="92" y="227"/>
                    </a:lnTo>
                    <a:lnTo>
                      <a:pt x="74" y="206"/>
                    </a:lnTo>
                    <a:lnTo>
                      <a:pt x="40" y="154"/>
                    </a:lnTo>
                    <a:lnTo>
                      <a:pt x="25" y="125"/>
                    </a:lnTo>
                    <a:lnTo>
                      <a:pt x="15" y="96"/>
                    </a:lnTo>
                    <a:lnTo>
                      <a:pt x="0" y="20"/>
                    </a:lnTo>
                    <a:close/>
                  </a:path>
                </a:pathLst>
              </a:custGeom>
              <a:solidFill>
                <a:srgbClr val="590D00"/>
              </a:solidFill>
              <a:ln w="9525">
                <a:noFill/>
                <a:round/>
                <a:headEnd/>
                <a:tailEnd/>
              </a:ln>
            </p:spPr>
            <p:txBody>
              <a:bodyPr/>
              <a:lstStyle/>
              <a:p>
                <a:endParaRPr lang="en-US"/>
              </a:p>
            </p:txBody>
          </p:sp>
          <p:sp>
            <p:nvSpPr>
              <p:cNvPr id="1092" name="Freeform 58"/>
              <p:cNvSpPr>
                <a:spLocks/>
              </p:cNvSpPr>
              <p:nvPr/>
            </p:nvSpPr>
            <p:spPr bwMode="auto">
              <a:xfrm>
                <a:off x="5118" y="3176"/>
                <a:ext cx="28" cy="26"/>
              </a:xfrm>
              <a:custGeom>
                <a:avLst/>
                <a:gdLst>
                  <a:gd name="T0" fmla="*/ 1 w 56"/>
                  <a:gd name="T1" fmla="*/ 0 h 52"/>
                  <a:gd name="T2" fmla="*/ 1 w 56"/>
                  <a:gd name="T3" fmla="*/ 1 h 52"/>
                  <a:gd name="T4" fmla="*/ 0 w 56"/>
                  <a:gd name="T5" fmla="*/ 1 h 52"/>
                  <a:gd name="T6" fmla="*/ 1 w 56"/>
                  <a:gd name="T7" fmla="*/ 0 h 52"/>
                  <a:gd name="T8" fmla="*/ 0 60000 65536"/>
                  <a:gd name="T9" fmla="*/ 0 60000 65536"/>
                  <a:gd name="T10" fmla="*/ 0 60000 65536"/>
                  <a:gd name="T11" fmla="*/ 0 60000 65536"/>
                  <a:gd name="T12" fmla="*/ 0 w 56"/>
                  <a:gd name="T13" fmla="*/ 0 h 52"/>
                  <a:gd name="T14" fmla="*/ 56 w 56"/>
                  <a:gd name="T15" fmla="*/ 52 h 52"/>
                </a:gdLst>
                <a:ahLst/>
                <a:cxnLst>
                  <a:cxn ang="T8">
                    <a:pos x="T0" y="T1"/>
                  </a:cxn>
                  <a:cxn ang="T9">
                    <a:pos x="T2" y="T3"/>
                  </a:cxn>
                  <a:cxn ang="T10">
                    <a:pos x="T4" y="T5"/>
                  </a:cxn>
                  <a:cxn ang="T11">
                    <a:pos x="T6" y="T7"/>
                  </a:cxn>
                </a:cxnLst>
                <a:rect l="T12" t="T13" r="T14" b="T15"/>
                <a:pathLst>
                  <a:path w="56" h="52">
                    <a:moveTo>
                      <a:pt x="13" y="0"/>
                    </a:moveTo>
                    <a:lnTo>
                      <a:pt x="56" y="52"/>
                    </a:lnTo>
                    <a:lnTo>
                      <a:pt x="0" y="45"/>
                    </a:lnTo>
                    <a:lnTo>
                      <a:pt x="13" y="0"/>
                    </a:lnTo>
                    <a:close/>
                  </a:path>
                </a:pathLst>
              </a:custGeom>
              <a:solidFill>
                <a:srgbClr val="590D00"/>
              </a:solidFill>
              <a:ln w="9525">
                <a:noFill/>
                <a:round/>
                <a:headEnd/>
                <a:tailEnd/>
              </a:ln>
            </p:spPr>
            <p:txBody>
              <a:bodyPr/>
              <a:lstStyle/>
              <a:p>
                <a:endParaRPr lang="en-US"/>
              </a:p>
            </p:txBody>
          </p:sp>
          <p:sp>
            <p:nvSpPr>
              <p:cNvPr id="1093" name="Freeform 59"/>
              <p:cNvSpPr>
                <a:spLocks/>
              </p:cNvSpPr>
              <p:nvPr/>
            </p:nvSpPr>
            <p:spPr bwMode="auto">
              <a:xfrm>
                <a:off x="5175" y="3156"/>
                <a:ext cx="102" cy="198"/>
              </a:xfrm>
              <a:custGeom>
                <a:avLst/>
                <a:gdLst>
                  <a:gd name="T0" fmla="*/ 0 w 204"/>
                  <a:gd name="T1" fmla="*/ 0 h 398"/>
                  <a:gd name="T2" fmla="*/ 1 w 204"/>
                  <a:gd name="T3" fmla="*/ 0 h 398"/>
                  <a:gd name="T4" fmla="*/ 1 w 204"/>
                  <a:gd name="T5" fmla="*/ 0 h 398"/>
                  <a:gd name="T6" fmla="*/ 1 w 204"/>
                  <a:gd name="T7" fmla="*/ 0 h 398"/>
                  <a:gd name="T8" fmla="*/ 1 w 204"/>
                  <a:gd name="T9" fmla="*/ 0 h 398"/>
                  <a:gd name="T10" fmla="*/ 1 w 204"/>
                  <a:gd name="T11" fmla="*/ 0 h 398"/>
                  <a:gd name="T12" fmla="*/ 1 w 204"/>
                  <a:gd name="T13" fmla="*/ 0 h 398"/>
                  <a:gd name="T14" fmla="*/ 1 w 204"/>
                  <a:gd name="T15" fmla="*/ 0 h 398"/>
                  <a:gd name="T16" fmla="*/ 1 w 204"/>
                  <a:gd name="T17" fmla="*/ 0 h 398"/>
                  <a:gd name="T18" fmla="*/ 1 w 204"/>
                  <a:gd name="T19" fmla="*/ 0 h 398"/>
                  <a:gd name="T20" fmla="*/ 1 w 204"/>
                  <a:gd name="T21" fmla="*/ 0 h 398"/>
                  <a:gd name="T22" fmla="*/ 1 w 204"/>
                  <a:gd name="T23" fmla="*/ 0 h 398"/>
                  <a:gd name="T24" fmla="*/ 1 w 204"/>
                  <a:gd name="T25" fmla="*/ 0 h 398"/>
                  <a:gd name="T26" fmla="*/ 1 w 204"/>
                  <a:gd name="T27" fmla="*/ 0 h 398"/>
                  <a:gd name="T28" fmla="*/ 1 w 204"/>
                  <a:gd name="T29" fmla="*/ 0 h 398"/>
                  <a:gd name="T30" fmla="*/ 1 w 204"/>
                  <a:gd name="T31" fmla="*/ 0 h 398"/>
                  <a:gd name="T32" fmla="*/ 1 w 204"/>
                  <a:gd name="T33" fmla="*/ 0 h 398"/>
                  <a:gd name="T34" fmla="*/ 1 w 204"/>
                  <a:gd name="T35" fmla="*/ 0 h 398"/>
                  <a:gd name="T36" fmla="*/ 0 w 204"/>
                  <a:gd name="T37" fmla="*/ 0 h 39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04"/>
                  <a:gd name="T58" fmla="*/ 0 h 398"/>
                  <a:gd name="T59" fmla="*/ 204 w 204"/>
                  <a:gd name="T60" fmla="*/ 398 h 39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04" h="398">
                    <a:moveTo>
                      <a:pt x="0" y="398"/>
                    </a:moveTo>
                    <a:lnTo>
                      <a:pt x="2" y="396"/>
                    </a:lnTo>
                    <a:lnTo>
                      <a:pt x="8" y="394"/>
                    </a:lnTo>
                    <a:lnTo>
                      <a:pt x="17" y="386"/>
                    </a:lnTo>
                    <a:lnTo>
                      <a:pt x="31" y="379"/>
                    </a:lnTo>
                    <a:lnTo>
                      <a:pt x="44" y="367"/>
                    </a:lnTo>
                    <a:lnTo>
                      <a:pt x="60" y="352"/>
                    </a:lnTo>
                    <a:lnTo>
                      <a:pt x="77" y="332"/>
                    </a:lnTo>
                    <a:lnTo>
                      <a:pt x="94" y="311"/>
                    </a:lnTo>
                    <a:lnTo>
                      <a:pt x="125" y="259"/>
                    </a:lnTo>
                    <a:lnTo>
                      <a:pt x="152" y="208"/>
                    </a:lnTo>
                    <a:lnTo>
                      <a:pt x="161" y="183"/>
                    </a:lnTo>
                    <a:lnTo>
                      <a:pt x="171" y="165"/>
                    </a:lnTo>
                    <a:lnTo>
                      <a:pt x="175" y="152"/>
                    </a:lnTo>
                    <a:lnTo>
                      <a:pt x="177" y="148"/>
                    </a:lnTo>
                    <a:lnTo>
                      <a:pt x="167" y="98"/>
                    </a:lnTo>
                    <a:lnTo>
                      <a:pt x="204" y="60"/>
                    </a:lnTo>
                    <a:lnTo>
                      <a:pt x="157" y="0"/>
                    </a:lnTo>
                    <a:lnTo>
                      <a:pt x="0" y="398"/>
                    </a:lnTo>
                    <a:close/>
                  </a:path>
                </a:pathLst>
              </a:custGeom>
              <a:solidFill>
                <a:srgbClr val="590D00"/>
              </a:solidFill>
              <a:ln w="9525">
                <a:noFill/>
                <a:round/>
                <a:headEnd/>
                <a:tailEnd/>
              </a:ln>
            </p:spPr>
            <p:txBody>
              <a:bodyPr/>
              <a:lstStyle/>
              <a:p>
                <a:endParaRPr lang="en-US"/>
              </a:p>
            </p:txBody>
          </p:sp>
          <p:sp>
            <p:nvSpPr>
              <p:cNvPr id="1094" name="Freeform 60"/>
              <p:cNvSpPr>
                <a:spLocks/>
              </p:cNvSpPr>
              <p:nvPr/>
            </p:nvSpPr>
            <p:spPr bwMode="auto">
              <a:xfrm>
                <a:off x="4707" y="3542"/>
                <a:ext cx="822" cy="111"/>
              </a:xfrm>
              <a:custGeom>
                <a:avLst/>
                <a:gdLst>
                  <a:gd name="T0" fmla="*/ 1 w 1644"/>
                  <a:gd name="T1" fmla="*/ 0 h 223"/>
                  <a:gd name="T2" fmla="*/ 0 w 1644"/>
                  <a:gd name="T3" fmla="*/ 0 h 223"/>
                  <a:gd name="T4" fmla="*/ 1 w 1644"/>
                  <a:gd name="T5" fmla="*/ 0 h 223"/>
                  <a:gd name="T6" fmla="*/ 1 w 1644"/>
                  <a:gd name="T7" fmla="*/ 0 h 223"/>
                  <a:gd name="T8" fmla="*/ 1 w 1644"/>
                  <a:gd name="T9" fmla="*/ 0 h 223"/>
                  <a:gd name="T10" fmla="*/ 1 w 1644"/>
                  <a:gd name="T11" fmla="*/ 0 h 223"/>
                  <a:gd name="T12" fmla="*/ 0 60000 65536"/>
                  <a:gd name="T13" fmla="*/ 0 60000 65536"/>
                  <a:gd name="T14" fmla="*/ 0 60000 65536"/>
                  <a:gd name="T15" fmla="*/ 0 60000 65536"/>
                  <a:gd name="T16" fmla="*/ 0 60000 65536"/>
                  <a:gd name="T17" fmla="*/ 0 60000 65536"/>
                  <a:gd name="T18" fmla="*/ 0 w 1644"/>
                  <a:gd name="T19" fmla="*/ 0 h 223"/>
                  <a:gd name="T20" fmla="*/ 1644 w 1644"/>
                  <a:gd name="T21" fmla="*/ 223 h 223"/>
                </a:gdLst>
                <a:ahLst/>
                <a:cxnLst>
                  <a:cxn ang="T12">
                    <a:pos x="T0" y="T1"/>
                  </a:cxn>
                  <a:cxn ang="T13">
                    <a:pos x="T2" y="T3"/>
                  </a:cxn>
                  <a:cxn ang="T14">
                    <a:pos x="T4" y="T5"/>
                  </a:cxn>
                  <a:cxn ang="T15">
                    <a:pos x="T6" y="T7"/>
                  </a:cxn>
                  <a:cxn ang="T16">
                    <a:pos x="T8" y="T9"/>
                  </a:cxn>
                  <a:cxn ang="T17">
                    <a:pos x="T10" y="T11"/>
                  </a:cxn>
                </a:cxnLst>
                <a:rect l="T18" t="T19" r="T20" b="T21"/>
                <a:pathLst>
                  <a:path w="1644" h="223">
                    <a:moveTo>
                      <a:pt x="42" y="0"/>
                    </a:moveTo>
                    <a:lnTo>
                      <a:pt x="0" y="23"/>
                    </a:lnTo>
                    <a:lnTo>
                      <a:pt x="2" y="58"/>
                    </a:lnTo>
                    <a:lnTo>
                      <a:pt x="1644" y="223"/>
                    </a:lnTo>
                    <a:lnTo>
                      <a:pt x="1640" y="146"/>
                    </a:lnTo>
                    <a:lnTo>
                      <a:pt x="42" y="0"/>
                    </a:lnTo>
                    <a:close/>
                  </a:path>
                </a:pathLst>
              </a:custGeom>
              <a:solidFill>
                <a:srgbClr val="BF591A"/>
              </a:solidFill>
              <a:ln w="9525">
                <a:noFill/>
                <a:round/>
                <a:headEnd/>
                <a:tailEnd/>
              </a:ln>
            </p:spPr>
            <p:txBody>
              <a:bodyPr/>
              <a:lstStyle/>
              <a:p>
                <a:endParaRPr lang="en-US"/>
              </a:p>
            </p:txBody>
          </p:sp>
          <p:sp>
            <p:nvSpPr>
              <p:cNvPr id="1095" name="Freeform 61"/>
              <p:cNvSpPr>
                <a:spLocks/>
              </p:cNvSpPr>
              <p:nvPr/>
            </p:nvSpPr>
            <p:spPr bwMode="auto">
              <a:xfrm>
                <a:off x="4704" y="3453"/>
                <a:ext cx="825" cy="184"/>
              </a:xfrm>
              <a:custGeom>
                <a:avLst/>
                <a:gdLst>
                  <a:gd name="T0" fmla="*/ 1 w 1650"/>
                  <a:gd name="T1" fmla="*/ 1 h 367"/>
                  <a:gd name="T2" fmla="*/ 1 w 1650"/>
                  <a:gd name="T3" fmla="*/ 0 h 367"/>
                  <a:gd name="T4" fmla="*/ 0 w 1650"/>
                  <a:gd name="T5" fmla="*/ 1 h 367"/>
                  <a:gd name="T6" fmla="*/ 1 w 1650"/>
                  <a:gd name="T7" fmla="*/ 1 h 367"/>
                  <a:gd name="T8" fmla="*/ 1 w 1650"/>
                  <a:gd name="T9" fmla="*/ 1 h 367"/>
                  <a:gd name="T10" fmla="*/ 0 60000 65536"/>
                  <a:gd name="T11" fmla="*/ 0 60000 65536"/>
                  <a:gd name="T12" fmla="*/ 0 60000 65536"/>
                  <a:gd name="T13" fmla="*/ 0 60000 65536"/>
                  <a:gd name="T14" fmla="*/ 0 60000 65536"/>
                  <a:gd name="T15" fmla="*/ 0 w 1650"/>
                  <a:gd name="T16" fmla="*/ 0 h 367"/>
                  <a:gd name="T17" fmla="*/ 1650 w 1650"/>
                  <a:gd name="T18" fmla="*/ 367 h 367"/>
                </a:gdLst>
                <a:ahLst/>
                <a:cxnLst>
                  <a:cxn ang="T10">
                    <a:pos x="T0" y="T1"/>
                  </a:cxn>
                  <a:cxn ang="T11">
                    <a:pos x="T2" y="T3"/>
                  </a:cxn>
                  <a:cxn ang="T12">
                    <a:pos x="T4" y="T5"/>
                  </a:cxn>
                  <a:cxn ang="T13">
                    <a:pos x="T6" y="T7"/>
                  </a:cxn>
                  <a:cxn ang="T14">
                    <a:pos x="T8" y="T9"/>
                  </a:cxn>
                </a:cxnLst>
                <a:rect l="T15" t="T16" r="T17" b="T18"/>
                <a:pathLst>
                  <a:path w="1650" h="367">
                    <a:moveTo>
                      <a:pt x="1650" y="138"/>
                    </a:moveTo>
                    <a:lnTo>
                      <a:pt x="368" y="0"/>
                    </a:lnTo>
                    <a:lnTo>
                      <a:pt x="0" y="201"/>
                    </a:lnTo>
                    <a:lnTo>
                      <a:pt x="1646" y="367"/>
                    </a:lnTo>
                    <a:lnTo>
                      <a:pt x="1650" y="138"/>
                    </a:lnTo>
                    <a:close/>
                  </a:path>
                </a:pathLst>
              </a:custGeom>
              <a:solidFill>
                <a:srgbClr val="DEAB78"/>
              </a:solidFill>
              <a:ln w="9525">
                <a:noFill/>
                <a:round/>
                <a:headEnd/>
                <a:tailEnd/>
              </a:ln>
            </p:spPr>
            <p:txBody>
              <a:bodyPr/>
              <a:lstStyle/>
              <a:p>
                <a:endParaRPr lang="en-US"/>
              </a:p>
            </p:txBody>
          </p:sp>
          <p:sp>
            <p:nvSpPr>
              <p:cNvPr id="1096" name="Freeform 62"/>
              <p:cNvSpPr>
                <a:spLocks/>
              </p:cNvSpPr>
              <p:nvPr/>
            </p:nvSpPr>
            <p:spPr bwMode="auto">
              <a:xfrm>
                <a:off x="5140" y="3145"/>
                <a:ext cx="92" cy="189"/>
              </a:xfrm>
              <a:custGeom>
                <a:avLst/>
                <a:gdLst>
                  <a:gd name="T0" fmla="*/ 1 w 184"/>
                  <a:gd name="T1" fmla="*/ 1 h 378"/>
                  <a:gd name="T2" fmla="*/ 1 w 184"/>
                  <a:gd name="T3" fmla="*/ 1 h 378"/>
                  <a:gd name="T4" fmla="*/ 1 w 184"/>
                  <a:gd name="T5" fmla="*/ 1 h 378"/>
                  <a:gd name="T6" fmla="*/ 1 w 184"/>
                  <a:gd name="T7" fmla="*/ 1 h 378"/>
                  <a:gd name="T8" fmla="*/ 1 w 184"/>
                  <a:gd name="T9" fmla="*/ 1 h 378"/>
                  <a:gd name="T10" fmla="*/ 1 w 184"/>
                  <a:gd name="T11" fmla="*/ 1 h 378"/>
                  <a:gd name="T12" fmla="*/ 1 w 184"/>
                  <a:gd name="T13" fmla="*/ 1 h 378"/>
                  <a:gd name="T14" fmla="*/ 1 w 184"/>
                  <a:gd name="T15" fmla="*/ 1 h 378"/>
                  <a:gd name="T16" fmla="*/ 1 w 184"/>
                  <a:gd name="T17" fmla="*/ 1 h 378"/>
                  <a:gd name="T18" fmla="*/ 1 w 184"/>
                  <a:gd name="T19" fmla="*/ 1 h 378"/>
                  <a:gd name="T20" fmla="*/ 1 w 184"/>
                  <a:gd name="T21" fmla="*/ 1 h 378"/>
                  <a:gd name="T22" fmla="*/ 1 w 184"/>
                  <a:gd name="T23" fmla="*/ 1 h 378"/>
                  <a:gd name="T24" fmla="*/ 1 w 184"/>
                  <a:gd name="T25" fmla="*/ 1 h 378"/>
                  <a:gd name="T26" fmla="*/ 1 w 184"/>
                  <a:gd name="T27" fmla="*/ 1 h 378"/>
                  <a:gd name="T28" fmla="*/ 1 w 184"/>
                  <a:gd name="T29" fmla="*/ 1 h 378"/>
                  <a:gd name="T30" fmla="*/ 1 w 184"/>
                  <a:gd name="T31" fmla="*/ 1 h 378"/>
                  <a:gd name="T32" fmla="*/ 1 w 184"/>
                  <a:gd name="T33" fmla="*/ 1 h 378"/>
                  <a:gd name="T34" fmla="*/ 1 w 184"/>
                  <a:gd name="T35" fmla="*/ 1 h 378"/>
                  <a:gd name="T36" fmla="*/ 1 w 184"/>
                  <a:gd name="T37" fmla="*/ 1 h 378"/>
                  <a:gd name="T38" fmla="*/ 1 w 184"/>
                  <a:gd name="T39" fmla="*/ 1 h 378"/>
                  <a:gd name="T40" fmla="*/ 1 w 184"/>
                  <a:gd name="T41" fmla="*/ 1 h 378"/>
                  <a:gd name="T42" fmla="*/ 1 w 184"/>
                  <a:gd name="T43" fmla="*/ 1 h 378"/>
                  <a:gd name="T44" fmla="*/ 1 w 184"/>
                  <a:gd name="T45" fmla="*/ 1 h 378"/>
                  <a:gd name="T46" fmla="*/ 0 w 184"/>
                  <a:gd name="T47" fmla="*/ 1 h 378"/>
                  <a:gd name="T48" fmla="*/ 0 w 184"/>
                  <a:gd name="T49" fmla="*/ 1 h 378"/>
                  <a:gd name="T50" fmla="*/ 1 w 184"/>
                  <a:gd name="T51" fmla="*/ 0 h 378"/>
                  <a:gd name="T52" fmla="*/ 1 w 184"/>
                  <a:gd name="T53" fmla="*/ 1 h 378"/>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84"/>
                  <a:gd name="T82" fmla="*/ 0 h 378"/>
                  <a:gd name="T83" fmla="*/ 184 w 184"/>
                  <a:gd name="T84" fmla="*/ 378 h 378"/>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84" h="378">
                    <a:moveTo>
                      <a:pt x="184" y="23"/>
                    </a:moveTo>
                    <a:lnTo>
                      <a:pt x="184" y="25"/>
                    </a:lnTo>
                    <a:lnTo>
                      <a:pt x="182" y="33"/>
                    </a:lnTo>
                    <a:lnTo>
                      <a:pt x="182" y="44"/>
                    </a:lnTo>
                    <a:lnTo>
                      <a:pt x="180" y="61"/>
                    </a:lnTo>
                    <a:lnTo>
                      <a:pt x="177" y="81"/>
                    </a:lnTo>
                    <a:lnTo>
                      <a:pt x="173" y="102"/>
                    </a:lnTo>
                    <a:lnTo>
                      <a:pt x="165" y="152"/>
                    </a:lnTo>
                    <a:lnTo>
                      <a:pt x="152" y="206"/>
                    </a:lnTo>
                    <a:lnTo>
                      <a:pt x="136" y="261"/>
                    </a:lnTo>
                    <a:lnTo>
                      <a:pt x="115" y="315"/>
                    </a:lnTo>
                    <a:lnTo>
                      <a:pt x="92" y="359"/>
                    </a:lnTo>
                    <a:lnTo>
                      <a:pt x="81" y="373"/>
                    </a:lnTo>
                    <a:lnTo>
                      <a:pt x="69" y="378"/>
                    </a:lnTo>
                    <a:lnTo>
                      <a:pt x="58" y="377"/>
                    </a:lnTo>
                    <a:lnTo>
                      <a:pt x="48" y="367"/>
                    </a:lnTo>
                    <a:lnTo>
                      <a:pt x="40" y="353"/>
                    </a:lnTo>
                    <a:lnTo>
                      <a:pt x="33" y="334"/>
                    </a:lnTo>
                    <a:lnTo>
                      <a:pt x="21" y="286"/>
                    </a:lnTo>
                    <a:lnTo>
                      <a:pt x="12" y="234"/>
                    </a:lnTo>
                    <a:lnTo>
                      <a:pt x="4" y="186"/>
                    </a:lnTo>
                    <a:lnTo>
                      <a:pt x="2" y="167"/>
                    </a:lnTo>
                    <a:lnTo>
                      <a:pt x="2" y="152"/>
                    </a:lnTo>
                    <a:lnTo>
                      <a:pt x="0" y="142"/>
                    </a:lnTo>
                    <a:lnTo>
                      <a:pt x="0" y="138"/>
                    </a:lnTo>
                    <a:lnTo>
                      <a:pt x="35" y="0"/>
                    </a:lnTo>
                    <a:lnTo>
                      <a:pt x="184" y="23"/>
                    </a:lnTo>
                    <a:close/>
                  </a:path>
                </a:pathLst>
              </a:custGeom>
              <a:solidFill>
                <a:srgbClr val="FFD9F2"/>
              </a:solidFill>
              <a:ln w="9525">
                <a:noFill/>
                <a:round/>
                <a:headEnd/>
                <a:tailEnd/>
              </a:ln>
            </p:spPr>
            <p:txBody>
              <a:bodyPr/>
              <a:lstStyle/>
              <a:p>
                <a:endParaRPr lang="en-US"/>
              </a:p>
            </p:txBody>
          </p:sp>
          <p:sp>
            <p:nvSpPr>
              <p:cNvPr id="1097" name="Freeform 63"/>
              <p:cNvSpPr>
                <a:spLocks/>
              </p:cNvSpPr>
              <p:nvPr/>
            </p:nvSpPr>
            <p:spPr bwMode="auto">
              <a:xfrm>
                <a:off x="5163" y="3203"/>
                <a:ext cx="40" cy="115"/>
              </a:xfrm>
              <a:custGeom>
                <a:avLst/>
                <a:gdLst>
                  <a:gd name="T0" fmla="*/ 0 w 81"/>
                  <a:gd name="T1" fmla="*/ 0 h 231"/>
                  <a:gd name="T2" fmla="*/ 0 w 81"/>
                  <a:gd name="T3" fmla="*/ 0 h 231"/>
                  <a:gd name="T4" fmla="*/ 0 w 81"/>
                  <a:gd name="T5" fmla="*/ 0 h 231"/>
                  <a:gd name="T6" fmla="*/ 0 w 81"/>
                  <a:gd name="T7" fmla="*/ 0 h 231"/>
                  <a:gd name="T8" fmla="*/ 0 w 81"/>
                  <a:gd name="T9" fmla="*/ 0 h 231"/>
                  <a:gd name="T10" fmla="*/ 0 w 81"/>
                  <a:gd name="T11" fmla="*/ 0 h 231"/>
                  <a:gd name="T12" fmla="*/ 0 w 81"/>
                  <a:gd name="T13" fmla="*/ 0 h 231"/>
                  <a:gd name="T14" fmla="*/ 0 w 81"/>
                  <a:gd name="T15" fmla="*/ 0 h 231"/>
                  <a:gd name="T16" fmla="*/ 0 60000 65536"/>
                  <a:gd name="T17" fmla="*/ 0 60000 65536"/>
                  <a:gd name="T18" fmla="*/ 0 60000 65536"/>
                  <a:gd name="T19" fmla="*/ 0 60000 65536"/>
                  <a:gd name="T20" fmla="*/ 0 60000 65536"/>
                  <a:gd name="T21" fmla="*/ 0 60000 65536"/>
                  <a:gd name="T22" fmla="*/ 0 60000 65536"/>
                  <a:gd name="T23" fmla="*/ 0 60000 65536"/>
                  <a:gd name="T24" fmla="*/ 0 w 81"/>
                  <a:gd name="T25" fmla="*/ 0 h 231"/>
                  <a:gd name="T26" fmla="*/ 81 w 81"/>
                  <a:gd name="T27" fmla="*/ 231 h 23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81" h="231">
                    <a:moveTo>
                      <a:pt x="35" y="0"/>
                    </a:moveTo>
                    <a:lnTo>
                      <a:pt x="35" y="58"/>
                    </a:lnTo>
                    <a:lnTo>
                      <a:pt x="0" y="139"/>
                    </a:lnTo>
                    <a:lnTo>
                      <a:pt x="12" y="231"/>
                    </a:lnTo>
                    <a:lnTo>
                      <a:pt x="58" y="173"/>
                    </a:lnTo>
                    <a:lnTo>
                      <a:pt x="58" y="58"/>
                    </a:lnTo>
                    <a:lnTo>
                      <a:pt x="81" y="0"/>
                    </a:lnTo>
                    <a:lnTo>
                      <a:pt x="35" y="0"/>
                    </a:lnTo>
                    <a:close/>
                  </a:path>
                </a:pathLst>
              </a:custGeom>
              <a:solidFill>
                <a:srgbClr val="E6261A"/>
              </a:solidFill>
              <a:ln w="9525">
                <a:noFill/>
                <a:round/>
                <a:headEnd/>
                <a:tailEnd/>
              </a:ln>
            </p:spPr>
            <p:txBody>
              <a:bodyPr/>
              <a:lstStyle/>
              <a:p>
                <a:endParaRPr lang="en-US"/>
              </a:p>
            </p:txBody>
          </p:sp>
          <p:sp>
            <p:nvSpPr>
              <p:cNvPr id="1098" name="Freeform 64"/>
              <p:cNvSpPr>
                <a:spLocks/>
              </p:cNvSpPr>
              <p:nvPr/>
            </p:nvSpPr>
            <p:spPr bwMode="auto">
              <a:xfrm>
                <a:off x="5168" y="3133"/>
                <a:ext cx="95" cy="231"/>
              </a:xfrm>
              <a:custGeom>
                <a:avLst/>
                <a:gdLst>
                  <a:gd name="T0" fmla="*/ 1 w 190"/>
                  <a:gd name="T1" fmla="*/ 1 h 461"/>
                  <a:gd name="T2" fmla="*/ 1 w 190"/>
                  <a:gd name="T3" fmla="*/ 1 h 461"/>
                  <a:gd name="T4" fmla="*/ 0 w 190"/>
                  <a:gd name="T5" fmla="*/ 1 h 461"/>
                  <a:gd name="T6" fmla="*/ 1 w 190"/>
                  <a:gd name="T7" fmla="*/ 1 h 461"/>
                  <a:gd name="T8" fmla="*/ 1 w 190"/>
                  <a:gd name="T9" fmla="*/ 1 h 461"/>
                  <a:gd name="T10" fmla="*/ 1 w 190"/>
                  <a:gd name="T11" fmla="*/ 1 h 461"/>
                  <a:gd name="T12" fmla="*/ 1 w 190"/>
                  <a:gd name="T13" fmla="*/ 1 h 461"/>
                  <a:gd name="T14" fmla="*/ 1 w 190"/>
                  <a:gd name="T15" fmla="*/ 1 h 461"/>
                  <a:gd name="T16" fmla="*/ 1 w 190"/>
                  <a:gd name="T17" fmla="*/ 1 h 461"/>
                  <a:gd name="T18" fmla="*/ 1 w 190"/>
                  <a:gd name="T19" fmla="*/ 1 h 461"/>
                  <a:gd name="T20" fmla="*/ 1 w 190"/>
                  <a:gd name="T21" fmla="*/ 1 h 461"/>
                  <a:gd name="T22" fmla="*/ 1 w 190"/>
                  <a:gd name="T23" fmla="*/ 1 h 461"/>
                  <a:gd name="T24" fmla="*/ 1 w 190"/>
                  <a:gd name="T25" fmla="*/ 1 h 461"/>
                  <a:gd name="T26" fmla="*/ 1 w 190"/>
                  <a:gd name="T27" fmla="*/ 1 h 461"/>
                  <a:gd name="T28" fmla="*/ 1 w 190"/>
                  <a:gd name="T29" fmla="*/ 1 h 461"/>
                  <a:gd name="T30" fmla="*/ 1 w 190"/>
                  <a:gd name="T31" fmla="*/ 1 h 461"/>
                  <a:gd name="T32" fmla="*/ 1 w 190"/>
                  <a:gd name="T33" fmla="*/ 1 h 461"/>
                  <a:gd name="T34" fmla="*/ 1 w 190"/>
                  <a:gd name="T35" fmla="*/ 1 h 461"/>
                  <a:gd name="T36" fmla="*/ 1 w 190"/>
                  <a:gd name="T37" fmla="*/ 1 h 461"/>
                  <a:gd name="T38" fmla="*/ 1 w 190"/>
                  <a:gd name="T39" fmla="*/ 1 h 461"/>
                  <a:gd name="T40" fmla="*/ 1 w 190"/>
                  <a:gd name="T41" fmla="*/ 1 h 461"/>
                  <a:gd name="T42" fmla="*/ 1 w 190"/>
                  <a:gd name="T43" fmla="*/ 1 h 461"/>
                  <a:gd name="T44" fmla="*/ 1 w 190"/>
                  <a:gd name="T45" fmla="*/ 1 h 461"/>
                  <a:gd name="T46" fmla="*/ 1 w 190"/>
                  <a:gd name="T47" fmla="*/ 1 h 461"/>
                  <a:gd name="T48" fmla="*/ 1 w 190"/>
                  <a:gd name="T49" fmla="*/ 0 h 461"/>
                  <a:gd name="T50" fmla="*/ 1 w 190"/>
                  <a:gd name="T51" fmla="*/ 1 h 461"/>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90"/>
                  <a:gd name="T79" fmla="*/ 0 h 461"/>
                  <a:gd name="T80" fmla="*/ 190 w 190"/>
                  <a:gd name="T81" fmla="*/ 461 h 461"/>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90" h="461">
                    <a:moveTo>
                      <a:pt x="126" y="35"/>
                    </a:moveTo>
                    <a:lnTo>
                      <a:pt x="11" y="334"/>
                    </a:lnTo>
                    <a:lnTo>
                      <a:pt x="0" y="461"/>
                    </a:lnTo>
                    <a:lnTo>
                      <a:pt x="4" y="457"/>
                    </a:lnTo>
                    <a:lnTo>
                      <a:pt x="11" y="448"/>
                    </a:lnTo>
                    <a:lnTo>
                      <a:pt x="23" y="432"/>
                    </a:lnTo>
                    <a:lnTo>
                      <a:pt x="38" y="413"/>
                    </a:lnTo>
                    <a:lnTo>
                      <a:pt x="73" y="369"/>
                    </a:lnTo>
                    <a:lnTo>
                      <a:pt x="103" y="323"/>
                    </a:lnTo>
                    <a:lnTo>
                      <a:pt x="128" y="277"/>
                    </a:lnTo>
                    <a:lnTo>
                      <a:pt x="151" y="232"/>
                    </a:lnTo>
                    <a:lnTo>
                      <a:pt x="159" y="213"/>
                    </a:lnTo>
                    <a:lnTo>
                      <a:pt x="167" y="198"/>
                    </a:lnTo>
                    <a:lnTo>
                      <a:pt x="170" y="188"/>
                    </a:lnTo>
                    <a:lnTo>
                      <a:pt x="172" y="184"/>
                    </a:lnTo>
                    <a:lnTo>
                      <a:pt x="161" y="150"/>
                    </a:lnTo>
                    <a:lnTo>
                      <a:pt x="184" y="115"/>
                    </a:lnTo>
                    <a:lnTo>
                      <a:pt x="186" y="111"/>
                    </a:lnTo>
                    <a:lnTo>
                      <a:pt x="188" y="102"/>
                    </a:lnTo>
                    <a:lnTo>
                      <a:pt x="190" y="86"/>
                    </a:lnTo>
                    <a:lnTo>
                      <a:pt x="184" y="69"/>
                    </a:lnTo>
                    <a:lnTo>
                      <a:pt x="163" y="27"/>
                    </a:lnTo>
                    <a:lnTo>
                      <a:pt x="153" y="8"/>
                    </a:lnTo>
                    <a:lnTo>
                      <a:pt x="151" y="2"/>
                    </a:lnTo>
                    <a:lnTo>
                      <a:pt x="149" y="0"/>
                    </a:lnTo>
                    <a:lnTo>
                      <a:pt x="126" y="35"/>
                    </a:lnTo>
                    <a:close/>
                  </a:path>
                </a:pathLst>
              </a:custGeom>
              <a:solidFill>
                <a:srgbClr val="B34000"/>
              </a:solidFill>
              <a:ln w="9525">
                <a:noFill/>
                <a:round/>
                <a:headEnd/>
                <a:tailEnd/>
              </a:ln>
            </p:spPr>
            <p:txBody>
              <a:bodyPr/>
              <a:lstStyle/>
              <a:p>
                <a:endParaRPr lang="en-US"/>
              </a:p>
            </p:txBody>
          </p:sp>
          <p:sp>
            <p:nvSpPr>
              <p:cNvPr id="1099" name="Freeform 65"/>
              <p:cNvSpPr>
                <a:spLocks/>
              </p:cNvSpPr>
              <p:nvPr/>
            </p:nvSpPr>
            <p:spPr bwMode="auto">
              <a:xfrm>
                <a:off x="5117" y="3116"/>
                <a:ext cx="57" cy="248"/>
              </a:xfrm>
              <a:custGeom>
                <a:avLst/>
                <a:gdLst>
                  <a:gd name="T0" fmla="*/ 0 w 115"/>
                  <a:gd name="T1" fmla="*/ 1 h 496"/>
                  <a:gd name="T2" fmla="*/ 0 w 115"/>
                  <a:gd name="T3" fmla="*/ 1 h 496"/>
                  <a:gd name="T4" fmla="*/ 0 w 115"/>
                  <a:gd name="T5" fmla="*/ 1 h 496"/>
                  <a:gd name="T6" fmla="*/ 0 w 115"/>
                  <a:gd name="T7" fmla="*/ 1 h 496"/>
                  <a:gd name="T8" fmla="*/ 0 w 115"/>
                  <a:gd name="T9" fmla="*/ 1 h 496"/>
                  <a:gd name="T10" fmla="*/ 0 w 115"/>
                  <a:gd name="T11" fmla="*/ 1 h 496"/>
                  <a:gd name="T12" fmla="*/ 0 w 115"/>
                  <a:gd name="T13" fmla="*/ 1 h 496"/>
                  <a:gd name="T14" fmla="*/ 0 w 115"/>
                  <a:gd name="T15" fmla="*/ 1 h 496"/>
                  <a:gd name="T16" fmla="*/ 0 w 115"/>
                  <a:gd name="T17" fmla="*/ 1 h 496"/>
                  <a:gd name="T18" fmla="*/ 0 w 115"/>
                  <a:gd name="T19" fmla="*/ 1 h 496"/>
                  <a:gd name="T20" fmla="*/ 0 w 115"/>
                  <a:gd name="T21" fmla="*/ 1 h 496"/>
                  <a:gd name="T22" fmla="*/ 0 w 115"/>
                  <a:gd name="T23" fmla="*/ 1 h 496"/>
                  <a:gd name="T24" fmla="*/ 0 w 115"/>
                  <a:gd name="T25" fmla="*/ 1 h 496"/>
                  <a:gd name="T26" fmla="*/ 0 w 115"/>
                  <a:gd name="T27" fmla="*/ 1 h 496"/>
                  <a:gd name="T28" fmla="*/ 0 w 115"/>
                  <a:gd name="T29" fmla="*/ 1 h 496"/>
                  <a:gd name="T30" fmla="*/ 0 w 115"/>
                  <a:gd name="T31" fmla="*/ 1 h 496"/>
                  <a:gd name="T32" fmla="*/ 0 w 115"/>
                  <a:gd name="T33" fmla="*/ 1 h 496"/>
                  <a:gd name="T34" fmla="*/ 0 w 115"/>
                  <a:gd name="T35" fmla="*/ 1 h 496"/>
                  <a:gd name="T36" fmla="*/ 0 w 115"/>
                  <a:gd name="T37" fmla="*/ 1 h 496"/>
                  <a:gd name="T38" fmla="*/ 0 w 115"/>
                  <a:gd name="T39" fmla="*/ 1 h 496"/>
                  <a:gd name="T40" fmla="*/ 0 w 115"/>
                  <a:gd name="T41" fmla="*/ 1 h 496"/>
                  <a:gd name="T42" fmla="*/ 0 w 115"/>
                  <a:gd name="T43" fmla="*/ 1 h 496"/>
                  <a:gd name="T44" fmla="*/ 0 w 115"/>
                  <a:gd name="T45" fmla="*/ 1 h 496"/>
                  <a:gd name="T46" fmla="*/ 0 w 115"/>
                  <a:gd name="T47" fmla="*/ 1 h 496"/>
                  <a:gd name="T48" fmla="*/ 0 w 115"/>
                  <a:gd name="T49" fmla="*/ 1 h 496"/>
                  <a:gd name="T50" fmla="*/ 0 w 115"/>
                  <a:gd name="T51" fmla="*/ 1 h 496"/>
                  <a:gd name="T52" fmla="*/ 0 w 115"/>
                  <a:gd name="T53" fmla="*/ 1 h 496"/>
                  <a:gd name="T54" fmla="*/ 0 w 115"/>
                  <a:gd name="T55" fmla="*/ 1 h 496"/>
                  <a:gd name="T56" fmla="*/ 0 w 115"/>
                  <a:gd name="T57" fmla="*/ 1 h 496"/>
                  <a:gd name="T58" fmla="*/ 0 w 115"/>
                  <a:gd name="T59" fmla="*/ 1 h 496"/>
                  <a:gd name="T60" fmla="*/ 0 w 115"/>
                  <a:gd name="T61" fmla="*/ 1 h 496"/>
                  <a:gd name="T62" fmla="*/ 0 w 115"/>
                  <a:gd name="T63" fmla="*/ 1 h 496"/>
                  <a:gd name="T64" fmla="*/ 0 w 115"/>
                  <a:gd name="T65" fmla="*/ 1 h 496"/>
                  <a:gd name="T66" fmla="*/ 0 w 115"/>
                  <a:gd name="T67" fmla="*/ 1 h 496"/>
                  <a:gd name="T68" fmla="*/ 0 w 115"/>
                  <a:gd name="T69" fmla="*/ 1 h 496"/>
                  <a:gd name="T70" fmla="*/ 0 w 115"/>
                  <a:gd name="T71" fmla="*/ 1 h 496"/>
                  <a:gd name="T72" fmla="*/ 0 w 115"/>
                  <a:gd name="T73" fmla="*/ 1 h 496"/>
                  <a:gd name="T74" fmla="*/ 0 w 115"/>
                  <a:gd name="T75" fmla="*/ 1 h 496"/>
                  <a:gd name="T76" fmla="*/ 0 w 115"/>
                  <a:gd name="T77" fmla="*/ 1 h 496"/>
                  <a:gd name="T78" fmla="*/ 0 w 115"/>
                  <a:gd name="T79" fmla="*/ 1 h 496"/>
                  <a:gd name="T80" fmla="*/ 0 w 115"/>
                  <a:gd name="T81" fmla="*/ 1 h 496"/>
                  <a:gd name="T82" fmla="*/ 0 w 115"/>
                  <a:gd name="T83" fmla="*/ 0 h 496"/>
                  <a:gd name="T84" fmla="*/ 0 w 115"/>
                  <a:gd name="T85" fmla="*/ 1 h 49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15"/>
                  <a:gd name="T130" fmla="*/ 0 h 496"/>
                  <a:gd name="T131" fmla="*/ 115 w 115"/>
                  <a:gd name="T132" fmla="*/ 496 h 49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15" h="496">
                    <a:moveTo>
                      <a:pt x="104" y="23"/>
                    </a:moveTo>
                    <a:lnTo>
                      <a:pt x="104" y="29"/>
                    </a:lnTo>
                    <a:lnTo>
                      <a:pt x="102" y="45"/>
                    </a:lnTo>
                    <a:lnTo>
                      <a:pt x="100" y="66"/>
                    </a:lnTo>
                    <a:lnTo>
                      <a:pt x="98" y="95"/>
                    </a:lnTo>
                    <a:lnTo>
                      <a:pt x="94" y="154"/>
                    </a:lnTo>
                    <a:lnTo>
                      <a:pt x="92" y="183"/>
                    </a:lnTo>
                    <a:lnTo>
                      <a:pt x="92" y="208"/>
                    </a:lnTo>
                    <a:lnTo>
                      <a:pt x="94" y="231"/>
                    </a:lnTo>
                    <a:lnTo>
                      <a:pt x="96" y="258"/>
                    </a:lnTo>
                    <a:lnTo>
                      <a:pt x="104" y="310"/>
                    </a:lnTo>
                    <a:lnTo>
                      <a:pt x="108" y="333"/>
                    </a:lnTo>
                    <a:lnTo>
                      <a:pt x="111" y="352"/>
                    </a:lnTo>
                    <a:lnTo>
                      <a:pt x="113" y="365"/>
                    </a:lnTo>
                    <a:lnTo>
                      <a:pt x="115" y="369"/>
                    </a:lnTo>
                    <a:lnTo>
                      <a:pt x="104" y="496"/>
                    </a:lnTo>
                    <a:lnTo>
                      <a:pt x="104" y="494"/>
                    </a:lnTo>
                    <a:lnTo>
                      <a:pt x="100" y="490"/>
                    </a:lnTo>
                    <a:lnTo>
                      <a:pt x="92" y="475"/>
                    </a:lnTo>
                    <a:lnTo>
                      <a:pt x="81" y="454"/>
                    </a:lnTo>
                    <a:lnTo>
                      <a:pt x="67" y="425"/>
                    </a:lnTo>
                    <a:lnTo>
                      <a:pt x="40" y="365"/>
                    </a:lnTo>
                    <a:lnTo>
                      <a:pt x="31" y="337"/>
                    </a:lnTo>
                    <a:lnTo>
                      <a:pt x="23" y="312"/>
                    </a:lnTo>
                    <a:lnTo>
                      <a:pt x="15" y="271"/>
                    </a:lnTo>
                    <a:lnTo>
                      <a:pt x="8" y="239"/>
                    </a:lnTo>
                    <a:lnTo>
                      <a:pt x="4" y="225"/>
                    </a:lnTo>
                    <a:lnTo>
                      <a:pt x="2" y="216"/>
                    </a:lnTo>
                    <a:lnTo>
                      <a:pt x="0" y="210"/>
                    </a:lnTo>
                    <a:lnTo>
                      <a:pt x="0" y="208"/>
                    </a:lnTo>
                    <a:lnTo>
                      <a:pt x="35" y="162"/>
                    </a:lnTo>
                    <a:lnTo>
                      <a:pt x="12" y="139"/>
                    </a:lnTo>
                    <a:lnTo>
                      <a:pt x="12" y="137"/>
                    </a:lnTo>
                    <a:lnTo>
                      <a:pt x="14" y="129"/>
                    </a:lnTo>
                    <a:lnTo>
                      <a:pt x="17" y="119"/>
                    </a:lnTo>
                    <a:lnTo>
                      <a:pt x="21" y="106"/>
                    </a:lnTo>
                    <a:lnTo>
                      <a:pt x="31" y="75"/>
                    </a:lnTo>
                    <a:lnTo>
                      <a:pt x="46" y="47"/>
                    </a:lnTo>
                    <a:lnTo>
                      <a:pt x="63" y="25"/>
                    </a:lnTo>
                    <a:lnTo>
                      <a:pt x="79" y="10"/>
                    </a:lnTo>
                    <a:lnTo>
                      <a:pt x="88" y="2"/>
                    </a:lnTo>
                    <a:lnTo>
                      <a:pt x="92" y="0"/>
                    </a:lnTo>
                    <a:lnTo>
                      <a:pt x="104" y="23"/>
                    </a:lnTo>
                    <a:close/>
                  </a:path>
                </a:pathLst>
              </a:custGeom>
              <a:solidFill>
                <a:srgbClr val="B34000"/>
              </a:solidFill>
              <a:ln w="9525">
                <a:noFill/>
                <a:round/>
                <a:headEnd/>
                <a:tailEnd/>
              </a:ln>
            </p:spPr>
            <p:txBody>
              <a:bodyPr/>
              <a:lstStyle/>
              <a:p>
                <a:endParaRPr lang="en-US"/>
              </a:p>
            </p:txBody>
          </p:sp>
          <p:sp>
            <p:nvSpPr>
              <p:cNvPr id="1100" name="Freeform 66"/>
              <p:cNvSpPr>
                <a:spLocks/>
              </p:cNvSpPr>
              <p:nvPr/>
            </p:nvSpPr>
            <p:spPr bwMode="auto">
              <a:xfrm>
                <a:off x="5197" y="3342"/>
                <a:ext cx="86" cy="51"/>
              </a:xfrm>
              <a:custGeom>
                <a:avLst/>
                <a:gdLst>
                  <a:gd name="T0" fmla="*/ 0 w 173"/>
                  <a:gd name="T1" fmla="*/ 1 h 102"/>
                  <a:gd name="T2" fmla="*/ 0 w 173"/>
                  <a:gd name="T3" fmla="*/ 1 h 102"/>
                  <a:gd name="T4" fmla="*/ 0 w 173"/>
                  <a:gd name="T5" fmla="*/ 1 h 102"/>
                  <a:gd name="T6" fmla="*/ 0 w 173"/>
                  <a:gd name="T7" fmla="*/ 1 h 102"/>
                  <a:gd name="T8" fmla="*/ 0 w 173"/>
                  <a:gd name="T9" fmla="*/ 1 h 102"/>
                  <a:gd name="T10" fmla="*/ 0 w 173"/>
                  <a:gd name="T11" fmla="*/ 1 h 102"/>
                  <a:gd name="T12" fmla="*/ 0 w 173"/>
                  <a:gd name="T13" fmla="*/ 1 h 102"/>
                  <a:gd name="T14" fmla="*/ 0 w 173"/>
                  <a:gd name="T15" fmla="*/ 1 h 102"/>
                  <a:gd name="T16" fmla="*/ 0 w 173"/>
                  <a:gd name="T17" fmla="*/ 1 h 102"/>
                  <a:gd name="T18" fmla="*/ 0 w 173"/>
                  <a:gd name="T19" fmla="*/ 1 h 102"/>
                  <a:gd name="T20" fmla="*/ 0 w 173"/>
                  <a:gd name="T21" fmla="*/ 1 h 102"/>
                  <a:gd name="T22" fmla="*/ 0 w 173"/>
                  <a:gd name="T23" fmla="*/ 1 h 102"/>
                  <a:gd name="T24" fmla="*/ 0 w 173"/>
                  <a:gd name="T25" fmla="*/ 1 h 102"/>
                  <a:gd name="T26" fmla="*/ 0 w 173"/>
                  <a:gd name="T27" fmla="*/ 1 h 102"/>
                  <a:gd name="T28" fmla="*/ 0 w 173"/>
                  <a:gd name="T29" fmla="*/ 1 h 102"/>
                  <a:gd name="T30" fmla="*/ 0 w 173"/>
                  <a:gd name="T31" fmla="*/ 1 h 102"/>
                  <a:gd name="T32" fmla="*/ 0 w 173"/>
                  <a:gd name="T33" fmla="*/ 1 h 102"/>
                  <a:gd name="T34" fmla="*/ 0 w 173"/>
                  <a:gd name="T35" fmla="*/ 1 h 102"/>
                  <a:gd name="T36" fmla="*/ 0 w 173"/>
                  <a:gd name="T37" fmla="*/ 1 h 102"/>
                  <a:gd name="T38" fmla="*/ 0 w 173"/>
                  <a:gd name="T39" fmla="*/ 1 h 102"/>
                  <a:gd name="T40" fmla="*/ 0 w 173"/>
                  <a:gd name="T41" fmla="*/ 1 h 102"/>
                  <a:gd name="T42" fmla="*/ 0 w 173"/>
                  <a:gd name="T43" fmla="*/ 1 h 102"/>
                  <a:gd name="T44" fmla="*/ 0 w 173"/>
                  <a:gd name="T45" fmla="*/ 1 h 102"/>
                  <a:gd name="T46" fmla="*/ 0 w 173"/>
                  <a:gd name="T47" fmla="*/ 1 h 102"/>
                  <a:gd name="T48" fmla="*/ 0 w 173"/>
                  <a:gd name="T49" fmla="*/ 1 h 102"/>
                  <a:gd name="T50" fmla="*/ 0 w 173"/>
                  <a:gd name="T51" fmla="*/ 1 h 102"/>
                  <a:gd name="T52" fmla="*/ 0 w 173"/>
                  <a:gd name="T53" fmla="*/ 1 h 102"/>
                  <a:gd name="T54" fmla="*/ 0 w 173"/>
                  <a:gd name="T55" fmla="*/ 1 h 102"/>
                  <a:gd name="T56" fmla="*/ 0 w 173"/>
                  <a:gd name="T57" fmla="*/ 1 h 102"/>
                  <a:gd name="T58" fmla="*/ 0 w 173"/>
                  <a:gd name="T59" fmla="*/ 1 h 102"/>
                  <a:gd name="T60" fmla="*/ 0 w 173"/>
                  <a:gd name="T61" fmla="*/ 0 h 102"/>
                  <a:gd name="T62" fmla="*/ 0 w 173"/>
                  <a:gd name="T63" fmla="*/ 1 h 102"/>
                  <a:gd name="T64" fmla="*/ 0 w 173"/>
                  <a:gd name="T65" fmla="*/ 0 h 102"/>
                  <a:gd name="T66" fmla="*/ 0 w 173"/>
                  <a:gd name="T67" fmla="*/ 1 h 102"/>
                  <a:gd name="T68" fmla="*/ 0 w 173"/>
                  <a:gd name="T69" fmla="*/ 1 h 102"/>
                  <a:gd name="T70" fmla="*/ 0 w 173"/>
                  <a:gd name="T71" fmla="*/ 1 h 102"/>
                  <a:gd name="T72" fmla="*/ 0 w 173"/>
                  <a:gd name="T73" fmla="*/ 1 h 102"/>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73"/>
                  <a:gd name="T112" fmla="*/ 0 h 102"/>
                  <a:gd name="T113" fmla="*/ 173 w 173"/>
                  <a:gd name="T114" fmla="*/ 102 h 102"/>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73" h="102">
                    <a:moveTo>
                      <a:pt x="0" y="32"/>
                    </a:moveTo>
                    <a:lnTo>
                      <a:pt x="2" y="34"/>
                    </a:lnTo>
                    <a:lnTo>
                      <a:pt x="6" y="36"/>
                    </a:lnTo>
                    <a:lnTo>
                      <a:pt x="19" y="48"/>
                    </a:lnTo>
                    <a:lnTo>
                      <a:pt x="35" y="61"/>
                    </a:lnTo>
                    <a:lnTo>
                      <a:pt x="46" y="79"/>
                    </a:lnTo>
                    <a:lnTo>
                      <a:pt x="48" y="82"/>
                    </a:lnTo>
                    <a:lnTo>
                      <a:pt x="50" y="80"/>
                    </a:lnTo>
                    <a:lnTo>
                      <a:pt x="48" y="75"/>
                    </a:lnTo>
                    <a:lnTo>
                      <a:pt x="44" y="65"/>
                    </a:lnTo>
                    <a:lnTo>
                      <a:pt x="39" y="42"/>
                    </a:lnTo>
                    <a:lnTo>
                      <a:pt x="37" y="36"/>
                    </a:lnTo>
                    <a:lnTo>
                      <a:pt x="35" y="32"/>
                    </a:lnTo>
                    <a:lnTo>
                      <a:pt x="37" y="32"/>
                    </a:lnTo>
                    <a:lnTo>
                      <a:pt x="41" y="34"/>
                    </a:lnTo>
                    <a:lnTo>
                      <a:pt x="54" y="42"/>
                    </a:lnTo>
                    <a:lnTo>
                      <a:pt x="69" y="57"/>
                    </a:lnTo>
                    <a:lnTo>
                      <a:pt x="81" y="79"/>
                    </a:lnTo>
                    <a:lnTo>
                      <a:pt x="83" y="84"/>
                    </a:lnTo>
                    <a:lnTo>
                      <a:pt x="83" y="86"/>
                    </a:lnTo>
                    <a:lnTo>
                      <a:pt x="85" y="84"/>
                    </a:lnTo>
                    <a:lnTo>
                      <a:pt x="83" y="75"/>
                    </a:lnTo>
                    <a:lnTo>
                      <a:pt x="79" y="63"/>
                    </a:lnTo>
                    <a:lnTo>
                      <a:pt x="73" y="34"/>
                    </a:lnTo>
                    <a:lnTo>
                      <a:pt x="71" y="25"/>
                    </a:lnTo>
                    <a:lnTo>
                      <a:pt x="69" y="21"/>
                    </a:lnTo>
                    <a:lnTo>
                      <a:pt x="127" y="102"/>
                    </a:lnTo>
                    <a:lnTo>
                      <a:pt x="115" y="44"/>
                    </a:lnTo>
                    <a:lnTo>
                      <a:pt x="173" y="67"/>
                    </a:lnTo>
                    <a:lnTo>
                      <a:pt x="161" y="21"/>
                    </a:lnTo>
                    <a:lnTo>
                      <a:pt x="104" y="0"/>
                    </a:lnTo>
                    <a:lnTo>
                      <a:pt x="104" y="32"/>
                    </a:lnTo>
                    <a:lnTo>
                      <a:pt x="58" y="0"/>
                    </a:lnTo>
                    <a:lnTo>
                      <a:pt x="58" y="21"/>
                    </a:lnTo>
                    <a:lnTo>
                      <a:pt x="35" y="9"/>
                    </a:lnTo>
                    <a:lnTo>
                      <a:pt x="35" y="32"/>
                    </a:lnTo>
                    <a:lnTo>
                      <a:pt x="0" y="32"/>
                    </a:lnTo>
                    <a:close/>
                  </a:path>
                </a:pathLst>
              </a:custGeom>
              <a:solidFill>
                <a:srgbClr val="590D00"/>
              </a:solidFill>
              <a:ln w="9525">
                <a:noFill/>
                <a:round/>
                <a:headEnd/>
                <a:tailEnd/>
              </a:ln>
            </p:spPr>
            <p:txBody>
              <a:bodyPr/>
              <a:lstStyle/>
              <a:p>
                <a:endParaRPr lang="en-US"/>
              </a:p>
            </p:txBody>
          </p:sp>
          <p:sp>
            <p:nvSpPr>
              <p:cNvPr id="1101" name="Oval 67"/>
              <p:cNvSpPr>
                <a:spLocks noChangeArrowheads="1"/>
              </p:cNvSpPr>
              <p:nvPr/>
            </p:nvSpPr>
            <p:spPr bwMode="auto">
              <a:xfrm>
                <a:off x="5168" y="3364"/>
                <a:ext cx="36" cy="53"/>
              </a:xfrm>
              <a:prstGeom prst="ellipse">
                <a:avLst/>
              </a:prstGeom>
              <a:solidFill>
                <a:srgbClr val="D95900"/>
              </a:solidFill>
              <a:ln w="9525">
                <a:noFill/>
                <a:round/>
                <a:headEnd/>
                <a:tailEnd/>
              </a:ln>
            </p:spPr>
            <p:txBody>
              <a:bodyPr/>
              <a:lstStyle/>
              <a:p>
                <a:endParaRPr lang="en-US"/>
              </a:p>
            </p:txBody>
          </p:sp>
          <p:sp>
            <p:nvSpPr>
              <p:cNvPr id="1102" name="Freeform 68"/>
              <p:cNvSpPr>
                <a:spLocks/>
              </p:cNvSpPr>
              <p:nvPr/>
            </p:nvSpPr>
            <p:spPr bwMode="auto">
              <a:xfrm>
                <a:off x="5115" y="3348"/>
                <a:ext cx="82" cy="71"/>
              </a:xfrm>
              <a:custGeom>
                <a:avLst/>
                <a:gdLst>
                  <a:gd name="T0" fmla="*/ 0 w 165"/>
                  <a:gd name="T1" fmla="*/ 1 h 142"/>
                  <a:gd name="T2" fmla="*/ 0 w 165"/>
                  <a:gd name="T3" fmla="*/ 1 h 142"/>
                  <a:gd name="T4" fmla="*/ 0 w 165"/>
                  <a:gd name="T5" fmla="*/ 1 h 142"/>
                  <a:gd name="T6" fmla="*/ 0 w 165"/>
                  <a:gd name="T7" fmla="*/ 1 h 142"/>
                  <a:gd name="T8" fmla="*/ 0 w 165"/>
                  <a:gd name="T9" fmla="*/ 1 h 142"/>
                  <a:gd name="T10" fmla="*/ 0 w 165"/>
                  <a:gd name="T11" fmla="*/ 1 h 142"/>
                  <a:gd name="T12" fmla="*/ 0 w 165"/>
                  <a:gd name="T13" fmla="*/ 1 h 142"/>
                  <a:gd name="T14" fmla="*/ 0 w 165"/>
                  <a:gd name="T15" fmla="*/ 1 h 142"/>
                  <a:gd name="T16" fmla="*/ 0 w 165"/>
                  <a:gd name="T17" fmla="*/ 1 h 142"/>
                  <a:gd name="T18" fmla="*/ 0 w 165"/>
                  <a:gd name="T19" fmla="*/ 1 h 142"/>
                  <a:gd name="T20" fmla="*/ 0 w 165"/>
                  <a:gd name="T21" fmla="*/ 1 h 142"/>
                  <a:gd name="T22" fmla="*/ 0 w 165"/>
                  <a:gd name="T23" fmla="*/ 1 h 142"/>
                  <a:gd name="T24" fmla="*/ 0 w 165"/>
                  <a:gd name="T25" fmla="*/ 1 h 142"/>
                  <a:gd name="T26" fmla="*/ 0 w 165"/>
                  <a:gd name="T27" fmla="*/ 1 h 142"/>
                  <a:gd name="T28" fmla="*/ 0 w 165"/>
                  <a:gd name="T29" fmla="*/ 1 h 142"/>
                  <a:gd name="T30" fmla="*/ 0 w 165"/>
                  <a:gd name="T31" fmla="*/ 1 h 142"/>
                  <a:gd name="T32" fmla="*/ 0 w 165"/>
                  <a:gd name="T33" fmla="*/ 1 h 142"/>
                  <a:gd name="T34" fmla="*/ 0 w 165"/>
                  <a:gd name="T35" fmla="*/ 1 h 142"/>
                  <a:gd name="T36" fmla="*/ 0 w 165"/>
                  <a:gd name="T37" fmla="*/ 1 h 142"/>
                  <a:gd name="T38" fmla="*/ 0 w 165"/>
                  <a:gd name="T39" fmla="*/ 1 h 142"/>
                  <a:gd name="T40" fmla="*/ 0 w 165"/>
                  <a:gd name="T41" fmla="*/ 1 h 142"/>
                  <a:gd name="T42" fmla="*/ 0 w 165"/>
                  <a:gd name="T43" fmla="*/ 1 h 142"/>
                  <a:gd name="T44" fmla="*/ 0 w 165"/>
                  <a:gd name="T45" fmla="*/ 1 h 142"/>
                  <a:gd name="T46" fmla="*/ 0 w 165"/>
                  <a:gd name="T47" fmla="*/ 1 h 142"/>
                  <a:gd name="T48" fmla="*/ 0 w 165"/>
                  <a:gd name="T49" fmla="*/ 1 h 142"/>
                  <a:gd name="T50" fmla="*/ 0 w 165"/>
                  <a:gd name="T51" fmla="*/ 1 h 142"/>
                  <a:gd name="T52" fmla="*/ 0 w 165"/>
                  <a:gd name="T53" fmla="*/ 1 h 142"/>
                  <a:gd name="T54" fmla="*/ 0 w 165"/>
                  <a:gd name="T55" fmla="*/ 1 h 142"/>
                  <a:gd name="T56" fmla="*/ 0 w 165"/>
                  <a:gd name="T57" fmla="*/ 1 h 142"/>
                  <a:gd name="T58" fmla="*/ 0 w 165"/>
                  <a:gd name="T59" fmla="*/ 0 h 142"/>
                  <a:gd name="T60" fmla="*/ 0 w 165"/>
                  <a:gd name="T61" fmla="*/ 1 h 142"/>
                  <a:gd name="T62" fmla="*/ 0 w 165"/>
                  <a:gd name="T63" fmla="*/ 1 h 142"/>
                  <a:gd name="T64" fmla="*/ 0 w 165"/>
                  <a:gd name="T65" fmla="*/ 1 h 14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65"/>
                  <a:gd name="T100" fmla="*/ 0 h 142"/>
                  <a:gd name="T101" fmla="*/ 165 w 165"/>
                  <a:gd name="T102" fmla="*/ 142 h 142"/>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65" h="142">
                    <a:moveTo>
                      <a:pt x="127" y="83"/>
                    </a:moveTo>
                    <a:lnTo>
                      <a:pt x="129" y="85"/>
                    </a:lnTo>
                    <a:lnTo>
                      <a:pt x="131" y="89"/>
                    </a:lnTo>
                    <a:lnTo>
                      <a:pt x="142" y="96"/>
                    </a:lnTo>
                    <a:lnTo>
                      <a:pt x="158" y="93"/>
                    </a:lnTo>
                    <a:lnTo>
                      <a:pt x="163" y="91"/>
                    </a:lnTo>
                    <a:lnTo>
                      <a:pt x="165" y="89"/>
                    </a:lnTo>
                    <a:lnTo>
                      <a:pt x="165" y="91"/>
                    </a:lnTo>
                    <a:lnTo>
                      <a:pt x="163" y="96"/>
                    </a:lnTo>
                    <a:lnTo>
                      <a:pt x="156" y="114"/>
                    </a:lnTo>
                    <a:lnTo>
                      <a:pt x="146" y="133"/>
                    </a:lnTo>
                    <a:lnTo>
                      <a:pt x="140" y="139"/>
                    </a:lnTo>
                    <a:lnTo>
                      <a:pt x="135" y="142"/>
                    </a:lnTo>
                    <a:lnTo>
                      <a:pt x="127" y="142"/>
                    </a:lnTo>
                    <a:lnTo>
                      <a:pt x="119" y="139"/>
                    </a:lnTo>
                    <a:lnTo>
                      <a:pt x="104" y="127"/>
                    </a:lnTo>
                    <a:lnTo>
                      <a:pt x="92" y="108"/>
                    </a:lnTo>
                    <a:lnTo>
                      <a:pt x="89" y="87"/>
                    </a:lnTo>
                    <a:lnTo>
                      <a:pt x="89" y="79"/>
                    </a:lnTo>
                    <a:lnTo>
                      <a:pt x="87" y="73"/>
                    </a:lnTo>
                    <a:lnTo>
                      <a:pt x="81" y="69"/>
                    </a:lnTo>
                    <a:lnTo>
                      <a:pt x="73" y="69"/>
                    </a:lnTo>
                    <a:lnTo>
                      <a:pt x="65" y="68"/>
                    </a:lnTo>
                    <a:lnTo>
                      <a:pt x="60" y="66"/>
                    </a:lnTo>
                    <a:lnTo>
                      <a:pt x="52" y="60"/>
                    </a:lnTo>
                    <a:lnTo>
                      <a:pt x="31" y="48"/>
                    </a:lnTo>
                    <a:lnTo>
                      <a:pt x="10" y="39"/>
                    </a:lnTo>
                    <a:lnTo>
                      <a:pt x="2" y="35"/>
                    </a:lnTo>
                    <a:lnTo>
                      <a:pt x="0" y="33"/>
                    </a:lnTo>
                    <a:lnTo>
                      <a:pt x="33" y="0"/>
                    </a:lnTo>
                    <a:lnTo>
                      <a:pt x="79" y="6"/>
                    </a:lnTo>
                    <a:lnTo>
                      <a:pt x="119" y="46"/>
                    </a:lnTo>
                    <a:lnTo>
                      <a:pt x="127" y="83"/>
                    </a:lnTo>
                    <a:close/>
                  </a:path>
                </a:pathLst>
              </a:custGeom>
              <a:solidFill>
                <a:srgbClr val="FF8C1A"/>
              </a:solidFill>
              <a:ln w="9525">
                <a:noFill/>
                <a:round/>
                <a:headEnd/>
                <a:tailEnd/>
              </a:ln>
            </p:spPr>
            <p:txBody>
              <a:bodyPr/>
              <a:lstStyle/>
              <a:p>
                <a:endParaRPr lang="en-US"/>
              </a:p>
            </p:txBody>
          </p:sp>
          <p:sp>
            <p:nvSpPr>
              <p:cNvPr id="1103" name="Freeform 69"/>
              <p:cNvSpPr>
                <a:spLocks/>
              </p:cNvSpPr>
              <p:nvPr/>
            </p:nvSpPr>
            <p:spPr bwMode="auto">
              <a:xfrm>
                <a:off x="5161" y="3346"/>
                <a:ext cx="37" cy="52"/>
              </a:xfrm>
              <a:custGeom>
                <a:avLst/>
                <a:gdLst>
                  <a:gd name="T0" fmla="*/ 0 w 75"/>
                  <a:gd name="T1" fmla="*/ 0 h 104"/>
                  <a:gd name="T2" fmla="*/ 0 w 75"/>
                  <a:gd name="T3" fmla="*/ 1 h 104"/>
                  <a:gd name="T4" fmla="*/ 0 w 75"/>
                  <a:gd name="T5" fmla="*/ 1 h 104"/>
                  <a:gd name="T6" fmla="*/ 0 w 75"/>
                  <a:gd name="T7" fmla="*/ 1 h 104"/>
                  <a:gd name="T8" fmla="*/ 0 w 75"/>
                  <a:gd name="T9" fmla="*/ 1 h 104"/>
                  <a:gd name="T10" fmla="*/ 0 w 75"/>
                  <a:gd name="T11" fmla="*/ 1 h 104"/>
                  <a:gd name="T12" fmla="*/ 0 w 75"/>
                  <a:gd name="T13" fmla="*/ 1 h 104"/>
                  <a:gd name="T14" fmla="*/ 0 w 75"/>
                  <a:gd name="T15" fmla="*/ 1 h 104"/>
                  <a:gd name="T16" fmla="*/ 0 w 75"/>
                  <a:gd name="T17" fmla="*/ 1 h 104"/>
                  <a:gd name="T18" fmla="*/ 0 w 75"/>
                  <a:gd name="T19" fmla="*/ 1 h 104"/>
                  <a:gd name="T20" fmla="*/ 0 w 75"/>
                  <a:gd name="T21" fmla="*/ 1 h 104"/>
                  <a:gd name="T22" fmla="*/ 0 w 75"/>
                  <a:gd name="T23" fmla="*/ 1 h 104"/>
                  <a:gd name="T24" fmla="*/ 0 w 75"/>
                  <a:gd name="T25" fmla="*/ 1 h 104"/>
                  <a:gd name="T26" fmla="*/ 0 w 75"/>
                  <a:gd name="T27" fmla="*/ 1 h 104"/>
                  <a:gd name="T28" fmla="*/ 0 w 75"/>
                  <a:gd name="T29" fmla="*/ 1 h 104"/>
                  <a:gd name="T30" fmla="*/ 0 w 75"/>
                  <a:gd name="T31" fmla="*/ 1 h 104"/>
                  <a:gd name="T32" fmla="*/ 0 w 75"/>
                  <a:gd name="T33" fmla="*/ 1 h 104"/>
                  <a:gd name="T34" fmla="*/ 0 w 75"/>
                  <a:gd name="T35" fmla="*/ 1 h 104"/>
                  <a:gd name="T36" fmla="*/ 0 w 75"/>
                  <a:gd name="T37" fmla="*/ 0 h 10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5"/>
                  <a:gd name="T58" fmla="*/ 0 h 104"/>
                  <a:gd name="T59" fmla="*/ 75 w 75"/>
                  <a:gd name="T60" fmla="*/ 104 h 10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5" h="104">
                    <a:moveTo>
                      <a:pt x="0" y="0"/>
                    </a:moveTo>
                    <a:lnTo>
                      <a:pt x="4" y="2"/>
                    </a:lnTo>
                    <a:lnTo>
                      <a:pt x="12" y="10"/>
                    </a:lnTo>
                    <a:lnTo>
                      <a:pt x="33" y="24"/>
                    </a:lnTo>
                    <a:lnTo>
                      <a:pt x="44" y="35"/>
                    </a:lnTo>
                    <a:lnTo>
                      <a:pt x="58" y="50"/>
                    </a:lnTo>
                    <a:lnTo>
                      <a:pt x="69" y="68"/>
                    </a:lnTo>
                    <a:lnTo>
                      <a:pt x="73" y="77"/>
                    </a:lnTo>
                    <a:lnTo>
                      <a:pt x="75" y="83"/>
                    </a:lnTo>
                    <a:lnTo>
                      <a:pt x="73" y="93"/>
                    </a:lnTo>
                    <a:lnTo>
                      <a:pt x="69" y="98"/>
                    </a:lnTo>
                    <a:lnTo>
                      <a:pt x="64" y="102"/>
                    </a:lnTo>
                    <a:lnTo>
                      <a:pt x="54" y="104"/>
                    </a:lnTo>
                    <a:lnTo>
                      <a:pt x="48" y="102"/>
                    </a:lnTo>
                    <a:lnTo>
                      <a:pt x="41" y="98"/>
                    </a:lnTo>
                    <a:lnTo>
                      <a:pt x="25" y="83"/>
                    </a:lnTo>
                    <a:lnTo>
                      <a:pt x="12" y="66"/>
                    </a:lnTo>
                    <a:lnTo>
                      <a:pt x="4" y="50"/>
                    </a:lnTo>
                    <a:lnTo>
                      <a:pt x="0" y="0"/>
                    </a:lnTo>
                    <a:close/>
                  </a:path>
                </a:pathLst>
              </a:custGeom>
              <a:solidFill>
                <a:srgbClr val="FFDE80"/>
              </a:solidFill>
              <a:ln w="9525">
                <a:noFill/>
                <a:round/>
                <a:headEnd/>
                <a:tailEnd/>
              </a:ln>
            </p:spPr>
            <p:txBody>
              <a:bodyPr/>
              <a:lstStyle/>
              <a:p>
                <a:endParaRPr lang="en-US"/>
              </a:p>
            </p:txBody>
          </p:sp>
          <p:sp>
            <p:nvSpPr>
              <p:cNvPr id="1104" name="Freeform 70"/>
              <p:cNvSpPr>
                <a:spLocks/>
              </p:cNvSpPr>
              <p:nvPr/>
            </p:nvSpPr>
            <p:spPr bwMode="auto">
              <a:xfrm>
                <a:off x="5157" y="3370"/>
                <a:ext cx="22" cy="37"/>
              </a:xfrm>
              <a:custGeom>
                <a:avLst/>
                <a:gdLst>
                  <a:gd name="T0" fmla="*/ 1 w 44"/>
                  <a:gd name="T1" fmla="*/ 0 h 74"/>
                  <a:gd name="T2" fmla="*/ 1 w 44"/>
                  <a:gd name="T3" fmla="*/ 0 h 74"/>
                  <a:gd name="T4" fmla="*/ 1 w 44"/>
                  <a:gd name="T5" fmla="*/ 1 h 74"/>
                  <a:gd name="T6" fmla="*/ 1 w 44"/>
                  <a:gd name="T7" fmla="*/ 1 h 74"/>
                  <a:gd name="T8" fmla="*/ 1 w 44"/>
                  <a:gd name="T9" fmla="*/ 1 h 74"/>
                  <a:gd name="T10" fmla="*/ 1 w 44"/>
                  <a:gd name="T11" fmla="*/ 1 h 74"/>
                  <a:gd name="T12" fmla="*/ 1 w 44"/>
                  <a:gd name="T13" fmla="*/ 1 h 74"/>
                  <a:gd name="T14" fmla="*/ 1 w 44"/>
                  <a:gd name="T15" fmla="*/ 1 h 74"/>
                  <a:gd name="T16" fmla="*/ 0 w 44"/>
                  <a:gd name="T17" fmla="*/ 1 h 74"/>
                  <a:gd name="T18" fmla="*/ 1 w 44"/>
                  <a:gd name="T19" fmla="*/ 1 h 74"/>
                  <a:gd name="T20" fmla="*/ 1 w 44"/>
                  <a:gd name="T21" fmla="*/ 1 h 74"/>
                  <a:gd name="T22" fmla="*/ 1 w 44"/>
                  <a:gd name="T23" fmla="*/ 1 h 74"/>
                  <a:gd name="T24" fmla="*/ 1 w 44"/>
                  <a:gd name="T25" fmla="*/ 1 h 74"/>
                  <a:gd name="T26" fmla="*/ 1 w 44"/>
                  <a:gd name="T27" fmla="*/ 1 h 74"/>
                  <a:gd name="T28" fmla="*/ 1 w 44"/>
                  <a:gd name="T29" fmla="*/ 1 h 74"/>
                  <a:gd name="T30" fmla="*/ 1 w 44"/>
                  <a:gd name="T31" fmla="*/ 1 h 74"/>
                  <a:gd name="T32" fmla="*/ 1 w 44"/>
                  <a:gd name="T33" fmla="*/ 1 h 74"/>
                  <a:gd name="T34" fmla="*/ 1 w 44"/>
                  <a:gd name="T35" fmla="*/ 1 h 74"/>
                  <a:gd name="T36" fmla="*/ 1 w 44"/>
                  <a:gd name="T37" fmla="*/ 0 h 7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44"/>
                  <a:gd name="T58" fmla="*/ 0 h 74"/>
                  <a:gd name="T59" fmla="*/ 44 w 44"/>
                  <a:gd name="T60" fmla="*/ 74 h 7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44" h="74">
                    <a:moveTo>
                      <a:pt x="30" y="0"/>
                    </a:moveTo>
                    <a:lnTo>
                      <a:pt x="27" y="0"/>
                    </a:lnTo>
                    <a:lnTo>
                      <a:pt x="23" y="5"/>
                    </a:lnTo>
                    <a:lnTo>
                      <a:pt x="19" y="9"/>
                    </a:lnTo>
                    <a:lnTo>
                      <a:pt x="17" y="17"/>
                    </a:lnTo>
                    <a:lnTo>
                      <a:pt x="11" y="36"/>
                    </a:lnTo>
                    <a:lnTo>
                      <a:pt x="5" y="49"/>
                    </a:lnTo>
                    <a:lnTo>
                      <a:pt x="2" y="59"/>
                    </a:lnTo>
                    <a:lnTo>
                      <a:pt x="0" y="65"/>
                    </a:lnTo>
                    <a:lnTo>
                      <a:pt x="2" y="67"/>
                    </a:lnTo>
                    <a:lnTo>
                      <a:pt x="5" y="71"/>
                    </a:lnTo>
                    <a:lnTo>
                      <a:pt x="9" y="74"/>
                    </a:lnTo>
                    <a:lnTo>
                      <a:pt x="13" y="72"/>
                    </a:lnTo>
                    <a:lnTo>
                      <a:pt x="27" y="61"/>
                    </a:lnTo>
                    <a:lnTo>
                      <a:pt x="38" y="44"/>
                    </a:lnTo>
                    <a:lnTo>
                      <a:pt x="44" y="28"/>
                    </a:lnTo>
                    <a:lnTo>
                      <a:pt x="44" y="5"/>
                    </a:lnTo>
                    <a:lnTo>
                      <a:pt x="40" y="1"/>
                    </a:lnTo>
                    <a:lnTo>
                      <a:pt x="30" y="0"/>
                    </a:lnTo>
                    <a:close/>
                  </a:path>
                </a:pathLst>
              </a:custGeom>
              <a:solidFill>
                <a:srgbClr val="FFB359"/>
              </a:solidFill>
              <a:ln w="9525">
                <a:noFill/>
                <a:round/>
                <a:headEnd/>
                <a:tailEnd/>
              </a:ln>
            </p:spPr>
            <p:txBody>
              <a:bodyPr/>
              <a:lstStyle/>
              <a:p>
                <a:endParaRPr lang="en-US"/>
              </a:p>
            </p:txBody>
          </p:sp>
          <p:sp>
            <p:nvSpPr>
              <p:cNvPr id="1105" name="Freeform 71"/>
              <p:cNvSpPr>
                <a:spLocks/>
              </p:cNvSpPr>
              <p:nvPr/>
            </p:nvSpPr>
            <p:spPr bwMode="auto">
              <a:xfrm>
                <a:off x="5152" y="3360"/>
                <a:ext cx="23" cy="20"/>
              </a:xfrm>
              <a:custGeom>
                <a:avLst/>
                <a:gdLst>
                  <a:gd name="T0" fmla="*/ 0 w 46"/>
                  <a:gd name="T1" fmla="*/ 0 h 41"/>
                  <a:gd name="T2" fmla="*/ 0 w 46"/>
                  <a:gd name="T3" fmla="*/ 0 h 41"/>
                  <a:gd name="T4" fmla="*/ 1 w 46"/>
                  <a:gd name="T5" fmla="*/ 0 h 41"/>
                  <a:gd name="T6" fmla="*/ 1 w 46"/>
                  <a:gd name="T7" fmla="*/ 0 h 41"/>
                  <a:gd name="T8" fmla="*/ 1 w 46"/>
                  <a:gd name="T9" fmla="*/ 0 h 41"/>
                  <a:gd name="T10" fmla="*/ 1 w 46"/>
                  <a:gd name="T11" fmla="*/ 0 h 41"/>
                  <a:gd name="T12" fmla="*/ 1 w 46"/>
                  <a:gd name="T13" fmla="*/ 0 h 41"/>
                  <a:gd name="T14" fmla="*/ 1 w 46"/>
                  <a:gd name="T15" fmla="*/ 0 h 41"/>
                  <a:gd name="T16" fmla="*/ 1 w 46"/>
                  <a:gd name="T17" fmla="*/ 0 h 41"/>
                  <a:gd name="T18" fmla="*/ 1 w 46"/>
                  <a:gd name="T19" fmla="*/ 0 h 41"/>
                  <a:gd name="T20" fmla="*/ 1 w 46"/>
                  <a:gd name="T21" fmla="*/ 0 h 41"/>
                  <a:gd name="T22" fmla="*/ 1 w 46"/>
                  <a:gd name="T23" fmla="*/ 0 h 41"/>
                  <a:gd name="T24" fmla="*/ 0 w 46"/>
                  <a:gd name="T25" fmla="*/ 0 h 4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6"/>
                  <a:gd name="T40" fmla="*/ 0 h 41"/>
                  <a:gd name="T41" fmla="*/ 46 w 46"/>
                  <a:gd name="T42" fmla="*/ 41 h 4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6" h="41">
                    <a:moveTo>
                      <a:pt x="0" y="23"/>
                    </a:moveTo>
                    <a:lnTo>
                      <a:pt x="0" y="35"/>
                    </a:lnTo>
                    <a:lnTo>
                      <a:pt x="8" y="41"/>
                    </a:lnTo>
                    <a:lnTo>
                      <a:pt x="14" y="41"/>
                    </a:lnTo>
                    <a:lnTo>
                      <a:pt x="19" y="39"/>
                    </a:lnTo>
                    <a:lnTo>
                      <a:pt x="35" y="31"/>
                    </a:lnTo>
                    <a:lnTo>
                      <a:pt x="40" y="27"/>
                    </a:lnTo>
                    <a:lnTo>
                      <a:pt x="44" y="23"/>
                    </a:lnTo>
                    <a:lnTo>
                      <a:pt x="46" y="14"/>
                    </a:lnTo>
                    <a:lnTo>
                      <a:pt x="42" y="4"/>
                    </a:lnTo>
                    <a:lnTo>
                      <a:pt x="35" y="0"/>
                    </a:lnTo>
                    <a:lnTo>
                      <a:pt x="27" y="2"/>
                    </a:lnTo>
                    <a:lnTo>
                      <a:pt x="0" y="23"/>
                    </a:lnTo>
                    <a:close/>
                  </a:path>
                </a:pathLst>
              </a:custGeom>
              <a:solidFill>
                <a:srgbClr val="FFB359"/>
              </a:solidFill>
              <a:ln w="9525">
                <a:noFill/>
                <a:round/>
                <a:headEnd/>
                <a:tailEnd/>
              </a:ln>
            </p:spPr>
            <p:txBody>
              <a:bodyPr/>
              <a:lstStyle/>
              <a:p>
                <a:endParaRPr lang="en-US"/>
              </a:p>
            </p:txBody>
          </p:sp>
          <p:sp>
            <p:nvSpPr>
              <p:cNvPr id="1106" name="Freeform 72"/>
              <p:cNvSpPr>
                <a:spLocks/>
              </p:cNvSpPr>
              <p:nvPr/>
            </p:nvSpPr>
            <p:spPr bwMode="auto">
              <a:xfrm>
                <a:off x="5118" y="3340"/>
                <a:ext cx="45" cy="22"/>
              </a:xfrm>
              <a:custGeom>
                <a:avLst/>
                <a:gdLst>
                  <a:gd name="T0" fmla="*/ 1 w 88"/>
                  <a:gd name="T1" fmla="*/ 1 h 44"/>
                  <a:gd name="T2" fmla="*/ 1 w 88"/>
                  <a:gd name="T3" fmla="*/ 1 h 44"/>
                  <a:gd name="T4" fmla="*/ 1 w 88"/>
                  <a:gd name="T5" fmla="*/ 1 h 44"/>
                  <a:gd name="T6" fmla="*/ 1 w 88"/>
                  <a:gd name="T7" fmla="*/ 1 h 44"/>
                  <a:gd name="T8" fmla="*/ 1 w 88"/>
                  <a:gd name="T9" fmla="*/ 1 h 44"/>
                  <a:gd name="T10" fmla="*/ 1 w 88"/>
                  <a:gd name="T11" fmla="*/ 0 h 44"/>
                  <a:gd name="T12" fmla="*/ 1 w 88"/>
                  <a:gd name="T13" fmla="*/ 1 h 44"/>
                  <a:gd name="T14" fmla="*/ 1 w 88"/>
                  <a:gd name="T15" fmla="*/ 1 h 44"/>
                  <a:gd name="T16" fmla="*/ 1 w 88"/>
                  <a:gd name="T17" fmla="*/ 1 h 44"/>
                  <a:gd name="T18" fmla="*/ 1 w 88"/>
                  <a:gd name="T19" fmla="*/ 1 h 44"/>
                  <a:gd name="T20" fmla="*/ 1 w 88"/>
                  <a:gd name="T21" fmla="*/ 1 h 44"/>
                  <a:gd name="T22" fmla="*/ 0 w 88"/>
                  <a:gd name="T23" fmla="*/ 1 h 44"/>
                  <a:gd name="T24" fmla="*/ 0 w 88"/>
                  <a:gd name="T25" fmla="*/ 1 h 44"/>
                  <a:gd name="T26" fmla="*/ 1 w 88"/>
                  <a:gd name="T27" fmla="*/ 1 h 44"/>
                  <a:gd name="T28" fmla="*/ 1 w 88"/>
                  <a:gd name="T29" fmla="*/ 1 h 44"/>
                  <a:gd name="T30" fmla="*/ 1 w 88"/>
                  <a:gd name="T31" fmla="*/ 1 h 44"/>
                  <a:gd name="T32" fmla="*/ 1 w 88"/>
                  <a:gd name="T33" fmla="*/ 1 h 44"/>
                  <a:gd name="T34" fmla="*/ 1 w 88"/>
                  <a:gd name="T35" fmla="*/ 1 h 44"/>
                  <a:gd name="T36" fmla="*/ 1 w 88"/>
                  <a:gd name="T37" fmla="*/ 1 h 44"/>
                  <a:gd name="T38" fmla="*/ 1 w 88"/>
                  <a:gd name="T39" fmla="*/ 1 h 44"/>
                  <a:gd name="T40" fmla="*/ 1 w 88"/>
                  <a:gd name="T41" fmla="*/ 1 h 44"/>
                  <a:gd name="T42" fmla="*/ 1 w 88"/>
                  <a:gd name="T43" fmla="*/ 1 h 44"/>
                  <a:gd name="T44" fmla="*/ 1 w 88"/>
                  <a:gd name="T45" fmla="*/ 1 h 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88"/>
                  <a:gd name="T70" fmla="*/ 0 h 44"/>
                  <a:gd name="T71" fmla="*/ 88 w 88"/>
                  <a:gd name="T72" fmla="*/ 44 h 44"/>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88" h="44">
                    <a:moveTo>
                      <a:pt x="88" y="36"/>
                    </a:moveTo>
                    <a:lnTo>
                      <a:pt x="88" y="13"/>
                    </a:lnTo>
                    <a:lnTo>
                      <a:pt x="86" y="11"/>
                    </a:lnTo>
                    <a:lnTo>
                      <a:pt x="81" y="6"/>
                    </a:lnTo>
                    <a:lnTo>
                      <a:pt x="73" y="2"/>
                    </a:lnTo>
                    <a:lnTo>
                      <a:pt x="61" y="0"/>
                    </a:lnTo>
                    <a:lnTo>
                      <a:pt x="34" y="2"/>
                    </a:lnTo>
                    <a:lnTo>
                      <a:pt x="19" y="2"/>
                    </a:lnTo>
                    <a:lnTo>
                      <a:pt x="17" y="2"/>
                    </a:lnTo>
                    <a:lnTo>
                      <a:pt x="10" y="4"/>
                    </a:lnTo>
                    <a:lnTo>
                      <a:pt x="4" y="8"/>
                    </a:lnTo>
                    <a:lnTo>
                      <a:pt x="0" y="11"/>
                    </a:lnTo>
                    <a:lnTo>
                      <a:pt x="0" y="17"/>
                    </a:lnTo>
                    <a:lnTo>
                      <a:pt x="4" y="21"/>
                    </a:lnTo>
                    <a:lnTo>
                      <a:pt x="13" y="27"/>
                    </a:lnTo>
                    <a:lnTo>
                      <a:pt x="33" y="27"/>
                    </a:lnTo>
                    <a:lnTo>
                      <a:pt x="44" y="25"/>
                    </a:lnTo>
                    <a:lnTo>
                      <a:pt x="54" y="25"/>
                    </a:lnTo>
                    <a:lnTo>
                      <a:pt x="59" y="29"/>
                    </a:lnTo>
                    <a:lnTo>
                      <a:pt x="63" y="35"/>
                    </a:lnTo>
                    <a:lnTo>
                      <a:pt x="65" y="40"/>
                    </a:lnTo>
                    <a:lnTo>
                      <a:pt x="65" y="44"/>
                    </a:lnTo>
                    <a:lnTo>
                      <a:pt x="88" y="36"/>
                    </a:lnTo>
                    <a:close/>
                  </a:path>
                </a:pathLst>
              </a:custGeom>
              <a:solidFill>
                <a:srgbClr val="FFB359"/>
              </a:solidFill>
              <a:ln w="9525">
                <a:noFill/>
                <a:round/>
                <a:headEnd/>
                <a:tailEnd/>
              </a:ln>
            </p:spPr>
            <p:txBody>
              <a:bodyPr/>
              <a:lstStyle/>
              <a:p>
                <a:endParaRPr lang="en-US"/>
              </a:p>
            </p:txBody>
          </p:sp>
          <p:sp>
            <p:nvSpPr>
              <p:cNvPr id="1107" name="Freeform 73"/>
              <p:cNvSpPr>
                <a:spLocks/>
              </p:cNvSpPr>
              <p:nvPr/>
            </p:nvSpPr>
            <p:spPr bwMode="auto">
              <a:xfrm>
                <a:off x="5146" y="3351"/>
                <a:ext cx="23" cy="19"/>
              </a:xfrm>
              <a:custGeom>
                <a:avLst/>
                <a:gdLst>
                  <a:gd name="T0" fmla="*/ 0 w 46"/>
                  <a:gd name="T1" fmla="*/ 0 h 39"/>
                  <a:gd name="T2" fmla="*/ 0 w 46"/>
                  <a:gd name="T3" fmla="*/ 0 h 39"/>
                  <a:gd name="T4" fmla="*/ 1 w 46"/>
                  <a:gd name="T5" fmla="*/ 0 h 39"/>
                  <a:gd name="T6" fmla="*/ 1 w 46"/>
                  <a:gd name="T7" fmla="*/ 0 h 39"/>
                  <a:gd name="T8" fmla="*/ 1 w 46"/>
                  <a:gd name="T9" fmla="*/ 0 h 39"/>
                  <a:gd name="T10" fmla="*/ 1 w 46"/>
                  <a:gd name="T11" fmla="*/ 0 h 39"/>
                  <a:gd name="T12" fmla="*/ 1 w 46"/>
                  <a:gd name="T13" fmla="*/ 0 h 39"/>
                  <a:gd name="T14" fmla="*/ 1 w 46"/>
                  <a:gd name="T15" fmla="*/ 0 h 39"/>
                  <a:gd name="T16" fmla="*/ 1 w 46"/>
                  <a:gd name="T17" fmla="*/ 0 h 39"/>
                  <a:gd name="T18" fmla="*/ 0 w 46"/>
                  <a:gd name="T19" fmla="*/ 0 h 3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6"/>
                  <a:gd name="T31" fmla="*/ 0 h 39"/>
                  <a:gd name="T32" fmla="*/ 46 w 46"/>
                  <a:gd name="T33" fmla="*/ 39 h 3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6" h="39">
                    <a:moveTo>
                      <a:pt x="0" y="19"/>
                    </a:moveTo>
                    <a:lnTo>
                      <a:pt x="0" y="33"/>
                    </a:lnTo>
                    <a:lnTo>
                      <a:pt x="7" y="39"/>
                    </a:lnTo>
                    <a:lnTo>
                      <a:pt x="13" y="39"/>
                    </a:lnTo>
                    <a:lnTo>
                      <a:pt x="19" y="37"/>
                    </a:lnTo>
                    <a:lnTo>
                      <a:pt x="44" y="21"/>
                    </a:lnTo>
                    <a:lnTo>
                      <a:pt x="46" y="12"/>
                    </a:lnTo>
                    <a:lnTo>
                      <a:pt x="42" y="2"/>
                    </a:lnTo>
                    <a:lnTo>
                      <a:pt x="26" y="0"/>
                    </a:lnTo>
                    <a:lnTo>
                      <a:pt x="0" y="19"/>
                    </a:lnTo>
                    <a:close/>
                  </a:path>
                </a:pathLst>
              </a:custGeom>
              <a:solidFill>
                <a:srgbClr val="FFB359"/>
              </a:solidFill>
              <a:ln w="9525">
                <a:noFill/>
                <a:round/>
                <a:headEnd/>
                <a:tailEnd/>
              </a:ln>
            </p:spPr>
            <p:txBody>
              <a:bodyPr/>
              <a:lstStyle/>
              <a:p>
                <a:endParaRPr lang="en-US"/>
              </a:p>
            </p:txBody>
          </p:sp>
          <p:sp>
            <p:nvSpPr>
              <p:cNvPr id="1108" name="Freeform 74"/>
              <p:cNvSpPr>
                <a:spLocks/>
              </p:cNvSpPr>
              <p:nvPr/>
            </p:nvSpPr>
            <p:spPr bwMode="auto">
              <a:xfrm>
                <a:off x="5148" y="3358"/>
                <a:ext cx="9" cy="10"/>
              </a:xfrm>
              <a:custGeom>
                <a:avLst/>
                <a:gdLst>
                  <a:gd name="T0" fmla="*/ 0 w 18"/>
                  <a:gd name="T1" fmla="*/ 1 h 20"/>
                  <a:gd name="T2" fmla="*/ 1 w 18"/>
                  <a:gd name="T3" fmla="*/ 1 h 20"/>
                  <a:gd name="T4" fmla="*/ 1 w 18"/>
                  <a:gd name="T5" fmla="*/ 1 h 20"/>
                  <a:gd name="T6" fmla="*/ 1 w 18"/>
                  <a:gd name="T7" fmla="*/ 1 h 20"/>
                  <a:gd name="T8" fmla="*/ 1 w 18"/>
                  <a:gd name="T9" fmla="*/ 1 h 20"/>
                  <a:gd name="T10" fmla="*/ 1 w 18"/>
                  <a:gd name="T11" fmla="*/ 1 h 20"/>
                  <a:gd name="T12" fmla="*/ 1 w 18"/>
                  <a:gd name="T13" fmla="*/ 1 h 20"/>
                  <a:gd name="T14" fmla="*/ 1 w 18"/>
                  <a:gd name="T15" fmla="*/ 0 h 20"/>
                  <a:gd name="T16" fmla="*/ 1 w 18"/>
                  <a:gd name="T17" fmla="*/ 0 h 20"/>
                  <a:gd name="T18" fmla="*/ 0 w 18"/>
                  <a:gd name="T19" fmla="*/ 1 h 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8"/>
                  <a:gd name="T31" fmla="*/ 0 h 20"/>
                  <a:gd name="T32" fmla="*/ 18 w 18"/>
                  <a:gd name="T33" fmla="*/ 20 h 2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8" h="20">
                    <a:moveTo>
                      <a:pt x="0" y="6"/>
                    </a:moveTo>
                    <a:lnTo>
                      <a:pt x="8" y="12"/>
                    </a:lnTo>
                    <a:lnTo>
                      <a:pt x="10" y="20"/>
                    </a:lnTo>
                    <a:lnTo>
                      <a:pt x="14" y="20"/>
                    </a:lnTo>
                    <a:lnTo>
                      <a:pt x="18" y="14"/>
                    </a:lnTo>
                    <a:lnTo>
                      <a:pt x="18" y="8"/>
                    </a:lnTo>
                    <a:lnTo>
                      <a:pt x="16" y="2"/>
                    </a:lnTo>
                    <a:lnTo>
                      <a:pt x="10" y="0"/>
                    </a:lnTo>
                    <a:lnTo>
                      <a:pt x="8" y="0"/>
                    </a:lnTo>
                    <a:lnTo>
                      <a:pt x="0" y="6"/>
                    </a:lnTo>
                    <a:close/>
                  </a:path>
                </a:pathLst>
              </a:custGeom>
              <a:solidFill>
                <a:srgbClr val="FFFFFF"/>
              </a:solidFill>
              <a:ln w="9525">
                <a:noFill/>
                <a:round/>
                <a:headEnd/>
                <a:tailEnd/>
              </a:ln>
            </p:spPr>
            <p:txBody>
              <a:bodyPr/>
              <a:lstStyle/>
              <a:p>
                <a:endParaRPr lang="en-US"/>
              </a:p>
            </p:txBody>
          </p:sp>
          <p:sp>
            <p:nvSpPr>
              <p:cNvPr id="1109" name="Freeform 75"/>
              <p:cNvSpPr>
                <a:spLocks/>
              </p:cNvSpPr>
              <p:nvPr/>
            </p:nvSpPr>
            <p:spPr bwMode="auto">
              <a:xfrm>
                <a:off x="5154" y="3370"/>
                <a:ext cx="10" cy="9"/>
              </a:xfrm>
              <a:custGeom>
                <a:avLst/>
                <a:gdLst>
                  <a:gd name="T0" fmla="*/ 0 w 19"/>
                  <a:gd name="T1" fmla="*/ 0 h 19"/>
                  <a:gd name="T2" fmla="*/ 1 w 19"/>
                  <a:gd name="T3" fmla="*/ 0 h 19"/>
                  <a:gd name="T4" fmla="*/ 1 w 19"/>
                  <a:gd name="T5" fmla="*/ 0 h 19"/>
                  <a:gd name="T6" fmla="*/ 1 w 19"/>
                  <a:gd name="T7" fmla="*/ 0 h 19"/>
                  <a:gd name="T8" fmla="*/ 1 w 19"/>
                  <a:gd name="T9" fmla="*/ 0 h 19"/>
                  <a:gd name="T10" fmla="*/ 1 w 19"/>
                  <a:gd name="T11" fmla="*/ 0 h 19"/>
                  <a:gd name="T12" fmla="*/ 1 w 19"/>
                  <a:gd name="T13" fmla="*/ 0 h 19"/>
                  <a:gd name="T14" fmla="*/ 1 w 19"/>
                  <a:gd name="T15" fmla="*/ 0 h 19"/>
                  <a:gd name="T16" fmla="*/ 1 w 19"/>
                  <a:gd name="T17" fmla="*/ 0 h 19"/>
                  <a:gd name="T18" fmla="*/ 0 w 19"/>
                  <a:gd name="T19" fmla="*/ 0 h 1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
                  <a:gd name="T31" fmla="*/ 0 h 19"/>
                  <a:gd name="T32" fmla="*/ 19 w 19"/>
                  <a:gd name="T33" fmla="*/ 19 h 1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 h="19">
                    <a:moveTo>
                      <a:pt x="0" y="5"/>
                    </a:moveTo>
                    <a:lnTo>
                      <a:pt x="8" y="11"/>
                    </a:lnTo>
                    <a:lnTo>
                      <a:pt x="10" y="19"/>
                    </a:lnTo>
                    <a:lnTo>
                      <a:pt x="13" y="19"/>
                    </a:lnTo>
                    <a:lnTo>
                      <a:pt x="19" y="13"/>
                    </a:lnTo>
                    <a:lnTo>
                      <a:pt x="19" y="7"/>
                    </a:lnTo>
                    <a:lnTo>
                      <a:pt x="15" y="3"/>
                    </a:lnTo>
                    <a:lnTo>
                      <a:pt x="10" y="0"/>
                    </a:lnTo>
                    <a:lnTo>
                      <a:pt x="8" y="0"/>
                    </a:lnTo>
                    <a:lnTo>
                      <a:pt x="0" y="5"/>
                    </a:lnTo>
                    <a:close/>
                  </a:path>
                </a:pathLst>
              </a:custGeom>
              <a:solidFill>
                <a:srgbClr val="FFFFFF"/>
              </a:solidFill>
              <a:ln w="9525">
                <a:noFill/>
                <a:round/>
                <a:headEnd/>
                <a:tailEnd/>
              </a:ln>
            </p:spPr>
            <p:txBody>
              <a:bodyPr/>
              <a:lstStyle/>
              <a:p>
                <a:endParaRPr lang="en-US"/>
              </a:p>
            </p:txBody>
          </p:sp>
          <p:sp>
            <p:nvSpPr>
              <p:cNvPr id="1110" name="Freeform 76"/>
              <p:cNvSpPr>
                <a:spLocks/>
              </p:cNvSpPr>
              <p:nvPr/>
            </p:nvSpPr>
            <p:spPr bwMode="auto">
              <a:xfrm>
                <a:off x="5161" y="3397"/>
                <a:ext cx="7" cy="8"/>
              </a:xfrm>
              <a:custGeom>
                <a:avLst/>
                <a:gdLst>
                  <a:gd name="T0" fmla="*/ 0 w 16"/>
                  <a:gd name="T1" fmla="*/ 0 h 18"/>
                  <a:gd name="T2" fmla="*/ 0 w 16"/>
                  <a:gd name="T3" fmla="*/ 0 h 18"/>
                  <a:gd name="T4" fmla="*/ 0 w 16"/>
                  <a:gd name="T5" fmla="*/ 0 h 18"/>
                  <a:gd name="T6" fmla="*/ 0 w 16"/>
                  <a:gd name="T7" fmla="*/ 0 h 18"/>
                  <a:gd name="T8" fmla="*/ 0 w 16"/>
                  <a:gd name="T9" fmla="*/ 0 h 18"/>
                  <a:gd name="T10" fmla="*/ 0 w 16"/>
                  <a:gd name="T11" fmla="*/ 0 h 18"/>
                  <a:gd name="T12" fmla="*/ 0 w 16"/>
                  <a:gd name="T13" fmla="*/ 0 h 18"/>
                  <a:gd name="T14" fmla="*/ 0 60000 65536"/>
                  <a:gd name="T15" fmla="*/ 0 60000 65536"/>
                  <a:gd name="T16" fmla="*/ 0 60000 65536"/>
                  <a:gd name="T17" fmla="*/ 0 60000 65536"/>
                  <a:gd name="T18" fmla="*/ 0 60000 65536"/>
                  <a:gd name="T19" fmla="*/ 0 60000 65536"/>
                  <a:gd name="T20" fmla="*/ 0 60000 65536"/>
                  <a:gd name="T21" fmla="*/ 0 w 16"/>
                  <a:gd name="T22" fmla="*/ 0 h 18"/>
                  <a:gd name="T23" fmla="*/ 16 w 16"/>
                  <a:gd name="T24" fmla="*/ 18 h 1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6" h="18">
                    <a:moveTo>
                      <a:pt x="0" y="4"/>
                    </a:moveTo>
                    <a:lnTo>
                      <a:pt x="8" y="10"/>
                    </a:lnTo>
                    <a:lnTo>
                      <a:pt x="8" y="18"/>
                    </a:lnTo>
                    <a:lnTo>
                      <a:pt x="16" y="8"/>
                    </a:lnTo>
                    <a:lnTo>
                      <a:pt x="14" y="4"/>
                    </a:lnTo>
                    <a:lnTo>
                      <a:pt x="10" y="0"/>
                    </a:lnTo>
                    <a:lnTo>
                      <a:pt x="0" y="4"/>
                    </a:lnTo>
                    <a:close/>
                  </a:path>
                </a:pathLst>
              </a:custGeom>
              <a:solidFill>
                <a:srgbClr val="FFFFFF"/>
              </a:solidFill>
              <a:ln w="9525">
                <a:noFill/>
                <a:round/>
                <a:headEnd/>
                <a:tailEnd/>
              </a:ln>
            </p:spPr>
            <p:txBody>
              <a:bodyPr/>
              <a:lstStyle/>
              <a:p>
                <a:endParaRPr lang="en-US"/>
              </a:p>
            </p:txBody>
          </p:sp>
          <p:sp>
            <p:nvSpPr>
              <p:cNvPr id="1111" name="Freeform 77"/>
              <p:cNvSpPr>
                <a:spLocks/>
              </p:cNvSpPr>
              <p:nvPr/>
            </p:nvSpPr>
            <p:spPr bwMode="auto">
              <a:xfrm>
                <a:off x="5124" y="3342"/>
                <a:ext cx="9" cy="6"/>
              </a:xfrm>
              <a:custGeom>
                <a:avLst/>
                <a:gdLst>
                  <a:gd name="T0" fmla="*/ 0 w 18"/>
                  <a:gd name="T1" fmla="*/ 0 h 11"/>
                  <a:gd name="T2" fmla="*/ 1 w 18"/>
                  <a:gd name="T3" fmla="*/ 1 h 11"/>
                  <a:gd name="T4" fmla="*/ 1 w 18"/>
                  <a:gd name="T5" fmla="*/ 1 h 11"/>
                  <a:gd name="T6" fmla="*/ 1 w 18"/>
                  <a:gd name="T7" fmla="*/ 1 h 11"/>
                  <a:gd name="T8" fmla="*/ 1 w 18"/>
                  <a:gd name="T9" fmla="*/ 1 h 11"/>
                  <a:gd name="T10" fmla="*/ 1 w 18"/>
                  <a:gd name="T11" fmla="*/ 0 h 11"/>
                  <a:gd name="T12" fmla="*/ 0 w 18"/>
                  <a:gd name="T13" fmla="*/ 0 h 11"/>
                  <a:gd name="T14" fmla="*/ 0 60000 65536"/>
                  <a:gd name="T15" fmla="*/ 0 60000 65536"/>
                  <a:gd name="T16" fmla="*/ 0 60000 65536"/>
                  <a:gd name="T17" fmla="*/ 0 60000 65536"/>
                  <a:gd name="T18" fmla="*/ 0 60000 65536"/>
                  <a:gd name="T19" fmla="*/ 0 60000 65536"/>
                  <a:gd name="T20" fmla="*/ 0 60000 65536"/>
                  <a:gd name="T21" fmla="*/ 0 w 18"/>
                  <a:gd name="T22" fmla="*/ 0 h 11"/>
                  <a:gd name="T23" fmla="*/ 18 w 18"/>
                  <a:gd name="T24" fmla="*/ 11 h 1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 h="11">
                    <a:moveTo>
                      <a:pt x="0" y="0"/>
                    </a:moveTo>
                    <a:lnTo>
                      <a:pt x="8" y="7"/>
                    </a:lnTo>
                    <a:lnTo>
                      <a:pt x="6" y="11"/>
                    </a:lnTo>
                    <a:lnTo>
                      <a:pt x="18" y="9"/>
                    </a:lnTo>
                    <a:lnTo>
                      <a:pt x="18" y="6"/>
                    </a:lnTo>
                    <a:lnTo>
                      <a:pt x="14" y="0"/>
                    </a:lnTo>
                    <a:lnTo>
                      <a:pt x="0" y="0"/>
                    </a:lnTo>
                    <a:close/>
                  </a:path>
                </a:pathLst>
              </a:custGeom>
              <a:solidFill>
                <a:srgbClr val="FFFFFF"/>
              </a:solidFill>
              <a:ln w="9525">
                <a:noFill/>
                <a:round/>
                <a:headEnd/>
                <a:tailEnd/>
              </a:ln>
            </p:spPr>
            <p:txBody>
              <a:bodyPr/>
              <a:lstStyle/>
              <a:p>
                <a:endParaRPr lang="en-US"/>
              </a:p>
            </p:txBody>
          </p:sp>
          <p:sp>
            <p:nvSpPr>
              <p:cNvPr id="1112" name="Freeform 78"/>
              <p:cNvSpPr>
                <a:spLocks/>
              </p:cNvSpPr>
              <p:nvPr/>
            </p:nvSpPr>
            <p:spPr bwMode="auto">
              <a:xfrm>
                <a:off x="5149" y="3065"/>
                <a:ext cx="113" cy="155"/>
              </a:xfrm>
              <a:custGeom>
                <a:avLst/>
                <a:gdLst>
                  <a:gd name="T0" fmla="*/ 0 w 227"/>
                  <a:gd name="T1" fmla="*/ 1 h 309"/>
                  <a:gd name="T2" fmla="*/ 0 w 227"/>
                  <a:gd name="T3" fmla="*/ 1 h 309"/>
                  <a:gd name="T4" fmla="*/ 0 w 227"/>
                  <a:gd name="T5" fmla="*/ 1 h 309"/>
                  <a:gd name="T6" fmla="*/ 0 w 227"/>
                  <a:gd name="T7" fmla="*/ 1 h 309"/>
                  <a:gd name="T8" fmla="*/ 0 w 227"/>
                  <a:gd name="T9" fmla="*/ 1 h 309"/>
                  <a:gd name="T10" fmla="*/ 0 w 227"/>
                  <a:gd name="T11" fmla="*/ 1 h 309"/>
                  <a:gd name="T12" fmla="*/ 0 w 227"/>
                  <a:gd name="T13" fmla="*/ 1 h 309"/>
                  <a:gd name="T14" fmla="*/ 0 w 227"/>
                  <a:gd name="T15" fmla="*/ 1 h 309"/>
                  <a:gd name="T16" fmla="*/ 0 w 227"/>
                  <a:gd name="T17" fmla="*/ 1 h 309"/>
                  <a:gd name="T18" fmla="*/ 0 w 227"/>
                  <a:gd name="T19" fmla="*/ 1 h 309"/>
                  <a:gd name="T20" fmla="*/ 0 w 227"/>
                  <a:gd name="T21" fmla="*/ 1 h 309"/>
                  <a:gd name="T22" fmla="*/ 0 w 227"/>
                  <a:gd name="T23" fmla="*/ 1 h 309"/>
                  <a:gd name="T24" fmla="*/ 0 w 227"/>
                  <a:gd name="T25" fmla="*/ 1 h 309"/>
                  <a:gd name="T26" fmla="*/ 0 w 227"/>
                  <a:gd name="T27" fmla="*/ 1 h 309"/>
                  <a:gd name="T28" fmla="*/ 0 w 227"/>
                  <a:gd name="T29" fmla="*/ 1 h 309"/>
                  <a:gd name="T30" fmla="*/ 0 w 227"/>
                  <a:gd name="T31" fmla="*/ 1 h 309"/>
                  <a:gd name="T32" fmla="*/ 0 w 227"/>
                  <a:gd name="T33" fmla="*/ 1 h 309"/>
                  <a:gd name="T34" fmla="*/ 0 w 227"/>
                  <a:gd name="T35" fmla="*/ 1 h 309"/>
                  <a:gd name="T36" fmla="*/ 0 w 227"/>
                  <a:gd name="T37" fmla="*/ 1 h 309"/>
                  <a:gd name="T38" fmla="*/ 0 w 227"/>
                  <a:gd name="T39" fmla="*/ 1 h 309"/>
                  <a:gd name="T40" fmla="*/ 0 w 227"/>
                  <a:gd name="T41" fmla="*/ 1 h 309"/>
                  <a:gd name="T42" fmla="*/ 0 w 227"/>
                  <a:gd name="T43" fmla="*/ 1 h 309"/>
                  <a:gd name="T44" fmla="*/ 0 w 227"/>
                  <a:gd name="T45" fmla="*/ 1 h 309"/>
                  <a:gd name="T46" fmla="*/ 0 w 227"/>
                  <a:gd name="T47" fmla="*/ 1 h 309"/>
                  <a:gd name="T48" fmla="*/ 0 w 227"/>
                  <a:gd name="T49" fmla="*/ 1 h 309"/>
                  <a:gd name="T50" fmla="*/ 0 w 227"/>
                  <a:gd name="T51" fmla="*/ 1 h 309"/>
                  <a:gd name="T52" fmla="*/ 0 w 227"/>
                  <a:gd name="T53" fmla="*/ 1 h 309"/>
                  <a:gd name="T54" fmla="*/ 0 w 227"/>
                  <a:gd name="T55" fmla="*/ 1 h 309"/>
                  <a:gd name="T56" fmla="*/ 0 w 227"/>
                  <a:gd name="T57" fmla="*/ 1 h 309"/>
                  <a:gd name="T58" fmla="*/ 0 w 227"/>
                  <a:gd name="T59" fmla="*/ 1 h 309"/>
                  <a:gd name="T60" fmla="*/ 0 w 227"/>
                  <a:gd name="T61" fmla="*/ 1 h 309"/>
                  <a:gd name="T62" fmla="*/ 0 w 227"/>
                  <a:gd name="T63" fmla="*/ 1 h 309"/>
                  <a:gd name="T64" fmla="*/ 0 w 227"/>
                  <a:gd name="T65" fmla="*/ 1 h 309"/>
                  <a:gd name="T66" fmla="*/ 0 w 227"/>
                  <a:gd name="T67" fmla="*/ 1 h 309"/>
                  <a:gd name="T68" fmla="*/ 0 w 227"/>
                  <a:gd name="T69" fmla="*/ 1 h 309"/>
                  <a:gd name="T70" fmla="*/ 0 w 227"/>
                  <a:gd name="T71" fmla="*/ 1 h 309"/>
                  <a:gd name="T72" fmla="*/ 0 w 227"/>
                  <a:gd name="T73" fmla="*/ 1 h 309"/>
                  <a:gd name="T74" fmla="*/ 0 w 227"/>
                  <a:gd name="T75" fmla="*/ 1 h 309"/>
                  <a:gd name="T76" fmla="*/ 0 w 227"/>
                  <a:gd name="T77" fmla="*/ 1 h 309"/>
                  <a:gd name="T78" fmla="*/ 0 w 227"/>
                  <a:gd name="T79" fmla="*/ 1 h 309"/>
                  <a:gd name="T80" fmla="*/ 0 w 227"/>
                  <a:gd name="T81" fmla="*/ 1 h 309"/>
                  <a:gd name="T82" fmla="*/ 0 w 227"/>
                  <a:gd name="T83" fmla="*/ 1 h 309"/>
                  <a:gd name="T84" fmla="*/ 0 w 227"/>
                  <a:gd name="T85" fmla="*/ 1 h 309"/>
                  <a:gd name="T86" fmla="*/ 0 w 227"/>
                  <a:gd name="T87" fmla="*/ 1 h 309"/>
                  <a:gd name="T88" fmla="*/ 0 w 227"/>
                  <a:gd name="T89" fmla="*/ 1 h 309"/>
                  <a:gd name="T90" fmla="*/ 0 w 227"/>
                  <a:gd name="T91" fmla="*/ 1 h 309"/>
                  <a:gd name="T92" fmla="*/ 0 w 227"/>
                  <a:gd name="T93" fmla="*/ 1 h 309"/>
                  <a:gd name="T94" fmla="*/ 0 w 227"/>
                  <a:gd name="T95" fmla="*/ 0 h 309"/>
                  <a:gd name="T96" fmla="*/ 0 w 227"/>
                  <a:gd name="T97" fmla="*/ 1 h 309"/>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227"/>
                  <a:gd name="T148" fmla="*/ 0 h 309"/>
                  <a:gd name="T149" fmla="*/ 227 w 227"/>
                  <a:gd name="T150" fmla="*/ 309 h 309"/>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227" h="309">
                    <a:moveTo>
                      <a:pt x="0" y="103"/>
                    </a:moveTo>
                    <a:lnTo>
                      <a:pt x="0" y="107"/>
                    </a:lnTo>
                    <a:lnTo>
                      <a:pt x="2" y="115"/>
                    </a:lnTo>
                    <a:lnTo>
                      <a:pt x="4" y="142"/>
                    </a:lnTo>
                    <a:lnTo>
                      <a:pt x="6" y="171"/>
                    </a:lnTo>
                    <a:lnTo>
                      <a:pt x="4" y="180"/>
                    </a:lnTo>
                    <a:lnTo>
                      <a:pt x="4" y="188"/>
                    </a:lnTo>
                    <a:lnTo>
                      <a:pt x="4" y="196"/>
                    </a:lnTo>
                    <a:lnTo>
                      <a:pt x="6" y="207"/>
                    </a:lnTo>
                    <a:lnTo>
                      <a:pt x="14" y="236"/>
                    </a:lnTo>
                    <a:lnTo>
                      <a:pt x="25" y="265"/>
                    </a:lnTo>
                    <a:lnTo>
                      <a:pt x="33" y="274"/>
                    </a:lnTo>
                    <a:lnTo>
                      <a:pt x="39" y="280"/>
                    </a:lnTo>
                    <a:lnTo>
                      <a:pt x="50" y="288"/>
                    </a:lnTo>
                    <a:lnTo>
                      <a:pt x="60" y="297"/>
                    </a:lnTo>
                    <a:lnTo>
                      <a:pt x="71" y="305"/>
                    </a:lnTo>
                    <a:lnTo>
                      <a:pt x="89" y="309"/>
                    </a:lnTo>
                    <a:lnTo>
                      <a:pt x="106" y="305"/>
                    </a:lnTo>
                    <a:lnTo>
                      <a:pt x="121" y="299"/>
                    </a:lnTo>
                    <a:lnTo>
                      <a:pt x="133" y="292"/>
                    </a:lnTo>
                    <a:lnTo>
                      <a:pt x="142" y="284"/>
                    </a:lnTo>
                    <a:lnTo>
                      <a:pt x="148" y="278"/>
                    </a:lnTo>
                    <a:lnTo>
                      <a:pt x="152" y="274"/>
                    </a:lnTo>
                    <a:lnTo>
                      <a:pt x="156" y="272"/>
                    </a:lnTo>
                    <a:lnTo>
                      <a:pt x="160" y="269"/>
                    </a:lnTo>
                    <a:lnTo>
                      <a:pt x="167" y="259"/>
                    </a:lnTo>
                    <a:lnTo>
                      <a:pt x="177" y="242"/>
                    </a:lnTo>
                    <a:lnTo>
                      <a:pt x="185" y="224"/>
                    </a:lnTo>
                    <a:lnTo>
                      <a:pt x="190" y="207"/>
                    </a:lnTo>
                    <a:lnTo>
                      <a:pt x="194" y="197"/>
                    </a:lnTo>
                    <a:lnTo>
                      <a:pt x="208" y="197"/>
                    </a:lnTo>
                    <a:lnTo>
                      <a:pt x="211" y="192"/>
                    </a:lnTo>
                    <a:lnTo>
                      <a:pt x="219" y="184"/>
                    </a:lnTo>
                    <a:lnTo>
                      <a:pt x="225" y="172"/>
                    </a:lnTo>
                    <a:lnTo>
                      <a:pt x="227" y="159"/>
                    </a:lnTo>
                    <a:lnTo>
                      <a:pt x="227" y="146"/>
                    </a:lnTo>
                    <a:lnTo>
                      <a:pt x="225" y="132"/>
                    </a:lnTo>
                    <a:lnTo>
                      <a:pt x="223" y="128"/>
                    </a:lnTo>
                    <a:lnTo>
                      <a:pt x="219" y="126"/>
                    </a:lnTo>
                    <a:lnTo>
                      <a:pt x="213" y="128"/>
                    </a:lnTo>
                    <a:lnTo>
                      <a:pt x="206" y="134"/>
                    </a:lnTo>
                    <a:lnTo>
                      <a:pt x="204" y="132"/>
                    </a:lnTo>
                    <a:lnTo>
                      <a:pt x="202" y="123"/>
                    </a:lnTo>
                    <a:lnTo>
                      <a:pt x="204" y="94"/>
                    </a:lnTo>
                    <a:lnTo>
                      <a:pt x="204" y="63"/>
                    </a:lnTo>
                    <a:lnTo>
                      <a:pt x="206" y="53"/>
                    </a:lnTo>
                    <a:lnTo>
                      <a:pt x="206" y="50"/>
                    </a:lnTo>
                    <a:lnTo>
                      <a:pt x="125" y="0"/>
                    </a:lnTo>
                    <a:lnTo>
                      <a:pt x="0" y="103"/>
                    </a:lnTo>
                    <a:close/>
                  </a:path>
                </a:pathLst>
              </a:custGeom>
              <a:solidFill>
                <a:srgbClr val="FFB359"/>
              </a:solidFill>
              <a:ln w="9525">
                <a:noFill/>
                <a:round/>
                <a:headEnd/>
                <a:tailEnd/>
              </a:ln>
            </p:spPr>
            <p:txBody>
              <a:bodyPr/>
              <a:lstStyle/>
              <a:p>
                <a:endParaRPr lang="en-US"/>
              </a:p>
            </p:txBody>
          </p:sp>
          <p:sp>
            <p:nvSpPr>
              <p:cNvPr id="1113" name="Freeform 79"/>
              <p:cNvSpPr>
                <a:spLocks/>
              </p:cNvSpPr>
              <p:nvPr/>
            </p:nvSpPr>
            <p:spPr bwMode="auto">
              <a:xfrm>
                <a:off x="5148" y="3057"/>
                <a:ext cx="111" cy="87"/>
              </a:xfrm>
              <a:custGeom>
                <a:avLst/>
                <a:gdLst>
                  <a:gd name="T0" fmla="*/ 1 w 221"/>
                  <a:gd name="T1" fmla="*/ 0 h 175"/>
                  <a:gd name="T2" fmla="*/ 1 w 221"/>
                  <a:gd name="T3" fmla="*/ 0 h 175"/>
                  <a:gd name="T4" fmla="*/ 1 w 221"/>
                  <a:gd name="T5" fmla="*/ 0 h 175"/>
                  <a:gd name="T6" fmla="*/ 1 w 221"/>
                  <a:gd name="T7" fmla="*/ 0 h 175"/>
                  <a:gd name="T8" fmla="*/ 1 w 221"/>
                  <a:gd name="T9" fmla="*/ 0 h 175"/>
                  <a:gd name="T10" fmla="*/ 1 w 221"/>
                  <a:gd name="T11" fmla="*/ 0 h 175"/>
                  <a:gd name="T12" fmla="*/ 1 w 221"/>
                  <a:gd name="T13" fmla="*/ 0 h 175"/>
                  <a:gd name="T14" fmla="*/ 1 w 221"/>
                  <a:gd name="T15" fmla="*/ 0 h 175"/>
                  <a:gd name="T16" fmla="*/ 1 w 221"/>
                  <a:gd name="T17" fmla="*/ 0 h 175"/>
                  <a:gd name="T18" fmla="*/ 1 w 221"/>
                  <a:gd name="T19" fmla="*/ 0 h 175"/>
                  <a:gd name="T20" fmla="*/ 1 w 221"/>
                  <a:gd name="T21" fmla="*/ 0 h 175"/>
                  <a:gd name="T22" fmla="*/ 1 w 221"/>
                  <a:gd name="T23" fmla="*/ 0 h 175"/>
                  <a:gd name="T24" fmla="*/ 1 w 221"/>
                  <a:gd name="T25" fmla="*/ 0 h 175"/>
                  <a:gd name="T26" fmla="*/ 1 w 221"/>
                  <a:gd name="T27" fmla="*/ 0 h 175"/>
                  <a:gd name="T28" fmla="*/ 1 w 221"/>
                  <a:gd name="T29" fmla="*/ 0 h 175"/>
                  <a:gd name="T30" fmla="*/ 1 w 221"/>
                  <a:gd name="T31" fmla="*/ 0 h 175"/>
                  <a:gd name="T32" fmla="*/ 1 w 221"/>
                  <a:gd name="T33" fmla="*/ 0 h 175"/>
                  <a:gd name="T34" fmla="*/ 1 w 221"/>
                  <a:gd name="T35" fmla="*/ 0 h 175"/>
                  <a:gd name="T36" fmla="*/ 1 w 221"/>
                  <a:gd name="T37" fmla="*/ 0 h 175"/>
                  <a:gd name="T38" fmla="*/ 1 w 221"/>
                  <a:gd name="T39" fmla="*/ 0 h 175"/>
                  <a:gd name="T40" fmla="*/ 1 w 221"/>
                  <a:gd name="T41" fmla="*/ 0 h 175"/>
                  <a:gd name="T42" fmla="*/ 1 w 221"/>
                  <a:gd name="T43" fmla="*/ 0 h 175"/>
                  <a:gd name="T44" fmla="*/ 1 w 221"/>
                  <a:gd name="T45" fmla="*/ 0 h 175"/>
                  <a:gd name="T46" fmla="*/ 1 w 221"/>
                  <a:gd name="T47" fmla="*/ 0 h 175"/>
                  <a:gd name="T48" fmla="*/ 1 w 221"/>
                  <a:gd name="T49" fmla="*/ 0 h 175"/>
                  <a:gd name="T50" fmla="*/ 1 w 221"/>
                  <a:gd name="T51" fmla="*/ 0 h 175"/>
                  <a:gd name="T52" fmla="*/ 1 w 221"/>
                  <a:gd name="T53" fmla="*/ 0 h 175"/>
                  <a:gd name="T54" fmla="*/ 1 w 221"/>
                  <a:gd name="T55" fmla="*/ 0 h 175"/>
                  <a:gd name="T56" fmla="*/ 1 w 221"/>
                  <a:gd name="T57" fmla="*/ 0 h 175"/>
                  <a:gd name="T58" fmla="*/ 1 w 221"/>
                  <a:gd name="T59" fmla="*/ 0 h 175"/>
                  <a:gd name="T60" fmla="*/ 1 w 221"/>
                  <a:gd name="T61" fmla="*/ 0 h 175"/>
                  <a:gd name="T62" fmla="*/ 1 w 221"/>
                  <a:gd name="T63" fmla="*/ 0 h 175"/>
                  <a:gd name="T64" fmla="*/ 1 w 221"/>
                  <a:gd name="T65" fmla="*/ 0 h 175"/>
                  <a:gd name="T66" fmla="*/ 1 w 221"/>
                  <a:gd name="T67" fmla="*/ 0 h 175"/>
                  <a:gd name="T68" fmla="*/ 1 w 221"/>
                  <a:gd name="T69" fmla="*/ 0 h 175"/>
                  <a:gd name="T70" fmla="*/ 1 w 221"/>
                  <a:gd name="T71" fmla="*/ 0 h 175"/>
                  <a:gd name="T72" fmla="*/ 1 w 221"/>
                  <a:gd name="T73" fmla="*/ 0 h 175"/>
                  <a:gd name="T74" fmla="*/ 1 w 221"/>
                  <a:gd name="T75" fmla="*/ 0 h 175"/>
                  <a:gd name="T76" fmla="*/ 1 w 221"/>
                  <a:gd name="T77" fmla="*/ 0 h 175"/>
                  <a:gd name="T78" fmla="*/ 1 w 221"/>
                  <a:gd name="T79" fmla="*/ 0 h 175"/>
                  <a:gd name="T80" fmla="*/ 1 w 221"/>
                  <a:gd name="T81" fmla="*/ 0 h 175"/>
                  <a:gd name="T82" fmla="*/ 1 w 221"/>
                  <a:gd name="T83" fmla="*/ 0 h 175"/>
                  <a:gd name="T84" fmla="*/ 1 w 221"/>
                  <a:gd name="T85" fmla="*/ 0 h 175"/>
                  <a:gd name="T86" fmla="*/ 1 w 221"/>
                  <a:gd name="T87" fmla="*/ 0 h 175"/>
                  <a:gd name="T88" fmla="*/ 1 w 221"/>
                  <a:gd name="T89" fmla="*/ 0 h 175"/>
                  <a:gd name="T90" fmla="*/ 1 w 221"/>
                  <a:gd name="T91" fmla="*/ 0 h 175"/>
                  <a:gd name="T92" fmla="*/ 1 w 221"/>
                  <a:gd name="T93" fmla="*/ 0 h 175"/>
                  <a:gd name="T94" fmla="*/ 1 w 221"/>
                  <a:gd name="T95" fmla="*/ 0 h 175"/>
                  <a:gd name="T96" fmla="*/ 1 w 221"/>
                  <a:gd name="T97" fmla="*/ 0 h 175"/>
                  <a:gd name="T98" fmla="*/ 1 w 221"/>
                  <a:gd name="T99" fmla="*/ 0 h 175"/>
                  <a:gd name="T100" fmla="*/ 0 w 221"/>
                  <a:gd name="T101" fmla="*/ 0 h 175"/>
                  <a:gd name="T102" fmla="*/ 1 w 221"/>
                  <a:gd name="T103" fmla="*/ 0 h 175"/>
                  <a:gd name="T104" fmla="*/ 1 w 221"/>
                  <a:gd name="T105" fmla="*/ 0 h 175"/>
                  <a:gd name="T106" fmla="*/ 1 w 221"/>
                  <a:gd name="T107" fmla="*/ 0 h 175"/>
                  <a:gd name="T108" fmla="*/ 1 w 221"/>
                  <a:gd name="T109" fmla="*/ 0 h 175"/>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21"/>
                  <a:gd name="T166" fmla="*/ 0 h 175"/>
                  <a:gd name="T167" fmla="*/ 221 w 221"/>
                  <a:gd name="T168" fmla="*/ 175 h 175"/>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21" h="175">
                    <a:moveTo>
                      <a:pt x="14" y="133"/>
                    </a:moveTo>
                    <a:lnTo>
                      <a:pt x="16" y="133"/>
                    </a:lnTo>
                    <a:lnTo>
                      <a:pt x="20" y="135"/>
                    </a:lnTo>
                    <a:lnTo>
                      <a:pt x="33" y="141"/>
                    </a:lnTo>
                    <a:lnTo>
                      <a:pt x="66" y="152"/>
                    </a:lnTo>
                    <a:lnTo>
                      <a:pt x="77" y="158"/>
                    </a:lnTo>
                    <a:lnTo>
                      <a:pt x="85" y="164"/>
                    </a:lnTo>
                    <a:lnTo>
                      <a:pt x="96" y="166"/>
                    </a:lnTo>
                    <a:lnTo>
                      <a:pt x="100" y="162"/>
                    </a:lnTo>
                    <a:lnTo>
                      <a:pt x="108" y="156"/>
                    </a:lnTo>
                    <a:lnTo>
                      <a:pt x="129" y="135"/>
                    </a:lnTo>
                    <a:lnTo>
                      <a:pt x="150" y="112"/>
                    </a:lnTo>
                    <a:lnTo>
                      <a:pt x="158" y="100"/>
                    </a:lnTo>
                    <a:lnTo>
                      <a:pt x="162" y="93"/>
                    </a:lnTo>
                    <a:lnTo>
                      <a:pt x="173" y="68"/>
                    </a:lnTo>
                    <a:lnTo>
                      <a:pt x="175" y="58"/>
                    </a:lnTo>
                    <a:lnTo>
                      <a:pt x="177" y="54"/>
                    </a:lnTo>
                    <a:lnTo>
                      <a:pt x="177" y="60"/>
                    </a:lnTo>
                    <a:lnTo>
                      <a:pt x="175" y="69"/>
                    </a:lnTo>
                    <a:lnTo>
                      <a:pt x="173" y="83"/>
                    </a:lnTo>
                    <a:lnTo>
                      <a:pt x="171" y="91"/>
                    </a:lnTo>
                    <a:lnTo>
                      <a:pt x="169" y="96"/>
                    </a:lnTo>
                    <a:lnTo>
                      <a:pt x="165" y="106"/>
                    </a:lnTo>
                    <a:lnTo>
                      <a:pt x="162" y="114"/>
                    </a:lnTo>
                    <a:lnTo>
                      <a:pt x="160" y="117"/>
                    </a:lnTo>
                    <a:lnTo>
                      <a:pt x="162" y="119"/>
                    </a:lnTo>
                    <a:lnTo>
                      <a:pt x="167" y="123"/>
                    </a:lnTo>
                    <a:lnTo>
                      <a:pt x="181" y="135"/>
                    </a:lnTo>
                    <a:lnTo>
                      <a:pt x="185" y="144"/>
                    </a:lnTo>
                    <a:lnTo>
                      <a:pt x="187" y="158"/>
                    </a:lnTo>
                    <a:lnTo>
                      <a:pt x="188" y="169"/>
                    </a:lnTo>
                    <a:lnTo>
                      <a:pt x="188" y="175"/>
                    </a:lnTo>
                    <a:lnTo>
                      <a:pt x="211" y="150"/>
                    </a:lnTo>
                    <a:lnTo>
                      <a:pt x="211" y="148"/>
                    </a:lnTo>
                    <a:lnTo>
                      <a:pt x="213" y="144"/>
                    </a:lnTo>
                    <a:lnTo>
                      <a:pt x="217" y="131"/>
                    </a:lnTo>
                    <a:lnTo>
                      <a:pt x="221" y="93"/>
                    </a:lnTo>
                    <a:lnTo>
                      <a:pt x="217" y="73"/>
                    </a:lnTo>
                    <a:lnTo>
                      <a:pt x="208" y="50"/>
                    </a:lnTo>
                    <a:lnTo>
                      <a:pt x="190" y="31"/>
                    </a:lnTo>
                    <a:lnTo>
                      <a:pt x="167" y="16"/>
                    </a:lnTo>
                    <a:lnTo>
                      <a:pt x="140" y="6"/>
                    </a:lnTo>
                    <a:lnTo>
                      <a:pt x="116" y="0"/>
                    </a:lnTo>
                    <a:lnTo>
                      <a:pt x="87" y="0"/>
                    </a:lnTo>
                    <a:lnTo>
                      <a:pt x="58" y="8"/>
                    </a:lnTo>
                    <a:lnTo>
                      <a:pt x="45" y="16"/>
                    </a:lnTo>
                    <a:lnTo>
                      <a:pt x="33" y="25"/>
                    </a:lnTo>
                    <a:lnTo>
                      <a:pt x="18" y="48"/>
                    </a:lnTo>
                    <a:lnTo>
                      <a:pt x="8" y="71"/>
                    </a:lnTo>
                    <a:lnTo>
                      <a:pt x="2" y="91"/>
                    </a:lnTo>
                    <a:lnTo>
                      <a:pt x="0" y="112"/>
                    </a:lnTo>
                    <a:lnTo>
                      <a:pt x="2" y="135"/>
                    </a:lnTo>
                    <a:lnTo>
                      <a:pt x="4" y="156"/>
                    </a:lnTo>
                    <a:lnTo>
                      <a:pt x="4" y="164"/>
                    </a:lnTo>
                    <a:lnTo>
                      <a:pt x="14" y="133"/>
                    </a:lnTo>
                    <a:close/>
                  </a:path>
                </a:pathLst>
              </a:custGeom>
              <a:solidFill>
                <a:srgbClr val="CCCCCC"/>
              </a:solidFill>
              <a:ln w="9525">
                <a:noFill/>
                <a:round/>
                <a:headEnd/>
                <a:tailEnd/>
              </a:ln>
            </p:spPr>
            <p:txBody>
              <a:bodyPr/>
              <a:lstStyle/>
              <a:p>
                <a:endParaRPr lang="en-US"/>
              </a:p>
            </p:txBody>
          </p:sp>
          <p:sp>
            <p:nvSpPr>
              <p:cNvPr id="1114" name="Freeform 80"/>
              <p:cNvSpPr>
                <a:spLocks/>
              </p:cNvSpPr>
              <p:nvPr/>
            </p:nvSpPr>
            <p:spPr bwMode="auto">
              <a:xfrm>
                <a:off x="5020" y="3312"/>
                <a:ext cx="168" cy="160"/>
              </a:xfrm>
              <a:custGeom>
                <a:avLst/>
                <a:gdLst>
                  <a:gd name="T0" fmla="*/ 0 w 336"/>
                  <a:gd name="T1" fmla="*/ 0 h 319"/>
                  <a:gd name="T2" fmla="*/ 1 w 336"/>
                  <a:gd name="T3" fmla="*/ 1 h 319"/>
                  <a:gd name="T4" fmla="*/ 1 w 336"/>
                  <a:gd name="T5" fmla="*/ 1 h 319"/>
                  <a:gd name="T6" fmla="*/ 1 w 336"/>
                  <a:gd name="T7" fmla="*/ 1 h 319"/>
                  <a:gd name="T8" fmla="*/ 1 w 336"/>
                  <a:gd name="T9" fmla="*/ 1 h 319"/>
                  <a:gd name="T10" fmla="*/ 1 w 336"/>
                  <a:gd name="T11" fmla="*/ 1 h 319"/>
                  <a:gd name="T12" fmla="*/ 1 w 336"/>
                  <a:gd name="T13" fmla="*/ 1 h 319"/>
                  <a:gd name="T14" fmla="*/ 1 w 336"/>
                  <a:gd name="T15" fmla="*/ 1 h 319"/>
                  <a:gd name="T16" fmla="*/ 1 w 336"/>
                  <a:gd name="T17" fmla="*/ 1 h 319"/>
                  <a:gd name="T18" fmla="*/ 1 w 336"/>
                  <a:gd name="T19" fmla="*/ 1 h 319"/>
                  <a:gd name="T20" fmla="*/ 1 w 336"/>
                  <a:gd name="T21" fmla="*/ 1 h 319"/>
                  <a:gd name="T22" fmla="*/ 1 w 336"/>
                  <a:gd name="T23" fmla="*/ 1 h 319"/>
                  <a:gd name="T24" fmla="*/ 1 w 336"/>
                  <a:gd name="T25" fmla="*/ 1 h 319"/>
                  <a:gd name="T26" fmla="*/ 1 w 336"/>
                  <a:gd name="T27" fmla="*/ 1 h 319"/>
                  <a:gd name="T28" fmla="*/ 1 w 336"/>
                  <a:gd name="T29" fmla="*/ 1 h 319"/>
                  <a:gd name="T30" fmla="*/ 1 w 336"/>
                  <a:gd name="T31" fmla="*/ 1 h 319"/>
                  <a:gd name="T32" fmla="*/ 1 w 336"/>
                  <a:gd name="T33" fmla="*/ 1 h 319"/>
                  <a:gd name="T34" fmla="*/ 1 w 336"/>
                  <a:gd name="T35" fmla="*/ 1 h 319"/>
                  <a:gd name="T36" fmla="*/ 1 w 336"/>
                  <a:gd name="T37" fmla="*/ 1 h 319"/>
                  <a:gd name="T38" fmla="*/ 1 w 336"/>
                  <a:gd name="T39" fmla="*/ 1 h 319"/>
                  <a:gd name="T40" fmla="*/ 1 w 336"/>
                  <a:gd name="T41" fmla="*/ 1 h 319"/>
                  <a:gd name="T42" fmla="*/ 1 w 336"/>
                  <a:gd name="T43" fmla="*/ 1 h 319"/>
                  <a:gd name="T44" fmla="*/ 1 w 336"/>
                  <a:gd name="T45" fmla="*/ 1 h 319"/>
                  <a:gd name="T46" fmla="*/ 1 w 336"/>
                  <a:gd name="T47" fmla="*/ 1 h 319"/>
                  <a:gd name="T48" fmla="*/ 1 w 336"/>
                  <a:gd name="T49" fmla="*/ 1 h 319"/>
                  <a:gd name="T50" fmla="*/ 1 w 336"/>
                  <a:gd name="T51" fmla="*/ 1 h 319"/>
                  <a:gd name="T52" fmla="*/ 1 w 336"/>
                  <a:gd name="T53" fmla="*/ 1 h 319"/>
                  <a:gd name="T54" fmla="*/ 1 w 336"/>
                  <a:gd name="T55" fmla="*/ 1 h 319"/>
                  <a:gd name="T56" fmla="*/ 1 w 336"/>
                  <a:gd name="T57" fmla="*/ 1 h 319"/>
                  <a:gd name="T58" fmla="*/ 1 w 336"/>
                  <a:gd name="T59" fmla="*/ 1 h 319"/>
                  <a:gd name="T60" fmla="*/ 1 w 336"/>
                  <a:gd name="T61" fmla="*/ 1 h 319"/>
                  <a:gd name="T62" fmla="*/ 1 w 336"/>
                  <a:gd name="T63" fmla="*/ 1 h 319"/>
                  <a:gd name="T64" fmla="*/ 1 w 336"/>
                  <a:gd name="T65" fmla="*/ 1 h 319"/>
                  <a:gd name="T66" fmla="*/ 1 w 336"/>
                  <a:gd name="T67" fmla="*/ 1 h 319"/>
                  <a:gd name="T68" fmla="*/ 1 w 336"/>
                  <a:gd name="T69" fmla="*/ 1 h 319"/>
                  <a:gd name="T70" fmla="*/ 1 w 336"/>
                  <a:gd name="T71" fmla="*/ 1 h 319"/>
                  <a:gd name="T72" fmla="*/ 1 w 336"/>
                  <a:gd name="T73" fmla="*/ 1 h 319"/>
                  <a:gd name="T74" fmla="*/ 1 w 336"/>
                  <a:gd name="T75" fmla="*/ 1 h 319"/>
                  <a:gd name="T76" fmla="*/ 1 w 336"/>
                  <a:gd name="T77" fmla="*/ 1 h 319"/>
                  <a:gd name="T78" fmla="*/ 0 w 336"/>
                  <a:gd name="T79" fmla="*/ 0 h 319"/>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336"/>
                  <a:gd name="T121" fmla="*/ 0 h 319"/>
                  <a:gd name="T122" fmla="*/ 336 w 336"/>
                  <a:gd name="T123" fmla="*/ 319 h 319"/>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336" h="319">
                    <a:moveTo>
                      <a:pt x="0" y="0"/>
                    </a:moveTo>
                    <a:lnTo>
                      <a:pt x="2" y="2"/>
                    </a:lnTo>
                    <a:lnTo>
                      <a:pt x="8" y="6"/>
                    </a:lnTo>
                    <a:lnTo>
                      <a:pt x="27" y="16"/>
                    </a:lnTo>
                    <a:lnTo>
                      <a:pt x="50" y="27"/>
                    </a:lnTo>
                    <a:lnTo>
                      <a:pt x="62" y="29"/>
                    </a:lnTo>
                    <a:lnTo>
                      <a:pt x="73" y="29"/>
                    </a:lnTo>
                    <a:lnTo>
                      <a:pt x="117" y="31"/>
                    </a:lnTo>
                    <a:lnTo>
                      <a:pt x="160" y="39"/>
                    </a:lnTo>
                    <a:lnTo>
                      <a:pt x="177" y="43"/>
                    </a:lnTo>
                    <a:lnTo>
                      <a:pt x="190" y="46"/>
                    </a:lnTo>
                    <a:lnTo>
                      <a:pt x="200" y="48"/>
                    </a:lnTo>
                    <a:lnTo>
                      <a:pt x="204" y="48"/>
                    </a:lnTo>
                    <a:lnTo>
                      <a:pt x="206" y="50"/>
                    </a:lnTo>
                    <a:lnTo>
                      <a:pt x="208" y="56"/>
                    </a:lnTo>
                    <a:lnTo>
                      <a:pt x="211" y="66"/>
                    </a:lnTo>
                    <a:lnTo>
                      <a:pt x="217" y="79"/>
                    </a:lnTo>
                    <a:lnTo>
                      <a:pt x="232" y="110"/>
                    </a:lnTo>
                    <a:lnTo>
                      <a:pt x="267" y="183"/>
                    </a:lnTo>
                    <a:lnTo>
                      <a:pt x="286" y="217"/>
                    </a:lnTo>
                    <a:lnTo>
                      <a:pt x="300" y="244"/>
                    </a:lnTo>
                    <a:lnTo>
                      <a:pt x="307" y="256"/>
                    </a:lnTo>
                    <a:lnTo>
                      <a:pt x="311" y="261"/>
                    </a:lnTo>
                    <a:lnTo>
                      <a:pt x="325" y="281"/>
                    </a:lnTo>
                    <a:lnTo>
                      <a:pt x="332" y="300"/>
                    </a:lnTo>
                    <a:lnTo>
                      <a:pt x="336" y="313"/>
                    </a:lnTo>
                    <a:lnTo>
                      <a:pt x="336" y="319"/>
                    </a:lnTo>
                    <a:lnTo>
                      <a:pt x="332" y="319"/>
                    </a:lnTo>
                    <a:lnTo>
                      <a:pt x="323" y="317"/>
                    </a:lnTo>
                    <a:lnTo>
                      <a:pt x="309" y="313"/>
                    </a:lnTo>
                    <a:lnTo>
                      <a:pt x="292" y="311"/>
                    </a:lnTo>
                    <a:lnTo>
                      <a:pt x="255" y="304"/>
                    </a:lnTo>
                    <a:lnTo>
                      <a:pt x="240" y="302"/>
                    </a:lnTo>
                    <a:lnTo>
                      <a:pt x="229" y="302"/>
                    </a:lnTo>
                    <a:lnTo>
                      <a:pt x="206" y="302"/>
                    </a:lnTo>
                    <a:lnTo>
                      <a:pt x="179" y="300"/>
                    </a:lnTo>
                    <a:lnTo>
                      <a:pt x="156" y="296"/>
                    </a:lnTo>
                    <a:lnTo>
                      <a:pt x="146" y="294"/>
                    </a:lnTo>
                    <a:lnTo>
                      <a:pt x="140" y="292"/>
                    </a:lnTo>
                    <a:lnTo>
                      <a:pt x="0" y="0"/>
                    </a:lnTo>
                    <a:close/>
                  </a:path>
                </a:pathLst>
              </a:custGeom>
              <a:solidFill>
                <a:srgbClr val="FFFFFF"/>
              </a:solidFill>
              <a:ln w="9525">
                <a:noFill/>
                <a:round/>
                <a:headEnd/>
                <a:tailEnd/>
              </a:ln>
            </p:spPr>
            <p:txBody>
              <a:bodyPr/>
              <a:lstStyle/>
              <a:p>
                <a:endParaRPr lang="en-US"/>
              </a:p>
            </p:txBody>
          </p:sp>
          <p:sp>
            <p:nvSpPr>
              <p:cNvPr id="1115" name="Freeform 81"/>
              <p:cNvSpPr>
                <a:spLocks/>
              </p:cNvSpPr>
              <p:nvPr/>
            </p:nvSpPr>
            <p:spPr bwMode="auto">
              <a:xfrm>
                <a:off x="5057" y="3402"/>
                <a:ext cx="29" cy="16"/>
              </a:xfrm>
              <a:custGeom>
                <a:avLst/>
                <a:gdLst>
                  <a:gd name="T0" fmla="*/ 0 w 58"/>
                  <a:gd name="T1" fmla="*/ 1 h 31"/>
                  <a:gd name="T2" fmla="*/ 0 w 58"/>
                  <a:gd name="T3" fmla="*/ 1 h 31"/>
                  <a:gd name="T4" fmla="*/ 1 w 58"/>
                  <a:gd name="T5" fmla="*/ 1 h 31"/>
                  <a:gd name="T6" fmla="*/ 1 w 58"/>
                  <a:gd name="T7" fmla="*/ 1 h 31"/>
                  <a:gd name="T8" fmla="*/ 1 w 58"/>
                  <a:gd name="T9" fmla="*/ 1 h 31"/>
                  <a:gd name="T10" fmla="*/ 1 w 58"/>
                  <a:gd name="T11" fmla="*/ 1 h 31"/>
                  <a:gd name="T12" fmla="*/ 1 w 58"/>
                  <a:gd name="T13" fmla="*/ 1 h 31"/>
                  <a:gd name="T14" fmla="*/ 1 w 58"/>
                  <a:gd name="T15" fmla="*/ 1 h 31"/>
                  <a:gd name="T16" fmla="*/ 1 w 58"/>
                  <a:gd name="T17" fmla="*/ 1 h 31"/>
                  <a:gd name="T18" fmla="*/ 1 w 58"/>
                  <a:gd name="T19" fmla="*/ 1 h 31"/>
                  <a:gd name="T20" fmla="*/ 1 w 58"/>
                  <a:gd name="T21" fmla="*/ 1 h 31"/>
                  <a:gd name="T22" fmla="*/ 1 w 58"/>
                  <a:gd name="T23" fmla="*/ 0 h 31"/>
                  <a:gd name="T24" fmla="*/ 1 w 58"/>
                  <a:gd name="T25" fmla="*/ 0 h 31"/>
                  <a:gd name="T26" fmla="*/ 1 w 58"/>
                  <a:gd name="T27" fmla="*/ 0 h 31"/>
                  <a:gd name="T28" fmla="*/ 1 w 58"/>
                  <a:gd name="T29" fmla="*/ 1 h 31"/>
                  <a:gd name="T30" fmla="*/ 1 w 58"/>
                  <a:gd name="T31" fmla="*/ 1 h 31"/>
                  <a:gd name="T32" fmla="*/ 0 w 58"/>
                  <a:gd name="T33" fmla="*/ 1 h 3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58"/>
                  <a:gd name="T52" fmla="*/ 0 h 31"/>
                  <a:gd name="T53" fmla="*/ 58 w 58"/>
                  <a:gd name="T54" fmla="*/ 31 h 3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58" h="31">
                    <a:moveTo>
                      <a:pt x="0" y="6"/>
                    </a:moveTo>
                    <a:lnTo>
                      <a:pt x="0" y="13"/>
                    </a:lnTo>
                    <a:lnTo>
                      <a:pt x="4" y="25"/>
                    </a:lnTo>
                    <a:lnTo>
                      <a:pt x="8" y="29"/>
                    </a:lnTo>
                    <a:lnTo>
                      <a:pt x="15" y="31"/>
                    </a:lnTo>
                    <a:lnTo>
                      <a:pt x="25" y="31"/>
                    </a:lnTo>
                    <a:lnTo>
                      <a:pt x="33" y="29"/>
                    </a:lnTo>
                    <a:lnTo>
                      <a:pt x="48" y="23"/>
                    </a:lnTo>
                    <a:lnTo>
                      <a:pt x="54" y="19"/>
                    </a:lnTo>
                    <a:lnTo>
                      <a:pt x="58" y="15"/>
                    </a:lnTo>
                    <a:lnTo>
                      <a:pt x="58" y="4"/>
                    </a:lnTo>
                    <a:lnTo>
                      <a:pt x="54" y="0"/>
                    </a:lnTo>
                    <a:lnTo>
                      <a:pt x="48" y="0"/>
                    </a:lnTo>
                    <a:lnTo>
                      <a:pt x="37" y="0"/>
                    </a:lnTo>
                    <a:lnTo>
                      <a:pt x="21" y="4"/>
                    </a:lnTo>
                    <a:lnTo>
                      <a:pt x="6" y="6"/>
                    </a:lnTo>
                    <a:lnTo>
                      <a:pt x="0" y="6"/>
                    </a:lnTo>
                    <a:close/>
                  </a:path>
                </a:pathLst>
              </a:custGeom>
              <a:solidFill>
                <a:srgbClr val="FFB359"/>
              </a:solidFill>
              <a:ln w="9525">
                <a:noFill/>
                <a:round/>
                <a:headEnd/>
                <a:tailEnd/>
              </a:ln>
            </p:spPr>
            <p:txBody>
              <a:bodyPr/>
              <a:lstStyle/>
              <a:p>
                <a:endParaRPr lang="en-US"/>
              </a:p>
            </p:txBody>
          </p:sp>
          <p:sp>
            <p:nvSpPr>
              <p:cNvPr id="1116" name="Freeform 82"/>
              <p:cNvSpPr>
                <a:spLocks/>
              </p:cNvSpPr>
              <p:nvPr/>
            </p:nvSpPr>
            <p:spPr bwMode="auto">
              <a:xfrm>
                <a:off x="5045" y="3388"/>
                <a:ext cx="36" cy="20"/>
              </a:xfrm>
              <a:custGeom>
                <a:avLst/>
                <a:gdLst>
                  <a:gd name="T0" fmla="*/ 0 w 73"/>
                  <a:gd name="T1" fmla="*/ 0 h 40"/>
                  <a:gd name="T2" fmla="*/ 0 w 73"/>
                  <a:gd name="T3" fmla="*/ 1 h 40"/>
                  <a:gd name="T4" fmla="*/ 0 w 73"/>
                  <a:gd name="T5" fmla="*/ 1 h 40"/>
                  <a:gd name="T6" fmla="*/ 0 w 73"/>
                  <a:gd name="T7" fmla="*/ 1 h 40"/>
                  <a:gd name="T8" fmla="*/ 0 w 73"/>
                  <a:gd name="T9" fmla="*/ 1 h 40"/>
                  <a:gd name="T10" fmla="*/ 0 w 73"/>
                  <a:gd name="T11" fmla="*/ 1 h 40"/>
                  <a:gd name="T12" fmla="*/ 0 w 73"/>
                  <a:gd name="T13" fmla="*/ 1 h 40"/>
                  <a:gd name="T14" fmla="*/ 0 w 73"/>
                  <a:gd name="T15" fmla="*/ 1 h 40"/>
                  <a:gd name="T16" fmla="*/ 0 w 73"/>
                  <a:gd name="T17" fmla="*/ 1 h 40"/>
                  <a:gd name="T18" fmla="*/ 0 w 73"/>
                  <a:gd name="T19" fmla="*/ 1 h 40"/>
                  <a:gd name="T20" fmla="*/ 0 w 73"/>
                  <a:gd name="T21" fmla="*/ 1 h 40"/>
                  <a:gd name="T22" fmla="*/ 0 w 73"/>
                  <a:gd name="T23" fmla="*/ 1 h 40"/>
                  <a:gd name="T24" fmla="*/ 0 w 73"/>
                  <a:gd name="T25" fmla="*/ 1 h 40"/>
                  <a:gd name="T26" fmla="*/ 0 w 73"/>
                  <a:gd name="T27" fmla="*/ 1 h 40"/>
                  <a:gd name="T28" fmla="*/ 0 w 73"/>
                  <a:gd name="T29" fmla="*/ 1 h 40"/>
                  <a:gd name="T30" fmla="*/ 0 w 73"/>
                  <a:gd name="T31" fmla="*/ 0 h 4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73"/>
                  <a:gd name="T49" fmla="*/ 0 h 40"/>
                  <a:gd name="T50" fmla="*/ 73 w 73"/>
                  <a:gd name="T51" fmla="*/ 40 h 40"/>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73" h="40">
                    <a:moveTo>
                      <a:pt x="0" y="0"/>
                    </a:moveTo>
                    <a:lnTo>
                      <a:pt x="0" y="10"/>
                    </a:lnTo>
                    <a:lnTo>
                      <a:pt x="6" y="25"/>
                    </a:lnTo>
                    <a:lnTo>
                      <a:pt x="17" y="35"/>
                    </a:lnTo>
                    <a:lnTo>
                      <a:pt x="29" y="40"/>
                    </a:lnTo>
                    <a:lnTo>
                      <a:pt x="37" y="40"/>
                    </a:lnTo>
                    <a:lnTo>
                      <a:pt x="48" y="36"/>
                    </a:lnTo>
                    <a:lnTo>
                      <a:pt x="60" y="35"/>
                    </a:lnTo>
                    <a:lnTo>
                      <a:pt x="67" y="33"/>
                    </a:lnTo>
                    <a:lnTo>
                      <a:pt x="73" y="29"/>
                    </a:lnTo>
                    <a:lnTo>
                      <a:pt x="73" y="25"/>
                    </a:lnTo>
                    <a:lnTo>
                      <a:pt x="69" y="19"/>
                    </a:lnTo>
                    <a:lnTo>
                      <a:pt x="60" y="10"/>
                    </a:lnTo>
                    <a:lnTo>
                      <a:pt x="54" y="8"/>
                    </a:lnTo>
                    <a:lnTo>
                      <a:pt x="48" y="10"/>
                    </a:lnTo>
                    <a:lnTo>
                      <a:pt x="0" y="0"/>
                    </a:lnTo>
                    <a:close/>
                  </a:path>
                </a:pathLst>
              </a:custGeom>
              <a:solidFill>
                <a:srgbClr val="FFB359"/>
              </a:solidFill>
              <a:ln w="9525">
                <a:noFill/>
                <a:round/>
                <a:headEnd/>
                <a:tailEnd/>
              </a:ln>
            </p:spPr>
            <p:txBody>
              <a:bodyPr/>
              <a:lstStyle/>
              <a:p>
                <a:endParaRPr lang="en-US"/>
              </a:p>
            </p:txBody>
          </p:sp>
          <p:sp>
            <p:nvSpPr>
              <p:cNvPr id="1117" name="Freeform 83"/>
              <p:cNvSpPr>
                <a:spLocks/>
              </p:cNvSpPr>
              <p:nvPr/>
            </p:nvSpPr>
            <p:spPr bwMode="auto">
              <a:xfrm>
                <a:off x="5033" y="3373"/>
                <a:ext cx="39" cy="26"/>
              </a:xfrm>
              <a:custGeom>
                <a:avLst/>
                <a:gdLst>
                  <a:gd name="T0" fmla="*/ 0 w 79"/>
                  <a:gd name="T1" fmla="*/ 0 h 52"/>
                  <a:gd name="T2" fmla="*/ 0 w 79"/>
                  <a:gd name="T3" fmla="*/ 1 h 52"/>
                  <a:gd name="T4" fmla="*/ 0 w 79"/>
                  <a:gd name="T5" fmla="*/ 1 h 52"/>
                  <a:gd name="T6" fmla="*/ 0 w 79"/>
                  <a:gd name="T7" fmla="*/ 1 h 52"/>
                  <a:gd name="T8" fmla="*/ 0 w 79"/>
                  <a:gd name="T9" fmla="*/ 1 h 52"/>
                  <a:gd name="T10" fmla="*/ 0 w 79"/>
                  <a:gd name="T11" fmla="*/ 1 h 52"/>
                  <a:gd name="T12" fmla="*/ 0 w 79"/>
                  <a:gd name="T13" fmla="*/ 1 h 52"/>
                  <a:gd name="T14" fmla="*/ 0 w 79"/>
                  <a:gd name="T15" fmla="*/ 1 h 52"/>
                  <a:gd name="T16" fmla="*/ 0 w 79"/>
                  <a:gd name="T17" fmla="*/ 1 h 52"/>
                  <a:gd name="T18" fmla="*/ 0 w 79"/>
                  <a:gd name="T19" fmla="*/ 1 h 52"/>
                  <a:gd name="T20" fmla="*/ 0 w 79"/>
                  <a:gd name="T21" fmla="*/ 1 h 52"/>
                  <a:gd name="T22" fmla="*/ 0 w 79"/>
                  <a:gd name="T23" fmla="*/ 1 h 52"/>
                  <a:gd name="T24" fmla="*/ 0 w 79"/>
                  <a:gd name="T25" fmla="*/ 1 h 52"/>
                  <a:gd name="T26" fmla="*/ 0 w 79"/>
                  <a:gd name="T27" fmla="*/ 1 h 52"/>
                  <a:gd name="T28" fmla="*/ 0 w 79"/>
                  <a:gd name="T29" fmla="*/ 1 h 52"/>
                  <a:gd name="T30" fmla="*/ 0 w 79"/>
                  <a:gd name="T31" fmla="*/ 1 h 52"/>
                  <a:gd name="T32" fmla="*/ 0 w 79"/>
                  <a:gd name="T33" fmla="*/ 1 h 52"/>
                  <a:gd name="T34" fmla="*/ 0 w 79"/>
                  <a:gd name="T35" fmla="*/ 1 h 52"/>
                  <a:gd name="T36" fmla="*/ 0 w 79"/>
                  <a:gd name="T37" fmla="*/ 1 h 52"/>
                  <a:gd name="T38" fmla="*/ 0 w 79"/>
                  <a:gd name="T39" fmla="*/ 1 h 52"/>
                  <a:gd name="T40" fmla="*/ 0 w 79"/>
                  <a:gd name="T41" fmla="*/ 0 h 52"/>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79"/>
                  <a:gd name="T64" fmla="*/ 0 h 52"/>
                  <a:gd name="T65" fmla="*/ 79 w 79"/>
                  <a:gd name="T66" fmla="*/ 52 h 52"/>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79" h="52">
                    <a:moveTo>
                      <a:pt x="2" y="0"/>
                    </a:moveTo>
                    <a:lnTo>
                      <a:pt x="2" y="2"/>
                    </a:lnTo>
                    <a:lnTo>
                      <a:pt x="0" y="8"/>
                    </a:lnTo>
                    <a:lnTo>
                      <a:pt x="2" y="23"/>
                    </a:lnTo>
                    <a:lnTo>
                      <a:pt x="10" y="31"/>
                    </a:lnTo>
                    <a:lnTo>
                      <a:pt x="21" y="41"/>
                    </a:lnTo>
                    <a:lnTo>
                      <a:pt x="35" y="48"/>
                    </a:lnTo>
                    <a:lnTo>
                      <a:pt x="39" y="52"/>
                    </a:lnTo>
                    <a:lnTo>
                      <a:pt x="40" y="52"/>
                    </a:lnTo>
                    <a:lnTo>
                      <a:pt x="44" y="50"/>
                    </a:lnTo>
                    <a:lnTo>
                      <a:pt x="54" y="46"/>
                    </a:lnTo>
                    <a:lnTo>
                      <a:pt x="65" y="41"/>
                    </a:lnTo>
                    <a:lnTo>
                      <a:pt x="73" y="37"/>
                    </a:lnTo>
                    <a:lnTo>
                      <a:pt x="79" y="27"/>
                    </a:lnTo>
                    <a:lnTo>
                      <a:pt x="79" y="23"/>
                    </a:lnTo>
                    <a:lnTo>
                      <a:pt x="75" y="18"/>
                    </a:lnTo>
                    <a:lnTo>
                      <a:pt x="69" y="16"/>
                    </a:lnTo>
                    <a:lnTo>
                      <a:pt x="62" y="16"/>
                    </a:lnTo>
                    <a:lnTo>
                      <a:pt x="54" y="18"/>
                    </a:lnTo>
                    <a:lnTo>
                      <a:pt x="50" y="19"/>
                    </a:lnTo>
                    <a:lnTo>
                      <a:pt x="2" y="0"/>
                    </a:lnTo>
                    <a:close/>
                  </a:path>
                </a:pathLst>
              </a:custGeom>
              <a:solidFill>
                <a:srgbClr val="FFB359"/>
              </a:solidFill>
              <a:ln w="9525">
                <a:noFill/>
                <a:round/>
                <a:headEnd/>
                <a:tailEnd/>
              </a:ln>
            </p:spPr>
            <p:txBody>
              <a:bodyPr/>
              <a:lstStyle/>
              <a:p>
                <a:endParaRPr lang="en-US"/>
              </a:p>
            </p:txBody>
          </p:sp>
          <p:sp>
            <p:nvSpPr>
              <p:cNvPr id="1118" name="Freeform 84"/>
              <p:cNvSpPr>
                <a:spLocks/>
              </p:cNvSpPr>
              <p:nvPr/>
            </p:nvSpPr>
            <p:spPr bwMode="auto">
              <a:xfrm>
                <a:off x="5027" y="3351"/>
                <a:ext cx="35" cy="39"/>
              </a:xfrm>
              <a:custGeom>
                <a:avLst/>
                <a:gdLst>
                  <a:gd name="T0" fmla="*/ 1 w 69"/>
                  <a:gd name="T1" fmla="*/ 0 h 79"/>
                  <a:gd name="T2" fmla="*/ 1 w 69"/>
                  <a:gd name="T3" fmla="*/ 0 h 79"/>
                  <a:gd name="T4" fmla="*/ 1 w 69"/>
                  <a:gd name="T5" fmla="*/ 0 h 79"/>
                  <a:gd name="T6" fmla="*/ 1 w 69"/>
                  <a:gd name="T7" fmla="*/ 0 h 79"/>
                  <a:gd name="T8" fmla="*/ 1 w 69"/>
                  <a:gd name="T9" fmla="*/ 0 h 79"/>
                  <a:gd name="T10" fmla="*/ 1 w 69"/>
                  <a:gd name="T11" fmla="*/ 0 h 79"/>
                  <a:gd name="T12" fmla="*/ 1 w 69"/>
                  <a:gd name="T13" fmla="*/ 0 h 79"/>
                  <a:gd name="T14" fmla="*/ 1 w 69"/>
                  <a:gd name="T15" fmla="*/ 0 h 79"/>
                  <a:gd name="T16" fmla="*/ 1 w 69"/>
                  <a:gd name="T17" fmla="*/ 0 h 79"/>
                  <a:gd name="T18" fmla="*/ 1 w 69"/>
                  <a:gd name="T19" fmla="*/ 0 h 79"/>
                  <a:gd name="T20" fmla="*/ 1 w 69"/>
                  <a:gd name="T21" fmla="*/ 0 h 79"/>
                  <a:gd name="T22" fmla="*/ 1 w 69"/>
                  <a:gd name="T23" fmla="*/ 0 h 79"/>
                  <a:gd name="T24" fmla="*/ 1 w 69"/>
                  <a:gd name="T25" fmla="*/ 0 h 79"/>
                  <a:gd name="T26" fmla="*/ 1 w 69"/>
                  <a:gd name="T27" fmla="*/ 0 h 79"/>
                  <a:gd name="T28" fmla="*/ 1 w 69"/>
                  <a:gd name="T29" fmla="*/ 0 h 79"/>
                  <a:gd name="T30" fmla="*/ 1 w 69"/>
                  <a:gd name="T31" fmla="*/ 0 h 79"/>
                  <a:gd name="T32" fmla="*/ 1 w 69"/>
                  <a:gd name="T33" fmla="*/ 0 h 79"/>
                  <a:gd name="T34" fmla="*/ 0 w 69"/>
                  <a:gd name="T35" fmla="*/ 0 h 79"/>
                  <a:gd name="T36" fmla="*/ 1 w 69"/>
                  <a:gd name="T37" fmla="*/ 0 h 7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69"/>
                  <a:gd name="T58" fmla="*/ 0 h 79"/>
                  <a:gd name="T59" fmla="*/ 69 w 69"/>
                  <a:gd name="T60" fmla="*/ 79 h 7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69" h="79">
                    <a:moveTo>
                      <a:pt x="21" y="0"/>
                    </a:moveTo>
                    <a:lnTo>
                      <a:pt x="34" y="23"/>
                    </a:lnTo>
                    <a:lnTo>
                      <a:pt x="40" y="42"/>
                    </a:lnTo>
                    <a:lnTo>
                      <a:pt x="44" y="44"/>
                    </a:lnTo>
                    <a:lnTo>
                      <a:pt x="51" y="46"/>
                    </a:lnTo>
                    <a:lnTo>
                      <a:pt x="61" y="50"/>
                    </a:lnTo>
                    <a:lnTo>
                      <a:pt x="69" y="60"/>
                    </a:lnTo>
                    <a:lnTo>
                      <a:pt x="69" y="67"/>
                    </a:lnTo>
                    <a:lnTo>
                      <a:pt x="65" y="75"/>
                    </a:lnTo>
                    <a:lnTo>
                      <a:pt x="57" y="79"/>
                    </a:lnTo>
                    <a:lnTo>
                      <a:pt x="50" y="77"/>
                    </a:lnTo>
                    <a:lnTo>
                      <a:pt x="32" y="63"/>
                    </a:lnTo>
                    <a:lnTo>
                      <a:pt x="23" y="58"/>
                    </a:lnTo>
                    <a:lnTo>
                      <a:pt x="15" y="56"/>
                    </a:lnTo>
                    <a:lnTo>
                      <a:pt x="9" y="50"/>
                    </a:lnTo>
                    <a:lnTo>
                      <a:pt x="5" y="42"/>
                    </a:lnTo>
                    <a:lnTo>
                      <a:pt x="2" y="33"/>
                    </a:lnTo>
                    <a:lnTo>
                      <a:pt x="0" y="29"/>
                    </a:lnTo>
                    <a:lnTo>
                      <a:pt x="21" y="0"/>
                    </a:lnTo>
                    <a:close/>
                  </a:path>
                </a:pathLst>
              </a:custGeom>
              <a:solidFill>
                <a:srgbClr val="FFB359"/>
              </a:solidFill>
              <a:ln w="9525">
                <a:noFill/>
                <a:round/>
                <a:headEnd/>
                <a:tailEnd/>
              </a:ln>
            </p:spPr>
            <p:txBody>
              <a:bodyPr/>
              <a:lstStyle/>
              <a:p>
                <a:endParaRPr lang="en-US"/>
              </a:p>
            </p:txBody>
          </p:sp>
          <p:sp>
            <p:nvSpPr>
              <p:cNvPr id="1119" name="Freeform 85"/>
              <p:cNvSpPr>
                <a:spLocks/>
              </p:cNvSpPr>
              <p:nvPr/>
            </p:nvSpPr>
            <p:spPr bwMode="auto">
              <a:xfrm>
                <a:off x="5047" y="3380"/>
                <a:ext cx="8" cy="8"/>
              </a:xfrm>
              <a:custGeom>
                <a:avLst/>
                <a:gdLst>
                  <a:gd name="T0" fmla="*/ 1 w 15"/>
                  <a:gd name="T1" fmla="*/ 1 h 15"/>
                  <a:gd name="T2" fmla="*/ 1 w 15"/>
                  <a:gd name="T3" fmla="*/ 1 h 15"/>
                  <a:gd name="T4" fmla="*/ 1 w 15"/>
                  <a:gd name="T5" fmla="*/ 0 h 15"/>
                  <a:gd name="T6" fmla="*/ 0 w 15"/>
                  <a:gd name="T7" fmla="*/ 1 h 15"/>
                  <a:gd name="T8" fmla="*/ 0 w 15"/>
                  <a:gd name="T9" fmla="*/ 1 h 15"/>
                  <a:gd name="T10" fmla="*/ 1 w 15"/>
                  <a:gd name="T11" fmla="*/ 1 h 15"/>
                  <a:gd name="T12" fmla="*/ 1 w 15"/>
                  <a:gd name="T13" fmla="*/ 1 h 15"/>
                  <a:gd name="T14" fmla="*/ 0 60000 65536"/>
                  <a:gd name="T15" fmla="*/ 0 60000 65536"/>
                  <a:gd name="T16" fmla="*/ 0 60000 65536"/>
                  <a:gd name="T17" fmla="*/ 0 60000 65536"/>
                  <a:gd name="T18" fmla="*/ 0 60000 65536"/>
                  <a:gd name="T19" fmla="*/ 0 60000 65536"/>
                  <a:gd name="T20" fmla="*/ 0 60000 65536"/>
                  <a:gd name="T21" fmla="*/ 0 w 15"/>
                  <a:gd name="T22" fmla="*/ 0 h 15"/>
                  <a:gd name="T23" fmla="*/ 15 w 15"/>
                  <a:gd name="T24" fmla="*/ 15 h 1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 h="15">
                    <a:moveTo>
                      <a:pt x="13" y="15"/>
                    </a:moveTo>
                    <a:lnTo>
                      <a:pt x="11" y="5"/>
                    </a:lnTo>
                    <a:lnTo>
                      <a:pt x="15" y="0"/>
                    </a:lnTo>
                    <a:lnTo>
                      <a:pt x="0" y="2"/>
                    </a:lnTo>
                    <a:lnTo>
                      <a:pt x="0" y="7"/>
                    </a:lnTo>
                    <a:lnTo>
                      <a:pt x="4" y="11"/>
                    </a:lnTo>
                    <a:lnTo>
                      <a:pt x="13" y="15"/>
                    </a:lnTo>
                    <a:close/>
                  </a:path>
                </a:pathLst>
              </a:custGeom>
              <a:solidFill>
                <a:srgbClr val="FFFFFF"/>
              </a:solidFill>
              <a:ln w="9525">
                <a:noFill/>
                <a:round/>
                <a:headEnd/>
                <a:tailEnd/>
              </a:ln>
            </p:spPr>
            <p:txBody>
              <a:bodyPr/>
              <a:lstStyle/>
              <a:p>
                <a:endParaRPr lang="en-US"/>
              </a:p>
            </p:txBody>
          </p:sp>
          <p:sp>
            <p:nvSpPr>
              <p:cNvPr id="1120" name="Freeform 86"/>
              <p:cNvSpPr>
                <a:spLocks/>
              </p:cNvSpPr>
              <p:nvPr/>
            </p:nvSpPr>
            <p:spPr bwMode="auto">
              <a:xfrm>
                <a:off x="5062" y="3383"/>
                <a:ext cx="8" cy="10"/>
              </a:xfrm>
              <a:custGeom>
                <a:avLst/>
                <a:gdLst>
                  <a:gd name="T0" fmla="*/ 1 w 15"/>
                  <a:gd name="T1" fmla="*/ 0 h 20"/>
                  <a:gd name="T2" fmla="*/ 1 w 15"/>
                  <a:gd name="T3" fmla="*/ 1 h 20"/>
                  <a:gd name="T4" fmla="*/ 1 w 15"/>
                  <a:gd name="T5" fmla="*/ 1 h 20"/>
                  <a:gd name="T6" fmla="*/ 1 w 15"/>
                  <a:gd name="T7" fmla="*/ 1 h 20"/>
                  <a:gd name="T8" fmla="*/ 1 w 15"/>
                  <a:gd name="T9" fmla="*/ 1 h 20"/>
                  <a:gd name="T10" fmla="*/ 1 w 15"/>
                  <a:gd name="T11" fmla="*/ 1 h 20"/>
                  <a:gd name="T12" fmla="*/ 0 w 15"/>
                  <a:gd name="T13" fmla="*/ 1 h 20"/>
                  <a:gd name="T14" fmla="*/ 1 w 15"/>
                  <a:gd name="T15" fmla="*/ 1 h 20"/>
                  <a:gd name="T16" fmla="*/ 1 w 15"/>
                  <a:gd name="T17" fmla="*/ 0 h 2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
                  <a:gd name="T28" fmla="*/ 0 h 20"/>
                  <a:gd name="T29" fmla="*/ 15 w 15"/>
                  <a:gd name="T30" fmla="*/ 20 h 2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 h="20">
                    <a:moveTo>
                      <a:pt x="11" y="0"/>
                    </a:moveTo>
                    <a:lnTo>
                      <a:pt x="13" y="2"/>
                    </a:lnTo>
                    <a:lnTo>
                      <a:pt x="15" y="8"/>
                    </a:lnTo>
                    <a:lnTo>
                      <a:pt x="15" y="14"/>
                    </a:lnTo>
                    <a:lnTo>
                      <a:pt x="11" y="18"/>
                    </a:lnTo>
                    <a:lnTo>
                      <a:pt x="4" y="20"/>
                    </a:lnTo>
                    <a:lnTo>
                      <a:pt x="0" y="16"/>
                    </a:lnTo>
                    <a:lnTo>
                      <a:pt x="4" y="8"/>
                    </a:lnTo>
                    <a:lnTo>
                      <a:pt x="11" y="0"/>
                    </a:lnTo>
                    <a:close/>
                  </a:path>
                </a:pathLst>
              </a:custGeom>
              <a:solidFill>
                <a:srgbClr val="FFFFFF"/>
              </a:solidFill>
              <a:ln w="9525">
                <a:noFill/>
                <a:round/>
                <a:headEnd/>
                <a:tailEnd/>
              </a:ln>
            </p:spPr>
            <p:txBody>
              <a:bodyPr/>
              <a:lstStyle/>
              <a:p>
                <a:endParaRPr lang="en-US"/>
              </a:p>
            </p:txBody>
          </p:sp>
          <p:sp>
            <p:nvSpPr>
              <p:cNvPr id="1121" name="Freeform 87"/>
              <p:cNvSpPr>
                <a:spLocks/>
              </p:cNvSpPr>
              <p:nvPr/>
            </p:nvSpPr>
            <p:spPr bwMode="auto">
              <a:xfrm>
                <a:off x="5070" y="3396"/>
                <a:ext cx="9" cy="8"/>
              </a:xfrm>
              <a:custGeom>
                <a:avLst/>
                <a:gdLst>
                  <a:gd name="T0" fmla="*/ 0 w 19"/>
                  <a:gd name="T1" fmla="*/ 0 h 18"/>
                  <a:gd name="T2" fmla="*/ 0 w 19"/>
                  <a:gd name="T3" fmla="*/ 0 h 18"/>
                  <a:gd name="T4" fmla="*/ 0 w 19"/>
                  <a:gd name="T5" fmla="*/ 0 h 18"/>
                  <a:gd name="T6" fmla="*/ 0 w 19"/>
                  <a:gd name="T7" fmla="*/ 0 h 18"/>
                  <a:gd name="T8" fmla="*/ 0 w 19"/>
                  <a:gd name="T9" fmla="*/ 0 h 18"/>
                  <a:gd name="T10" fmla="*/ 0 w 19"/>
                  <a:gd name="T11" fmla="*/ 0 h 18"/>
                  <a:gd name="T12" fmla="*/ 0 w 19"/>
                  <a:gd name="T13" fmla="*/ 0 h 18"/>
                  <a:gd name="T14" fmla="*/ 0 w 19"/>
                  <a:gd name="T15" fmla="*/ 0 h 18"/>
                  <a:gd name="T16" fmla="*/ 0 w 19"/>
                  <a:gd name="T17" fmla="*/ 0 h 1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9"/>
                  <a:gd name="T28" fmla="*/ 0 h 18"/>
                  <a:gd name="T29" fmla="*/ 19 w 19"/>
                  <a:gd name="T30" fmla="*/ 18 h 1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9" h="18">
                    <a:moveTo>
                      <a:pt x="10" y="0"/>
                    </a:moveTo>
                    <a:lnTo>
                      <a:pt x="12" y="10"/>
                    </a:lnTo>
                    <a:lnTo>
                      <a:pt x="19" y="16"/>
                    </a:lnTo>
                    <a:lnTo>
                      <a:pt x="13" y="18"/>
                    </a:lnTo>
                    <a:lnTo>
                      <a:pt x="4" y="18"/>
                    </a:lnTo>
                    <a:lnTo>
                      <a:pt x="0" y="16"/>
                    </a:lnTo>
                    <a:lnTo>
                      <a:pt x="0" y="14"/>
                    </a:lnTo>
                    <a:lnTo>
                      <a:pt x="2" y="8"/>
                    </a:lnTo>
                    <a:lnTo>
                      <a:pt x="10" y="0"/>
                    </a:lnTo>
                    <a:close/>
                  </a:path>
                </a:pathLst>
              </a:custGeom>
              <a:solidFill>
                <a:srgbClr val="FFFFFF"/>
              </a:solidFill>
              <a:ln w="9525">
                <a:noFill/>
                <a:round/>
                <a:headEnd/>
                <a:tailEnd/>
              </a:ln>
            </p:spPr>
            <p:txBody>
              <a:bodyPr/>
              <a:lstStyle/>
              <a:p>
                <a:endParaRPr lang="en-US"/>
              </a:p>
            </p:txBody>
          </p:sp>
          <p:sp>
            <p:nvSpPr>
              <p:cNvPr id="1122" name="Freeform 88"/>
              <p:cNvSpPr>
                <a:spLocks/>
              </p:cNvSpPr>
              <p:nvPr/>
            </p:nvSpPr>
            <p:spPr bwMode="auto">
              <a:xfrm>
                <a:off x="5075" y="3406"/>
                <a:ext cx="8" cy="8"/>
              </a:xfrm>
              <a:custGeom>
                <a:avLst/>
                <a:gdLst>
                  <a:gd name="T0" fmla="*/ 1 w 15"/>
                  <a:gd name="T1" fmla="*/ 0 h 16"/>
                  <a:gd name="T2" fmla="*/ 1 w 15"/>
                  <a:gd name="T3" fmla="*/ 1 h 16"/>
                  <a:gd name="T4" fmla="*/ 1 w 15"/>
                  <a:gd name="T5" fmla="*/ 1 h 16"/>
                  <a:gd name="T6" fmla="*/ 1 w 15"/>
                  <a:gd name="T7" fmla="*/ 1 h 16"/>
                  <a:gd name="T8" fmla="*/ 1 w 15"/>
                  <a:gd name="T9" fmla="*/ 1 h 16"/>
                  <a:gd name="T10" fmla="*/ 1 w 15"/>
                  <a:gd name="T11" fmla="*/ 1 h 16"/>
                  <a:gd name="T12" fmla="*/ 0 w 15"/>
                  <a:gd name="T13" fmla="*/ 1 h 16"/>
                  <a:gd name="T14" fmla="*/ 1 w 15"/>
                  <a:gd name="T15" fmla="*/ 1 h 16"/>
                  <a:gd name="T16" fmla="*/ 1 w 15"/>
                  <a:gd name="T17" fmla="*/ 0 h 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
                  <a:gd name="T28" fmla="*/ 0 h 16"/>
                  <a:gd name="T29" fmla="*/ 15 w 15"/>
                  <a:gd name="T30" fmla="*/ 16 h 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 h="16">
                    <a:moveTo>
                      <a:pt x="7" y="0"/>
                    </a:moveTo>
                    <a:lnTo>
                      <a:pt x="7" y="4"/>
                    </a:lnTo>
                    <a:lnTo>
                      <a:pt x="9" y="8"/>
                    </a:lnTo>
                    <a:lnTo>
                      <a:pt x="15" y="12"/>
                    </a:lnTo>
                    <a:lnTo>
                      <a:pt x="11" y="14"/>
                    </a:lnTo>
                    <a:lnTo>
                      <a:pt x="3" y="16"/>
                    </a:lnTo>
                    <a:lnTo>
                      <a:pt x="0" y="12"/>
                    </a:lnTo>
                    <a:lnTo>
                      <a:pt x="1" y="6"/>
                    </a:lnTo>
                    <a:lnTo>
                      <a:pt x="7" y="0"/>
                    </a:lnTo>
                    <a:close/>
                  </a:path>
                </a:pathLst>
              </a:custGeom>
              <a:solidFill>
                <a:srgbClr val="FFFFFF"/>
              </a:solidFill>
              <a:ln w="9525">
                <a:noFill/>
                <a:round/>
                <a:headEnd/>
                <a:tailEnd/>
              </a:ln>
            </p:spPr>
            <p:txBody>
              <a:bodyPr/>
              <a:lstStyle/>
              <a:p>
                <a:endParaRPr lang="en-US"/>
              </a:p>
            </p:txBody>
          </p:sp>
          <p:sp>
            <p:nvSpPr>
              <p:cNvPr id="1123" name="Freeform 89"/>
              <p:cNvSpPr>
                <a:spLocks/>
              </p:cNvSpPr>
              <p:nvPr/>
            </p:nvSpPr>
            <p:spPr bwMode="auto">
              <a:xfrm>
                <a:off x="5077" y="3240"/>
                <a:ext cx="36" cy="76"/>
              </a:xfrm>
              <a:custGeom>
                <a:avLst/>
                <a:gdLst>
                  <a:gd name="T0" fmla="*/ 1 w 71"/>
                  <a:gd name="T1" fmla="*/ 0 h 152"/>
                  <a:gd name="T2" fmla="*/ 1 w 71"/>
                  <a:gd name="T3" fmla="*/ 1 h 152"/>
                  <a:gd name="T4" fmla="*/ 1 w 71"/>
                  <a:gd name="T5" fmla="*/ 1 h 152"/>
                  <a:gd name="T6" fmla="*/ 0 w 71"/>
                  <a:gd name="T7" fmla="*/ 1 h 152"/>
                  <a:gd name="T8" fmla="*/ 1 w 71"/>
                  <a:gd name="T9" fmla="*/ 1 h 152"/>
                  <a:gd name="T10" fmla="*/ 1 w 71"/>
                  <a:gd name="T11" fmla="*/ 1 h 152"/>
                  <a:gd name="T12" fmla="*/ 1 w 71"/>
                  <a:gd name="T13" fmla="*/ 1 h 152"/>
                  <a:gd name="T14" fmla="*/ 1 w 71"/>
                  <a:gd name="T15" fmla="*/ 1 h 152"/>
                  <a:gd name="T16" fmla="*/ 1 w 71"/>
                  <a:gd name="T17" fmla="*/ 1 h 152"/>
                  <a:gd name="T18" fmla="*/ 1 w 71"/>
                  <a:gd name="T19" fmla="*/ 1 h 152"/>
                  <a:gd name="T20" fmla="*/ 1 w 71"/>
                  <a:gd name="T21" fmla="*/ 0 h 15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1"/>
                  <a:gd name="T34" fmla="*/ 0 h 152"/>
                  <a:gd name="T35" fmla="*/ 71 w 71"/>
                  <a:gd name="T36" fmla="*/ 152 h 15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1" h="152">
                    <a:moveTo>
                      <a:pt x="48" y="0"/>
                    </a:moveTo>
                    <a:lnTo>
                      <a:pt x="22" y="16"/>
                    </a:lnTo>
                    <a:lnTo>
                      <a:pt x="41" y="35"/>
                    </a:lnTo>
                    <a:lnTo>
                      <a:pt x="0" y="64"/>
                    </a:lnTo>
                    <a:lnTo>
                      <a:pt x="41" y="73"/>
                    </a:lnTo>
                    <a:lnTo>
                      <a:pt x="45" y="152"/>
                    </a:lnTo>
                    <a:lnTo>
                      <a:pt x="62" y="79"/>
                    </a:lnTo>
                    <a:lnTo>
                      <a:pt x="37" y="52"/>
                    </a:lnTo>
                    <a:lnTo>
                      <a:pt x="71" y="31"/>
                    </a:lnTo>
                    <a:lnTo>
                      <a:pt x="48" y="12"/>
                    </a:lnTo>
                    <a:lnTo>
                      <a:pt x="48" y="0"/>
                    </a:lnTo>
                    <a:close/>
                  </a:path>
                </a:pathLst>
              </a:custGeom>
              <a:solidFill>
                <a:srgbClr val="590D00"/>
              </a:solidFill>
              <a:ln w="9525">
                <a:noFill/>
                <a:round/>
                <a:headEnd/>
                <a:tailEnd/>
              </a:ln>
            </p:spPr>
            <p:txBody>
              <a:bodyPr/>
              <a:lstStyle/>
              <a:p>
                <a:endParaRPr lang="en-US"/>
              </a:p>
            </p:txBody>
          </p:sp>
          <p:sp>
            <p:nvSpPr>
              <p:cNvPr id="1124" name="Freeform 90"/>
              <p:cNvSpPr>
                <a:spLocks/>
              </p:cNvSpPr>
              <p:nvPr/>
            </p:nvSpPr>
            <p:spPr bwMode="auto">
              <a:xfrm>
                <a:off x="5188" y="3401"/>
                <a:ext cx="103" cy="96"/>
              </a:xfrm>
              <a:custGeom>
                <a:avLst/>
                <a:gdLst>
                  <a:gd name="T0" fmla="*/ 0 w 205"/>
                  <a:gd name="T1" fmla="*/ 1 h 190"/>
                  <a:gd name="T2" fmla="*/ 1 w 205"/>
                  <a:gd name="T3" fmla="*/ 1 h 190"/>
                  <a:gd name="T4" fmla="*/ 1 w 205"/>
                  <a:gd name="T5" fmla="*/ 1 h 190"/>
                  <a:gd name="T6" fmla="*/ 1 w 205"/>
                  <a:gd name="T7" fmla="*/ 1 h 190"/>
                  <a:gd name="T8" fmla="*/ 1 w 205"/>
                  <a:gd name="T9" fmla="*/ 1 h 190"/>
                  <a:gd name="T10" fmla="*/ 1 w 205"/>
                  <a:gd name="T11" fmla="*/ 1 h 190"/>
                  <a:gd name="T12" fmla="*/ 1 w 205"/>
                  <a:gd name="T13" fmla="*/ 1 h 190"/>
                  <a:gd name="T14" fmla="*/ 1 w 205"/>
                  <a:gd name="T15" fmla="*/ 1 h 190"/>
                  <a:gd name="T16" fmla="*/ 1 w 205"/>
                  <a:gd name="T17" fmla="*/ 1 h 190"/>
                  <a:gd name="T18" fmla="*/ 1 w 205"/>
                  <a:gd name="T19" fmla="*/ 1 h 190"/>
                  <a:gd name="T20" fmla="*/ 1 w 205"/>
                  <a:gd name="T21" fmla="*/ 0 h 190"/>
                  <a:gd name="T22" fmla="*/ 1 w 205"/>
                  <a:gd name="T23" fmla="*/ 1 h 190"/>
                  <a:gd name="T24" fmla="*/ 1 w 205"/>
                  <a:gd name="T25" fmla="*/ 1 h 190"/>
                  <a:gd name="T26" fmla="*/ 1 w 205"/>
                  <a:gd name="T27" fmla="*/ 1 h 190"/>
                  <a:gd name="T28" fmla="*/ 1 w 205"/>
                  <a:gd name="T29" fmla="*/ 1 h 190"/>
                  <a:gd name="T30" fmla="*/ 1 w 205"/>
                  <a:gd name="T31" fmla="*/ 1 h 190"/>
                  <a:gd name="T32" fmla="*/ 0 w 205"/>
                  <a:gd name="T33" fmla="*/ 1 h 19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05"/>
                  <a:gd name="T52" fmla="*/ 0 h 190"/>
                  <a:gd name="T53" fmla="*/ 205 w 205"/>
                  <a:gd name="T54" fmla="*/ 190 h 190"/>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05" h="190">
                    <a:moveTo>
                      <a:pt x="0" y="36"/>
                    </a:moveTo>
                    <a:lnTo>
                      <a:pt x="10" y="36"/>
                    </a:lnTo>
                    <a:lnTo>
                      <a:pt x="35" y="38"/>
                    </a:lnTo>
                    <a:lnTo>
                      <a:pt x="67" y="38"/>
                    </a:lnTo>
                    <a:lnTo>
                      <a:pt x="98" y="36"/>
                    </a:lnTo>
                    <a:lnTo>
                      <a:pt x="130" y="29"/>
                    </a:lnTo>
                    <a:lnTo>
                      <a:pt x="165" y="15"/>
                    </a:lnTo>
                    <a:lnTo>
                      <a:pt x="180" y="9"/>
                    </a:lnTo>
                    <a:lnTo>
                      <a:pt x="194" y="6"/>
                    </a:lnTo>
                    <a:lnTo>
                      <a:pt x="201" y="2"/>
                    </a:lnTo>
                    <a:lnTo>
                      <a:pt x="205" y="0"/>
                    </a:lnTo>
                    <a:lnTo>
                      <a:pt x="180" y="190"/>
                    </a:lnTo>
                    <a:lnTo>
                      <a:pt x="107" y="190"/>
                    </a:lnTo>
                    <a:lnTo>
                      <a:pt x="98" y="88"/>
                    </a:lnTo>
                    <a:lnTo>
                      <a:pt x="58" y="169"/>
                    </a:lnTo>
                    <a:lnTo>
                      <a:pt x="4" y="169"/>
                    </a:lnTo>
                    <a:lnTo>
                      <a:pt x="0" y="36"/>
                    </a:lnTo>
                    <a:close/>
                  </a:path>
                </a:pathLst>
              </a:custGeom>
              <a:solidFill>
                <a:srgbClr val="590D00"/>
              </a:solidFill>
              <a:ln w="9525">
                <a:noFill/>
                <a:round/>
                <a:headEnd/>
                <a:tailEnd/>
              </a:ln>
            </p:spPr>
            <p:txBody>
              <a:bodyPr/>
              <a:lstStyle/>
              <a:p>
                <a:endParaRPr lang="en-US"/>
              </a:p>
            </p:txBody>
          </p:sp>
          <p:sp>
            <p:nvSpPr>
              <p:cNvPr id="1125" name="Freeform 91"/>
              <p:cNvSpPr>
                <a:spLocks/>
              </p:cNvSpPr>
              <p:nvPr/>
            </p:nvSpPr>
            <p:spPr bwMode="auto">
              <a:xfrm>
                <a:off x="5170" y="3337"/>
                <a:ext cx="331" cy="217"/>
              </a:xfrm>
              <a:custGeom>
                <a:avLst/>
                <a:gdLst>
                  <a:gd name="T0" fmla="*/ 1 w 662"/>
                  <a:gd name="T1" fmla="*/ 1 h 434"/>
                  <a:gd name="T2" fmla="*/ 1 w 662"/>
                  <a:gd name="T3" fmla="*/ 1 h 434"/>
                  <a:gd name="T4" fmla="*/ 1 w 662"/>
                  <a:gd name="T5" fmla="*/ 1 h 434"/>
                  <a:gd name="T6" fmla="*/ 1 w 662"/>
                  <a:gd name="T7" fmla="*/ 1 h 434"/>
                  <a:gd name="T8" fmla="*/ 1 w 662"/>
                  <a:gd name="T9" fmla="*/ 1 h 434"/>
                  <a:gd name="T10" fmla="*/ 1 w 662"/>
                  <a:gd name="T11" fmla="*/ 1 h 434"/>
                  <a:gd name="T12" fmla="*/ 1 w 662"/>
                  <a:gd name="T13" fmla="*/ 1 h 434"/>
                  <a:gd name="T14" fmla="*/ 1 w 662"/>
                  <a:gd name="T15" fmla="*/ 1 h 434"/>
                  <a:gd name="T16" fmla="*/ 1 w 662"/>
                  <a:gd name="T17" fmla="*/ 1 h 434"/>
                  <a:gd name="T18" fmla="*/ 1 w 662"/>
                  <a:gd name="T19" fmla="*/ 1 h 434"/>
                  <a:gd name="T20" fmla="*/ 1 w 662"/>
                  <a:gd name="T21" fmla="*/ 1 h 434"/>
                  <a:gd name="T22" fmla="*/ 1 w 662"/>
                  <a:gd name="T23" fmla="*/ 1 h 434"/>
                  <a:gd name="T24" fmla="*/ 1 w 662"/>
                  <a:gd name="T25" fmla="*/ 1 h 434"/>
                  <a:gd name="T26" fmla="*/ 1 w 662"/>
                  <a:gd name="T27" fmla="*/ 1 h 434"/>
                  <a:gd name="T28" fmla="*/ 1 w 662"/>
                  <a:gd name="T29" fmla="*/ 1 h 434"/>
                  <a:gd name="T30" fmla="*/ 1 w 662"/>
                  <a:gd name="T31" fmla="*/ 1 h 434"/>
                  <a:gd name="T32" fmla="*/ 1 w 662"/>
                  <a:gd name="T33" fmla="*/ 1 h 434"/>
                  <a:gd name="T34" fmla="*/ 1 w 662"/>
                  <a:gd name="T35" fmla="*/ 1 h 434"/>
                  <a:gd name="T36" fmla="*/ 1 w 662"/>
                  <a:gd name="T37" fmla="*/ 1 h 434"/>
                  <a:gd name="T38" fmla="*/ 1 w 662"/>
                  <a:gd name="T39" fmla="*/ 1 h 434"/>
                  <a:gd name="T40" fmla="*/ 1 w 662"/>
                  <a:gd name="T41" fmla="*/ 1 h 434"/>
                  <a:gd name="T42" fmla="*/ 1 w 662"/>
                  <a:gd name="T43" fmla="*/ 1 h 434"/>
                  <a:gd name="T44" fmla="*/ 1 w 662"/>
                  <a:gd name="T45" fmla="*/ 1 h 434"/>
                  <a:gd name="T46" fmla="*/ 1 w 662"/>
                  <a:gd name="T47" fmla="*/ 1 h 434"/>
                  <a:gd name="T48" fmla="*/ 1 w 662"/>
                  <a:gd name="T49" fmla="*/ 1 h 434"/>
                  <a:gd name="T50" fmla="*/ 1 w 662"/>
                  <a:gd name="T51" fmla="*/ 1 h 434"/>
                  <a:gd name="T52" fmla="*/ 1 w 662"/>
                  <a:gd name="T53" fmla="*/ 1 h 434"/>
                  <a:gd name="T54" fmla="*/ 1 w 662"/>
                  <a:gd name="T55" fmla="*/ 1 h 434"/>
                  <a:gd name="T56" fmla="*/ 1 w 662"/>
                  <a:gd name="T57" fmla="*/ 1 h 434"/>
                  <a:gd name="T58" fmla="*/ 1 w 662"/>
                  <a:gd name="T59" fmla="*/ 1 h 434"/>
                  <a:gd name="T60" fmla="*/ 1 w 662"/>
                  <a:gd name="T61" fmla="*/ 1 h 434"/>
                  <a:gd name="T62" fmla="*/ 1 w 662"/>
                  <a:gd name="T63" fmla="*/ 1 h 434"/>
                  <a:gd name="T64" fmla="*/ 1 w 662"/>
                  <a:gd name="T65" fmla="*/ 1 h 434"/>
                  <a:gd name="T66" fmla="*/ 1 w 662"/>
                  <a:gd name="T67" fmla="*/ 1 h 434"/>
                  <a:gd name="T68" fmla="*/ 1 w 662"/>
                  <a:gd name="T69" fmla="*/ 1 h 434"/>
                  <a:gd name="T70" fmla="*/ 1 w 662"/>
                  <a:gd name="T71" fmla="*/ 1 h 434"/>
                  <a:gd name="T72" fmla="*/ 1 w 662"/>
                  <a:gd name="T73" fmla="*/ 1 h 434"/>
                  <a:gd name="T74" fmla="*/ 1 w 662"/>
                  <a:gd name="T75" fmla="*/ 1 h 434"/>
                  <a:gd name="T76" fmla="*/ 0 w 662"/>
                  <a:gd name="T77" fmla="*/ 1 h 434"/>
                  <a:gd name="T78" fmla="*/ 1 w 662"/>
                  <a:gd name="T79" fmla="*/ 1 h 434"/>
                  <a:gd name="T80" fmla="*/ 1 w 662"/>
                  <a:gd name="T81" fmla="*/ 1 h 434"/>
                  <a:gd name="T82" fmla="*/ 1 w 662"/>
                  <a:gd name="T83" fmla="*/ 1 h 434"/>
                  <a:gd name="T84" fmla="*/ 1 w 662"/>
                  <a:gd name="T85" fmla="*/ 1 h 434"/>
                  <a:gd name="T86" fmla="*/ 1 w 662"/>
                  <a:gd name="T87" fmla="*/ 1 h 434"/>
                  <a:gd name="T88" fmla="*/ 1 w 662"/>
                  <a:gd name="T89" fmla="*/ 1 h 434"/>
                  <a:gd name="T90" fmla="*/ 1 w 662"/>
                  <a:gd name="T91" fmla="*/ 1 h 434"/>
                  <a:gd name="T92" fmla="*/ 1 w 662"/>
                  <a:gd name="T93" fmla="*/ 1 h 434"/>
                  <a:gd name="T94" fmla="*/ 1 w 662"/>
                  <a:gd name="T95" fmla="*/ 1 h 434"/>
                  <a:gd name="T96" fmla="*/ 1 w 662"/>
                  <a:gd name="T97" fmla="*/ 1 h 434"/>
                  <a:gd name="T98" fmla="*/ 1 w 662"/>
                  <a:gd name="T99" fmla="*/ 1 h 434"/>
                  <a:gd name="T100" fmla="*/ 1 w 662"/>
                  <a:gd name="T101" fmla="*/ 1 h 434"/>
                  <a:gd name="T102" fmla="*/ 1 w 662"/>
                  <a:gd name="T103" fmla="*/ 1 h 434"/>
                  <a:gd name="T104" fmla="*/ 1 w 662"/>
                  <a:gd name="T105" fmla="*/ 1 h 434"/>
                  <a:gd name="T106" fmla="*/ 1 w 662"/>
                  <a:gd name="T107" fmla="*/ 1 h 434"/>
                  <a:gd name="T108" fmla="*/ 1 w 662"/>
                  <a:gd name="T109" fmla="*/ 1 h 434"/>
                  <a:gd name="T110" fmla="*/ 1 w 662"/>
                  <a:gd name="T111" fmla="*/ 1 h 434"/>
                  <a:gd name="T112" fmla="*/ 1 w 662"/>
                  <a:gd name="T113" fmla="*/ 0 h 434"/>
                  <a:gd name="T114" fmla="*/ 1 w 662"/>
                  <a:gd name="T115" fmla="*/ 1 h 43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662"/>
                  <a:gd name="T175" fmla="*/ 0 h 434"/>
                  <a:gd name="T176" fmla="*/ 662 w 662"/>
                  <a:gd name="T177" fmla="*/ 434 h 43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662" h="434">
                    <a:moveTo>
                      <a:pt x="360" y="8"/>
                    </a:moveTo>
                    <a:lnTo>
                      <a:pt x="362" y="8"/>
                    </a:lnTo>
                    <a:lnTo>
                      <a:pt x="368" y="10"/>
                    </a:lnTo>
                    <a:lnTo>
                      <a:pt x="385" y="17"/>
                    </a:lnTo>
                    <a:lnTo>
                      <a:pt x="410" y="25"/>
                    </a:lnTo>
                    <a:lnTo>
                      <a:pt x="472" y="48"/>
                    </a:lnTo>
                    <a:lnTo>
                      <a:pt x="500" y="56"/>
                    </a:lnTo>
                    <a:lnTo>
                      <a:pt x="521" y="64"/>
                    </a:lnTo>
                    <a:lnTo>
                      <a:pt x="529" y="66"/>
                    </a:lnTo>
                    <a:lnTo>
                      <a:pt x="533" y="66"/>
                    </a:lnTo>
                    <a:lnTo>
                      <a:pt x="541" y="67"/>
                    </a:lnTo>
                    <a:lnTo>
                      <a:pt x="548" y="71"/>
                    </a:lnTo>
                    <a:lnTo>
                      <a:pt x="567" y="85"/>
                    </a:lnTo>
                    <a:lnTo>
                      <a:pt x="583" y="106"/>
                    </a:lnTo>
                    <a:lnTo>
                      <a:pt x="592" y="127"/>
                    </a:lnTo>
                    <a:lnTo>
                      <a:pt x="594" y="140"/>
                    </a:lnTo>
                    <a:lnTo>
                      <a:pt x="598" y="160"/>
                    </a:lnTo>
                    <a:lnTo>
                      <a:pt x="612" y="208"/>
                    </a:lnTo>
                    <a:lnTo>
                      <a:pt x="627" y="256"/>
                    </a:lnTo>
                    <a:lnTo>
                      <a:pt x="635" y="275"/>
                    </a:lnTo>
                    <a:lnTo>
                      <a:pt x="640" y="290"/>
                    </a:lnTo>
                    <a:lnTo>
                      <a:pt x="646" y="304"/>
                    </a:lnTo>
                    <a:lnTo>
                      <a:pt x="650" y="319"/>
                    </a:lnTo>
                    <a:lnTo>
                      <a:pt x="658" y="356"/>
                    </a:lnTo>
                    <a:lnTo>
                      <a:pt x="662" y="390"/>
                    </a:lnTo>
                    <a:lnTo>
                      <a:pt x="662" y="415"/>
                    </a:lnTo>
                    <a:lnTo>
                      <a:pt x="660" y="423"/>
                    </a:lnTo>
                    <a:lnTo>
                      <a:pt x="652" y="429"/>
                    </a:lnTo>
                    <a:lnTo>
                      <a:pt x="642" y="432"/>
                    </a:lnTo>
                    <a:lnTo>
                      <a:pt x="631" y="434"/>
                    </a:lnTo>
                    <a:lnTo>
                      <a:pt x="573" y="434"/>
                    </a:lnTo>
                    <a:lnTo>
                      <a:pt x="556" y="434"/>
                    </a:lnTo>
                    <a:lnTo>
                      <a:pt x="531" y="432"/>
                    </a:lnTo>
                    <a:lnTo>
                      <a:pt x="472" y="427"/>
                    </a:lnTo>
                    <a:lnTo>
                      <a:pt x="445" y="425"/>
                    </a:lnTo>
                    <a:lnTo>
                      <a:pt x="422" y="421"/>
                    </a:lnTo>
                    <a:lnTo>
                      <a:pt x="404" y="419"/>
                    </a:lnTo>
                    <a:lnTo>
                      <a:pt x="399" y="419"/>
                    </a:lnTo>
                    <a:lnTo>
                      <a:pt x="0" y="298"/>
                    </a:lnTo>
                    <a:lnTo>
                      <a:pt x="55" y="254"/>
                    </a:lnTo>
                    <a:lnTo>
                      <a:pt x="80" y="258"/>
                    </a:lnTo>
                    <a:lnTo>
                      <a:pt x="86" y="238"/>
                    </a:lnTo>
                    <a:lnTo>
                      <a:pt x="113" y="242"/>
                    </a:lnTo>
                    <a:lnTo>
                      <a:pt x="128" y="194"/>
                    </a:lnTo>
                    <a:lnTo>
                      <a:pt x="122" y="165"/>
                    </a:lnTo>
                    <a:lnTo>
                      <a:pt x="143" y="160"/>
                    </a:lnTo>
                    <a:lnTo>
                      <a:pt x="161" y="114"/>
                    </a:lnTo>
                    <a:lnTo>
                      <a:pt x="161" y="110"/>
                    </a:lnTo>
                    <a:lnTo>
                      <a:pt x="165" y="102"/>
                    </a:lnTo>
                    <a:lnTo>
                      <a:pt x="172" y="77"/>
                    </a:lnTo>
                    <a:lnTo>
                      <a:pt x="184" y="48"/>
                    </a:lnTo>
                    <a:lnTo>
                      <a:pt x="189" y="37"/>
                    </a:lnTo>
                    <a:lnTo>
                      <a:pt x="195" y="29"/>
                    </a:lnTo>
                    <a:lnTo>
                      <a:pt x="213" y="19"/>
                    </a:lnTo>
                    <a:lnTo>
                      <a:pt x="234" y="10"/>
                    </a:lnTo>
                    <a:lnTo>
                      <a:pt x="259" y="4"/>
                    </a:lnTo>
                    <a:lnTo>
                      <a:pt x="278" y="0"/>
                    </a:lnTo>
                    <a:lnTo>
                      <a:pt x="360" y="8"/>
                    </a:lnTo>
                    <a:close/>
                  </a:path>
                </a:pathLst>
              </a:custGeom>
              <a:solidFill>
                <a:srgbClr val="F7450A"/>
              </a:solidFill>
              <a:ln w="9525">
                <a:noFill/>
                <a:round/>
                <a:headEnd/>
                <a:tailEnd/>
              </a:ln>
            </p:spPr>
            <p:txBody>
              <a:bodyPr/>
              <a:lstStyle/>
              <a:p>
                <a:endParaRPr lang="en-US"/>
              </a:p>
            </p:txBody>
          </p:sp>
          <p:sp>
            <p:nvSpPr>
              <p:cNvPr id="1126" name="Freeform 92"/>
              <p:cNvSpPr>
                <a:spLocks/>
              </p:cNvSpPr>
              <p:nvPr/>
            </p:nvSpPr>
            <p:spPr bwMode="auto">
              <a:xfrm>
                <a:off x="5300" y="3342"/>
                <a:ext cx="77" cy="165"/>
              </a:xfrm>
              <a:custGeom>
                <a:avLst/>
                <a:gdLst>
                  <a:gd name="T0" fmla="*/ 0 w 155"/>
                  <a:gd name="T1" fmla="*/ 0 h 330"/>
                  <a:gd name="T2" fmla="*/ 0 w 155"/>
                  <a:gd name="T3" fmla="*/ 1 h 330"/>
                  <a:gd name="T4" fmla="*/ 0 w 155"/>
                  <a:gd name="T5" fmla="*/ 1 h 330"/>
                  <a:gd name="T6" fmla="*/ 0 w 155"/>
                  <a:gd name="T7" fmla="*/ 0 h 330"/>
                  <a:gd name="T8" fmla="*/ 0 60000 65536"/>
                  <a:gd name="T9" fmla="*/ 0 60000 65536"/>
                  <a:gd name="T10" fmla="*/ 0 60000 65536"/>
                  <a:gd name="T11" fmla="*/ 0 60000 65536"/>
                  <a:gd name="T12" fmla="*/ 0 w 155"/>
                  <a:gd name="T13" fmla="*/ 0 h 330"/>
                  <a:gd name="T14" fmla="*/ 155 w 155"/>
                  <a:gd name="T15" fmla="*/ 330 h 330"/>
                </a:gdLst>
                <a:ahLst/>
                <a:cxnLst>
                  <a:cxn ang="T8">
                    <a:pos x="T0" y="T1"/>
                  </a:cxn>
                  <a:cxn ang="T9">
                    <a:pos x="T2" y="T3"/>
                  </a:cxn>
                  <a:cxn ang="T10">
                    <a:pos x="T4" y="T5"/>
                  </a:cxn>
                  <a:cxn ang="T11">
                    <a:pos x="T6" y="T7"/>
                  </a:cxn>
                </a:cxnLst>
                <a:rect l="T12" t="T13" r="T14" b="T15"/>
                <a:pathLst>
                  <a:path w="155" h="330">
                    <a:moveTo>
                      <a:pt x="5" y="0"/>
                    </a:moveTo>
                    <a:lnTo>
                      <a:pt x="155" y="19"/>
                    </a:lnTo>
                    <a:lnTo>
                      <a:pt x="0" y="330"/>
                    </a:lnTo>
                    <a:lnTo>
                      <a:pt x="5" y="0"/>
                    </a:lnTo>
                    <a:close/>
                  </a:path>
                </a:pathLst>
              </a:custGeom>
              <a:solidFill>
                <a:srgbClr val="FFCCB3"/>
              </a:solidFill>
              <a:ln w="9525">
                <a:noFill/>
                <a:round/>
                <a:headEnd/>
                <a:tailEnd/>
              </a:ln>
            </p:spPr>
            <p:txBody>
              <a:bodyPr/>
              <a:lstStyle/>
              <a:p>
                <a:endParaRPr lang="en-US"/>
              </a:p>
            </p:txBody>
          </p:sp>
          <p:sp>
            <p:nvSpPr>
              <p:cNvPr id="1127" name="Freeform 93"/>
              <p:cNvSpPr>
                <a:spLocks/>
              </p:cNvSpPr>
              <p:nvPr/>
            </p:nvSpPr>
            <p:spPr bwMode="auto">
              <a:xfrm>
                <a:off x="5321" y="3354"/>
                <a:ext cx="44" cy="50"/>
              </a:xfrm>
              <a:custGeom>
                <a:avLst/>
                <a:gdLst>
                  <a:gd name="T0" fmla="*/ 0 w 88"/>
                  <a:gd name="T1" fmla="*/ 1 h 100"/>
                  <a:gd name="T2" fmla="*/ 1 w 88"/>
                  <a:gd name="T3" fmla="*/ 1 h 100"/>
                  <a:gd name="T4" fmla="*/ 1 w 88"/>
                  <a:gd name="T5" fmla="*/ 0 h 100"/>
                  <a:gd name="T6" fmla="*/ 1 w 88"/>
                  <a:gd name="T7" fmla="*/ 1 h 100"/>
                  <a:gd name="T8" fmla="*/ 1 w 88"/>
                  <a:gd name="T9" fmla="*/ 1 h 100"/>
                  <a:gd name="T10" fmla="*/ 1 w 88"/>
                  <a:gd name="T11" fmla="*/ 1 h 100"/>
                  <a:gd name="T12" fmla="*/ 1 w 88"/>
                  <a:gd name="T13" fmla="*/ 1 h 100"/>
                  <a:gd name="T14" fmla="*/ 0 w 88"/>
                  <a:gd name="T15" fmla="*/ 1 h 100"/>
                  <a:gd name="T16" fmla="*/ 0 60000 65536"/>
                  <a:gd name="T17" fmla="*/ 0 60000 65536"/>
                  <a:gd name="T18" fmla="*/ 0 60000 65536"/>
                  <a:gd name="T19" fmla="*/ 0 60000 65536"/>
                  <a:gd name="T20" fmla="*/ 0 60000 65536"/>
                  <a:gd name="T21" fmla="*/ 0 60000 65536"/>
                  <a:gd name="T22" fmla="*/ 0 60000 65536"/>
                  <a:gd name="T23" fmla="*/ 0 60000 65536"/>
                  <a:gd name="T24" fmla="*/ 0 w 88"/>
                  <a:gd name="T25" fmla="*/ 0 h 100"/>
                  <a:gd name="T26" fmla="*/ 88 w 88"/>
                  <a:gd name="T27" fmla="*/ 100 h 1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88" h="100">
                    <a:moveTo>
                      <a:pt x="0" y="48"/>
                    </a:moveTo>
                    <a:lnTo>
                      <a:pt x="40" y="100"/>
                    </a:lnTo>
                    <a:lnTo>
                      <a:pt x="88" y="0"/>
                    </a:lnTo>
                    <a:lnTo>
                      <a:pt x="86" y="2"/>
                    </a:lnTo>
                    <a:lnTo>
                      <a:pt x="82" y="4"/>
                    </a:lnTo>
                    <a:lnTo>
                      <a:pt x="71" y="15"/>
                    </a:lnTo>
                    <a:lnTo>
                      <a:pt x="34" y="38"/>
                    </a:lnTo>
                    <a:lnTo>
                      <a:pt x="0" y="48"/>
                    </a:lnTo>
                    <a:close/>
                  </a:path>
                </a:pathLst>
              </a:custGeom>
              <a:solidFill>
                <a:srgbClr val="FF9980"/>
              </a:solidFill>
              <a:ln w="9525">
                <a:noFill/>
                <a:round/>
                <a:headEnd/>
                <a:tailEnd/>
              </a:ln>
            </p:spPr>
            <p:txBody>
              <a:bodyPr/>
              <a:lstStyle/>
              <a:p>
                <a:endParaRPr lang="en-US"/>
              </a:p>
            </p:txBody>
          </p:sp>
          <p:sp>
            <p:nvSpPr>
              <p:cNvPr id="1128" name="Freeform 94"/>
              <p:cNvSpPr>
                <a:spLocks/>
              </p:cNvSpPr>
              <p:nvPr/>
            </p:nvSpPr>
            <p:spPr bwMode="auto">
              <a:xfrm>
                <a:off x="5303" y="3346"/>
                <a:ext cx="18" cy="46"/>
              </a:xfrm>
              <a:custGeom>
                <a:avLst/>
                <a:gdLst>
                  <a:gd name="T0" fmla="*/ 0 w 37"/>
                  <a:gd name="T1" fmla="*/ 0 h 93"/>
                  <a:gd name="T2" fmla="*/ 0 w 37"/>
                  <a:gd name="T3" fmla="*/ 0 h 93"/>
                  <a:gd name="T4" fmla="*/ 0 w 37"/>
                  <a:gd name="T5" fmla="*/ 0 h 93"/>
                  <a:gd name="T6" fmla="*/ 0 w 37"/>
                  <a:gd name="T7" fmla="*/ 0 h 93"/>
                  <a:gd name="T8" fmla="*/ 0 w 37"/>
                  <a:gd name="T9" fmla="*/ 0 h 93"/>
                  <a:gd name="T10" fmla="*/ 0 w 37"/>
                  <a:gd name="T11" fmla="*/ 0 h 93"/>
                  <a:gd name="T12" fmla="*/ 0 w 37"/>
                  <a:gd name="T13" fmla="*/ 0 h 93"/>
                  <a:gd name="T14" fmla="*/ 0 w 37"/>
                  <a:gd name="T15" fmla="*/ 0 h 93"/>
                  <a:gd name="T16" fmla="*/ 0 w 37"/>
                  <a:gd name="T17" fmla="*/ 0 h 93"/>
                  <a:gd name="T18" fmla="*/ 0 w 37"/>
                  <a:gd name="T19" fmla="*/ 0 h 9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7"/>
                  <a:gd name="T31" fmla="*/ 0 h 93"/>
                  <a:gd name="T32" fmla="*/ 37 w 37"/>
                  <a:gd name="T33" fmla="*/ 93 h 9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7" h="93">
                    <a:moveTo>
                      <a:pt x="12" y="0"/>
                    </a:moveTo>
                    <a:lnTo>
                      <a:pt x="12" y="6"/>
                    </a:lnTo>
                    <a:lnTo>
                      <a:pt x="14" y="18"/>
                    </a:lnTo>
                    <a:lnTo>
                      <a:pt x="18" y="31"/>
                    </a:lnTo>
                    <a:lnTo>
                      <a:pt x="21" y="41"/>
                    </a:lnTo>
                    <a:lnTo>
                      <a:pt x="31" y="56"/>
                    </a:lnTo>
                    <a:lnTo>
                      <a:pt x="35" y="62"/>
                    </a:lnTo>
                    <a:lnTo>
                      <a:pt x="37" y="66"/>
                    </a:lnTo>
                    <a:lnTo>
                      <a:pt x="0" y="93"/>
                    </a:lnTo>
                    <a:lnTo>
                      <a:pt x="12" y="0"/>
                    </a:lnTo>
                    <a:close/>
                  </a:path>
                </a:pathLst>
              </a:custGeom>
              <a:solidFill>
                <a:srgbClr val="FF9980"/>
              </a:solidFill>
              <a:ln w="9525">
                <a:noFill/>
                <a:round/>
                <a:headEnd/>
                <a:tailEnd/>
              </a:ln>
            </p:spPr>
            <p:txBody>
              <a:bodyPr/>
              <a:lstStyle/>
              <a:p>
                <a:endParaRPr lang="en-US"/>
              </a:p>
            </p:txBody>
          </p:sp>
          <p:sp>
            <p:nvSpPr>
              <p:cNvPr id="1129" name="Freeform 95"/>
              <p:cNvSpPr>
                <a:spLocks/>
              </p:cNvSpPr>
              <p:nvPr/>
            </p:nvSpPr>
            <p:spPr bwMode="auto">
              <a:xfrm>
                <a:off x="5303" y="3341"/>
                <a:ext cx="76" cy="172"/>
              </a:xfrm>
              <a:custGeom>
                <a:avLst/>
                <a:gdLst>
                  <a:gd name="T0" fmla="*/ 0 w 154"/>
                  <a:gd name="T1" fmla="*/ 0 h 344"/>
                  <a:gd name="T2" fmla="*/ 0 w 154"/>
                  <a:gd name="T3" fmla="*/ 1 h 344"/>
                  <a:gd name="T4" fmla="*/ 0 w 154"/>
                  <a:gd name="T5" fmla="*/ 1 h 344"/>
                  <a:gd name="T6" fmla="*/ 0 w 154"/>
                  <a:gd name="T7" fmla="*/ 0 h 344"/>
                  <a:gd name="T8" fmla="*/ 0 60000 65536"/>
                  <a:gd name="T9" fmla="*/ 0 60000 65536"/>
                  <a:gd name="T10" fmla="*/ 0 60000 65536"/>
                  <a:gd name="T11" fmla="*/ 0 60000 65536"/>
                  <a:gd name="T12" fmla="*/ 0 w 154"/>
                  <a:gd name="T13" fmla="*/ 0 h 344"/>
                  <a:gd name="T14" fmla="*/ 154 w 154"/>
                  <a:gd name="T15" fmla="*/ 344 h 344"/>
                </a:gdLst>
                <a:ahLst/>
                <a:cxnLst>
                  <a:cxn ang="T8">
                    <a:pos x="T0" y="T1"/>
                  </a:cxn>
                  <a:cxn ang="T9">
                    <a:pos x="T2" y="T3"/>
                  </a:cxn>
                  <a:cxn ang="T10">
                    <a:pos x="T4" y="T5"/>
                  </a:cxn>
                  <a:cxn ang="T11">
                    <a:pos x="T6" y="T7"/>
                  </a:cxn>
                </a:cxnLst>
                <a:rect l="T12" t="T13" r="T14" b="T15"/>
                <a:pathLst>
                  <a:path w="154" h="344">
                    <a:moveTo>
                      <a:pt x="104" y="0"/>
                    </a:moveTo>
                    <a:lnTo>
                      <a:pt x="0" y="344"/>
                    </a:lnTo>
                    <a:lnTo>
                      <a:pt x="154" y="58"/>
                    </a:lnTo>
                    <a:lnTo>
                      <a:pt x="104" y="0"/>
                    </a:lnTo>
                    <a:close/>
                  </a:path>
                </a:pathLst>
              </a:custGeom>
              <a:solidFill>
                <a:srgbClr val="BF1A00"/>
              </a:solidFill>
              <a:ln w="9525">
                <a:noFill/>
                <a:round/>
                <a:headEnd/>
                <a:tailEnd/>
              </a:ln>
            </p:spPr>
            <p:txBody>
              <a:bodyPr/>
              <a:lstStyle/>
              <a:p>
                <a:endParaRPr lang="en-US"/>
              </a:p>
            </p:txBody>
          </p:sp>
          <p:sp>
            <p:nvSpPr>
              <p:cNvPr id="1130" name="Freeform 96"/>
              <p:cNvSpPr>
                <a:spLocks/>
              </p:cNvSpPr>
              <p:nvPr/>
            </p:nvSpPr>
            <p:spPr bwMode="auto">
              <a:xfrm>
                <a:off x="5284" y="3342"/>
                <a:ext cx="25" cy="168"/>
              </a:xfrm>
              <a:custGeom>
                <a:avLst/>
                <a:gdLst>
                  <a:gd name="T0" fmla="*/ 1 w 50"/>
                  <a:gd name="T1" fmla="*/ 0 h 336"/>
                  <a:gd name="T2" fmla="*/ 1 w 50"/>
                  <a:gd name="T3" fmla="*/ 1 h 336"/>
                  <a:gd name="T4" fmla="*/ 0 w 50"/>
                  <a:gd name="T5" fmla="*/ 1 h 336"/>
                  <a:gd name="T6" fmla="*/ 1 w 50"/>
                  <a:gd name="T7" fmla="*/ 0 h 336"/>
                  <a:gd name="T8" fmla="*/ 0 60000 65536"/>
                  <a:gd name="T9" fmla="*/ 0 60000 65536"/>
                  <a:gd name="T10" fmla="*/ 0 60000 65536"/>
                  <a:gd name="T11" fmla="*/ 0 60000 65536"/>
                  <a:gd name="T12" fmla="*/ 0 w 50"/>
                  <a:gd name="T13" fmla="*/ 0 h 336"/>
                  <a:gd name="T14" fmla="*/ 50 w 50"/>
                  <a:gd name="T15" fmla="*/ 336 h 336"/>
                </a:gdLst>
                <a:ahLst/>
                <a:cxnLst>
                  <a:cxn ang="T8">
                    <a:pos x="T0" y="T1"/>
                  </a:cxn>
                  <a:cxn ang="T9">
                    <a:pos x="T2" y="T3"/>
                  </a:cxn>
                  <a:cxn ang="T10">
                    <a:pos x="T4" y="T5"/>
                  </a:cxn>
                  <a:cxn ang="T11">
                    <a:pos x="T6" y="T7"/>
                  </a:cxn>
                </a:cxnLst>
                <a:rect l="T12" t="T13" r="T14" b="T15"/>
                <a:pathLst>
                  <a:path w="50" h="336">
                    <a:moveTo>
                      <a:pt x="50" y="0"/>
                    </a:moveTo>
                    <a:lnTo>
                      <a:pt x="29" y="336"/>
                    </a:lnTo>
                    <a:lnTo>
                      <a:pt x="0" y="46"/>
                    </a:lnTo>
                    <a:lnTo>
                      <a:pt x="50" y="0"/>
                    </a:lnTo>
                    <a:close/>
                  </a:path>
                </a:pathLst>
              </a:custGeom>
              <a:solidFill>
                <a:srgbClr val="BF1A00"/>
              </a:solidFill>
              <a:ln w="9525">
                <a:noFill/>
                <a:round/>
                <a:headEnd/>
                <a:tailEnd/>
              </a:ln>
            </p:spPr>
            <p:txBody>
              <a:bodyPr/>
              <a:lstStyle/>
              <a:p>
                <a:endParaRPr lang="en-US"/>
              </a:p>
            </p:txBody>
          </p:sp>
          <p:sp>
            <p:nvSpPr>
              <p:cNvPr id="1131" name="Freeform 97"/>
              <p:cNvSpPr>
                <a:spLocks/>
              </p:cNvSpPr>
              <p:nvPr/>
            </p:nvSpPr>
            <p:spPr bwMode="auto">
              <a:xfrm>
                <a:off x="5305" y="3307"/>
                <a:ext cx="62" cy="72"/>
              </a:xfrm>
              <a:custGeom>
                <a:avLst/>
                <a:gdLst>
                  <a:gd name="T0" fmla="*/ 0 w 125"/>
                  <a:gd name="T1" fmla="*/ 1 h 144"/>
                  <a:gd name="T2" fmla="*/ 0 w 125"/>
                  <a:gd name="T3" fmla="*/ 1 h 144"/>
                  <a:gd name="T4" fmla="*/ 0 w 125"/>
                  <a:gd name="T5" fmla="*/ 1 h 144"/>
                  <a:gd name="T6" fmla="*/ 0 w 125"/>
                  <a:gd name="T7" fmla="*/ 1 h 144"/>
                  <a:gd name="T8" fmla="*/ 0 w 125"/>
                  <a:gd name="T9" fmla="*/ 1 h 144"/>
                  <a:gd name="T10" fmla="*/ 0 w 125"/>
                  <a:gd name="T11" fmla="*/ 1 h 144"/>
                  <a:gd name="T12" fmla="*/ 0 w 125"/>
                  <a:gd name="T13" fmla="*/ 1 h 144"/>
                  <a:gd name="T14" fmla="*/ 0 w 125"/>
                  <a:gd name="T15" fmla="*/ 1 h 144"/>
                  <a:gd name="T16" fmla="*/ 0 w 125"/>
                  <a:gd name="T17" fmla="*/ 1 h 144"/>
                  <a:gd name="T18" fmla="*/ 0 w 125"/>
                  <a:gd name="T19" fmla="*/ 1 h 144"/>
                  <a:gd name="T20" fmla="*/ 0 w 125"/>
                  <a:gd name="T21" fmla="*/ 0 h 144"/>
                  <a:gd name="T22" fmla="*/ 0 w 125"/>
                  <a:gd name="T23" fmla="*/ 1 h 144"/>
                  <a:gd name="T24" fmla="*/ 0 w 125"/>
                  <a:gd name="T25" fmla="*/ 1 h 14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25"/>
                  <a:gd name="T40" fmla="*/ 0 h 144"/>
                  <a:gd name="T41" fmla="*/ 125 w 125"/>
                  <a:gd name="T42" fmla="*/ 144 h 14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25" h="144">
                    <a:moveTo>
                      <a:pt x="0" y="69"/>
                    </a:moveTo>
                    <a:lnTo>
                      <a:pt x="17" y="136"/>
                    </a:lnTo>
                    <a:lnTo>
                      <a:pt x="21" y="138"/>
                    </a:lnTo>
                    <a:lnTo>
                      <a:pt x="33" y="142"/>
                    </a:lnTo>
                    <a:lnTo>
                      <a:pt x="46" y="144"/>
                    </a:lnTo>
                    <a:lnTo>
                      <a:pt x="63" y="140"/>
                    </a:lnTo>
                    <a:lnTo>
                      <a:pt x="98" y="121"/>
                    </a:lnTo>
                    <a:lnTo>
                      <a:pt x="111" y="113"/>
                    </a:lnTo>
                    <a:lnTo>
                      <a:pt x="113" y="109"/>
                    </a:lnTo>
                    <a:lnTo>
                      <a:pt x="115" y="109"/>
                    </a:lnTo>
                    <a:lnTo>
                      <a:pt x="125" y="0"/>
                    </a:lnTo>
                    <a:lnTo>
                      <a:pt x="37" y="25"/>
                    </a:lnTo>
                    <a:lnTo>
                      <a:pt x="0" y="69"/>
                    </a:lnTo>
                    <a:close/>
                  </a:path>
                </a:pathLst>
              </a:custGeom>
              <a:solidFill>
                <a:srgbClr val="F0DAA3"/>
              </a:solidFill>
              <a:ln w="9525">
                <a:noFill/>
                <a:round/>
                <a:headEnd/>
                <a:tailEnd/>
              </a:ln>
            </p:spPr>
            <p:txBody>
              <a:bodyPr/>
              <a:lstStyle/>
              <a:p>
                <a:endParaRPr lang="en-US"/>
              </a:p>
            </p:txBody>
          </p:sp>
          <p:sp>
            <p:nvSpPr>
              <p:cNvPr id="1132" name="Freeform 98"/>
              <p:cNvSpPr>
                <a:spLocks/>
              </p:cNvSpPr>
              <p:nvPr/>
            </p:nvSpPr>
            <p:spPr bwMode="auto">
              <a:xfrm>
                <a:off x="5271" y="3318"/>
                <a:ext cx="17" cy="10"/>
              </a:xfrm>
              <a:custGeom>
                <a:avLst/>
                <a:gdLst>
                  <a:gd name="T0" fmla="*/ 0 w 35"/>
                  <a:gd name="T1" fmla="*/ 0 h 21"/>
                  <a:gd name="T2" fmla="*/ 0 w 35"/>
                  <a:gd name="T3" fmla="*/ 0 h 21"/>
                  <a:gd name="T4" fmla="*/ 0 w 35"/>
                  <a:gd name="T5" fmla="*/ 0 h 21"/>
                  <a:gd name="T6" fmla="*/ 0 w 35"/>
                  <a:gd name="T7" fmla="*/ 0 h 21"/>
                  <a:gd name="T8" fmla="*/ 0 w 35"/>
                  <a:gd name="T9" fmla="*/ 0 h 21"/>
                  <a:gd name="T10" fmla="*/ 0 w 35"/>
                  <a:gd name="T11" fmla="*/ 0 h 21"/>
                  <a:gd name="T12" fmla="*/ 0 60000 65536"/>
                  <a:gd name="T13" fmla="*/ 0 60000 65536"/>
                  <a:gd name="T14" fmla="*/ 0 60000 65536"/>
                  <a:gd name="T15" fmla="*/ 0 60000 65536"/>
                  <a:gd name="T16" fmla="*/ 0 60000 65536"/>
                  <a:gd name="T17" fmla="*/ 0 60000 65536"/>
                  <a:gd name="T18" fmla="*/ 0 w 35"/>
                  <a:gd name="T19" fmla="*/ 0 h 21"/>
                  <a:gd name="T20" fmla="*/ 35 w 35"/>
                  <a:gd name="T21" fmla="*/ 21 h 21"/>
                </a:gdLst>
                <a:ahLst/>
                <a:cxnLst>
                  <a:cxn ang="T12">
                    <a:pos x="T0" y="T1"/>
                  </a:cxn>
                  <a:cxn ang="T13">
                    <a:pos x="T2" y="T3"/>
                  </a:cxn>
                  <a:cxn ang="T14">
                    <a:pos x="T4" y="T5"/>
                  </a:cxn>
                  <a:cxn ang="T15">
                    <a:pos x="T6" y="T7"/>
                  </a:cxn>
                  <a:cxn ang="T16">
                    <a:pos x="T8" y="T9"/>
                  </a:cxn>
                  <a:cxn ang="T17">
                    <a:pos x="T10" y="T11"/>
                  </a:cxn>
                </a:cxnLst>
                <a:rect l="T18" t="T19" r="T20" b="T21"/>
                <a:pathLst>
                  <a:path w="35" h="21">
                    <a:moveTo>
                      <a:pt x="0" y="0"/>
                    </a:moveTo>
                    <a:lnTo>
                      <a:pt x="0" y="13"/>
                    </a:lnTo>
                    <a:lnTo>
                      <a:pt x="10" y="17"/>
                    </a:lnTo>
                    <a:lnTo>
                      <a:pt x="35" y="21"/>
                    </a:lnTo>
                    <a:lnTo>
                      <a:pt x="17" y="2"/>
                    </a:lnTo>
                    <a:lnTo>
                      <a:pt x="0" y="0"/>
                    </a:lnTo>
                    <a:close/>
                  </a:path>
                </a:pathLst>
              </a:custGeom>
              <a:solidFill>
                <a:srgbClr val="FFFFFF"/>
              </a:solidFill>
              <a:ln w="9525">
                <a:noFill/>
                <a:round/>
                <a:headEnd/>
                <a:tailEnd/>
              </a:ln>
            </p:spPr>
            <p:txBody>
              <a:bodyPr/>
              <a:lstStyle/>
              <a:p>
                <a:endParaRPr lang="en-US"/>
              </a:p>
            </p:txBody>
          </p:sp>
          <p:sp>
            <p:nvSpPr>
              <p:cNvPr id="1133" name="Freeform 99"/>
              <p:cNvSpPr>
                <a:spLocks/>
              </p:cNvSpPr>
              <p:nvPr/>
            </p:nvSpPr>
            <p:spPr bwMode="auto">
              <a:xfrm>
                <a:off x="5261" y="3223"/>
                <a:ext cx="119" cy="132"/>
              </a:xfrm>
              <a:custGeom>
                <a:avLst/>
                <a:gdLst>
                  <a:gd name="T0" fmla="*/ 1 w 238"/>
                  <a:gd name="T1" fmla="*/ 0 h 265"/>
                  <a:gd name="T2" fmla="*/ 1 w 238"/>
                  <a:gd name="T3" fmla="*/ 0 h 265"/>
                  <a:gd name="T4" fmla="*/ 1 w 238"/>
                  <a:gd name="T5" fmla="*/ 0 h 265"/>
                  <a:gd name="T6" fmla="*/ 1 w 238"/>
                  <a:gd name="T7" fmla="*/ 0 h 265"/>
                  <a:gd name="T8" fmla="*/ 1 w 238"/>
                  <a:gd name="T9" fmla="*/ 0 h 265"/>
                  <a:gd name="T10" fmla="*/ 1 w 238"/>
                  <a:gd name="T11" fmla="*/ 0 h 265"/>
                  <a:gd name="T12" fmla="*/ 1 w 238"/>
                  <a:gd name="T13" fmla="*/ 0 h 265"/>
                  <a:gd name="T14" fmla="*/ 1 w 238"/>
                  <a:gd name="T15" fmla="*/ 0 h 265"/>
                  <a:gd name="T16" fmla="*/ 1 w 238"/>
                  <a:gd name="T17" fmla="*/ 0 h 265"/>
                  <a:gd name="T18" fmla="*/ 1 w 238"/>
                  <a:gd name="T19" fmla="*/ 0 h 265"/>
                  <a:gd name="T20" fmla="*/ 1 w 238"/>
                  <a:gd name="T21" fmla="*/ 0 h 265"/>
                  <a:gd name="T22" fmla="*/ 1 w 238"/>
                  <a:gd name="T23" fmla="*/ 0 h 265"/>
                  <a:gd name="T24" fmla="*/ 1 w 238"/>
                  <a:gd name="T25" fmla="*/ 0 h 265"/>
                  <a:gd name="T26" fmla="*/ 1 w 238"/>
                  <a:gd name="T27" fmla="*/ 0 h 265"/>
                  <a:gd name="T28" fmla="*/ 0 w 238"/>
                  <a:gd name="T29" fmla="*/ 0 h 265"/>
                  <a:gd name="T30" fmla="*/ 1 w 238"/>
                  <a:gd name="T31" fmla="*/ 0 h 265"/>
                  <a:gd name="T32" fmla="*/ 1 w 238"/>
                  <a:gd name="T33" fmla="*/ 0 h 265"/>
                  <a:gd name="T34" fmla="*/ 1 w 238"/>
                  <a:gd name="T35" fmla="*/ 0 h 265"/>
                  <a:gd name="T36" fmla="*/ 1 w 238"/>
                  <a:gd name="T37" fmla="*/ 0 h 265"/>
                  <a:gd name="T38" fmla="*/ 1 w 238"/>
                  <a:gd name="T39" fmla="*/ 0 h 265"/>
                  <a:gd name="T40" fmla="*/ 1 w 238"/>
                  <a:gd name="T41" fmla="*/ 0 h 265"/>
                  <a:gd name="T42" fmla="*/ 1 w 238"/>
                  <a:gd name="T43" fmla="*/ 0 h 265"/>
                  <a:gd name="T44" fmla="*/ 1 w 238"/>
                  <a:gd name="T45" fmla="*/ 0 h 265"/>
                  <a:gd name="T46" fmla="*/ 1 w 238"/>
                  <a:gd name="T47" fmla="*/ 0 h 265"/>
                  <a:gd name="T48" fmla="*/ 1 w 238"/>
                  <a:gd name="T49" fmla="*/ 0 h 265"/>
                  <a:gd name="T50" fmla="*/ 1 w 238"/>
                  <a:gd name="T51" fmla="*/ 0 h 265"/>
                  <a:gd name="T52" fmla="*/ 1 w 238"/>
                  <a:gd name="T53" fmla="*/ 0 h 265"/>
                  <a:gd name="T54" fmla="*/ 1 w 238"/>
                  <a:gd name="T55" fmla="*/ 0 h 265"/>
                  <a:gd name="T56" fmla="*/ 1 w 238"/>
                  <a:gd name="T57" fmla="*/ 0 h 265"/>
                  <a:gd name="T58" fmla="*/ 1 w 238"/>
                  <a:gd name="T59" fmla="*/ 0 h 265"/>
                  <a:gd name="T60" fmla="*/ 1 w 238"/>
                  <a:gd name="T61" fmla="*/ 0 h 265"/>
                  <a:gd name="T62" fmla="*/ 1 w 238"/>
                  <a:gd name="T63" fmla="*/ 0 h 265"/>
                  <a:gd name="T64" fmla="*/ 1 w 238"/>
                  <a:gd name="T65" fmla="*/ 0 h 265"/>
                  <a:gd name="T66" fmla="*/ 1 w 238"/>
                  <a:gd name="T67" fmla="*/ 0 h 265"/>
                  <a:gd name="T68" fmla="*/ 1 w 238"/>
                  <a:gd name="T69" fmla="*/ 0 h 265"/>
                  <a:gd name="T70" fmla="*/ 1 w 238"/>
                  <a:gd name="T71" fmla="*/ 0 h 265"/>
                  <a:gd name="T72" fmla="*/ 1 w 238"/>
                  <a:gd name="T73" fmla="*/ 0 h 265"/>
                  <a:gd name="T74" fmla="*/ 1 w 238"/>
                  <a:gd name="T75" fmla="*/ 0 h 265"/>
                  <a:gd name="T76" fmla="*/ 1 w 238"/>
                  <a:gd name="T77" fmla="*/ 0 h 265"/>
                  <a:gd name="T78" fmla="*/ 1 w 238"/>
                  <a:gd name="T79" fmla="*/ 0 h 265"/>
                  <a:gd name="T80" fmla="*/ 1 w 238"/>
                  <a:gd name="T81" fmla="*/ 0 h 265"/>
                  <a:gd name="T82" fmla="*/ 1 w 238"/>
                  <a:gd name="T83" fmla="*/ 0 h 265"/>
                  <a:gd name="T84" fmla="*/ 1 w 238"/>
                  <a:gd name="T85" fmla="*/ 0 h 265"/>
                  <a:gd name="T86" fmla="*/ 1 w 238"/>
                  <a:gd name="T87" fmla="*/ 0 h 265"/>
                  <a:gd name="T88" fmla="*/ 1 w 238"/>
                  <a:gd name="T89" fmla="*/ 0 h 265"/>
                  <a:gd name="T90" fmla="*/ 1 w 238"/>
                  <a:gd name="T91" fmla="*/ 0 h 265"/>
                  <a:gd name="T92" fmla="*/ 1 w 238"/>
                  <a:gd name="T93" fmla="*/ 0 h 265"/>
                  <a:gd name="T94" fmla="*/ 1 w 238"/>
                  <a:gd name="T95" fmla="*/ 0 h 265"/>
                  <a:gd name="T96" fmla="*/ 1 w 238"/>
                  <a:gd name="T97" fmla="*/ 0 h 265"/>
                  <a:gd name="T98" fmla="*/ 1 w 238"/>
                  <a:gd name="T99" fmla="*/ 0 h 265"/>
                  <a:gd name="T100" fmla="*/ 1 w 238"/>
                  <a:gd name="T101" fmla="*/ 0 h 265"/>
                  <a:gd name="T102" fmla="*/ 1 w 238"/>
                  <a:gd name="T103" fmla="*/ 0 h 265"/>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238"/>
                  <a:gd name="T157" fmla="*/ 0 h 265"/>
                  <a:gd name="T158" fmla="*/ 238 w 238"/>
                  <a:gd name="T159" fmla="*/ 265 h 265"/>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238" h="265">
                    <a:moveTo>
                      <a:pt x="40" y="30"/>
                    </a:moveTo>
                    <a:lnTo>
                      <a:pt x="38" y="36"/>
                    </a:lnTo>
                    <a:lnTo>
                      <a:pt x="34" y="48"/>
                    </a:lnTo>
                    <a:lnTo>
                      <a:pt x="29" y="59"/>
                    </a:lnTo>
                    <a:lnTo>
                      <a:pt x="27" y="69"/>
                    </a:lnTo>
                    <a:lnTo>
                      <a:pt x="25" y="76"/>
                    </a:lnTo>
                    <a:lnTo>
                      <a:pt x="23" y="90"/>
                    </a:lnTo>
                    <a:lnTo>
                      <a:pt x="23" y="101"/>
                    </a:lnTo>
                    <a:lnTo>
                      <a:pt x="25" y="113"/>
                    </a:lnTo>
                    <a:lnTo>
                      <a:pt x="25" y="123"/>
                    </a:lnTo>
                    <a:lnTo>
                      <a:pt x="23" y="134"/>
                    </a:lnTo>
                    <a:lnTo>
                      <a:pt x="17" y="142"/>
                    </a:lnTo>
                    <a:lnTo>
                      <a:pt x="9" y="148"/>
                    </a:lnTo>
                    <a:lnTo>
                      <a:pt x="2" y="153"/>
                    </a:lnTo>
                    <a:lnTo>
                      <a:pt x="0" y="161"/>
                    </a:lnTo>
                    <a:lnTo>
                      <a:pt x="2" y="169"/>
                    </a:lnTo>
                    <a:lnTo>
                      <a:pt x="6" y="172"/>
                    </a:lnTo>
                    <a:lnTo>
                      <a:pt x="15" y="174"/>
                    </a:lnTo>
                    <a:lnTo>
                      <a:pt x="19" y="176"/>
                    </a:lnTo>
                    <a:lnTo>
                      <a:pt x="13" y="194"/>
                    </a:lnTo>
                    <a:lnTo>
                      <a:pt x="17" y="196"/>
                    </a:lnTo>
                    <a:lnTo>
                      <a:pt x="40" y="207"/>
                    </a:lnTo>
                    <a:lnTo>
                      <a:pt x="48" y="211"/>
                    </a:lnTo>
                    <a:lnTo>
                      <a:pt x="46" y="213"/>
                    </a:lnTo>
                    <a:lnTo>
                      <a:pt x="34" y="215"/>
                    </a:lnTo>
                    <a:lnTo>
                      <a:pt x="21" y="217"/>
                    </a:lnTo>
                    <a:lnTo>
                      <a:pt x="15" y="217"/>
                    </a:lnTo>
                    <a:lnTo>
                      <a:pt x="17" y="222"/>
                    </a:lnTo>
                    <a:lnTo>
                      <a:pt x="21" y="228"/>
                    </a:lnTo>
                    <a:lnTo>
                      <a:pt x="25" y="230"/>
                    </a:lnTo>
                    <a:lnTo>
                      <a:pt x="27" y="238"/>
                    </a:lnTo>
                    <a:lnTo>
                      <a:pt x="27" y="251"/>
                    </a:lnTo>
                    <a:lnTo>
                      <a:pt x="32" y="257"/>
                    </a:lnTo>
                    <a:lnTo>
                      <a:pt x="40" y="263"/>
                    </a:lnTo>
                    <a:lnTo>
                      <a:pt x="52" y="265"/>
                    </a:lnTo>
                    <a:lnTo>
                      <a:pt x="63" y="263"/>
                    </a:lnTo>
                    <a:lnTo>
                      <a:pt x="78" y="261"/>
                    </a:lnTo>
                    <a:lnTo>
                      <a:pt x="100" y="257"/>
                    </a:lnTo>
                    <a:lnTo>
                      <a:pt x="119" y="251"/>
                    </a:lnTo>
                    <a:lnTo>
                      <a:pt x="134" y="245"/>
                    </a:lnTo>
                    <a:lnTo>
                      <a:pt x="148" y="222"/>
                    </a:lnTo>
                    <a:lnTo>
                      <a:pt x="151" y="213"/>
                    </a:lnTo>
                    <a:lnTo>
                      <a:pt x="153" y="209"/>
                    </a:lnTo>
                    <a:lnTo>
                      <a:pt x="157" y="211"/>
                    </a:lnTo>
                    <a:lnTo>
                      <a:pt x="167" y="213"/>
                    </a:lnTo>
                    <a:lnTo>
                      <a:pt x="176" y="207"/>
                    </a:lnTo>
                    <a:lnTo>
                      <a:pt x="186" y="196"/>
                    </a:lnTo>
                    <a:lnTo>
                      <a:pt x="188" y="182"/>
                    </a:lnTo>
                    <a:lnTo>
                      <a:pt x="190" y="165"/>
                    </a:lnTo>
                    <a:lnTo>
                      <a:pt x="190" y="144"/>
                    </a:lnTo>
                    <a:lnTo>
                      <a:pt x="238" y="0"/>
                    </a:lnTo>
                    <a:lnTo>
                      <a:pt x="40" y="30"/>
                    </a:lnTo>
                    <a:close/>
                  </a:path>
                </a:pathLst>
              </a:custGeom>
              <a:solidFill>
                <a:srgbClr val="F0DAA3"/>
              </a:solidFill>
              <a:ln w="9525">
                <a:noFill/>
                <a:round/>
                <a:headEnd/>
                <a:tailEnd/>
              </a:ln>
            </p:spPr>
            <p:txBody>
              <a:bodyPr/>
              <a:lstStyle/>
              <a:p>
                <a:endParaRPr lang="en-US"/>
              </a:p>
            </p:txBody>
          </p:sp>
          <p:sp>
            <p:nvSpPr>
              <p:cNvPr id="1134" name="Freeform 100"/>
              <p:cNvSpPr>
                <a:spLocks/>
              </p:cNvSpPr>
              <p:nvPr/>
            </p:nvSpPr>
            <p:spPr bwMode="auto">
              <a:xfrm>
                <a:off x="5268" y="3317"/>
                <a:ext cx="20" cy="19"/>
              </a:xfrm>
              <a:custGeom>
                <a:avLst/>
                <a:gdLst>
                  <a:gd name="T0" fmla="*/ 0 w 41"/>
                  <a:gd name="T1" fmla="*/ 1 h 38"/>
                  <a:gd name="T2" fmla="*/ 0 w 41"/>
                  <a:gd name="T3" fmla="*/ 1 h 38"/>
                  <a:gd name="T4" fmla="*/ 0 w 41"/>
                  <a:gd name="T5" fmla="*/ 1 h 38"/>
                  <a:gd name="T6" fmla="*/ 0 w 41"/>
                  <a:gd name="T7" fmla="*/ 1 h 38"/>
                  <a:gd name="T8" fmla="*/ 0 w 41"/>
                  <a:gd name="T9" fmla="*/ 1 h 38"/>
                  <a:gd name="T10" fmla="*/ 0 w 41"/>
                  <a:gd name="T11" fmla="*/ 1 h 38"/>
                  <a:gd name="T12" fmla="*/ 0 w 41"/>
                  <a:gd name="T13" fmla="*/ 1 h 38"/>
                  <a:gd name="T14" fmla="*/ 0 w 41"/>
                  <a:gd name="T15" fmla="*/ 1 h 38"/>
                  <a:gd name="T16" fmla="*/ 0 w 41"/>
                  <a:gd name="T17" fmla="*/ 1 h 38"/>
                  <a:gd name="T18" fmla="*/ 0 w 41"/>
                  <a:gd name="T19" fmla="*/ 1 h 38"/>
                  <a:gd name="T20" fmla="*/ 0 w 41"/>
                  <a:gd name="T21" fmla="*/ 1 h 38"/>
                  <a:gd name="T22" fmla="*/ 0 w 41"/>
                  <a:gd name="T23" fmla="*/ 1 h 38"/>
                  <a:gd name="T24" fmla="*/ 0 w 41"/>
                  <a:gd name="T25" fmla="*/ 1 h 38"/>
                  <a:gd name="T26" fmla="*/ 0 w 41"/>
                  <a:gd name="T27" fmla="*/ 1 h 38"/>
                  <a:gd name="T28" fmla="*/ 0 w 41"/>
                  <a:gd name="T29" fmla="*/ 1 h 38"/>
                  <a:gd name="T30" fmla="*/ 0 w 41"/>
                  <a:gd name="T31" fmla="*/ 1 h 38"/>
                  <a:gd name="T32" fmla="*/ 0 w 41"/>
                  <a:gd name="T33" fmla="*/ 0 h 38"/>
                  <a:gd name="T34" fmla="*/ 0 w 41"/>
                  <a:gd name="T35" fmla="*/ 0 h 38"/>
                  <a:gd name="T36" fmla="*/ 0 w 41"/>
                  <a:gd name="T37" fmla="*/ 1 h 3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41"/>
                  <a:gd name="T58" fmla="*/ 0 h 38"/>
                  <a:gd name="T59" fmla="*/ 41 w 41"/>
                  <a:gd name="T60" fmla="*/ 38 h 3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41" h="38">
                    <a:moveTo>
                      <a:pt x="0" y="2"/>
                    </a:moveTo>
                    <a:lnTo>
                      <a:pt x="2" y="8"/>
                    </a:lnTo>
                    <a:lnTo>
                      <a:pt x="6" y="8"/>
                    </a:lnTo>
                    <a:lnTo>
                      <a:pt x="12" y="11"/>
                    </a:lnTo>
                    <a:lnTo>
                      <a:pt x="21" y="17"/>
                    </a:lnTo>
                    <a:lnTo>
                      <a:pt x="29" y="21"/>
                    </a:lnTo>
                    <a:lnTo>
                      <a:pt x="33" y="23"/>
                    </a:lnTo>
                    <a:lnTo>
                      <a:pt x="29" y="23"/>
                    </a:lnTo>
                    <a:lnTo>
                      <a:pt x="23" y="25"/>
                    </a:lnTo>
                    <a:lnTo>
                      <a:pt x="8" y="27"/>
                    </a:lnTo>
                    <a:lnTo>
                      <a:pt x="2" y="29"/>
                    </a:lnTo>
                    <a:lnTo>
                      <a:pt x="0" y="31"/>
                    </a:lnTo>
                    <a:lnTo>
                      <a:pt x="2" y="34"/>
                    </a:lnTo>
                    <a:lnTo>
                      <a:pt x="10" y="38"/>
                    </a:lnTo>
                    <a:lnTo>
                      <a:pt x="18" y="36"/>
                    </a:lnTo>
                    <a:lnTo>
                      <a:pt x="41" y="23"/>
                    </a:lnTo>
                    <a:lnTo>
                      <a:pt x="8" y="0"/>
                    </a:lnTo>
                    <a:lnTo>
                      <a:pt x="2" y="0"/>
                    </a:lnTo>
                    <a:lnTo>
                      <a:pt x="0" y="2"/>
                    </a:lnTo>
                    <a:close/>
                  </a:path>
                </a:pathLst>
              </a:custGeom>
              <a:solidFill>
                <a:srgbClr val="FF331A"/>
              </a:solidFill>
              <a:ln w="9525">
                <a:noFill/>
                <a:round/>
                <a:headEnd/>
                <a:tailEnd/>
              </a:ln>
            </p:spPr>
            <p:txBody>
              <a:bodyPr/>
              <a:lstStyle/>
              <a:p>
                <a:endParaRPr lang="en-US"/>
              </a:p>
            </p:txBody>
          </p:sp>
          <p:sp>
            <p:nvSpPr>
              <p:cNvPr id="1135" name="Freeform 101"/>
              <p:cNvSpPr>
                <a:spLocks/>
              </p:cNvSpPr>
              <p:nvPr/>
            </p:nvSpPr>
            <p:spPr bwMode="auto">
              <a:xfrm>
                <a:off x="5358" y="3388"/>
                <a:ext cx="24" cy="115"/>
              </a:xfrm>
              <a:custGeom>
                <a:avLst/>
                <a:gdLst>
                  <a:gd name="T0" fmla="*/ 1 w 48"/>
                  <a:gd name="T1" fmla="*/ 0 h 231"/>
                  <a:gd name="T2" fmla="*/ 0 w 48"/>
                  <a:gd name="T3" fmla="*/ 0 h 231"/>
                  <a:gd name="T4" fmla="*/ 1 w 48"/>
                  <a:gd name="T5" fmla="*/ 0 h 231"/>
                  <a:gd name="T6" fmla="*/ 1 w 48"/>
                  <a:gd name="T7" fmla="*/ 0 h 231"/>
                  <a:gd name="T8" fmla="*/ 1 w 48"/>
                  <a:gd name="T9" fmla="*/ 0 h 231"/>
                  <a:gd name="T10" fmla="*/ 1 w 48"/>
                  <a:gd name="T11" fmla="*/ 0 h 231"/>
                  <a:gd name="T12" fmla="*/ 0 60000 65536"/>
                  <a:gd name="T13" fmla="*/ 0 60000 65536"/>
                  <a:gd name="T14" fmla="*/ 0 60000 65536"/>
                  <a:gd name="T15" fmla="*/ 0 60000 65536"/>
                  <a:gd name="T16" fmla="*/ 0 60000 65536"/>
                  <a:gd name="T17" fmla="*/ 0 60000 65536"/>
                  <a:gd name="T18" fmla="*/ 0 w 48"/>
                  <a:gd name="T19" fmla="*/ 0 h 231"/>
                  <a:gd name="T20" fmla="*/ 48 w 48"/>
                  <a:gd name="T21" fmla="*/ 231 h 231"/>
                </a:gdLst>
                <a:ahLst/>
                <a:cxnLst>
                  <a:cxn ang="T12">
                    <a:pos x="T0" y="T1"/>
                  </a:cxn>
                  <a:cxn ang="T13">
                    <a:pos x="T2" y="T3"/>
                  </a:cxn>
                  <a:cxn ang="T14">
                    <a:pos x="T4" y="T5"/>
                  </a:cxn>
                  <a:cxn ang="T15">
                    <a:pos x="T6" y="T7"/>
                  </a:cxn>
                  <a:cxn ang="T16">
                    <a:pos x="T8" y="T9"/>
                  </a:cxn>
                  <a:cxn ang="T17">
                    <a:pos x="T10" y="T11"/>
                  </a:cxn>
                </a:cxnLst>
                <a:rect l="T18" t="T19" r="T20" b="T21"/>
                <a:pathLst>
                  <a:path w="48" h="231">
                    <a:moveTo>
                      <a:pt x="48" y="0"/>
                    </a:moveTo>
                    <a:lnTo>
                      <a:pt x="0" y="231"/>
                    </a:lnTo>
                    <a:lnTo>
                      <a:pt x="17" y="85"/>
                    </a:lnTo>
                    <a:lnTo>
                      <a:pt x="13" y="27"/>
                    </a:lnTo>
                    <a:lnTo>
                      <a:pt x="23" y="54"/>
                    </a:lnTo>
                    <a:lnTo>
                      <a:pt x="48" y="0"/>
                    </a:lnTo>
                    <a:close/>
                  </a:path>
                </a:pathLst>
              </a:custGeom>
              <a:solidFill>
                <a:srgbClr val="BF1A00"/>
              </a:solidFill>
              <a:ln w="9525">
                <a:noFill/>
                <a:round/>
                <a:headEnd/>
                <a:tailEnd/>
              </a:ln>
            </p:spPr>
            <p:txBody>
              <a:bodyPr/>
              <a:lstStyle/>
              <a:p>
                <a:endParaRPr lang="en-US"/>
              </a:p>
            </p:txBody>
          </p:sp>
          <p:sp>
            <p:nvSpPr>
              <p:cNvPr id="1136" name="Freeform 102"/>
              <p:cNvSpPr>
                <a:spLocks/>
              </p:cNvSpPr>
              <p:nvPr/>
            </p:nvSpPr>
            <p:spPr bwMode="auto">
              <a:xfrm>
                <a:off x="5385" y="3437"/>
                <a:ext cx="98" cy="100"/>
              </a:xfrm>
              <a:custGeom>
                <a:avLst/>
                <a:gdLst>
                  <a:gd name="T0" fmla="*/ 1 w 196"/>
                  <a:gd name="T1" fmla="*/ 0 h 200"/>
                  <a:gd name="T2" fmla="*/ 1 w 196"/>
                  <a:gd name="T3" fmla="*/ 1 h 200"/>
                  <a:gd name="T4" fmla="*/ 1 w 196"/>
                  <a:gd name="T5" fmla="*/ 1 h 200"/>
                  <a:gd name="T6" fmla="*/ 1 w 196"/>
                  <a:gd name="T7" fmla="*/ 1 h 200"/>
                  <a:gd name="T8" fmla="*/ 1 w 196"/>
                  <a:gd name="T9" fmla="*/ 1 h 200"/>
                  <a:gd name="T10" fmla="*/ 1 w 196"/>
                  <a:gd name="T11" fmla="*/ 1 h 200"/>
                  <a:gd name="T12" fmla="*/ 1 w 196"/>
                  <a:gd name="T13" fmla="*/ 1 h 200"/>
                  <a:gd name="T14" fmla="*/ 1 w 196"/>
                  <a:gd name="T15" fmla="*/ 1 h 200"/>
                  <a:gd name="T16" fmla="*/ 0 w 196"/>
                  <a:gd name="T17" fmla="*/ 1 h 200"/>
                  <a:gd name="T18" fmla="*/ 1 w 196"/>
                  <a:gd name="T19" fmla="*/ 1 h 200"/>
                  <a:gd name="T20" fmla="*/ 1 w 196"/>
                  <a:gd name="T21" fmla="*/ 0 h 2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96"/>
                  <a:gd name="T34" fmla="*/ 0 h 200"/>
                  <a:gd name="T35" fmla="*/ 196 w 196"/>
                  <a:gd name="T36" fmla="*/ 200 h 20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96" h="200">
                    <a:moveTo>
                      <a:pt x="44" y="0"/>
                    </a:moveTo>
                    <a:lnTo>
                      <a:pt x="92" y="104"/>
                    </a:lnTo>
                    <a:lnTo>
                      <a:pt x="196" y="152"/>
                    </a:lnTo>
                    <a:lnTo>
                      <a:pt x="112" y="125"/>
                    </a:lnTo>
                    <a:lnTo>
                      <a:pt x="196" y="200"/>
                    </a:lnTo>
                    <a:lnTo>
                      <a:pt x="89" y="133"/>
                    </a:lnTo>
                    <a:lnTo>
                      <a:pt x="102" y="171"/>
                    </a:lnTo>
                    <a:lnTo>
                      <a:pt x="62" y="131"/>
                    </a:lnTo>
                    <a:lnTo>
                      <a:pt x="0" y="136"/>
                    </a:lnTo>
                    <a:lnTo>
                      <a:pt x="71" y="109"/>
                    </a:lnTo>
                    <a:lnTo>
                      <a:pt x="44" y="0"/>
                    </a:lnTo>
                    <a:close/>
                  </a:path>
                </a:pathLst>
              </a:custGeom>
              <a:solidFill>
                <a:srgbClr val="BF1A00"/>
              </a:solidFill>
              <a:ln w="9525">
                <a:noFill/>
                <a:round/>
                <a:headEnd/>
                <a:tailEnd/>
              </a:ln>
            </p:spPr>
            <p:txBody>
              <a:bodyPr/>
              <a:lstStyle/>
              <a:p>
                <a:endParaRPr lang="en-US"/>
              </a:p>
            </p:txBody>
          </p:sp>
          <p:sp>
            <p:nvSpPr>
              <p:cNvPr id="1137" name="Freeform 103"/>
              <p:cNvSpPr>
                <a:spLocks/>
              </p:cNvSpPr>
              <p:nvPr/>
            </p:nvSpPr>
            <p:spPr bwMode="auto">
              <a:xfrm>
                <a:off x="5041" y="3484"/>
                <a:ext cx="143" cy="27"/>
              </a:xfrm>
              <a:custGeom>
                <a:avLst/>
                <a:gdLst>
                  <a:gd name="T0" fmla="*/ 0 w 286"/>
                  <a:gd name="T1" fmla="*/ 0 h 54"/>
                  <a:gd name="T2" fmla="*/ 1 w 286"/>
                  <a:gd name="T3" fmla="*/ 0 h 54"/>
                  <a:gd name="T4" fmla="*/ 1 w 286"/>
                  <a:gd name="T5" fmla="*/ 1 h 54"/>
                  <a:gd name="T6" fmla="*/ 1 w 286"/>
                  <a:gd name="T7" fmla="*/ 1 h 54"/>
                  <a:gd name="T8" fmla="*/ 1 w 286"/>
                  <a:gd name="T9" fmla="*/ 1 h 54"/>
                  <a:gd name="T10" fmla="*/ 1 w 286"/>
                  <a:gd name="T11" fmla="*/ 1 h 54"/>
                  <a:gd name="T12" fmla="*/ 1 w 286"/>
                  <a:gd name="T13" fmla="*/ 1 h 54"/>
                  <a:gd name="T14" fmla="*/ 1 w 286"/>
                  <a:gd name="T15" fmla="*/ 1 h 54"/>
                  <a:gd name="T16" fmla="*/ 1 w 286"/>
                  <a:gd name="T17" fmla="*/ 1 h 54"/>
                  <a:gd name="T18" fmla="*/ 1 w 286"/>
                  <a:gd name="T19" fmla="*/ 1 h 54"/>
                  <a:gd name="T20" fmla="*/ 1 w 286"/>
                  <a:gd name="T21" fmla="*/ 1 h 54"/>
                  <a:gd name="T22" fmla="*/ 1 w 286"/>
                  <a:gd name="T23" fmla="*/ 1 h 54"/>
                  <a:gd name="T24" fmla="*/ 1 w 286"/>
                  <a:gd name="T25" fmla="*/ 1 h 54"/>
                  <a:gd name="T26" fmla="*/ 1 w 286"/>
                  <a:gd name="T27" fmla="*/ 1 h 54"/>
                  <a:gd name="T28" fmla="*/ 1 w 286"/>
                  <a:gd name="T29" fmla="*/ 1 h 54"/>
                  <a:gd name="T30" fmla="*/ 1 w 286"/>
                  <a:gd name="T31" fmla="*/ 1 h 54"/>
                  <a:gd name="T32" fmla="*/ 1 w 286"/>
                  <a:gd name="T33" fmla="*/ 1 h 54"/>
                  <a:gd name="T34" fmla="*/ 1 w 286"/>
                  <a:gd name="T35" fmla="*/ 1 h 54"/>
                  <a:gd name="T36" fmla="*/ 1 w 286"/>
                  <a:gd name="T37" fmla="*/ 1 h 54"/>
                  <a:gd name="T38" fmla="*/ 1 w 286"/>
                  <a:gd name="T39" fmla="*/ 1 h 54"/>
                  <a:gd name="T40" fmla="*/ 0 w 286"/>
                  <a:gd name="T41" fmla="*/ 0 h 5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86"/>
                  <a:gd name="T64" fmla="*/ 0 h 54"/>
                  <a:gd name="T65" fmla="*/ 286 w 286"/>
                  <a:gd name="T66" fmla="*/ 54 h 5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86" h="54">
                    <a:moveTo>
                      <a:pt x="0" y="0"/>
                    </a:moveTo>
                    <a:lnTo>
                      <a:pt x="4" y="0"/>
                    </a:lnTo>
                    <a:lnTo>
                      <a:pt x="14" y="4"/>
                    </a:lnTo>
                    <a:lnTo>
                      <a:pt x="27" y="6"/>
                    </a:lnTo>
                    <a:lnTo>
                      <a:pt x="45" y="10"/>
                    </a:lnTo>
                    <a:lnTo>
                      <a:pt x="85" y="15"/>
                    </a:lnTo>
                    <a:lnTo>
                      <a:pt x="125" y="15"/>
                    </a:lnTo>
                    <a:lnTo>
                      <a:pt x="146" y="14"/>
                    </a:lnTo>
                    <a:lnTo>
                      <a:pt x="171" y="12"/>
                    </a:lnTo>
                    <a:lnTo>
                      <a:pt x="223" y="8"/>
                    </a:lnTo>
                    <a:lnTo>
                      <a:pt x="248" y="8"/>
                    </a:lnTo>
                    <a:lnTo>
                      <a:pt x="267" y="6"/>
                    </a:lnTo>
                    <a:lnTo>
                      <a:pt x="286" y="6"/>
                    </a:lnTo>
                    <a:lnTo>
                      <a:pt x="102" y="54"/>
                    </a:lnTo>
                    <a:lnTo>
                      <a:pt x="98" y="54"/>
                    </a:lnTo>
                    <a:lnTo>
                      <a:pt x="91" y="52"/>
                    </a:lnTo>
                    <a:lnTo>
                      <a:pt x="62" y="44"/>
                    </a:lnTo>
                    <a:lnTo>
                      <a:pt x="31" y="33"/>
                    </a:lnTo>
                    <a:lnTo>
                      <a:pt x="20" y="27"/>
                    </a:lnTo>
                    <a:lnTo>
                      <a:pt x="10" y="21"/>
                    </a:lnTo>
                    <a:lnTo>
                      <a:pt x="0" y="0"/>
                    </a:lnTo>
                    <a:close/>
                  </a:path>
                </a:pathLst>
              </a:custGeom>
              <a:solidFill>
                <a:srgbClr val="DEDEDE"/>
              </a:solidFill>
              <a:ln w="9525">
                <a:noFill/>
                <a:round/>
                <a:headEnd/>
                <a:tailEnd/>
              </a:ln>
            </p:spPr>
            <p:txBody>
              <a:bodyPr/>
              <a:lstStyle/>
              <a:p>
                <a:endParaRPr lang="en-US"/>
              </a:p>
            </p:txBody>
          </p:sp>
          <p:sp>
            <p:nvSpPr>
              <p:cNvPr id="1138" name="Freeform 104"/>
              <p:cNvSpPr>
                <a:spLocks/>
              </p:cNvSpPr>
              <p:nvPr/>
            </p:nvSpPr>
            <p:spPr bwMode="auto">
              <a:xfrm>
                <a:off x="5043" y="3458"/>
                <a:ext cx="239" cy="81"/>
              </a:xfrm>
              <a:custGeom>
                <a:avLst/>
                <a:gdLst>
                  <a:gd name="T0" fmla="*/ 0 w 478"/>
                  <a:gd name="T1" fmla="*/ 1 h 162"/>
                  <a:gd name="T2" fmla="*/ 1 w 478"/>
                  <a:gd name="T3" fmla="*/ 1 h 162"/>
                  <a:gd name="T4" fmla="*/ 1 w 478"/>
                  <a:gd name="T5" fmla="*/ 1 h 162"/>
                  <a:gd name="T6" fmla="*/ 1 w 478"/>
                  <a:gd name="T7" fmla="*/ 1 h 162"/>
                  <a:gd name="T8" fmla="*/ 1 w 478"/>
                  <a:gd name="T9" fmla="*/ 1 h 162"/>
                  <a:gd name="T10" fmla="*/ 1 w 478"/>
                  <a:gd name="T11" fmla="*/ 1 h 162"/>
                  <a:gd name="T12" fmla="*/ 1 w 478"/>
                  <a:gd name="T13" fmla="*/ 1 h 162"/>
                  <a:gd name="T14" fmla="*/ 1 w 478"/>
                  <a:gd name="T15" fmla="*/ 1 h 162"/>
                  <a:gd name="T16" fmla="*/ 1 w 478"/>
                  <a:gd name="T17" fmla="*/ 1 h 162"/>
                  <a:gd name="T18" fmla="*/ 1 w 478"/>
                  <a:gd name="T19" fmla="*/ 1 h 162"/>
                  <a:gd name="T20" fmla="*/ 1 w 478"/>
                  <a:gd name="T21" fmla="*/ 1 h 162"/>
                  <a:gd name="T22" fmla="*/ 1 w 478"/>
                  <a:gd name="T23" fmla="*/ 1 h 162"/>
                  <a:gd name="T24" fmla="*/ 1 w 478"/>
                  <a:gd name="T25" fmla="*/ 1 h 162"/>
                  <a:gd name="T26" fmla="*/ 1 w 478"/>
                  <a:gd name="T27" fmla="*/ 1 h 162"/>
                  <a:gd name="T28" fmla="*/ 1 w 478"/>
                  <a:gd name="T29" fmla="*/ 1 h 162"/>
                  <a:gd name="T30" fmla="*/ 1 w 478"/>
                  <a:gd name="T31" fmla="*/ 1 h 162"/>
                  <a:gd name="T32" fmla="*/ 1 w 478"/>
                  <a:gd name="T33" fmla="*/ 0 h 162"/>
                  <a:gd name="T34" fmla="*/ 1 w 478"/>
                  <a:gd name="T35" fmla="*/ 0 h 162"/>
                  <a:gd name="T36" fmla="*/ 1 w 478"/>
                  <a:gd name="T37" fmla="*/ 1 h 162"/>
                  <a:gd name="T38" fmla="*/ 1 w 478"/>
                  <a:gd name="T39" fmla="*/ 1 h 162"/>
                  <a:gd name="T40" fmla="*/ 1 w 478"/>
                  <a:gd name="T41" fmla="*/ 1 h 162"/>
                  <a:gd name="T42" fmla="*/ 1 w 478"/>
                  <a:gd name="T43" fmla="*/ 1 h 162"/>
                  <a:gd name="T44" fmla="*/ 1 w 478"/>
                  <a:gd name="T45" fmla="*/ 1 h 162"/>
                  <a:gd name="T46" fmla="*/ 1 w 478"/>
                  <a:gd name="T47" fmla="*/ 1 h 162"/>
                  <a:gd name="T48" fmla="*/ 1 w 478"/>
                  <a:gd name="T49" fmla="*/ 1 h 162"/>
                  <a:gd name="T50" fmla="*/ 1 w 478"/>
                  <a:gd name="T51" fmla="*/ 1 h 162"/>
                  <a:gd name="T52" fmla="*/ 1 w 478"/>
                  <a:gd name="T53" fmla="*/ 1 h 162"/>
                  <a:gd name="T54" fmla="*/ 1 w 478"/>
                  <a:gd name="T55" fmla="*/ 1 h 162"/>
                  <a:gd name="T56" fmla="*/ 1 w 478"/>
                  <a:gd name="T57" fmla="*/ 1 h 162"/>
                  <a:gd name="T58" fmla="*/ 1 w 478"/>
                  <a:gd name="T59" fmla="*/ 1 h 162"/>
                  <a:gd name="T60" fmla="*/ 1 w 478"/>
                  <a:gd name="T61" fmla="*/ 1 h 162"/>
                  <a:gd name="T62" fmla="*/ 1 w 478"/>
                  <a:gd name="T63" fmla="*/ 1 h 162"/>
                  <a:gd name="T64" fmla="*/ 0 w 478"/>
                  <a:gd name="T65" fmla="*/ 1 h 16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478"/>
                  <a:gd name="T100" fmla="*/ 0 h 162"/>
                  <a:gd name="T101" fmla="*/ 478 w 478"/>
                  <a:gd name="T102" fmla="*/ 162 h 162"/>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478" h="162">
                    <a:moveTo>
                      <a:pt x="0" y="94"/>
                    </a:moveTo>
                    <a:lnTo>
                      <a:pt x="2" y="94"/>
                    </a:lnTo>
                    <a:lnTo>
                      <a:pt x="6" y="92"/>
                    </a:lnTo>
                    <a:lnTo>
                      <a:pt x="25" y="91"/>
                    </a:lnTo>
                    <a:lnTo>
                      <a:pt x="50" y="87"/>
                    </a:lnTo>
                    <a:lnTo>
                      <a:pt x="83" y="83"/>
                    </a:lnTo>
                    <a:lnTo>
                      <a:pt x="150" y="71"/>
                    </a:lnTo>
                    <a:lnTo>
                      <a:pt x="181" y="67"/>
                    </a:lnTo>
                    <a:lnTo>
                      <a:pt x="204" y="64"/>
                    </a:lnTo>
                    <a:lnTo>
                      <a:pt x="246" y="58"/>
                    </a:lnTo>
                    <a:lnTo>
                      <a:pt x="290" y="50"/>
                    </a:lnTo>
                    <a:lnTo>
                      <a:pt x="332" y="42"/>
                    </a:lnTo>
                    <a:lnTo>
                      <a:pt x="369" y="31"/>
                    </a:lnTo>
                    <a:lnTo>
                      <a:pt x="436" y="10"/>
                    </a:lnTo>
                    <a:lnTo>
                      <a:pt x="451" y="6"/>
                    </a:lnTo>
                    <a:lnTo>
                      <a:pt x="463" y="2"/>
                    </a:lnTo>
                    <a:lnTo>
                      <a:pt x="470" y="0"/>
                    </a:lnTo>
                    <a:lnTo>
                      <a:pt x="472" y="0"/>
                    </a:lnTo>
                    <a:lnTo>
                      <a:pt x="478" y="144"/>
                    </a:lnTo>
                    <a:lnTo>
                      <a:pt x="470" y="144"/>
                    </a:lnTo>
                    <a:lnTo>
                      <a:pt x="453" y="148"/>
                    </a:lnTo>
                    <a:lnTo>
                      <a:pt x="424" y="150"/>
                    </a:lnTo>
                    <a:lnTo>
                      <a:pt x="390" y="154"/>
                    </a:lnTo>
                    <a:lnTo>
                      <a:pt x="313" y="160"/>
                    </a:lnTo>
                    <a:lnTo>
                      <a:pt x="277" y="162"/>
                    </a:lnTo>
                    <a:lnTo>
                      <a:pt x="244" y="162"/>
                    </a:lnTo>
                    <a:lnTo>
                      <a:pt x="186" y="160"/>
                    </a:lnTo>
                    <a:lnTo>
                      <a:pt x="133" y="154"/>
                    </a:lnTo>
                    <a:lnTo>
                      <a:pt x="108" y="152"/>
                    </a:lnTo>
                    <a:lnTo>
                      <a:pt x="87" y="148"/>
                    </a:lnTo>
                    <a:lnTo>
                      <a:pt x="67" y="142"/>
                    </a:lnTo>
                    <a:lnTo>
                      <a:pt x="52" y="135"/>
                    </a:lnTo>
                    <a:lnTo>
                      <a:pt x="0" y="94"/>
                    </a:lnTo>
                    <a:close/>
                  </a:path>
                </a:pathLst>
              </a:custGeom>
              <a:solidFill>
                <a:srgbClr val="FFFFFF"/>
              </a:solidFill>
              <a:ln w="9525">
                <a:noFill/>
                <a:round/>
                <a:headEnd/>
                <a:tailEnd/>
              </a:ln>
            </p:spPr>
            <p:txBody>
              <a:bodyPr/>
              <a:lstStyle/>
              <a:p>
                <a:endParaRPr lang="en-US"/>
              </a:p>
            </p:txBody>
          </p:sp>
          <p:sp>
            <p:nvSpPr>
              <p:cNvPr id="1139" name="Freeform 105"/>
              <p:cNvSpPr>
                <a:spLocks/>
              </p:cNvSpPr>
              <p:nvPr/>
            </p:nvSpPr>
            <p:spPr bwMode="auto">
              <a:xfrm>
                <a:off x="5245" y="3501"/>
                <a:ext cx="136" cy="52"/>
              </a:xfrm>
              <a:custGeom>
                <a:avLst/>
                <a:gdLst>
                  <a:gd name="T0" fmla="*/ 0 w 273"/>
                  <a:gd name="T1" fmla="*/ 1 h 103"/>
                  <a:gd name="T2" fmla="*/ 0 w 273"/>
                  <a:gd name="T3" fmla="*/ 1 h 103"/>
                  <a:gd name="T4" fmla="*/ 0 w 273"/>
                  <a:gd name="T5" fmla="*/ 1 h 103"/>
                  <a:gd name="T6" fmla="*/ 0 w 273"/>
                  <a:gd name="T7" fmla="*/ 1 h 103"/>
                  <a:gd name="T8" fmla="*/ 0 w 273"/>
                  <a:gd name="T9" fmla="*/ 1 h 103"/>
                  <a:gd name="T10" fmla="*/ 0 w 273"/>
                  <a:gd name="T11" fmla="*/ 1 h 103"/>
                  <a:gd name="T12" fmla="*/ 0 w 273"/>
                  <a:gd name="T13" fmla="*/ 1 h 103"/>
                  <a:gd name="T14" fmla="*/ 0 w 273"/>
                  <a:gd name="T15" fmla="*/ 1 h 103"/>
                  <a:gd name="T16" fmla="*/ 0 w 273"/>
                  <a:gd name="T17" fmla="*/ 1 h 103"/>
                  <a:gd name="T18" fmla="*/ 0 w 273"/>
                  <a:gd name="T19" fmla="*/ 1 h 103"/>
                  <a:gd name="T20" fmla="*/ 0 w 273"/>
                  <a:gd name="T21" fmla="*/ 1 h 103"/>
                  <a:gd name="T22" fmla="*/ 0 w 273"/>
                  <a:gd name="T23" fmla="*/ 1 h 103"/>
                  <a:gd name="T24" fmla="*/ 0 w 273"/>
                  <a:gd name="T25" fmla="*/ 1 h 103"/>
                  <a:gd name="T26" fmla="*/ 0 w 273"/>
                  <a:gd name="T27" fmla="*/ 1 h 103"/>
                  <a:gd name="T28" fmla="*/ 0 w 273"/>
                  <a:gd name="T29" fmla="*/ 1 h 103"/>
                  <a:gd name="T30" fmla="*/ 0 w 273"/>
                  <a:gd name="T31" fmla="*/ 1 h 103"/>
                  <a:gd name="T32" fmla="*/ 0 w 273"/>
                  <a:gd name="T33" fmla="*/ 1 h 103"/>
                  <a:gd name="T34" fmla="*/ 0 w 273"/>
                  <a:gd name="T35" fmla="*/ 1 h 103"/>
                  <a:gd name="T36" fmla="*/ 0 w 273"/>
                  <a:gd name="T37" fmla="*/ 1 h 103"/>
                  <a:gd name="T38" fmla="*/ 0 w 273"/>
                  <a:gd name="T39" fmla="*/ 1 h 103"/>
                  <a:gd name="T40" fmla="*/ 0 w 273"/>
                  <a:gd name="T41" fmla="*/ 1 h 103"/>
                  <a:gd name="T42" fmla="*/ 0 w 273"/>
                  <a:gd name="T43" fmla="*/ 1 h 103"/>
                  <a:gd name="T44" fmla="*/ 0 w 273"/>
                  <a:gd name="T45" fmla="*/ 1 h 103"/>
                  <a:gd name="T46" fmla="*/ 0 w 273"/>
                  <a:gd name="T47" fmla="*/ 1 h 103"/>
                  <a:gd name="T48" fmla="*/ 0 w 273"/>
                  <a:gd name="T49" fmla="*/ 1 h 103"/>
                  <a:gd name="T50" fmla="*/ 0 w 273"/>
                  <a:gd name="T51" fmla="*/ 1 h 103"/>
                  <a:gd name="T52" fmla="*/ 0 w 273"/>
                  <a:gd name="T53" fmla="*/ 1 h 103"/>
                  <a:gd name="T54" fmla="*/ 0 w 273"/>
                  <a:gd name="T55" fmla="*/ 1 h 103"/>
                  <a:gd name="T56" fmla="*/ 0 w 273"/>
                  <a:gd name="T57" fmla="*/ 1 h 103"/>
                  <a:gd name="T58" fmla="*/ 0 w 273"/>
                  <a:gd name="T59" fmla="*/ 1 h 103"/>
                  <a:gd name="T60" fmla="*/ 0 w 273"/>
                  <a:gd name="T61" fmla="*/ 1 h 103"/>
                  <a:gd name="T62" fmla="*/ 0 w 273"/>
                  <a:gd name="T63" fmla="*/ 1 h 103"/>
                  <a:gd name="T64" fmla="*/ 0 w 273"/>
                  <a:gd name="T65" fmla="*/ 0 h 103"/>
                  <a:gd name="T66" fmla="*/ 0 w 273"/>
                  <a:gd name="T67" fmla="*/ 1 h 103"/>
                  <a:gd name="T68" fmla="*/ 0 w 273"/>
                  <a:gd name="T69" fmla="*/ 1 h 103"/>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273"/>
                  <a:gd name="T106" fmla="*/ 0 h 103"/>
                  <a:gd name="T107" fmla="*/ 273 w 273"/>
                  <a:gd name="T108" fmla="*/ 103 h 103"/>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273" h="103">
                    <a:moveTo>
                      <a:pt x="267" y="15"/>
                    </a:moveTo>
                    <a:lnTo>
                      <a:pt x="269" y="19"/>
                    </a:lnTo>
                    <a:lnTo>
                      <a:pt x="271" y="28"/>
                    </a:lnTo>
                    <a:lnTo>
                      <a:pt x="273" y="40"/>
                    </a:lnTo>
                    <a:lnTo>
                      <a:pt x="273" y="50"/>
                    </a:lnTo>
                    <a:lnTo>
                      <a:pt x="267" y="61"/>
                    </a:lnTo>
                    <a:lnTo>
                      <a:pt x="257" y="75"/>
                    </a:lnTo>
                    <a:lnTo>
                      <a:pt x="250" y="86"/>
                    </a:lnTo>
                    <a:lnTo>
                      <a:pt x="246" y="90"/>
                    </a:lnTo>
                    <a:lnTo>
                      <a:pt x="246" y="92"/>
                    </a:lnTo>
                    <a:lnTo>
                      <a:pt x="194" y="96"/>
                    </a:lnTo>
                    <a:lnTo>
                      <a:pt x="192" y="96"/>
                    </a:lnTo>
                    <a:lnTo>
                      <a:pt x="188" y="98"/>
                    </a:lnTo>
                    <a:lnTo>
                      <a:pt x="173" y="100"/>
                    </a:lnTo>
                    <a:lnTo>
                      <a:pt x="154" y="103"/>
                    </a:lnTo>
                    <a:lnTo>
                      <a:pt x="136" y="103"/>
                    </a:lnTo>
                    <a:lnTo>
                      <a:pt x="121" y="101"/>
                    </a:lnTo>
                    <a:lnTo>
                      <a:pt x="104" y="96"/>
                    </a:lnTo>
                    <a:lnTo>
                      <a:pt x="88" y="88"/>
                    </a:lnTo>
                    <a:lnTo>
                      <a:pt x="85" y="86"/>
                    </a:lnTo>
                    <a:lnTo>
                      <a:pt x="83" y="86"/>
                    </a:lnTo>
                    <a:lnTo>
                      <a:pt x="75" y="53"/>
                    </a:lnTo>
                    <a:lnTo>
                      <a:pt x="8" y="53"/>
                    </a:lnTo>
                    <a:lnTo>
                      <a:pt x="6" y="52"/>
                    </a:lnTo>
                    <a:lnTo>
                      <a:pt x="4" y="48"/>
                    </a:lnTo>
                    <a:lnTo>
                      <a:pt x="0" y="38"/>
                    </a:lnTo>
                    <a:lnTo>
                      <a:pt x="4" y="34"/>
                    </a:lnTo>
                    <a:lnTo>
                      <a:pt x="14" y="32"/>
                    </a:lnTo>
                    <a:lnTo>
                      <a:pt x="40" y="27"/>
                    </a:lnTo>
                    <a:lnTo>
                      <a:pt x="69" y="23"/>
                    </a:lnTo>
                    <a:lnTo>
                      <a:pt x="77" y="21"/>
                    </a:lnTo>
                    <a:lnTo>
                      <a:pt x="81" y="21"/>
                    </a:lnTo>
                    <a:lnTo>
                      <a:pt x="127" y="0"/>
                    </a:lnTo>
                    <a:lnTo>
                      <a:pt x="188" y="28"/>
                    </a:lnTo>
                    <a:lnTo>
                      <a:pt x="267" y="15"/>
                    </a:lnTo>
                    <a:close/>
                  </a:path>
                </a:pathLst>
              </a:custGeom>
              <a:solidFill>
                <a:srgbClr val="F0DAA3"/>
              </a:solidFill>
              <a:ln w="9525">
                <a:noFill/>
                <a:round/>
                <a:headEnd/>
                <a:tailEnd/>
              </a:ln>
            </p:spPr>
            <p:txBody>
              <a:bodyPr/>
              <a:lstStyle/>
              <a:p>
                <a:endParaRPr lang="en-US"/>
              </a:p>
            </p:txBody>
          </p:sp>
          <p:sp>
            <p:nvSpPr>
              <p:cNvPr id="1140" name="Freeform 106"/>
              <p:cNvSpPr>
                <a:spLocks/>
              </p:cNvSpPr>
              <p:nvPr/>
            </p:nvSpPr>
            <p:spPr bwMode="auto">
              <a:xfrm>
                <a:off x="5283" y="3525"/>
                <a:ext cx="29" cy="28"/>
              </a:xfrm>
              <a:custGeom>
                <a:avLst/>
                <a:gdLst>
                  <a:gd name="T0" fmla="*/ 0 w 58"/>
                  <a:gd name="T1" fmla="*/ 1 h 55"/>
                  <a:gd name="T2" fmla="*/ 1 w 58"/>
                  <a:gd name="T3" fmla="*/ 0 h 55"/>
                  <a:gd name="T4" fmla="*/ 1 w 58"/>
                  <a:gd name="T5" fmla="*/ 1 h 55"/>
                  <a:gd name="T6" fmla="*/ 1 w 58"/>
                  <a:gd name="T7" fmla="*/ 1 h 55"/>
                  <a:gd name="T8" fmla="*/ 0 w 58"/>
                  <a:gd name="T9" fmla="*/ 1 h 55"/>
                  <a:gd name="T10" fmla="*/ 0 60000 65536"/>
                  <a:gd name="T11" fmla="*/ 0 60000 65536"/>
                  <a:gd name="T12" fmla="*/ 0 60000 65536"/>
                  <a:gd name="T13" fmla="*/ 0 60000 65536"/>
                  <a:gd name="T14" fmla="*/ 0 60000 65536"/>
                  <a:gd name="T15" fmla="*/ 0 w 58"/>
                  <a:gd name="T16" fmla="*/ 0 h 55"/>
                  <a:gd name="T17" fmla="*/ 58 w 58"/>
                  <a:gd name="T18" fmla="*/ 55 h 55"/>
                </a:gdLst>
                <a:ahLst/>
                <a:cxnLst>
                  <a:cxn ang="T10">
                    <a:pos x="T0" y="T1"/>
                  </a:cxn>
                  <a:cxn ang="T11">
                    <a:pos x="T2" y="T3"/>
                  </a:cxn>
                  <a:cxn ang="T12">
                    <a:pos x="T4" y="T5"/>
                  </a:cxn>
                  <a:cxn ang="T13">
                    <a:pos x="T6" y="T7"/>
                  </a:cxn>
                  <a:cxn ang="T14">
                    <a:pos x="T8" y="T9"/>
                  </a:cxn>
                </a:cxnLst>
                <a:rect l="T15" t="T16" r="T17" b="T18"/>
                <a:pathLst>
                  <a:path w="58" h="55">
                    <a:moveTo>
                      <a:pt x="0" y="4"/>
                    </a:moveTo>
                    <a:lnTo>
                      <a:pt x="25" y="0"/>
                    </a:lnTo>
                    <a:lnTo>
                      <a:pt x="58" y="55"/>
                    </a:lnTo>
                    <a:lnTo>
                      <a:pt x="8" y="38"/>
                    </a:lnTo>
                    <a:lnTo>
                      <a:pt x="0" y="4"/>
                    </a:lnTo>
                    <a:close/>
                  </a:path>
                </a:pathLst>
              </a:custGeom>
              <a:solidFill>
                <a:srgbClr val="896F44"/>
              </a:solidFill>
              <a:ln w="9525">
                <a:noFill/>
                <a:round/>
                <a:headEnd/>
                <a:tailEnd/>
              </a:ln>
            </p:spPr>
            <p:txBody>
              <a:bodyPr/>
              <a:lstStyle/>
              <a:p>
                <a:endParaRPr lang="en-US"/>
              </a:p>
            </p:txBody>
          </p:sp>
          <p:sp>
            <p:nvSpPr>
              <p:cNvPr id="1141" name="Freeform 107"/>
              <p:cNvSpPr>
                <a:spLocks/>
              </p:cNvSpPr>
              <p:nvPr/>
            </p:nvSpPr>
            <p:spPr bwMode="auto">
              <a:xfrm>
                <a:off x="5247" y="3521"/>
                <a:ext cx="12" cy="5"/>
              </a:xfrm>
              <a:custGeom>
                <a:avLst/>
                <a:gdLst>
                  <a:gd name="T0" fmla="*/ 0 w 23"/>
                  <a:gd name="T1" fmla="*/ 0 h 12"/>
                  <a:gd name="T2" fmla="*/ 1 w 23"/>
                  <a:gd name="T3" fmla="*/ 0 h 12"/>
                  <a:gd name="T4" fmla="*/ 1 w 23"/>
                  <a:gd name="T5" fmla="*/ 0 h 12"/>
                  <a:gd name="T6" fmla="*/ 1 w 23"/>
                  <a:gd name="T7" fmla="*/ 0 h 12"/>
                  <a:gd name="T8" fmla="*/ 1 w 23"/>
                  <a:gd name="T9" fmla="*/ 0 h 12"/>
                  <a:gd name="T10" fmla="*/ 1 w 23"/>
                  <a:gd name="T11" fmla="*/ 0 h 12"/>
                  <a:gd name="T12" fmla="*/ 1 w 23"/>
                  <a:gd name="T13" fmla="*/ 0 h 12"/>
                  <a:gd name="T14" fmla="*/ 1 w 23"/>
                  <a:gd name="T15" fmla="*/ 0 h 12"/>
                  <a:gd name="T16" fmla="*/ 0 w 23"/>
                  <a:gd name="T17" fmla="*/ 0 h 1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3"/>
                  <a:gd name="T28" fmla="*/ 0 h 12"/>
                  <a:gd name="T29" fmla="*/ 23 w 23"/>
                  <a:gd name="T30" fmla="*/ 12 h 1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3" h="12">
                    <a:moveTo>
                      <a:pt x="0" y="2"/>
                    </a:moveTo>
                    <a:lnTo>
                      <a:pt x="4" y="6"/>
                    </a:lnTo>
                    <a:lnTo>
                      <a:pt x="6" y="12"/>
                    </a:lnTo>
                    <a:lnTo>
                      <a:pt x="12" y="12"/>
                    </a:lnTo>
                    <a:lnTo>
                      <a:pt x="19" y="10"/>
                    </a:lnTo>
                    <a:lnTo>
                      <a:pt x="23" y="8"/>
                    </a:lnTo>
                    <a:lnTo>
                      <a:pt x="21" y="4"/>
                    </a:lnTo>
                    <a:lnTo>
                      <a:pt x="12" y="0"/>
                    </a:lnTo>
                    <a:lnTo>
                      <a:pt x="0" y="2"/>
                    </a:lnTo>
                    <a:close/>
                  </a:path>
                </a:pathLst>
              </a:custGeom>
              <a:solidFill>
                <a:srgbClr val="FFFFFF"/>
              </a:solidFill>
              <a:ln w="9525">
                <a:noFill/>
                <a:round/>
                <a:headEnd/>
                <a:tailEnd/>
              </a:ln>
            </p:spPr>
            <p:txBody>
              <a:bodyPr/>
              <a:lstStyle/>
              <a:p>
                <a:endParaRPr lang="en-US"/>
              </a:p>
            </p:txBody>
          </p:sp>
          <p:sp>
            <p:nvSpPr>
              <p:cNvPr id="1142" name="Freeform 108"/>
              <p:cNvSpPr>
                <a:spLocks/>
              </p:cNvSpPr>
              <p:nvPr/>
            </p:nvSpPr>
            <p:spPr bwMode="auto">
              <a:xfrm>
                <a:off x="5286" y="3282"/>
                <a:ext cx="13" cy="10"/>
              </a:xfrm>
              <a:custGeom>
                <a:avLst/>
                <a:gdLst>
                  <a:gd name="T0" fmla="*/ 0 w 25"/>
                  <a:gd name="T1" fmla="*/ 0 h 19"/>
                  <a:gd name="T2" fmla="*/ 1 w 25"/>
                  <a:gd name="T3" fmla="*/ 1 h 19"/>
                  <a:gd name="T4" fmla="*/ 1 w 25"/>
                  <a:gd name="T5" fmla="*/ 1 h 19"/>
                  <a:gd name="T6" fmla="*/ 1 w 25"/>
                  <a:gd name="T7" fmla="*/ 1 h 19"/>
                  <a:gd name="T8" fmla="*/ 1 w 25"/>
                  <a:gd name="T9" fmla="*/ 1 h 19"/>
                  <a:gd name="T10" fmla="*/ 1 w 25"/>
                  <a:gd name="T11" fmla="*/ 1 h 19"/>
                  <a:gd name="T12" fmla="*/ 1 w 25"/>
                  <a:gd name="T13" fmla="*/ 1 h 19"/>
                  <a:gd name="T14" fmla="*/ 0 w 25"/>
                  <a:gd name="T15" fmla="*/ 1 h 19"/>
                  <a:gd name="T16" fmla="*/ 0 w 25"/>
                  <a:gd name="T17" fmla="*/ 0 h 1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5"/>
                  <a:gd name="T28" fmla="*/ 0 h 19"/>
                  <a:gd name="T29" fmla="*/ 25 w 25"/>
                  <a:gd name="T30" fmla="*/ 19 h 1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5" h="19">
                    <a:moveTo>
                      <a:pt x="0" y="0"/>
                    </a:moveTo>
                    <a:lnTo>
                      <a:pt x="4" y="2"/>
                    </a:lnTo>
                    <a:lnTo>
                      <a:pt x="19" y="9"/>
                    </a:lnTo>
                    <a:lnTo>
                      <a:pt x="25" y="15"/>
                    </a:lnTo>
                    <a:lnTo>
                      <a:pt x="25" y="19"/>
                    </a:lnTo>
                    <a:lnTo>
                      <a:pt x="4" y="19"/>
                    </a:lnTo>
                    <a:lnTo>
                      <a:pt x="2" y="17"/>
                    </a:lnTo>
                    <a:lnTo>
                      <a:pt x="0" y="7"/>
                    </a:lnTo>
                    <a:lnTo>
                      <a:pt x="0" y="0"/>
                    </a:lnTo>
                    <a:close/>
                  </a:path>
                </a:pathLst>
              </a:custGeom>
              <a:solidFill>
                <a:srgbClr val="F7F7F7"/>
              </a:solidFill>
              <a:ln w="9525">
                <a:noFill/>
                <a:round/>
                <a:headEnd/>
                <a:tailEnd/>
              </a:ln>
            </p:spPr>
            <p:txBody>
              <a:bodyPr/>
              <a:lstStyle/>
              <a:p>
                <a:endParaRPr lang="en-US"/>
              </a:p>
            </p:txBody>
          </p:sp>
          <p:sp>
            <p:nvSpPr>
              <p:cNvPr id="1143" name="Freeform 109"/>
              <p:cNvSpPr>
                <a:spLocks/>
              </p:cNvSpPr>
              <p:nvPr/>
            </p:nvSpPr>
            <p:spPr bwMode="auto">
              <a:xfrm>
                <a:off x="5282" y="3273"/>
                <a:ext cx="24" cy="11"/>
              </a:xfrm>
              <a:custGeom>
                <a:avLst/>
                <a:gdLst>
                  <a:gd name="T0" fmla="*/ 0 w 48"/>
                  <a:gd name="T1" fmla="*/ 0 h 23"/>
                  <a:gd name="T2" fmla="*/ 1 w 48"/>
                  <a:gd name="T3" fmla="*/ 0 h 23"/>
                  <a:gd name="T4" fmla="*/ 1 w 48"/>
                  <a:gd name="T5" fmla="*/ 0 h 23"/>
                  <a:gd name="T6" fmla="*/ 1 w 48"/>
                  <a:gd name="T7" fmla="*/ 0 h 23"/>
                  <a:gd name="T8" fmla="*/ 0 w 48"/>
                  <a:gd name="T9" fmla="*/ 0 h 23"/>
                  <a:gd name="T10" fmla="*/ 0 60000 65536"/>
                  <a:gd name="T11" fmla="*/ 0 60000 65536"/>
                  <a:gd name="T12" fmla="*/ 0 60000 65536"/>
                  <a:gd name="T13" fmla="*/ 0 60000 65536"/>
                  <a:gd name="T14" fmla="*/ 0 60000 65536"/>
                  <a:gd name="T15" fmla="*/ 0 w 48"/>
                  <a:gd name="T16" fmla="*/ 0 h 23"/>
                  <a:gd name="T17" fmla="*/ 48 w 48"/>
                  <a:gd name="T18" fmla="*/ 23 h 23"/>
                </a:gdLst>
                <a:ahLst/>
                <a:cxnLst>
                  <a:cxn ang="T10">
                    <a:pos x="T0" y="T1"/>
                  </a:cxn>
                  <a:cxn ang="T11">
                    <a:pos x="T2" y="T3"/>
                  </a:cxn>
                  <a:cxn ang="T12">
                    <a:pos x="T4" y="T5"/>
                  </a:cxn>
                  <a:cxn ang="T13">
                    <a:pos x="T6" y="T7"/>
                  </a:cxn>
                  <a:cxn ang="T14">
                    <a:pos x="T8" y="T9"/>
                  </a:cxn>
                </a:cxnLst>
                <a:rect l="T15" t="T16" r="T17" b="T18"/>
                <a:pathLst>
                  <a:path w="48" h="23">
                    <a:moveTo>
                      <a:pt x="0" y="1"/>
                    </a:moveTo>
                    <a:lnTo>
                      <a:pt x="21" y="5"/>
                    </a:lnTo>
                    <a:lnTo>
                      <a:pt x="48" y="23"/>
                    </a:lnTo>
                    <a:lnTo>
                      <a:pt x="21" y="0"/>
                    </a:lnTo>
                    <a:lnTo>
                      <a:pt x="0" y="1"/>
                    </a:lnTo>
                    <a:close/>
                  </a:path>
                </a:pathLst>
              </a:custGeom>
              <a:solidFill>
                <a:srgbClr val="000000"/>
              </a:solidFill>
              <a:ln w="9525">
                <a:noFill/>
                <a:round/>
                <a:headEnd/>
                <a:tailEnd/>
              </a:ln>
            </p:spPr>
            <p:txBody>
              <a:bodyPr/>
              <a:lstStyle/>
              <a:p>
                <a:endParaRPr lang="en-US"/>
              </a:p>
            </p:txBody>
          </p:sp>
          <p:sp>
            <p:nvSpPr>
              <p:cNvPr id="1144" name="Freeform 110"/>
              <p:cNvSpPr>
                <a:spLocks/>
              </p:cNvSpPr>
              <p:nvPr/>
            </p:nvSpPr>
            <p:spPr bwMode="auto">
              <a:xfrm>
                <a:off x="5287" y="3291"/>
                <a:ext cx="13" cy="3"/>
              </a:xfrm>
              <a:custGeom>
                <a:avLst/>
                <a:gdLst>
                  <a:gd name="T0" fmla="*/ 0 w 25"/>
                  <a:gd name="T1" fmla="*/ 0 h 6"/>
                  <a:gd name="T2" fmla="*/ 1 w 25"/>
                  <a:gd name="T3" fmla="*/ 0 h 6"/>
                  <a:gd name="T4" fmla="*/ 1 w 25"/>
                  <a:gd name="T5" fmla="*/ 1 h 6"/>
                  <a:gd name="T6" fmla="*/ 0 w 25"/>
                  <a:gd name="T7" fmla="*/ 0 h 6"/>
                  <a:gd name="T8" fmla="*/ 0 60000 65536"/>
                  <a:gd name="T9" fmla="*/ 0 60000 65536"/>
                  <a:gd name="T10" fmla="*/ 0 60000 65536"/>
                  <a:gd name="T11" fmla="*/ 0 60000 65536"/>
                  <a:gd name="T12" fmla="*/ 0 w 25"/>
                  <a:gd name="T13" fmla="*/ 0 h 6"/>
                  <a:gd name="T14" fmla="*/ 25 w 25"/>
                  <a:gd name="T15" fmla="*/ 6 h 6"/>
                </a:gdLst>
                <a:ahLst/>
                <a:cxnLst>
                  <a:cxn ang="T8">
                    <a:pos x="T0" y="T1"/>
                  </a:cxn>
                  <a:cxn ang="T9">
                    <a:pos x="T2" y="T3"/>
                  </a:cxn>
                  <a:cxn ang="T10">
                    <a:pos x="T4" y="T5"/>
                  </a:cxn>
                  <a:cxn ang="T11">
                    <a:pos x="T6" y="T7"/>
                  </a:cxn>
                </a:cxnLst>
                <a:rect l="T12" t="T13" r="T14" b="T15"/>
                <a:pathLst>
                  <a:path w="25" h="6">
                    <a:moveTo>
                      <a:pt x="0" y="0"/>
                    </a:moveTo>
                    <a:lnTo>
                      <a:pt x="25" y="0"/>
                    </a:lnTo>
                    <a:lnTo>
                      <a:pt x="2" y="6"/>
                    </a:lnTo>
                    <a:lnTo>
                      <a:pt x="0" y="0"/>
                    </a:lnTo>
                    <a:close/>
                  </a:path>
                </a:pathLst>
              </a:custGeom>
              <a:solidFill>
                <a:srgbClr val="A62600"/>
              </a:solidFill>
              <a:ln w="9525">
                <a:noFill/>
                <a:round/>
                <a:headEnd/>
                <a:tailEnd/>
              </a:ln>
            </p:spPr>
            <p:txBody>
              <a:bodyPr/>
              <a:lstStyle/>
              <a:p>
                <a:endParaRPr lang="en-US"/>
              </a:p>
            </p:txBody>
          </p:sp>
          <p:sp>
            <p:nvSpPr>
              <p:cNvPr id="1145" name="Oval 111"/>
              <p:cNvSpPr>
                <a:spLocks noChangeArrowheads="1"/>
              </p:cNvSpPr>
              <p:nvPr/>
            </p:nvSpPr>
            <p:spPr bwMode="auto">
              <a:xfrm>
                <a:off x="5286" y="3283"/>
                <a:ext cx="5" cy="7"/>
              </a:xfrm>
              <a:prstGeom prst="ellipse">
                <a:avLst/>
              </a:prstGeom>
              <a:solidFill>
                <a:srgbClr val="008CFF"/>
              </a:solidFill>
              <a:ln w="9525">
                <a:noFill/>
                <a:round/>
                <a:headEnd/>
                <a:tailEnd/>
              </a:ln>
            </p:spPr>
            <p:txBody>
              <a:bodyPr/>
              <a:lstStyle/>
              <a:p>
                <a:endParaRPr lang="en-US"/>
              </a:p>
            </p:txBody>
          </p:sp>
          <p:sp>
            <p:nvSpPr>
              <p:cNvPr id="1146" name="Freeform 112"/>
              <p:cNvSpPr>
                <a:spLocks/>
              </p:cNvSpPr>
              <p:nvPr/>
            </p:nvSpPr>
            <p:spPr bwMode="auto">
              <a:xfrm>
                <a:off x="5286" y="3279"/>
                <a:ext cx="14" cy="12"/>
              </a:xfrm>
              <a:custGeom>
                <a:avLst/>
                <a:gdLst>
                  <a:gd name="T0" fmla="*/ 0 w 27"/>
                  <a:gd name="T1" fmla="*/ 0 h 25"/>
                  <a:gd name="T2" fmla="*/ 1 w 27"/>
                  <a:gd name="T3" fmla="*/ 0 h 25"/>
                  <a:gd name="T4" fmla="*/ 1 w 27"/>
                  <a:gd name="T5" fmla="*/ 0 h 25"/>
                  <a:gd name="T6" fmla="*/ 1 w 27"/>
                  <a:gd name="T7" fmla="*/ 0 h 25"/>
                  <a:gd name="T8" fmla="*/ 1 w 27"/>
                  <a:gd name="T9" fmla="*/ 0 h 25"/>
                  <a:gd name="T10" fmla="*/ 1 w 27"/>
                  <a:gd name="T11" fmla="*/ 0 h 25"/>
                  <a:gd name="T12" fmla="*/ 1 w 27"/>
                  <a:gd name="T13" fmla="*/ 0 h 25"/>
                  <a:gd name="T14" fmla="*/ 1 w 27"/>
                  <a:gd name="T15" fmla="*/ 0 h 25"/>
                  <a:gd name="T16" fmla="*/ 1 w 27"/>
                  <a:gd name="T17" fmla="*/ 0 h 25"/>
                  <a:gd name="T18" fmla="*/ 1 w 27"/>
                  <a:gd name="T19" fmla="*/ 0 h 25"/>
                  <a:gd name="T20" fmla="*/ 1 w 27"/>
                  <a:gd name="T21" fmla="*/ 0 h 25"/>
                  <a:gd name="T22" fmla="*/ 1 w 27"/>
                  <a:gd name="T23" fmla="*/ 0 h 25"/>
                  <a:gd name="T24" fmla="*/ 0 w 27"/>
                  <a:gd name="T25" fmla="*/ 0 h 2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7"/>
                  <a:gd name="T40" fmla="*/ 0 h 25"/>
                  <a:gd name="T41" fmla="*/ 27 w 27"/>
                  <a:gd name="T42" fmla="*/ 25 h 2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7" h="25">
                    <a:moveTo>
                      <a:pt x="0" y="10"/>
                    </a:moveTo>
                    <a:lnTo>
                      <a:pt x="5" y="12"/>
                    </a:lnTo>
                    <a:lnTo>
                      <a:pt x="15" y="15"/>
                    </a:lnTo>
                    <a:lnTo>
                      <a:pt x="23" y="21"/>
                    </a:lnTo>
                    <a:lnTo>
                      <a:pt x="27" y="25"/>
                    </a:lnTo>
                    <a:lnTo>
                      <a:pt x="27" y="23"/>
                    </a:lnTo>
                    <a:lnTo>
                      <a:pt x="25" y="19"/>
                    </a:lnTo>
                    <a:lnTo>
                      <a:pt x="21" y="13"/>
                    </a:lnTo>
                    <a:lnTo>
                      <a:pt x="13" y="8"/>
                    </a:lnTo>
                    <a:lnTo>
                      <a:pt x="7" y="2"/>
                    </a:lnTo>
                    <a:lnTo>
                      <a:pt x="4" y="0"/>
                    </a:lnTo>
                    <a:lnTo>
                      <a:pt x="2" y="0"/>
                    </a:lnTo>
                    <a:lnTo>
                      <a:pt x="0" y="10"/>
                    </a:lnTo>
                    <a:close/>
                  </a:path>
                </a:pathLst>
              </a:custGeom>
              <a:solidFill>
                <a:srgbClr val="D95900"/>
              </a:solidFill>
              <a:ln w="9525">
                <a:noFill/>
                <a:round/>
                <a:headEnd/>
                <a:tailEnd/>
              </a:ln>
            </p:spPr>
            <p:txBody>
              <a:bodyPr/>
              <a:lstStyle/>
              <a:p>
                <a:endParaRPr lang="en-US"/>
              </a:p>
            </p:txBody>
          </p:sp>
          <p:sp>
            <p:nvSpPr>
              <p:cNvPr id="1147" name="Freeform 113"/>
              <p:cNvSpPr>
                <a:spLocks/>
              </p:cNvSpPr>
              <p:nvPr/>
            </p:nvSpPr>
            <p:spPr bwMode="auto">
              <a:xfrm>
                <a:off x="5171" y="3072"/>
                <a:ext cx="85" cy="65"/>
              </a:xfrm>
              <a:custGeom>
                <a:avLst/>
                <a:gdLst>
                  <a:gd name="T0" fmla="*/ 1 w 169"/>
                  <a:gd name="T1" fmla="*/ 0 h 131"/>
                  <a:gd name="T2" fmla="*/ 1 w 169"/>
                  <a:gd name="T3" fmla="*/ 0 h 131"/>
                  <a:gd name="T4" fmla="*/ 1 w 169"/>
                  <a:gd name="T5" fmla="*/ 0 h 131"/>
                  <a:gd name="T6" fmla="*/ 1 w 169"/>
                  <a:gd name="T7" fmla="*/ 0 h 131"/>
                  <a:gd name="T8" fmla="*/ 1 w 169"/>
                  <a:gd name="T9" fmla="*/ 0 h 131"/>
                  <a:gd name="T10" fmla="*/ 1 w 169"/>
                  <a:gd name="T11" fmla="*/ 0 h 131"/>
                  <a:gd name="T12" fmla="*/ 1 w 169"/>
                  <a:gd name="T13" fmla="*/ 0 h 131"/>
                  <a:gd name="T14" fmla="*/ 1 w 169"/>
                  <a:gd name="T15" fmla="*/ 0 h 131"/>
                  <a:gd name="T16" fmla="*/ 1 w 169"/>
                  <a:gd name="T17" fmla="*/ 0 h 131"/>
                  <a:gd name="T18" fmla="*/ 1 w 169"/>
                  <a:gd name="T19" fmla="*/ 0 h 131"/>
                  <a:gd name="T20" fmla="*/ 1 w 169"/>
                  <a:gd name="T21" fmla="*/ 0 h 131"/>
                  <a:gd name="T22" fmla="*/ 1 w 169"/>
                  <a:gd name="T23" fmla="*/ 0 h 131"/>
                  <a:gd name="T24" fmla="*/ 1 w 169"/>
                  <a:gd name="T25" fmla="*/ 0 h 131"/>
                  <a:gd name="T26" fmla="*/ 1 w 169"/>
                  <a:gd name="T27" fmla="*/ 0 h 131"/>
                  <a:gd name="T28" fmla="*/ 1 w 169"/>
                  <a:gd name="T29" fmla="*/ 0 h 131"/>
                  <a:gd name="T30" fmla="*/ 1 w 169"/>
                  <a:gd name="T31" fmla="*/ 0 h 131"/>
                  <a:gd name="T32" fmla="*/ 1 w 169"/>
                  <a:gd name="T33" fmla="*/ 0 h 131"/>
                  <a:gd name="T34" fmla="*/ 1 w 169"/>
                  <a:gd name="T35" fmla="*/ 0 h 131"/>
                  <a:gd name="T36" fmla="*/ 1 w 169"/>
                  <a:gd name="T37" fmla="*/ 0 h 131"/>
                  <a:gd name="T38" fmla="*/ 1 w 169"/>
                  <a:gd name="T39" fmla="*/ 0 h 131"/>
                  <a:gd name="T40" fmla="*/ 1 w 169"/>
                  <a:gd name="T41" fmla="*/ 0 h 131"/>
                  <a:gd name="T42" fmla="*/ 1 w 169"/>
                  <a:gd name="T43" fmla="*/ 0 h 131"/>
                  <a:gd name="T44" fmla="*/ 1 w 169"/>
                  <a:gd name="T45" fmla="*/ 0 h 131"/>
                  <a:gd name="T46" fmla="*/ 1 w 169"/>
                  <a:gd name="T47" fmla="*/ 0 h 131"/>
                  <a:gd name="T48" fmla="*/ 1 w 169"/>
                  <a:gd name="T49" fmla="*/ 0 h 131"/>
                  <a:gd name="T50" fmla="*/ 1 w 169"/>
                  <a:gd name="T51" fmla="*/ 0 h 131"/>
                  <a:gd name="T52" fmla="*/ 1 w 169"/>
                  <a:gd name="T53" fmla="*/ 0 h 131"/>
                  <a:gd name="T54" fmla="*/ 1 w 169"/>
                  <a:gd name="T55" fmla="*/ 0 h 131"/>
                  <a:gd name="T56" fmla="*/ 1 w 169"/>
                  <a:gd name="T57" fmla="*/ 0 h 131"/>
                  <a:gd name="T58" fmla="*/ 1 w 169"/>
                  <a:gd name="T59" fmla="*/ 0 h 131"/>
                  <a:gd name="T60" fmla="*/ 1 w 169"/>
                  <a:gd name="T61" fmla="*/ 0 h 131"/>
                  <a:gd name="T62" fmla="*/ 1 w 169"/>
                  <a:gd name="T63" fmla="*/ 0 h 131"/>
                  <a:gd name="T64" fmla="*/ 1 w 169"/>
                  <a:gd name="T65" fmla="*/ 0 h 131"/>
                  <a:gd name="T66" fmla="*/ 1 w 169"/>
                  <a:gd name="T67" fmla="*/ 0 h 131"/>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69"/>
                  <a:gd name="T103" fmla="*/ 0 h 131"/>
                  <a:gd name="T104" fmla="*/ 169 w 169"/>
                  <a:gd name="T105" fmla="*/ 131 h 131"/>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69" h="131">
                    <a:moveTo>
                      <a:pt x="139" y="21"/>
                    </a:moveTo>
                    <a:lnTo>
                      <a:pt x="119" y="0"/>
                    </a:lnTo>
                    <a:lnTo>
                      <a:pt x="123" y="21"/>
                    </a:lnTo>
                    <a:lnTo>
                      <a:pt x="102" y="4"/>
                    </a:lnTo>
                    <a:lnTo>
                      <a:pt x="114" y="31"/>
                    </a:lnTo>
                    <a:lnTo>
                      <a:pt x="96" y="21"/>
                    </a:lnTo>
                    <a:lnTo>
                      <a:pt x="98" y="35"/>
                    </a:lnTo>
                    <a:lnTo>
                      <a:pt x="96" y="33"/>
                    </a:lnTo>
                    <a:lnTo>
                      <a:pt x="89" y="29"/>
                    </a:lnTo>
                    <a:lnTo>
                      <a:pt x="73" y="15"/>
                    </a:lnTo>
                    <a:lnTo>
                      <a:pt x="58" y="8"/>
                    </a:lnTo>
                    <a:lnTo>
                      <a:pt x="52" y="6"/>
                    </a:lnTo>
                    <a:lnTo>
                      <a:pt x="50" y="6"/>
                    </a:lnTo>
                    <a:lnTo>
                      <a:pt x="52" y="8"/>
                    </a:lnTo>
                    <a:lnTo>
                      <a:pt x="58" y="13"/>
                    </a:lnTo>
                    <a:lnTo>
                      <a:pt x="70" y="25"/>
                    </a:lnTo>
                    <a:lnTo>
                      <a:pt x="75" y="37"/>
                    </a:lnTo>
                    <a:lnTo>
                      <a:pt x="79" y="40"/>
                    </a:lnTo>
                    <a:lnTo>
                      <a:pt x="77" y="40"/>
                    </a:lnTo>
                    <a:lnTo>
                      <a:pt x="70" y="37"/>
                    </a:lnTo>
                    <a:lnTo>
                      <a:pt x="54" y="33"/>
                    </a:lnTo>
                    <a:lnTo>
                      <a:pt x="45" y="27"/>
                    </a:lnTo>
                    <a:lnTo>
                      <a:pt x="41" y="25"/>
                    </a:lnTo>
                    <a:lnTo>
                      <a:pt x="39" y="23"/>
                    </a:lnTo>
                    <a:lnTo>
                      <a:pt x="41" y="25"/>
                    </a:lnTo>
                    <a:lnTo>
                      <a:pt x="48" y="33"/>
                    </a:lnTo>
                    <a:lnTo>
                      <a:pt x="62" y="46"/>
                    </a:lnTo>
                    <a:lnTo>
                      <a:pt x="75" y="58"/>
                    </a:lnTo>
                    <a:lnTo>
                      <a:pt x="79" y="65"/>
                    </a:lnTo>
                    <a:lnTo>
                      <a:pt x="81" y="67"/>
                    </a:lnTo>
                    <a:lnTo>
                      <a:pt x="68" y="65"/>
                    </a:lnTo>
                    <a:lnTo>
                      <a:pt x="70" y="79"/>
                    </a:lnTo>
                    <a:lnTo>
                      <a:pt x="62" y="75"/>
                    </a:lnTo>
                    <a:lnTo>
                      <a:pt x="62" y="88"/>
                    </a:lnTo>
                    <a:lnTo>
                      <a:pt x="27" y="75"/>
                    </a:lnTo>
                    <a:lnTo>
                      <a:pt x="56" y="104"/>
                    </a:lnTo>
                    <a:lnTo>
                      <a:pt x="18" y="90"/>
                    </a:lnTo>
                    <a:lnTo>
                      <a:pt x="48" y="115"/>
                    </a:lnTo>
                    <a:lnTo>
                      <a:pt x="0" y="104"/>
                    </a:lnTo>
                    <a:lnTo>
                      <a:pt x="52" y="131"/>
                    </a:lnTo>
                    <a:lnTo>
                      <a:pt x="56" y="129"/>
                    </a:lnTo>
                    <a:lnTo>
                      <a:pt x="64" y="121"/>
                    </a:lnTo>
                    <a:lnTo>
                      <a:pt x="81" y="106"/>
                    </a:lnTo>
                    <a:lnTo>
                      <a:pt x="87" y="98"/>
                    </a:lnTo>
                    <a:lnTo>
                      <a:pt x="94" y="88"/>
                    </a:lnTo>
                    <a:lnTo>
                      <a:pt x="112" y="60"/>
                    </a:lnTo>
                    <a:lnTo>
                      <a:pt x="129" y="35"/>
                    </a:lnTo>
                    <a:lnTo>
                      <a:pt x="135" y="27"/>
                    </a:lnTo>
                    <a:lnTo>
                      <a:pt x="137" y="23"/>
                    </a:lnTo>
                    <a:lnTo>
                      <a:pt x="137" y="56"/>
                    </a:lnTo>
                    <a:lnTo>
                      <a:pt x="131" y="71"/>
                    </a:lnTo>
                    <a:lnTo>
                      <a:pt x="129" y="77"/>
                    </a:lnTo>
                    <a:lnTo>
                      <a:pt x="127" y="81"/>
                    </a:lnTo>
                    <a:lnTo>
                      <a:pt x="129" y="83"/>
                    </a:lnTo>
                    <a:lnTo>
                      <a:pt x="135" y="88"/>
                    </a:lnTo>
                    <a:lnTo>
                      <a:pt x="146" y="100"/>
                    </a:lnTo>
                    <a:lnTo>
                      <a:pt x="150" y="108"/>
                    </a:lnTo>
                    <a:lnTo>
                      <a:pt x="152" y="113"/>
                    </a:lnTo>
                    <a:lnTo>
                      <a:pt x="152" y="104"/>
                    </a:lnTo>
                    <a:lnTo>
                      <a:pt x="146" y="88"/>
                    </a:lnTo>
                    <a:lnTo>
                      <a:pt x="146" y="85"/>
                    </a:lnTo>
                    <a:lnTo>
                      <a:pt x="148" y="86"/>
                    </a:lnTo>
                    <a:lnTo>
                      <a:pt x="156" y="88"/>
                    </a:lnTo>
                    <a:lnTo>
                      <a:pt x="148" y="67"/>
                    </a:lnTo>
                    <a:lnTo>
                      <a:pt x="162" y="69"/>
                    </a:lnTo>
                    <a:lnTo>
                      <a:pt x="154" y="48"/>
                    </a:lnTo>
                    <a:lnTo>
                      <a:pt x="169" y="37"/>
                    </a:lnTo>
                    <a:lnTo>
                      <a:pt x="139" y="21"/>
                    </a:lnTo>
                    <a:close/>
                  </a:path>
                </a:pathLst>
              </a:custGeom>
              <a:solidFill>
                <a:srgbClr val="8C8C8C"/>
              </a:solidFill>
              <a:ln w="9525">
                <a:noFill/>
                <a:round/>
                <a:headEnd/>
                <a:tailEnd/>
              </a:ln>
            </p:spPr>
            <p:txBody>
              <a:bodyPr/>
              <a:lstStyle/>
              <a:p>
                <a:endParaRPr lang="en-US"/>
              </a:p>
            </p:txBody>
          </p:sp>
          <p:sp>
            <p:nvSpPr>
              <p:cNvPr id="1148" name="Freeform 114"/>
              <p:cNvSpPr>
                <a:spLocks/>
              </p:cNvSpPr>
              <p:nvPr/>
            </p:nvSpPr>
            <p:spPr bwMode="auto">
              <a:xfrm>
                <a:off x="5201" y="3159"/>
                <a:ext cx="25" cy="7"/>
              </a:xfrm>
              <a:custGeom>
                <a:avLst/>
                <a:gdLst>
                  <a:gd name="T0" fmla="*/ 0 w 50"/>
                  <a:gd name="T1" fmla="*/ 1 h 13"/>
                  <a:gd name="T2" fmla="*/ 1 w 50"/>
                  <a:gd name="T3" fmla="*/ 1 h 13"/>
                  <a:gd name="T4" fmla="*/ 1 w 50"/>
                  <a:gd name="T5" fmla="*/ 1 h 13"/>
                  <a:gd name="T6" fmla="*/ 1 w 50"/>
                  <a:gd name="T7" fmla="*/ 0 h 13"/>
                  <a:gd name="T8" fmla="*/ 1 w 50"/>
                  <a:gd name="T9" fmla="*/ 1 h 13"/>
                  <a:gd name="T10" fmla="*/ 1 w 50"/>
                  <a:gd name="T11" fmla="*/ 1 h 13"/>
                  <a:gd name="T12" fmla="*/ 1 w 50"/>
                  <a:gd name="T13" fmla="*/ 1 h 13"/>
                  <a:gd name="T14" fmla="*/ 0 w 50"/>
                  <a:gd name="T15" fmla="*/ 1 h 13"/>
                  <a:gd name="T16" fmla="*/ 0 60000 65536"/>
                  <a:gd name="T17" fmla="*/ 0 60000 65536"/>
                  <a:gd name="T18" fmla="*/ 0 60000 65536"/>
                  <a:gd name="T19" fmla="*/ 0 60000 65536"/>
                  <a:gd name="T20" fmla="*/ 0 60000 65536"/>
                  <a:gd name="T21" fmla="*/ 0 60000 65536"/>
                  <a:gd name="T22" fmla="*/ 0 60000 65536"/>
                  <a:gd name="T23" fmla="*/ 0 60000 65536"/>
                  <a:gd name="T24" fmla="*/ 0 w 50"/>
                  <a:gd name="T25" fmla="*/ 0 h 13"/>
                  <a:gd name="T26" fmla="*/ 50 w 50"/>
                  <a:gd name="T27" fmla="*/ 13 h 1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0" h="13">
                    <a:moveTo>
                      <a:pt x="0" y="13"/>
                    </a:moveTo>
                    <a:lnTo>
                      <a:pt x="2" y="11"/>
                    </a:lnTo>
                    <a:lnTo>
                      <a:pt x="10" y="8"/>
                    </a:lnTo>
                    <a:lnTo>
                      <a:pt x="50" y="0"/>
                    </a:lnTo>
                    <a:lnTo>
                      <a:pt x="48" y="2"/>
                    </a:lnTo>
                    <a:lnTo>
                      <a:pt x="42" y="6"/>
                    </a:lnTo>
                    <a:lnTo>
                      <a:pt x="29" y="13"/>
                    </a:lnTo>
                    <a:lnTo>
                      <a:pt x="0" y="13"/>
                    </a:lnTo>
                    <a:close/>
                  </a:path>
                </a:pathLst>
              </a:custGeom>
              <a:solidFill>
                <a:srgbClr val="F7F7F7"/>
              </a:solidFill>
              <a:ln w="9525">
                <a:noFill/>
                <a:round/>
                <a:headEnd/>
                <a:tailEnd/>
              </a:ln>
            </p:spPr>
            <p:txBody>
              <a:bodyPr/>
              <a:lstStyle/>
              <a:p>
                <a:endParaRPr lang="en-US"/>
              </a:p>
            </p:txBody>
          </p:sp>
          <p:sp>
            <p:nvSpPr>
              <p:cNvPr id="1149" name="Freeform 115"/>
              <p:cNvSpPr>
                <a:spLocks/>
              </p:cNvSpPr>
              <p:nvPr/>
            </p:nvSpPr>
            <p:spPr bwMode="auto">
              <a:xfrm>
                <a:off x="5158" y="3157"/>
                <a:ext cx="21" cy="7"/>
              </a:xfrm>
              <a:custGeom>
                <a:avLst/>
                <a:gdLst>
                  <a:gd name="T0" fmla="*/ 1 w 42"/>
                  <a:gd name="T1" fmla="*/ 0 h 15"/>
                  <a:gd name="T2" fmla="*/ 1 w 42"/>
                  <a:gd name="T3" fmla="*/ 0 h 15"/>
                  <a:gd name="T4" fmla="*/ 0 w 42"/>
                  <a:gd name="T5" fmla="*/ 0 h 15"/>
                  <a:gd name="T6" fmla="*/ 1 w 42"/>
                  <a:gd name="T7" fmla="*/ 0 h 15"/>
                  <a:gd name="T8" fmla="*/ 1 w 42"/>
                  <a:gd name="T9" fmla="*/ 0 h 15"/>
                  <a:gd name="T10" fmla="*/ 1 w 42"/>
                  <a:gd name="T11" fmla="*/ 0 h 15"/>
                  <a:gd name="T12" fmla="*/ 1 w 42"/>
                  <a:gd name="T13" fmla="*/ 0 h 15"/>
                  <a:gd name="T14" fmla="*/ 0 60000 65536"/>
                  <a:gd name="T15" fmla="*/ 0 60000 65536"/>
                  <a:gd name="T16" fmla="*/ 0 60000 65536"/>
                  <a:gd name="T17" fmla="*/ 0 60000 65536"/>
                  <a:gd name="T18" fmla="*/ 0 60000 65536"/>
                  <a:gd name="T19" fmla="*/ 0 60000 65536"/>
                  <a:gd name="T20" fmla="*/ 0 60000 65536"/>
                  <a:gd name="T21" fmla="*/ 0 w 42"/>
                  <a:gd name="T22" fmla="*/ 0 h 15"/>
                  <a:gd name="T23" fmla="*/ 42 w 42"/>
                  <a:gd name="T24" fmla="*/ 15 h 1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2" h="15">
                    <a:moveTo>
                      <a:pt x="42" y="15"/>
                    </a:moveTo>
                    <a:lnTo>
                      <a:pt x="34" y="8"/>
                    </a:lnTo>
                    <a:lnTo>
                      <a:pt x="0" y="0"/>
                    </a:lnTo>
                    <a:lnTo>
                      <a:pt x="2" y="2"/>
                    </a:lnTo>
                    <a:lnTo>
                      <a:pt x="7" y="6"/>
                    </a:lnTo>
                    <a:lnTo>
                      <a:pt x="19" y="14"/>
                    </a:lnTo>
                    <a:lnTo>
                      <a:pt x="42" y="15"/>
                    </a:lnTo>
                    <a:close/>
                  </a:path>
                </a:pathLst>
              </a:custGeom>
              <a:solidFill>
                <a:srgbClr val="F7F7F7"/>
              </a:solidFill>
              <a:ln w="9525">
                <a:noFill/>
                <a:round/>
                <a:headEnd/>
                <a:tailEnd/>
              </a:ln>
            </p:spPr>
            <p:txBody>
              <a:bodyPr/>
              <a:lstStyle/>
              <a:p>
                <a:endParaRPr lang="en-US"/>
              </a:p>
            </p:txBody>
          </p:sp>
          <p:sp>
            <p:nvSpPr>
              <p:cNvPr id="1150" name="Oval 116"/>
              <p:cNvSpPr>
                <a:spLocks noChangeArrowheads="1"/>
              </p:cNvSpPr>
              <p:nvPr/>
            </p:nvSpPr>
            <p:spPr bwMode="auto">
              <a:xfrm>
                <a:off x="5166" y="3159"/>
                <a:ext cx="7" cy="5"/>
              </a:xfrm>
              <a:prstGeom prst="ellipse">
                <a:avLst/>
              </a:prstGeom>
              <a:solidFill>
                <a:srgbClr val="008CFF"/>
              </a:solidFill>
              <a:ln w="9525">
                <a:noFill/>
                <a:round/>
                <a:headEnd/>
                <a:tailEnd/>
              </a:ln>
            </p:spPr>
            <p:txBody>
              <a:bodyPr/>
              <a:lstStyle/>
              <a:p>
                <a:endParaRPr lang="en-US"/>
              </a:p>
            </p:txBody>
          </p:sp>
          <p:sp>
            <p:nvSpPr>
              <p:cNvPr id="1151" name="Oval 117"/>
              <p:cNvSpPr>
                <a:spLocks noChangeArrowheads="1"/>
              </p:cNvSpPr>
              <p:nvPr/>
            </p:nvSpPr>
            <p:spPr bwMode="auto">
              <a:xfrm>
                <a:off x="5167" y="3159"/>
                <a:ext cx="5" cy="4"/>
              </a:xfrm>
              <a:prstGeom prst="ellipse">
                <a:avLst/>
              </a:prstGeom>
              <a:solidFill>
                <a:srgbClr val="005980"/>
              </a:solidFill>
              <a:ln w="9525">
                <a:noFill/>
                <a:round/>
                <a:headEnd/>
                <a:tailEnd/>
              </a:ln>
            </p:spPr>
            <p:txBody>
              <a:bodyPr/>
              <a:lstStyle/>
              <a:p>
                <a:endParaRPr lang="en-US"/>
              </a:p>
            </p:txBody>
          </p:sp>
          <p:sp>
            <p:nvSpPr>
              <p:cNvPr id="1152" name="Oval 118"/>
              <p:cNvSpPr>
                <a:spLocks noChangeArrowheads="1"/>
              </p:cNvSpPr>
              <p:nvPr/>
            </p:nvSpPr>
            <p:spPr bwMode="auto">
              <a:xfrm>
                <a:off x="5167" y="3159"/>
                <a:ext cx="3" cy="3"/>
              </a:xfrm>
              <a:prstGeom prst="ellipse">
                <a:avLst/>
              </a:prstGeom>
              <a:solidFill>
                <a:srgbClr val="FFFFFF"/>
              </a:solidFill>
              <a:ln w="9525">
                <a:noFill/>
                <a:round/>
                <a:headEnd/>
                <a:tailEnd/>
              </a:ln>
            </p:spPr>
            <p:txBody>
              <a:bodyPr/>
              <a:lstStyle/>
              <a:p>
                <a:endParaRPr lang="en-US"/>
              </a:p>
            </p:txBody>
          </p:sp>
          <p:sp>
            <p:nvSpPr>
              <p:cNvPr id="1153" name="Oval 119"/>
              <p:cNvSpPr>
                <a:spLocks noChangeArrowheads="1"/>
              </p:cNvSpPr>
              <p:nvPr/>
            </p:nvSpPr>
            <p:spPr bwMode="auto">
              <a:xfrm>
                <a:off x="5210" y="3162"/>
                <a:ext cx="7" cy="4"/>
              </a:xfrm>
              <a:prstGeom prst="ellipse">
                <a:avLst/>
              </a:prstGeom>
              <a:solidFill>
                <a:srgbClr val="008CFF"/>
              </a:solidFill>
              <a:ln w="9525">
                <a:noFill/>
                <a:round/>
                <a:headEnd/>
                <a:tailEnd/>
              </a:ln>
            </p:spPr>
            <p:txBody>
              <a:bodyPr/>
              <a:lstStyle/>
              <a:p>
                <a:endParaRPr lang="en-US"/>
              </a:p>
            </p:txBody>
          </p:sp>
          <p:sp>
            <p:nvSpPr>
              <p:cNvPr id="1154" name="Oval 120"/>
              <p:cNvSpPr>
                <a:spLocks noChangeArrowheads="1"/>
              </p:cNvSpPr>
              <p:nvPr/>
            </p:nvSpPr>
            <p:spPr bwMode="auto">
              <a:xfrm>
                <a:off x="5212" y="3163"/>
                <a:ext cx="4" cy="3"/>
              </a:xfrm>
              <a:prstGeom prst="ellipse">
                <a:avLst/>
              </a:prstGeom>
              <a:solidFill>
                <a:srgbClr val="005980"/>
              </a:solidFill>
              <a:ln w="9525">
                <a:noFill/>
                <a:round/>
                <a:headEnd/>
                <a:tailEnd/>
              </a:ln>
            </p:spPr>
            <p:txBody>
              <a:bodyPr/>
              <a:lstStyle/>
              <a:p>
                <a:endParaRPr lang="en-US"/>
              </a:p>
            </p:txBody>
          </p:sp>
          <p:sp>
            <p:nvSpPr>
              <p:cNvPr id="1155" name="Freeform 121"/>
              <p:cNvSpPr>
                <a:spLocks/>
              </p:cNvSpPr>
              <p:nvPr/>
            </p:nvSpPr>
            <p:spPr bwMode="auto">
              <a:xfrm>
                <a:off x="5158" y="3156"/>
                <a:ext cx="28" cy="17"/>
              </a:xfrm>
              <a:custGeom>
                <a:avLst/>
                <a:gdLst>
                  <a:gd name="T0" fmla="*/ 0 w 55"/>
                  <a:gd name="T1" fmla="*/ 0 h 35"/>
                  <a:gd name="T2" fmla="*/ 1 w 55"/>
                  <a:gd name="T3" fmla="*/ 0 h 35"/>
                  <a:gd name="T4" fmla="*/ 1 w 55"/>
                  <a:gd name="T5" fmla="*/ 0 h 35"/>
                  <a:gd name="T6" fmla="*/ 1 w 55"/>
                  <a:gd name="T7" fmla="*/ 0 h 35"/>
                  <a:gd name="T8" fmla="*/ 1 w 55"/>
                  <a:gd name="T9" fmla="*/ 0 h 35"/>
                  <a:gd name="T10" fmla="*/ 1 w 55"/>
                  <a:gd name="T11" fmla="*/ 0 h 35"/>
                  <a:gd name="T12" fmla="*/ 1 w 55"/>
                  <a:gd name="T13" fmla="*/ 0 h 35"/>
                  <a:gd name="T14" fmla="*/ 1 w 55"/>
                  <a:gd name="T15" fmla="*/ 0 h 35"/>
                  <a:gd name="T16" fmla="*/ 1 w 55"/>
                  <a:gd name="T17" fmla="*/ 0 h 35"/>
                  <a:gd name="T18" fmla="*/ 0 w 55"/>
                  <a:gd name="T19" fmla="*/ 0 h 3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5"/>
                  <a:gd name="T31" fmla="*/ 0 h 35"/>
                  <a:gd name="T32" fmla="*/ 55 w 55"/>
                  <a:gd name="T33" fmla="*/ 35 h 3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5" h="35">
                    <a:moveTo>
                      <a:pt x="0" y="0"/>
                    </a:moveTo>
                    <a:lnTo>
                      <a:pt x="17" y="8"/>
                    </a:lnTo>
                    <a:lnTo>
                      <a:pt x="30" y="12"/>
                    </a:lnTo>
                    <a:lnTo>
                      <a:pt x="42" y="17"/>
                    </a:lnTo>
                    <a:lnTo>
                      <a:pt x="55" y="35"/>
                    </a:lnTo>
                    <a:lnTo>
                      <a:pt x="55" y="17"/>
                    </a:lnTo>
                    <a:lnTo>
                      <a:pt x="48" y="12"/>
                    </a:lnTo>
                    <a:lnTo>
                      <a:pt x="40" y="10"/>
                    </a:lnTo>
                    <a:lnTo>
                      <a:pt x="17" y="6"/>
                    </a:lnTo>
                    <a:lnTo>
                      <a:pt x="0" y="0"/>
                    </a:lnTo>
                    <a:close/>
                  </a:path>
                </a:pathLst>
              </a:custGeom>
              <a:solidFill>
                <a:srgbClr val="D95900"/>
              </a:solidFill>
              <a:ln w="9525">
                <a:noFill/>
                <a:round/>
                <a:headEnd/>
                <a:tailEnd/>
              </a:ln>
            </p:spPr>
            <p:txBody>
              <a:bodyPr/>
              <a:lstStyle/>
              <a:p>
                <a:endParaRPr lang="en-US"/>
              </a:p>
            </p:txBody>
          </p:sp>
          <p:sp>
            <p:nvSpPr>
              <p:cNvPr id="1156" name="Freeform 122"/>
              <p:cNvSpPr>
                <a:spLocks/>
              </p:cNvSpPr>
              <p:nvPr/>
            </p:nvSpPr>
            <p:spPr bwMode="auto">
              <a:xfrm>
                <a:off x="5203" y="3163"/>
                <a:ext cx="21" cy="6"/>
              </a:xfrm>
              <a:custGeom>
                <a:avLst/>
                <a:gdLst>
                  <a:gd name="T0" fmla="*/ 0 w 42"/>
                  <a:gd name="T1" fmla="*/ 1 h 11"/>
                  <a:gd name="T2" fmla="*/ 1 w 42"/>
                  <a:gd name="T3" fmla="*/ 1 h 11"/>
                  <a:gd name="T4" fmla="*/ 1 w 42"/>
                  <a:gd name="T5" fmla="*/ 1 h 11"/>
                  <a:gd name="T6" fmla="*/ 1 w 42"/>
                  <a:gd name="T7" fmla="*/ 1 h 11"/>
                  <a:gd name="T8" fmla="*/ 1 w 42"/>
                  <a:gd name="T9" fmla="*/ 0 h 11"/>
                  <a:gd name="T10" fmla="*/ 1 w 42"/>
                  <a:gd name="T11" fmla="*/ 1 h 11"/>
                  <a:gd name="T12" fmla="*/ 1 w 42"/>
                  <a:gd name="T13" fmla="*/ 1 h 11"/>
                  <a:gd name="T14" fmla="*/ 1 w 42"/>
                  <a:gd name="T15" fmla="*/ 1 h 11"/>
                  <a:gd name="T16" fmla="*/ 0 w 42"/>
                  <a:gd name="T17" fmla="*/ 1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2"/>
                  <a:gd name="T28" fmla="*/ 0 h 11"/>
                  <a:gd name="T29" fmla="*/ 42 w 42"/>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2" h="11">
                    <a:moveTo>
                      <a:pt x="0" y="7"/>
                    </a:moveTo>
                    <a:lnTo>
                      <a:pt x="2" y="7"/>
                    </a:lnTo>
                    <a:lnTo>
                      <a:pt x="9" y="9"/>
                    </a:lnTo>
                    <a:lnTo>
                      <a:pt x="23" y="9"/>
                    </a:lnTo>
                    <a:lnTo>
                      <a:pt x="42" y="0"/>
                    </a:lnTo>
                    <a:lnTo>
                      <a:pt x="40" y="3"/>
                    </a:lnTo>
                    <a:lnTo>
                      <a:pt x="34" y="7"/>
                    </a:lnTo>
                    <a:lnTo>
                      <a:pt x="25" y="11"/>
                    </a:lnTo>
                    <a:lnTo>
                      <a:pt x="0" y="7"/>
                    </a:lnTo>
                    <a:close/>
                  </a:path>
                </a:pathLst>
              </a:custGeom>
              <a:solidFill>
                <a:srgbClr val="D95900"/>
              </a:solidFill>
              <a:ln w="9525">
                <a:noFill/>
                <a:round/>
                <a:headEnd/>
                <a:tailEnd/>
              </a:ln>
            </p:spPr>
            <p:txBody>
              <a:bodyPr/>
              <a:lstStyle/>
              <a:p>
                <a:endParaRPr lang="en-US"/>
              </a:p>
            </p:txBody>
          </p:sp>
          <p:sp>
            <p:nvSpPr>
              <p:cNvPr id="1157" name="Freeform 123"/>
              <p:cNvSpPr>
                <a:spLocks/>
              </p:cNvSpPr>
              <p:nvPr/>
            </p:nvSpPr>
            <p:spPr bwMode="auto">
              <a:xfrm>
                <a:off x="5168" y="3165"/>
                <a:ext cx="11" cy="2"/>
              </a:xfrm>
              <a:custGeom>
                <a:avLst/>
                <a:gdLst>
                  <a:gd name="T0" fmla="*/ 1 w 21"/>
                  <a:gd name="T1" fmla="*/ 0 h 4"/>
                  <a:gd name="T2" fmla="*/ 0 w 21"/>
                  <a:gd name="T3" fmla="*/ 0 h 4"/>
                  <a:gd name="T4" fmla="*/ 0 w 21"/>
                  <a:gd name="T5" fmla="*/ 1 h 4"/>
                  <a:gd name="T6" fmla="*/ 1 w 21"/>
                  <a:gd name="T7" fmla="*/ 1 h 4"/>
                  <a:gd name="T8" fmla="*/ 1 w 21"/>
                  <a:gd name="T9" fmla="*/ 0 h 4"/>
                  <a:gd name="T10" fmla="*/ 0 60000 65536"/>
                  <a:gd name="T11" fmla="*/ 0 60000 65536"/>
                  <a:gd name="T12" fmla="*/ 0 60000 65536"/>
                  <a:gd name="T13" fmla="*/ 0 60000 65536"/>
                  <a:gd name="T14" fmla="*/ 0 60000 65536"/>
                  <a:gd name="T15" fmla="*/ 0 w 21"/>
                  <a:gd name="T16" fmla="*/ 0 h 4"/>
                  <a:gd name="T17" fmla="*/ 21 w 21"/>
                  <a:gd name="T18" fmla="*/ 4 h 4"/>
                </a:gdLst>
                <a:ahLst/>
                <a:cxnLst>
                  <a:cxn ang="T10">
                    <a:pos x="T0" y="T1"/>
                  </a:cxn>
                  <a:cxn ang="T11">
                    <a:pos x="T2" y="T3"/>
                  </a:cxn>
                  <a:cxn ang="T12">
                    <a:pos x="T4" y="T5"/>
                  </a:cxn>
                  <a:cxn ang="T13">
                    <a:pos x="T6" y="T7"/>
                  </a:cxn>
                  <a:cxn ang="T14">
                    <a:pos x="T8" y="T9"/>
                  </a:cxn>
                </a:cxnLst>
                <a:rect l="T15" t="T16" r="T17" b="T18"/>
                <a:pathLst>
                  <a:path w="21" h="4">
                    <a:moveTo>
                      <a:pt x="21" y="0"/>
                    </a:moveTo>
                    <a:lnTo>
                      <a:pt x="0" y="0"/>
                    </a:lnTo>
                    <a:lnTo>
                      <a:pt x="0" y="2"/>
                    </a:lnTo>
                    <a:lnTo>
                      <a:pt x="2" y="4"/>
                    </a:lnTo>
                    <a:lnTo>
                      <a:pt x="21" y="0"/>
                    </a:lnTo>
                    <a:close/>
                  </a:path>
                </a:pathLst>
              </a:custGeom>
              <a:solidFill>
                <a:srgbClr val="D95900"/>
              </a:solidFill>
              <a:ln w="9525">
                <a:noFill/>
                <a:round/>
                <a:headEnd/>
                <a:tailEnd/>
              </a:ln>
            </p:spPr>
            <p:txBody>
              <a:bodyPr/>
              <a:lstStyle/>
              <a:p>
                <a:endParaRPr lang="en-US"/>
              </a:p>
            </p:txBody>
          </p:sp>
          <p:sp>
            <p:nvSpPr>
              <p:cNvPr id="1158" name="Freeform 124"/>
              <p:cNvSpPr>
                <a:spLocks/>
              </p:cNvSpPr>
              <p:nvPr/>
            </p:nvSpPr>
            <p:spPr bwMode="auto">
              <a:xfrm>
                <a:off x="5175" y="3194"/>
                <a:ext cx="34" cy="12"/>
              </a:xfrm>
              <a:custGeom>
                <a:avLst/>
                <a:gdLst>
                  <a:gd name="T0" fmla="*/ 0 w 67"/>
                  <a:gd name="T1" fmla="*/ 0 h 23"/>
                  <a:gd name="T2" fmla="*/ 1 w 67"/>
                  <a:gd name="T3" fmla="*/ 1 h 23"/>
                  <a:gd name="T4" fmla="*/ 1 w 67"/>
                  <a:gd name="T5" fmla="*/ 1 h 23"/>
                  <a:gd name="T6" fmla="*/ 1 w 67"/>
                  <a:gd name="T7" fmla="*/ 1 h 23"/>
                  <a:gd name="T8" fmla="*/ 1 w 67"/>
                  <a:gd name="T9" fmla="*/ 1 h 23"/>
                  <a:gd name="T10" fmla="*/ 1 w 67"/>
                  <a:gd name="T11" fmla="*/ 1 h 23"/>
                  <a:gd name="T12" fmla="*/ 1 w 67"/>
                  <a:gd name="T13" fmla="*/ 1 h 23"/>
                  <a:gd name="T14" fmla="*/ 1 w 67"/>
                  <a:gd name="T15" fmla="*/ 1 h 23"/>
                  <a:gd name="T16" fmla="*/ 1 w 67"/>
                  <a:gd name="T17" fmla="*/ 1 h 23"/>
                  <a:gd name="T18" fmla="*/ 1 w 67"/>
                  <a:gd name="T19" fmla="*/ 1 h 23"/>
                  <a:gd name="T20" fmla="*/ 1 w 67"/>
                  <a:gd name="T21" fmla="*/ 1 h 23"/>
                  <a:gd name="T22" fmla="*/ 1 w 67"/>
                  <a:gd name="T23" fmla="*/ 1 h 23"/>
                  <a:gd name="T24" fmla="*/ 1 w 67"/>
                  <a:gd name="T25" fmla="*/ 1 h 23"/>
                  <a:gd name="T26" fmla="*/ 1 w 67"/>
                  <a:gd name="T27" fmla="*/ 1 h 23"/>
                  <a:gd name="T28" fmla="*/ 1 w 67"/>
                  <a:gd name="T29" fmla="*/ 1 h 23"/>
                  <a:gd name="T30" fmla="*/ 0 w 67"/>
                  <a:gd name="T31" fmla="*/ 0 h 2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67"/>
                  <a:gd name="T49" fmla="*/ 0 h 23"/>
                  <a:gd name="T50" fmla="*/ 67 w 67"/>
                  <a:gd name="T51" fmla="*/ 23 h 2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67" h="23">
                    <a:moveTo>
                      <a:pt x="0" y="0"/>
                    </a:moveTo>
                    <a:lnTo>
                      <a:pt x="4" y="2"/>
                    </a:lnTo>
                    <a:lnTo>
                      <a:pt x="12" y="8"/>
                    </a:lnTo>
                    <a:lnTo>
                      <a:pt x="21" y="12"/>
                    </a:lnTo>
                    <a:lnTo>
                      <a:pt x="27" y="15"/>
                    </a:lnTo>
                    <a:lnTo>
                      <a:pt x="37" y="15"/>
                    </a:lnTo>
                    <a:lnTo>
                      <a:pt x="50" y="12"/>
                    </a:lnTo>
                    <a:lnTo>
                      <a:pt x="62" y="8"/>
                    </a:lnTo>
                    <a:lnTo>
                      <a:pt x="67" y="6"/>
                    </a:lnTo>
                    <a:lnTo>
                      <a:pt x="63" y="8"/>
                    </a:lnTo>
                    <a:lnTo>
                      <a:pt x="56" y="13"/>
                    </a:lnTo>
                    <a:lnTo>
                      <a:pt x="35" y="23"/>
                    </a:lnTo>
                    <a:lnTo>
                      <a:pt x="25" y="23"/>
                    </a:lnTo>
                    <a:lnTo>
                      <a:pt x="19" y="21"/>
                    </a:lnTo>
                    <a:lnTo>
                      <a:pt x="10" y="12"/>
                    </a:lnTo>
                    <a:lnTo>
                      <a:pt x="0" y="0"/>
                    </a:lnTo>
                    <a:close/>
                  </a:path>
                </a:pathLst>
              </a:custGeom>
              <a:solidFill>
                <a:srgbClr val="A62600"/>
              </a:solidFill>
              <a:ln w="9525">
                <a:noFill/>
                <a:round/>
                <a:headEnd/>
                <a:tailEnd/>
              </a:ln>
            </p:spPr>
            <p:txBody>
              <a:bodyPr/>
              <a:lstStyle/>
              <a:p>
                <a:endParaRPr lang="en-US"/>
              </a:p>
            </p:txBody>
          </p:sp>
          <p:sp>
            <p:nvSpPr>
              <p:cNvPr id="1159" name="Freeform 125"/>
              <p:cNvSpPr>
                <a:spLocks/>
              </p:cNvSpPr>
              <p:nvPr/>
            </p:nvSpPr>
            <p:spPr bwMode="auto">
              <a:xfrm>
                <a:off x="5175" y="3194"/>
                <a:ext cx="33" cy="12"/>
              </a:xfrm>
              <a:custGeom>
                <a:avLst/>
                <a:gdLst>
                  <a:gd name="T0" fmla="*/ 0 w 65"/>
                  <a:gd name="T1" fmla="*/ 0 h 25"/>
                  <a:gd name="T2" fmla="*/ 1 w 65"/>
                  <a:gd name="T3" fmla="*/ 0 h 25"/>
                  <a:gd name="T4" fmla="*/ 1 w 65"/>
                  <a:gd name="T5" fmla="*/ 0 h 25"/>
                  <a:gd name="T6" fmla="*/ 1 w 65"/>
                  <a:gd name="T7" fmla="*/ 0 h 25"/>
                  <a:gd name="T8" fmla="*/ 1 w 65"/>
                  <a:gd name="T9" fmla="*/ 0 h 25"/>
                  <a:gd name="T10" fmla="*/ 1 w 65"/>
                  <a:gd name="T11" fmla="*/ 0 h 25"/>
                  <a:gd name="T12" fmla="*/ 1 w 65"/>
                  <a:gd name="T13" fmla="*/ 0 h 25"/>
                  <a:gd name="T14" fmla="*/ 1 w 65"/>
                  <a:gd name="T15" fmla="*/ 0 h 25"/>
                  <a:gd name="T16" fmla="*/ 1 w 65"/>
                  <a:gd name="T17" fmla="*/ 0 h 25"/>
                  <a:gd name="T18" fmla="*/ 1 w 65"/>
                  <a:gd name="T19" fmla="*/ 0 h 25"/>
                  <a:gd name="T20" fmla="*/ 1 w 65"/>
                  <a:gd name="T21" fmla="*/ 0 h 25"/>
                  <a:gd name="T22" fmla="*/ 1 w 65"/>
                  <a:gd name="T23" fmla="*/ 0 h 25"/>
                  <a:gd name="T24" fmla="*/ 1 w 65"/>
                  <a:gd name="T25" fmla="*/ 0 h 25"/>
                  <a:gd name="T26" fmla="*/ 1 w 65"/>
                  <a:gd name="T27" fmla="*/ 0 h 25"/>
                  <a:gd name="T28" fmla="*/ 1 w 65"/>
                  <a:gd name="T29" fmla="*/ 0 h 25"/>
                  <a:gd name="T30" fmla="*/ 1 w 65"/>
                  <a:gd name="T31" fmla="*/ 0 h 25"/>
                  <a:gd name="T32" fmla="*/ 0 w 65"/>
                  <a:gd name="T33" fmla="*/ 0 h 2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65"/>
                  <a:gd name="T52" fmla="*/ 0 h 25"/>
                  <a:gd name="T53" fmla="*/ 65 w 65"/>
                  <a:gd name="T54" fmla="*/ 25 h 25"/>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65" h="25">
                    <a:moveTo>
                      <a:pt x="0" y="0"/>
                    </a:moveTo>
                    <a:lnTo>
                      <a:pt x="4" y="2"/>
                    </a:lnTo>
                    <a:lnTo>
                      <a:pt x="10" y="10"/>
                    </a:lnTo>
                    <a:lnTo>
                      <a:pt x="19" y="15"/>
                    </a:lnTo>
                    <a:lnTo>
                      <a:pt x="29" y="17"/>
                    </a:lnTo>
                    <a:lnTo>
                      <a:pt x="39" y="15"/>
                    </a:lnTo>
                    <a:lnTo>
                      <a:pt x="52" y="12"/>
                    </a:lnTo>
                    <a:lnTo>
                      <a:pt x="62" y="8"/>
                    </a:lnTo>
                    <a:lnTo>
                      <a:pt x="65" y="6"/>
                    </a:lnTo>
                    <a:lnTo>
                      <a:pt x="62" y="8"/>
                    </a:lnTo>
                    <a:lnTo>
                      <a:pt x="54" y="15"/>
                    </a:lnTo>
                    <a:lnTo>
                      <a:pt x="42" y="21"/>
                    </a:lnTo>
                    <a:lnTo>
                      <a:pt x="31" y="25"/>
                    </a:lnTo>
                    <a:lnTo>
                      <a:pt x="21" y="23"/>
                    </a:lnTo>
                    <a:lnTo>
                      <a:pt x="15" y="21"/>
                    </a:lnTo>
                    <a:lnTo>
                      <a:pt x="10" y="12"/>
                    </a:lnTo>
                    <a:lnTo>
                      <a:pt x="0" y="0"/>
                    </a:lnTo>
                    <a:close/>
                  </a:path>
                </a:pathLst>
              </a:custGeom>
              <a:solidFill>
                <a:srgbClr val="000000"/>
              </a:solidFill>
              <a:ln w="9525">
                <a:noFill/>
                <a:round/>
                <a:headEnd/>
                <a:tailEnd/>
              </a:ln>
            </p:spPr>
            <p:txBody>
              <a:bodyPr/>
              <a:lstStyle/>
              <a:p>
                <a:endParaRPr lang="en-US"/>
              </a:p>
            </p:txBody>
          </p:sp>
          <p:sp>
            <p:nvSpPr>
              <p:cNvPr id="1160" name="Freeform 126"/>
              <p:cNvSpPr>
                <a:spLocks/>
              </p:cNvSpPr>
              <p:nvPr/>
            </p:nvSpPr>
            <p:spPr bwMode="auto">
              <a:xfrm>
                <a:off x="5176" y="3195"/>
                <a:ext cx="32" cy="13"/>
              </a:xfrm>
              <a:custGeom>
                <a:avLst/>
                <a:gdLst>
                  <a:gd name="T0" fmla="*/ 0 w 63"/>
                  <a:gd name="T1" fmla="*/ 0 h 27"/>
                  <a:gd name="T2" fmla="*/ 1 w 63"/>
                  <a:gd name="T3" fmla="*/ 0 h 27"/>
                  <a:gd name="T4" fmla="*/ 1 w 63"/>
                  <a:gd name="T5" fmla="*/ 0 h 27"/>
                  <a:gd name="T6" fmla="*/ 1 w 63"/>
                  <a:gd name="T7" fmla="*/ 0 h 27"/>
                  <a:gd name="T8" fmla="*/ 1 w 63"/>
                  <a:gd name="T9" fmla="*/ 0 h 27"/>
                  <a:gd name="T10" fmla="*/ 1 w 63"/>
                  <a:gd name="T11" fmla="*/ 0 h 27"/>
                  <a:gd name="T12" fmla="*/ 1 w 63"/>
                  <a:gd name="T13" fmla="*/ 0 h 27"/>
                  <a:gd name="T14" fmla="*/ 1 w 63"/>
                  <a:gd name="T15" fmla="*/ 0 h 27"/>
                  <a:gd name="T16" fmla="*/ 1 w 63"/>
                  <a:gd name="T17" fmla="*/ 0 h 27"/>
                  <a:gd name="T18" fmla="*/ 1 w 63"/>
                  <a:gd name="T19" fmla="*/ 0 h 27"/>
                  <a:gd name="T20" fmla="*/ 1 w 63"/>
                  <a:gd name="T21" fmla="*/ 0 h 27"/>
                  <a:gd name="T22" fmla="*/ 1 w 63"/>
                  <a:gd name="T23" fmla="*/ 0 h 27"/>
                  <a:gd name="T24" fmla="*/ 1 w 63"/>
                  <a:gd name="T25" fmla="*/ 0 h 27"/>
                  <a:gd name="T26" fmla="*/ 1 w 63"/>
                  <a:gd name="T27" fmla="*/ 0 h 27"/>
                  <a:gd name="T28" fmla="*/ 1 w 63"/>
                  <a:gd name="T29" fmla="*/ 0 h 27"/>
                  <a:gd name="T30" fmla="*/ 1 w 63"/>
                  <a:gd name="T31" fmla="*/ 0 h 27"/>
                  <a:gd name="T32" fmla="*/ 1 w 63"/>
                  <a:gd name="T33" fmla="*/ 0 h 27"/>
                  <a:gd name="T34" fmla="*/ 0 w 63"/>
                  <a:gd name="T35" fmla="*/ 0 h 2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63"/>
                  <a:gd name="T55" fmla="*/ 0 h 27"/>
                  <a:gd name="T56" fmla="*/ 63 w 63"/>
                  <a:gd name="T57" fmla="*/ 27 h 27"/>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63" h="27">
                    <a:moveTo>
                      <a:pt x="0" y="0"/>
                    </a:moveTo>
                    <a:lnTo>
                      <a:pt x="2" y="2"/>
                    </a:lnTo>
                    <a:lnTo>
                      <a:pt x="13" y="13"/>
                    </a:lnTo>
                    <a:lnTo>
                      <a:pt x="17" y="17"/>
                    </a:lnTo>
                    <a:lnTo>
                      <a:pt x="21" y="17"/>
                    </a:lnTo>
                    <a:lnTo>
                      <a:pt x="25" y="19"/>
                    </a:lnTo>
                    <a:lnTo>
                      <a:pt x="38" y="19"/>
                    </a:lnTo>
                    <a:lnTo>
                      <a:pt x="54" y="10"/>
                    </a:lnTo>
                    <a:lnTo>
                      <a:pt x="61" y="6"/>
                    </a:lnTo>
                    <a:lnTo>
                      <a:pt x="63" y="4"/>
                    </a:lnTo>
                    <a:lnTo>
                      <a:pt x="61" y="6"/>
                    </a:lnTo>
                    <a:lnTo>
                      <a:pt x="58" y="10"/>
                    </a:lnTo>
                    <a:lnTo>
                      <a:pt x="50" y="21"/>
                    </a:lnTo>
                    <a:lnTo>
                      <a:pt x="40" y="25"/>
                    </a:lnTo>
                    <a:lnTo>
                      <a:pt x="29" y="27"/>
                    </a:lnTo>
                    <a:lnTo>
                      <a:pt x="19" y="25"/>
                    </a:lnTo>
                    <a:lnTo>
                      <a:pt x="10" y="21"/>
                    </a:lnTo>
                    <a:lnTo>
                      <a:pt x="0" y="0"/>
                    </a:lnTo>
                    <a:close/>
                  </a:path>
                </a:pathLst>
              </a:custGeom>
              <a:solidFill>
                <a:srgbClr val="D95900"/>
              </a:solidFill>
              <a:ln w="9525">
                <a:noFill/>
                <a:round/>
                <a:headEnd/>
                <a:tailEnd/>
              </a:ln>
            </p:spPr>
            <p:txBody>
              <a:bodyPr/>
              <a:lstStyle/>
              <a:p>
                <a:endParaRPr lang="en-US"/>
              </a:p>
            </p:txBody>
          </p:sp>
          <p:sp>
            <p:nvSpPr>
              <p:cNvPr id="1161" name="Freeform 127"/>
              <p:cNvSpPr>
                <a:spLocks/>
              </p:cNvSpPr>
              <p:nvPr/>
            </p:nvSpPr>
            <p:spPr bwMode="auto">
              <a:xfrm>
                <a:off x="5194" y="3159"/>
                <a:ext cx="33" cy="28"/>
              </a:xfrm>
              <a:custGeom>
                <a:avLst/>
                <a:gdLst>
                  <a:gd name="T0" fmla="*/ 1 w 65"/>
                  <a:gd name="T1" fmla="*/ 1 h 56"/>
                  <a:gd name="T2" fmla="*/ 1 w 65"/>
                  <a:gd name="T3" fmla="*/ 1 h 56"/>
                  <a:gd name="T4" fmla="*/ 1 w 65"/>
                  <a:gd name="T5" fmla="*/ 1 h 56"/>
                  <a:gd name="T6" fmla="*/ 1 w 65"/>
                  <a:gd name="T7" fmla="*/ 1 h 56"/>
                  <a:gd name="T8" fmla="*/ 1 w 65"/>
                  <a:gd name="T9" fmla="*/ 1 h 56"/>
                  <a:gd name="T10" fmla="*/ 1 w 65"/>
                  <a:gd name="T11" fmla="*/ 1 h 56"/>
                  <a:gd name="T12" fmla="*/ 1 w 65"/>
                  <a:gd name="T13" fmla="*/ 1 h 56"/>
                  <a:gd name="T14" fmla="*/ 1 w 65"/>
                  <a:gd name="T15" fmla="*/ 1 h 56"/>
                  <a:gd name="T16" fmla="*/ 1 w 65"/>
                  <a:gd name="T17" fmla="*/ 1 h 56"/>
                  <a:gd name="T18" fmla="*/ 1 w 65"/>
                  <a:gd name="T19" fmla="*/ 1 h 56"/>
                  <a:gd name="T20" fmla="*/ 1 w 65"/>
                  <a:gd name="T21" fmla="*/ 1 h 56"/>
                  <a:gd name="T22" fmla="*/ 1 w 65"/>
                  <a:gd name="T23" fmla="*/ 1 h 56"/>
                  <a:gd name="T24" fmla="*/ 1 w 65"/>
                  <a:gd name="T25" fmla="*/ 1 h 56"/>
                  <a:gd name="T26" fmla="*/ 0 w 65"/>
                  <a:gd name="T27" fmla="*/ 1 h 56"/>
                  <a:gd name="T28" fmla="*/ 1 w 65"/>
                  <a:gd name="T29" fmla="*/ 1 h 56"/>
                  <a:gd name="T30" fmla="*/ 1 w 65"/>
                  <a:gd name="T31" fmla="*/ 1 h 56"/>
                  <a:gd name="T32" fmla="*/ 1 w 65"/>
                  <a:gd name="T33" fmla="*/ 1 h 56"/>
                  <a:gd name="T34" fmla="*/ 1 w 65"/>
                  <a:gd name="T35" fmla="*/ 1 h 56"/>
                  <a:gd name="T36" fmla="*/ 1 w 65"/>
                  <a:gd name="T37" fmla="*/ 1 h 56"/>
                  <a:gd name="T38" fmla="*/ 1 w 65"/>
                  <a:gd name="T39" fmla="*/ 1 h 56"/>
                  <a:gd name="T40" fmla="*/ 1 w 65"/>
                  <a:gd name="T41" fmla="*/ 1 h 56"/>
                  <a:gd name="T42" fmla="*/ 1 w 65"/>
                  <a:gd name="T43" fmla="*/ 1 h 56"/>
                  <a:gd name="T44" fmla="*/ 1 w 65"/>
                  <a:gd name="T45" fmla="*/ 0 h 56"/>
                  <a:gd name="T46" fmla="*/ 1 w 65"/>
                  <a:gd name="T47" fmla="*/ 1 h 5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65"/>
                  <a:gd name="T73" fmla="*/ 0 h 56"/>
                  <a:gd name="T74" fmla="*/ 65 w 65"/>
                  <a:gd name="T75" fmla="*/ 56 h 5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65" h="56">
                    <a:moveTo>
                      <a:pt x="59" y="8"/>
                    </a:moveTo>
                    <a:lnTo>
                      <a:pt x="59" y="6"/>
                    </a:lnTo>
                    <a:lnTo>
                      <a:pt x="46" y="6"/>
                    </a:lnTo>
                    <a:lnTo>
                      <a:pt x="34" y="8"/>
                    </a:lnTo>
                    <a:lnTo>
                      <a:pt x="30" y="8"/>
                    </a:lnTo>
                    <a:lnTo>
                      <a:pt x="21" y="9"/>
                    </a:lnTo>
                    <a:lnTo>
                      <a:pt x="17" y="11"/>
                    </a:lnTo>
                    <a:lnTo>
                      <a:pt x="13" y="19"/>
                    </a:lnTo>
                    <a:lnTo>
                      <a:pt x="11" y="31"/>
                    </a:lnTo>
                    <a:lnTo>
                      <a:pt x="9" y="44"/>
                    </a:lnTo>
                    <a:lnTo>
                      <a:pt x="7" y="52"/>
                    </a:lnTo>
                    <a:lnTo>
                      <a:pt x="3" y="56"/>
                    </a:lnTo>
                    <a:lnTo>
                      <a:pt x="1" y="56"/>
                    </a:lnTo>
                    <a:lnTo>
                      <a:pt x="0" y="50"/>
                    </a:lnTo>
                    <a:lnTo>
                      <a:pt x="5" y="32"/>
                    </a:lnTo>
                    <a:lnTo>
                      <a:pt x="7" y="25"/>
                    </a:lnTo>
                    <a:lnTo>
                      <a:pt x="9" y="19"/>
                    </a:lnTo>
                    <a:lnTo>
                      <a:pt x="13" y="13"/>
                    </a:lnTo>
                    <a:lnTo>
                      <a:pt x="15" y="8"/>
                    </a:lnTo>
                    <a:lnTo>
                      <a:pt x="24" y="4"/>
                    </a:lnTo>
                    <a:lnTo>
                      <a:pt x="38" y="4"/>
                    </a:lnTo>
                    <a:lnTo>
                      <a:pt x="49" y="2"/>
                    </a:lnTo>
                    <a:lnTo>
                      <a:pt x="65" y="0"/>
                    </a:lnTo>
                    <a:lnTo>
                      <a:pt x="59" y="8"/>
                    </a:lnTo>
                    <a:close/>
                  </a:path>
                </a:pathLst>
              </a:custGeom>
              <a:solidFill>
                <a:srgbClr val="D95900"/>
              </a:solidFill>
              <a:ln w="9525">
                <a:noFill/>
                <a:round/>
                <a:headEnd/>
                <a:tailEnd/>
              </a:ln>
            </p:spPr>
            <p:txBody>
              <a:bodyPr/>
              <a:lstStyle/>
              <a:p>
                <a:endParaRPr lang="en-US"/>
              </a:p>
            </p:txBody>
          </p:sp>
          <p:sp>
            <p:nvSpPr>
              <p:cNvPr id="1162" name="Freeform 128"/>
              <p:cNvSpPr>
                <a:spLocks/>
              </p:cNvSpPr>
              <p:nvPr/>
            </p:nvSpPr>
            <p:spPr bwMode="auto">
              <a:xfrm>
                <a:off x="5180" y="3185"/>
                <a:ext cx="23" cy="16"/>
              </a:xfrm>
              <a:custGeom>
                <a:avLst/>
                <a:gdLst>
                  <a:gd name="T0" fmla="*/ 1 w 46"/>
                  <a:gd name="T1" fmla="*/ 0 h 30"/>
                  <a:gd name="T2" fmla="*/ 1 w 46"/>
                  <a:gd name="T3" fmla="*/ 1 h 30"/>
                  <a:gd name="T4" fmla="*/ 1 w 46"/>
                  <a:gd name="T5" fmla="*/ 1 h 30"/>
                  <a:gd name="T6" fmla="*/ 1 w 46"/>
                  <a:gd name="T7" fmla="*/ 1 h 30"/>
                  <a:gd name="T8" fmla="*/ 1 w 46"/>
                  <a:gd name="T9" fmla="*/ 1 h 30"/>
                  <a:gd name="T10" fmla="*/ 1 w 46"/>
                  <a:gd name="T11" fmla="*/ 1 h 30"/>
                  <a:gd name="T12" fmla="*/ 1 w 46"/>
                  <a:gd name="T13" fmla="*/ 1 h 30"/>
                  <a:gd name="T14" fmla="*/ 1 w 46"/>
                  <a:gd name="T15" fmla="*/ 1 h 30"/>
                  <a:gd name="T16" fmla="*/ 1 w 46"/>
                  <a:gd name="T17" fmla="*/ 1 h 30"/>
                  <a:gd name="T18" fmla="*/ 1 w 46"/>
                  <a:gd name="T19" fmla="*/ 1 h 30"/>
                  <a:gd name="T20" fmla="*/ 1 w 46"/>
                  <a:gd name="T21" fmla="*/ 1 h 30"/>
                  <a:gd name="T22" fmla="*/ 1 w 46"/>
                  <a:gd name="T23" fmla="*/ 1 h 30"/>
                  <a:gd name="T24" fmla="*/ 1 w 46"/>
                  <a:gd name="T25" fmla="*/ 1 h 30"/>
                  <a:gd name="T26" fmla="*/ 1 w 46"/>
                  <a:gd name="T27" fmla="*/ 1 h 30"/>
                  <a:gd name="T28" fmla="*/ 1 w 46"/>
                  <a:gd name="T29" fmla="*/ 1 h 30"/>
                  <a:gd name="T30" fmla="*/ 1 w 46"/>
                  <a:gd name="T31" fmla="*/ 1 h 30"/>
                  <a:gd name="T32" fmla="*/ 1 w 46"/>
                  <a:gd name="T33" fmla="*/ 1 h 30"/>
                  <a:gd name="T34" fmla="*/ 1 w 46"/>
                  <a:gd name="T35" fmla="*/ 1 h 30"/>
                  <a:gd name="T36" fmla="*/ 0 w 46"/>
                  <a:gd name="T37" fmla="*/ 1 h 30"/>
                  <a:gd name="T38" fmla="*/ 1 w 46"/>
                  <a:gd name="T39" fmla="*/ 1 h 30"/>
                  <a:gd name="T40" fmla="*/ 1 w 46"/>
                  <a:gd name="T41" fmla="*/ 0 h 3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6"/>
                  <a:gd name="T64" fmla="*/ 0 h 30"/>
                  <a:gd name="T65" fmla="*/ 46 w 46"/>
                  <a:gd name="T66" fmla="*/ 30 h 3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6" h="30">
                    <a:moveTo>
                      <a:pt x="4" y="0"/>
                    </a:moveTo>
                    <a:lnTo>
                      <a:pt x="2" y="7"/>
                    </a:lnTo>
                    <a:lnTo>
                      <a:pt x="11" y="15"/>
                    </a:lnTo>
                    <a:lnTo>
                      <a:pt x="19" y="23"/>
                    </a:lnTo>
                    <a:lnTo>
                      <a:pt x="25" y="23"/>
                    </a:lnTo>
                    <a:lnTo>
                      <a:pt x="30" y="19"/>
                    </a:lnTo>
                    <a:lnTo>
                      <a:pt x="34" y="15"/>
                    </a:lnTo>
                    <a:lnTo>
                      <a:pt x="40" y="13"/>
                    </a:lnTo>
                    <a:lnTo>
                      <a:pt x="44" y="7"/>
                    </a:lnTo>
                    <a:lnTo>
                      <a:pt x="44" y="5"/>
                    </a:lnTo>
                    <a:lnTo>
                      <a:pt x="46" y="9"/>
                    </a:lnTo>
                    <a:lnTo>
                      <a:pt x="44" y="15"/>
                    </a:lnTo>
                    <a:lnTo>
                      <a:pt x="40" y="21"/>
                    </a:lnTo>
                    <a:lnTo>
                      <a:pt x="29" y="29"/>
                    </a:lnTo>
                    <a:lnTo>
                      <a:pt x="25" y="30"/>
                    </a:lnTo>
                    <a:lnTo>
                      <a:pt x="23" y="30"/>
                    </a:lnTo>
                    <a:lnTo>
                      <a:pt x="5" y="17"/>
                    </a:lnTo>
                    <a:lnTo>
                      <a:pt x="4" y="13"/>
                    </a:lnTo>
                    <a:lnTo>
                      <a:pt x="0" y="7"/>
                    </a:lnTo>
                    <a:lnTo>
                      <a:pt x="2" y="2"/>
                    </a:lnTo>
                    <a:lnTo>
                      <a:pt x="4" y="0"/>
                    </a:lnTo>
                    <a:close/>
                  </a:path>
                </a:pathLst>
              </a:custGeom>
              <a:solidFill>
                <a:srgbClr val="A62600"/>
              </a:solidFill>
              <a:ln w="9525">
                <a:noFill/>
                <a:round/>
                <a:headEnd/>
                <a:tailEnd/>
              </a:ln>
            </p:spPr>
            <p:txBody>
              <a:bodyPr/>
              <a:lstStyle/>
              <a:p>
                <a:endParaRPr lang="en-US"/>
              </a:p>
            </p:txBody>
          </p:sp>
          <p:sp>
            <p:nvSpPr>
              <p:cNvPr id="1163" name="Freeform 129"/>
              <p:cNvSpPr>
                <a:spLocks/>
              </p:cNvSpPr>
              <p:nvPr/>
            </p:nvSpPr>
            <p:spPr bwMode="auto">
              <a:xfrm>
                <a:off x="5204" y="3191"/>
                <a:ext cx="8" cy="17"/>
              </a:xfrm>
              <a:custGeom>
                <a:avLst/>
                <a:gdLst>
                  <a:gd name="T0" fmla="*/ 0 w 15"/>
                  <a:gd name="T1" fmla="*/ 0 h 35"/>
                  <a:gd name="T2" fmla="*/ 1 w 15"/>
                  <a:gd name="T3" fmla="*/ 0 h 35"/>
                  <a:gd name="T4" fmla="*/ 1 w 15"/>
                  <a:gd name="T5" fmla="*/ 0 h 35"/>
                  <a:gd name="T6" fmla="*/ 1 w 15"/>
                  <a:gd name="T7" fmla="*/ 0 h 35"/>
                  <a:gd name="T8" fmla="*/ 0 w 15"/>
                  <a:gd name="T9" fmla="*/ 0 h 35"/>
                  <a:gd name="T10" fmla="*/ 0 60000 65536"/>
                  <a:gd name="T11" fmla="*/ 0 60000 65536"/>
                  <a:gd name="T12" fmla="*/ 0 60000 65536"/>
                  <a:gd name="T13" fmla="*/ 0 60000 65536"/>
                  <a:gd name="T14" fmla="*/ 0 60000 65536"/>
                  <a:gd name="T15" fmla="*/ 0 w 15"/>
                  <a:gd name="T16" fmla="*/ 0 h 35"/>
                  <a:gd name="T17" fmla="*/ 15 w 15"/>
                  <a:gd name="T18" fmla="*/ 35 h 35"/>
                </a:gdLst>
                <a:ahLst/>
                <a:cxnLst>
                  <a:cxn ang="T10">
                    <a:pos x="T0" y="T1"/>
                  </a:cxn>
                  <a:cxn ang="T11">
                    <a:pos x="T2" y="T3"/>
                  </a:cxn>
                  <a:cxn ang="T12">
                    <a:pos x="T4" y="T5"/>
                  </a:cxn>
                  <a:cxn ang="T13">
                    <a:pos x="T6" y="T7"/>
                  </a:cxn>
                  <a:cxn ang="T14">
                    <a:pos x="T8" y="T9"/>
                  </a:cxn>
                </a:cxnLst>
                <a:rect l="T15" t="T16" r="T17" b="T18"/>
                <a:pathLst>
                  <a:path w="15" h="35">
                    <a:moveTo>
                      <a:pt x="0" y="0"/>
                    </a:moveTo>
                    <a:lnTo>
                      <a:pt x="11" y="8"/>
                    </a:lnTo>
                    <a:lnTo>
                      <a:pt x="15" y="35"/>
                    </a:lnTo>
                    <a:lnTo>
                      <a:pt x="15" y="6"/>
                    </a:lnTo>
                    <a:lnTo>
                      <a:pt x="0" y="0"/>
                    </a:lnTo>
                    <a:close/>
                  </a:path>
                </a:pathLst>
              </a:custGeom>
              <a:solidFill>
                <a:srgbClr val="A62600"/>
              </a:solidFill>
              <a:ln w="9525">
                <a:noFill/>
                <a:round/>
                <a:headEnd/>
                <a:tailEnd/>
              </a:ln>
            </p:spPr>
            <p:txBody>
              <a:bodyPr/>
              <a:lstStyle/>
              <a:p>
                <a:endParaRPr lang="en-US"/>
              </a:p>
            </p:txBody>
          </p:sp>
          <p:sp>
            <p:nvSpPr>
              <p:cNvPr id="1164" name="Freeform 130"/>
              <p:cNvSpPr>
                <a:spLocks/>
              </p:cNvSpPr>
              <p:nvPr/>
            </p:nvSpPr>
            <p:spPr bwMode="auto">
              <a:xfrm>
                <a:off x="5170" y="3188"/>
                <a:ext cx="9" cy="16"/>
              </a:xfrm>
              <a:custGeom>
                <a:avLst/>
                <a:gdLst>
                  <a:gd name="T0" fmla="*/ 1 w 17"/>
                  <a:gd name="T1" fmla="*/ 0 h 31"/>
                  <a:gd name="T2" fmla="*/ 1 w 17"/>
                  <a:gd name="T3" fmla="*/ 1 h 31"/>
                  <a:gd name="T4" fmla="*/ 0 w 17"/>
                  <a:gd name="T5" fmla="*/ 1 h 31"/>
                  <a:gd name="T6" fmla="*/ 0 w 17"/>
                  <a:gd name="T7" fmla="*/ 1 h 31"/>
                  <a:gd name="T8" fmla="*/ 1 w 17"/>
                  <a:gd name="T9" fmla="*/ 0 h 31"/>
                  <a:gd name="T10" fmla="*/ 0 60000 65536"/>
                  <a:gd name="T11" fmla="*/ 0 60000 65536"/>
                  <a:gd name="T12" fmla="*/ 0 60000 65536"/>
                  <a:gd name="T13" fmla="*/ 0 60000 65536"/>
                  <a:gd name="T14" fmla="*/ 0 60000 65536"/>
                  <a:gd name="T15" fmla="*/ 0 w 17"/>
                  <a:gd name="T16" fmla="*/ 0 h 31"/>
                  <a:gd name="T17" fmla="*/ 17 w 17"/>
                  <a:gd name="T18" fmla="*/ 31 h 31"/>
                </a:gdLst>
                <a:ahLst/>
                <a:cxnLst>
                  <a:cxn ang="T10">
                    <a:pos x="T0" y="T1"/>
                  </a:cxn>
                  <a:cxn ang="T11">
                    <a:pos x="T2" y="T3"/>
                  </a:cxn>
                  <a:cxn ang="T12">
                    <a:pos x="T4" y="T5"/>
                  </a:cxn>
                  <a:cxn ang="T13">
                    <a:pos x="T6" y="T7"/>
                  </a:cxn>
                  <a:cxn ang="T14">
                    <a:pos x="T8" y="T9"/>
                  </a:cxn>
                </a:cxnLst>
                <a:rect l="T15" t="T16" r="T17" b="T18"/>
                <a:pathLst>
                  <a:path w="17" h="31">
                    <a:moveTo>
                      <a:pt x="17" y="0"/>
                    </a:moveTo>
                    <a:lnTo>
                      <a:pt x="5" y="8"/>
                    </a:lnTo>
                    <a:lnTo>
                      <a:pt x="0" y="31"/>
                    </a:lnTo>
                    <a:lnTo>
                      <a:pt x="0" y="6"/>
                    </a:lnTo>
                    <a:lnTo>
                      <a:pt x="17" y="0"/>
                    </a:lnTo>
                    <a:close/>
                  </a:path>
                </a:pathLst>
              </a:custGeom>
              <a:solidFill>
                <a:srgbClr val="A62600"/>
              </a:solidFill>
              <a:ln w="9525">
                <a:noFill/>
                <a:round/>
                <a:headEnd/>
                <a:tailEnd/>
              </a:ln>
            </p:spPr>
            <p:txBody>
              <a:bodyPr/>
              <a:lstStyle/>
              <a:p>
                <a:endParaRPr lang="en-US"/>
              </a:p>
            </p:txBody>
          </p:sp>
          <p:sp>
            <p:nvSpPr>
              <p:cNvPr id="1165" name="Freeform 131"/>
              <p:cNvSpPr>
                <a:spLocks/>
              </p:cNvSpPr>
              <p:nvPr/>
            </p:nvSpPr>
            <p:spPr bwMode="auto">
              <a:xfrm>
                <a:off x="5201" y="3157"/>
                <a:ext cx="26" cy="4"/>
              </a:xfrm>
              <a:custGeom>
                <a:avLst/>
                <a:gdLst>
                  <a:gd name="T0" fmla="*/ 0 w 52"/>
                  <a:gd name="T1" fmla="*/ 0 h 10"/>
                  <a:gd name="T2" fmla="*/ 1 w 52"/>
                  <a:gd name="T3" fmla="*/ 0 h 10"/>
                  <a:gd name="T4" fmla="*/ 1 w 52"/>
                  <a:gd name="T5" fmla="*/ 0 h 10"/>
                  <a:gd name="T6" fmla="*/ 1 w 52"/>
                  <a:gd name="T7" fmla="*/ 0 h 10"/>
                  <a:gd name="T8" fmla="*/ 1 w 52"/>
                  <a:gd name="T9" fmla="*/ 0 h 10"/>
                  <a:gd name="T10" fmla="*/ 1 w 52"/>
                  <a:gd name="T11" fmla="*/ 0 h 10"/>
                  <a:gd name="T12" fmla="*/ 1 w 52"/>
                  <a:gd name="T13" fmla="*/ 0 h 10"/>
                  <a:gd name="T14" fmla="*/ 1 w 52"/>
                  <a:gd name="T15" fmla="*/ 0 h 10"/>
                  <a:gd name="T16" fmla="*/ 1 w 52"/>
                  <a:gd name="T17" fmla="*/ 0 h 10"/>
                  <a:gd name="T18" fmla="*/ 0 w 52"/>
                  <a:gd name="T19" fmla="*/ 0 h 10"/>
                  <a:gd name="T20" fmla="*/ 0 w 52"/>
                  <a:gd name="T21" fmla="*/ 0 h 1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2"/>
                  <a:gd name="T34" fmla="*/ 0 h 10"/>
                  <a:gd name="T35" fmla="*/ 52 w 52"/>
                  <a:gd name="T36" fmla="*/ 10 h 1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2" h="10">
                    <a:moveTo>
                      <a:pt x="0" y="10"/>
                    </a:moveTo>
                    <a:lnTo>
                      <a:pt x="2" y="10"/>
                    </a:lnTo>
                    <a:lnTo>
                      <a:pt x="10" y="8"/>
                    </a:lnTo>
                    <a:lnTo>
                      <a:pt x="25" y="6"/>
                    </a:lnTo>
                    <a:lnTo>
                      <a:pt x="40" y="4"/>
                    </a:lnTo>
                    <a:lnTo>
                      <a:pt x="52" y="4"/>
                    </a:lnTo>
                    <a:lnTo>
                      <a:pt x="48" y="4"/>
                    </a:lnTo>
                    <a:lnTo>
                      <a:pt x="40" y="2"/>
                    </a:lnTo>
                    <a:lnTo>
                      <a:pt x="25" y="0"/>
                    </a:lnTo>
                    <a:lnTo>
                      <a:pt x="0" y="6"/>
                    </a:lnTo>
                    <a:lnTo>
                      <a:pt x="0" y="10"/>
                    </a:lnTo>
                    <a:close/>
                  </a:path>
                </a:pathLst>
              </a:custGeom>
              <a:solidFill>
                <a:srgbClr val="000000"/>
              </a:solidFill>
              <a:ln w="9525">
                <a:noFill/>
                <a:round/>
                <a:headEnd/>
                <a:tailEnd/>
              </a:ln>
            </p:spPr>
            <p:txBody>
              <a:bodyPr/>
              <a:lstStyle/>
              <a:p>
                <a:endParaRPr lang="en-US"/>
              </a:p>
            </p:txBody>
          </p:sp>
          <p:sp>
            <p:nvSpPr>
              <p:cNvPr id="1166" name="Freeform 132"/>
              <p:cNvSpPr>
                <a:spLocks/>
              </p:cNvSpPr>
              <p:nvPr/>
            </p:nvSpPr>
            <p:spPr bwMode="auto">
              <a:xfrm>
                <a:off x="5155" y="3154"/>
                <a:ext cx="25" cy="5"/>
              </a:xfrm>
              <a:custGeom>
                <a:avLst/>
                <a:gdLst>
                  <a:gd name="T0" fmla="*/ 0 w 50"/>
                  <a:gd name="T1" fmla="*/ 0 h 12"/>
                  <a:gd name="T2" fmla="*/ 1 w 50"/>
                  <a:gd name="T3" fmla="*/ 0 h 12"/>
                  <a:gd name="T4" fmla="*/ 1 w 50"/>
                  <a:gd name="T5" fmla="*/ 0 h 12"/>
                  <a:gd name="T6" fmla="*/ 1 w 50"/>
                  <a:gd name="T7" fmla="*/ 0 h 12"/>
                  <a:gd name="T8" fmla="*/ 1 w 50"/>
                  <a:gd name="T9" fmla="*/ 0 h 12"/>
                  <a:gd name="T10" fmla="*/ 1 w 50"/>
                  <a:gd name="T11" fmla="*/ 0 h 12"/>
                  <a:gd name="T12" fmla="*/ 1 w 50"/>
                  <a:gd name="T13" fmla="*/ 0 h 12"/>
                  <a:gd name="T14" fmla="*/ 1 w 50"/>
                  <a:gd name="T15" fmla="*/ 0 h 12"/>
                  <a:gd name="T16" fmla="*/ 1 w 50"/>
                  <a:gd name="T17" fmla="*/ 0 h 12"/>
                  <a:gd name="T18" fmla="*/ 1 w 50"/>
                  <a:gd name="T19" fmla="*/ 0 h 12"/>
                  <a:gd name="T20" fmla="*/ 0 w 50"/>
                  <a:gd name="T21" fmla="*/ 0 h 1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0"/>
                  <a:gd name="T34" fmla="*/ 0 h 12"/>
                  <a:gd name="T35" fmla="*/ 50 w 50"/>
                  <a:gd name="T36" fmla="*/ 12 h 1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0" h="12">
                    <a:moveTo>
                      <a:pt x="0" y="0"/>
                    </a:moveTo>
                    <a:lnTo>
                      <a:pt x="4" y="0"/>
                    </a:lnTo>
                    <a:lnTo>
                      <a:pt x="9" y="2"/>
                    </a:lnTo>
                    <a:lnTo>
                      <a:pt x="25" y="4"/>
                    </a:lnTo>
                    <a:lnTo>
                      <a:pt x="50" y="12"/>
                    </a:lnTo>
                    <a:lnTo>
                      <a:pt x="50" y="6"/>
                    </a:lnTo>
                    <a:lnTo>
                      <a:pt x="46" y="6"/>
                    </a:lnTo>
                    <a:lnTo>
                      <a:pt x="38" y="4"/>
                    </a:lnTo>
                    <a:lnTo>
                      <a:pt x="29" y="0"/>
                    </a:lnTo>
                    <a:lnTo>
                      <a:pt x="21" y="0"/>
                    </a:lnTo>
                    <a:lnTo>
                      <a:pt x="0" y="0"/>
                    </a:lnTo>
                    <a:close/>
                  </a:path>
                </a:pathLst>
              </a:custGeom>
              <a:solidFill>
                <a:srgbClr val="000000"/>
              </a:solidFill>
              <a:ln w="9525">
                <a:noFill/>
                <a:round/>
                <a:headEnd/>
                <a:tailEnd/>
              </a:ln>
            </p:spPr>
            <p:txBody>
              <a:bodyPr/>
              <a:lstStyle/>
              <a:p>
                <a:endParaRPr lang="en-US"/>
              </a:p>
            </p:txBody>
          </p:sp>
          <p:sp>
            <p:nvSpPr>
              <p:cNvPr id="1167" name="Freeform 133"/>
              <p:cNvSpPr>
                <a:spLocks/>
              </p:cNvSpPr>
              <p:nvPr/>
            </p:nvSpPr>
            <p:spPr bwMode="auto">
              <a:xfrm>
                <a:off x="5250" y="3133"/>
                <a:ext cx="11" cy="19"/>
              </a:xfrm>
              <a:custGeom>
                <a:avLst/>
                <a:gdLst>
                  <a:gd name="T0" fmla="*/ 0 w 23"/>
                  <a:gd name="T1" fmla="*/ 1 h 36"/>
                  <a:gd name="T2" fmla="*/ 0 w 23"/>
                  <a:gd name="T3" fmla="*/ 1 h 36"/>
                  <a:gd name="T4" fmla="*/ 0 w 23"/>
                  <a:gd name="T5" fmla="*/ 1 h 36"/>
                  <a:gd name="T6" fmla="*/ 0 w 23"/>
                  <a:gd name="T7" fmla="*/ 1 h 36"/>
                  <a:gd name="T8" fmla="*/ 0 w 23"/>
                  <a:gd name="T9" fmla="*/ 1 h 36"/>
                  <a:gd name="T10" fmla="*/ 0 w 23"/>
                  <a:gd name="T11" fmla="*/ 1 h 36"/>
                  <a:gd name="T12" fmla="*/ 0 w 23"/>
                  <a:gd name="T13" fmla="*/ 1 h 36"/>
                  <a:gd name="T14" fmla="*/ 0 w 23"/>
                  <a:gd name="T15" fmla="*/ 1 h 36"/>
                  <a:gd name="T16" fmla="*/ 0 w 23"/>
                  <a:gd name="T17" fmla="*/ 1 h 36"/>
                  <a:gd name="T18" fmla="*/ 0 w 23"/>
                  <a:gd name="T19" fmla="*/ 1 h 36"/>
                  <a:gd name="T20" fmla="*/ 0 w 23"/>
                  <a:gd name="T21" fmla="*/ 1 h 36"/>
                  <a:gd name="T22" fmla="*/ 0 w 23"/>
                  <a:gd name="T23" fmla="*/ 1 h 36"/>
                  <a:gd name="T24" fmla="*/ 0 w 23"/>
                  <a:gd name="T25" fmla="*/ 0 h 36"/>
                  <a:gd name="T26" fmla="*/ 0 w 23"/>
                  <a:gd name="T27" fmla="*/ 1 h 36"/>
                  <a:gd name="T28" fmla="*/ 0 w 23"/>
                  <a:gd name="T29" fmla="*/ 1 h 36"/>
                  <a:gd name="T30" fmla="*/ 0 w 23"/>
                  <a:gd name="T31" fmla="*/ 1 h 36"/>
                  <a:gd name="T32" fmla="*/ 0 w 23"/>
                  <a:gd name="T33" fmla="*/ 1 h 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3"/>
                  <a:gd name="T52" fmla="*/ 0 h 36"/>
                  <a:gd name="T53" fmla="*/ 23 w 23"/>
                  <a:gd name="T54" fmla="*/ 36 h 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3" h="36">
                    <a:moveTo>
                      <a:pt x="0" y="36"/>
                    </a:moveTo>
                    <a:lnTo>
                      <a:pt x="4" y="35"/>
                    </a:lnTo>
                    <a:lnTo>
                      <a:pt x="7" y="27"/>
                    </a:lnTo>
                    <a:lnTo>
                      <a:pt x="11" y="12"/>
                    </a:lnTo>
                    <a:lnTo>
                      <a:pt x="13" y="12"/>
                    </a:lnTo>
                    <a:lnTo>
                      <a:pt x="17" y="17"/>
                    </a:lnTo>
                    <a:lnTo>
                      <a:pt x="15" y="33"/>
                    </a:lnTo>
                    <a:lnTo>
                      <a:pt x="15" y="36"/>
                    </a:lnTo>
                    <a:lnTo>
                      <a:pt x="17" y="35"/>
                    </a:lnTo>
                    <a:lnTo>
                      <a:pt x="21" y="27"/>
                    </a:lnTo>
                    <a:lnTo>
                      <a:pt x="23" y="13"/>
                    </a:lnTo>
                    <a:lnTo>
                      <a:pt x="21" y="2"/>
                    </a:lnTo>
                    <a:lnTo>
                      <a:pt x="19" y="0"/>
                    </a:lnTo>
                    <a:lnTo>
                      <a:pt x="13" y="4"/>
                    </a:lnTo>
                    <a:lnTo>
                      <a:pt x="7" y="13"/>
                    </a:lnTo>
                    <a:lnTo>
                      <a:pt x="2" y="21"/>
                    </a:lnTo>
                    <a:lnTo>
                      <a:pt x="0" y="36"/>
                    </a:lnTo>
                    <a:close/>
                  </a:path>
                </a:pathLst>
              </a:custGeom>
              <a:solidFill>
                <a:srgbClr val="A62600"/>
              </a:solidFill>
              <a:ln w="9525">
                <a:noFill/>
                <a:round/>
                <a:headEnd/>
                <a:tailEnd/>
              </a:ln>
            </p:spPr>
            <p:txBody>
              <a:bodyPr/>
              <a:lstStyle/>
              <a:p>
                <a:endParaRPr lang="en-US"/>
              </a:p>
            </p:txBody>
          </p:sp>
          <p:sp>
            <p:nvSpPr>
              <p:cNvPr id="1168" name="Freeform 134"/>
              <p:cNvSpPr>
                <a:spLocks/>
              </p:cNvSpPr>
              <p:nvPr/>
            </p:nvSpPr>
            <p:spPr bwMode="auto">
              <a:xfrm>
                <a:off x="5250" y="3156"/>
                <a:ext cx="6" cy="5"/>
              </a:xfrm>
              <a:custGeom>
                <a:avLst/>
                <a:gdLst>
                  <a:gd name="T0" fmla="*/ 1 w 11"/>
                  <a:gd name="T1" fmla="*/ 0 h 12"/>
                  <a:gd name="T2" fmla="*/ 1 w 11"/>
                  <a:gd name="T3" fmla="*/ 0 h 12"/>
                  <a:gd name="T4" fmla="*/ 1 w 11"/>
                  <a:gd name="T5" fmla="*/ 0 h 12"/>
                  <a:gd name="T6" fmla="*/ 0 w 11"/>
                  <a:gd name="T7" fmla="*/ 0 h 12"/>
                  <a:gd name="T8" fmla="*/ 1 w 11"/>
                  <a:gd name="T9" fmla="*/ 0 h 12"/>
                  <a:gd name="T10" fmla="*/ 0 60000 65536"/>
                  <a:gd name="T11" fmla="*/ 0 60000 65536"/>
                  <a:gd name="T12" fmla="*/ 0 60000 65536"/>
                  <a:gd name="T13" fmla="*/ 0 60000 65536"/>
                  <a:gd name="T14" fmla="*/ 0 60000 65536"/>
                  <a:gd name="T15" fmla="*/ 0 w 11"/>
                  <a:gd name="T16" fmla="*/ 0 h 12"/>
                  <a:gd name="T17" fmla="*/ 11 w 11"/>
                  <a:gd name="T18" fmla="*/ 12 h 12"/>
                </a:gdLst>
                <a:ahLst/>
                <a:cxnLst>
                  <a:cxn ang="T10">
                    <a:pos x="T0" y="T1"/>
                  </a:cxn>
                  <a:cxn ang="T11">
                    <a:pos x="T2" y="T3"/>
                  </a:cxn>
                  <a:cxn ang="T12">
                    <a:pos x="T4" y="T5"/>
                  </a:cxn>
                  <a:cxn ang="T13">
                    <a:pos x="T6" y="T7"/>
                  </a:cxn>
                  <a:cxn ang="T14">
                    <a:pos x="T8" y="T9"/>
                  </a:cxn>
                </a:cxnLst>
                <a:rect l="T15" t="T16" r="T17" b="T18"/>
                <a:pathLst>
                  <a:path w="11" h="12">
                    <a:moveTo>
                      <a:pt x="11" y="0"/>
                    </a:moveTo>
                    <a:lnTo>
                      <a:pt x="6" y="10"/>
                    </a:lnTo>
                    <a:lnTo>
                      <a:pt x="2" y="12"/>
                    </a:lnTo>
                    <a:lnTo>
                      <a:pt x="0" y="10"/>
                    </a:lnTo>
                    <a:lnTo>
                      <a:pt x="11" y="0"/>
                    </a:lnTo>
                    <a:close/>
                  </a:path>
                </a:pathLst>
              </a:custGeom>
              <a:solidFill>
                <a:srgbClr val="A62600"/>
              </a:solidFill>
              <a:ln w="9525">
                <a:noFill/>
                <a:round/>
                <a:headEnd/>
                <a:tailEnd/>
              </a:ln>
            </p:spPr>
            <p:txBody>
              <a:bodyPr/>
              <a:lstStyle/>
              <a:p>
                <a:endParaRPr lang="en-US"/>
              </a:p>
            </p:txBody>
          </p:sp>
          <p:sp>
            <p:nvSpPr>
              <p:cNvPr id="1169" name="Freeform 135"/>
              <p:cNvSpPr>
                <a:spLocks/>
              </p:cNvSpPr>
              <p:nvPr/>
            </p:nvSpPr>
            <p:spPr bwMode="auto">
              <a:xfrm>
                <a:off x="5234" y="3149"/>
                <a:ext cx="12" cy="34"/>
              </a:xfrm>
              <a:custGeom>
                <a:avLst/>
                <a:gdLst>
                  <a:gd name="T0" fmla="*/ 0 w 25"/>
                  <a:gd name="T1" fmla="*/ 0 h 69"/>
                  <a:gd name="T2" fmla="*/ 0 w 25"/>
                  <a:gd name="T3" fmla="*/ 0 h 69"/>
                  <a:gd name="T4" fmla="*/ 0 w 25"/>
                  <a:gd name="T5" fmla="*/ 0 h 69"/>
                  <a:gd name="T6" fmla="*/ 0 w 25"/>
                  <a:gd name="T7" fmla="*/ 0 h 69"/>
                  <a:gd name="T8" fmla="*/ 0 w 25"/>
                  <a:gd name="T9" fmla="*/ 0 h 69"/>
                  <a:gd name="T10" fmla="*/ 0 w 25"/>
                  <a:gd name="T11" fmla="*/ 0 h 69"/>
                  <a:gd name="T12" fmla="*/ 0 w 25"/>
                  <a:gd name="T13" fmla="*/ 0 h 69"/>
                  <a:gd name="T14" fmla="*/ 0 w 25"/>
                  <a:gd name="T15" fmla="*/ 0 h 69"/>
                  <a:gd name="T16" fmla="*/ 0 w 25"/>
                  <a:gd name="T17" fmla="*/ 0 h 69"/>
                  <a:gd name="T18" fmla="*/ 0 w 25"/>
                  <a:gd name="T19" fmla="*/ 0 h 69"/>
                  <a:gd name="T20" fmla="*/ 0 w 25"/>
                  <a:gd name="T21" fmla="*/ 0 h 69"/>
                  <a:gd name="T22" fmla="*/ 0 w 25"/>
                  <a:gd name="T23" fmla="*/ 0 h 69"/>
                  <a:gd name="T24" fmla="*/ 0 w 25"/>
                  <a:gd name="T25" fmla="*/ 0 h 69"/>
                  <a:gd name="T26" fmla="*/ 0 w 25"/>
                  <a:gd name="T27" fmla="*/ 0 h 6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5"/>
                  <a:gd name="T43" fmla="*/ 0 h 69"/>
                  <a:gd name="T44" fmla="*/ 25 w 25"/>
                  <a:gd name="T45" fmla="*/ 69 h 69"/>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5" h="69">
                    <a:moveTo>
                      <a:pt x="25" y="0"/>
                    </a:moveTo>
                    <a:lnTo>
                      <a:pt x="25" y="5"/>
                    </a:lnTo>
                    <a:lnTo>
                      <a:pt x="23" y="17"/>
                    </a:lnTo>
                    <a:lnTo>
                      <a:pt x="21" y="30"/>
                    </a:lnTo>
                    <a:lnTo>
                      <a:pt x="19" y="38"/>
                    </a:lnTo>
                    <a:lnTo>
                      <a:pt x="16" y="46"/>
                    </a:lnTo>
                    <a:lnTo>
                      <a:pt x="8" y="55"/>
                    </a:lnTo>
                    <a:lnTo>
                      <a:pt x="2" y="65"/>
                    </a:lnTo>
                    <a:lnTo>
                      <a:pt x="0" y="69"/>
                    </a:lnTo>
                    <a:lnTo>
                      <a:pt x="2" y="63"/>
                    </a:lnTo>
                    <a:lnTo>
                      <a:pt x="8" y="53"/>
                    </a:lnTo>
                    <a:lnTo>
                      <a:pt x="12" y="40"/>
                    </a:lnTo>
                    <a:lnTo>
                      <a:pt x="16" y="30"/>
                    </a:lnTo>
                    <a:lnTo>
                      <a:pt x="25" y="0"/>
                    </a:lnTo>
                    <a:close/>
                  </a:path>
                </a:pathLst>
              </a:custGeom>
              <a:solidFill>
                <a:srgbClr val="A62600"/>
              </a:solidFill>
              <a:ln w="9525">
                <a:noFill/>
                <a:round/>
                <a:headEnd/>
                <a:tailEnd/>
              </a:ln>
            </p:spPr>
            <p:txBody>
              <a:bodyPr/>
              <a:lstStyle/>
              <a:p>
                <a:endParaRPr lang="en-US"/>
              </a:p>
            </p:txBody>
          </p:sp>
          <p:sp>
            <p:nvSpPr>
              <p:cNvPr id="1170" name="Freeform 136"/>
              <p:cNvSpPr>
                <a:spLocks/>
              </p:cNvSpPr>
              <p:nvPr/>
            </p:nvSpPr>
            <p:spPr bwMode="auto">
              <a:xfrm>
                <a:off x="5199" y="3172"/>
                <a:ext cx="26" cy="10"/>
              </a:xfrm>
              <a:custGeom>
                <a:avLst/>
                <a:gdLst>
                  <a:gd name="T0" fmla="*/ 0 w 52"/>
                  <a:gd name="T1" fmla="*/ 0 h 21"/>
                  <a:gd name="T2" fmla="*/ 0 w 52"/>
                  <a:gd name="T3" fmla="*/ 0 h 21"/>
                  <a:gd name="T4" fmla="*/ 1 w 52"/>
                  <a:gd name="T5" fmla="*/ 0 h 21"/>
                  <a:gd name="T6" fmla="*/ 1 w 52"/>
                  <a:gd name="T7" fmla="*/ 0 h 21"/>
                  <a:gd name="T8" fmla="*/ 0 w 52"/>
                  <a:gd name="T9" fmla="*/ 0 h 21"/>
                  <a:gd name="T10" fmla="*/ 0 60000 65536"/>
                  <a:gd name="T11" fmla="*/ 0 60000 65536"/>
                  <a:gd name="T12" fmla="*/ 0 60000 65536"/>
                  <a:gd name="T13" fmla="*/ 0 60000 65536"/>
                  <a:gd name="T14" fmla="*/ 0 60000 65536"/>
                  <a:gd name="T15" fmla="*/ 0 w 52"/>
                  <a:gd name="T16" fmla="*/ 0 h 21"/>
                  <a:gd name="T17" fmla="*/ 52 w 52"/>
                  <a:gd name="T18" fmla="*/ 21 h 21"/>
                </a:gdLst>
                <a:ahLst/>
                <a:cxnLst>
                  <a:cxn ang="T10">
                    <a:pos x="T0" y="T1"/>
                  </a:cxn>
                  <a:cxn ang="T11">
                    <a:pos x="T2" y="T3"/>
                  </a:cxn>
                  <a:cxn ang="T12">
                    <a:pos x="T4" y="T5"/>
                  </a:cxn>
                  <a:cxn ang="T13">
                    <a:pos x="T6" y="T7"/>
                  </a:cxn>
                  <a:cxn ang="T14">
                    <a:pos x="T8" y="T9"/>
                  </a:cxn>
                </a:cxnLst>
                <a:rect l="T15" t="T16" r="T17" b="T18"/>
                <a:pathLst>
                  <a:path w="52" h="21">
                    <a:moveTo>
                      <a:pt x="0" y="0"/>
                    </a:moveTo>
                    <a:lnTo>
                      <a:pt x="0" y="17"/>
                    </a:lnTo>
                    <a:lnTo>
                      <a:pt x="52" y="21"/>
                    </a:lnTo>
                    <a:lnTo>
                      <a:pt x="52" y="0"/>
                    </a:lnTo>
                    <a:lnTo>
                      <a:pt x="0" y="0"/>
                    </a:lnTo>
                    <a:close/>
                  </a:path>
                </a:pathLst>
              </a:custGeom>
              <a:solidFill>
                <a:srgbClr val="000000"/>
              </a:solidFill>
              <a:ln w="9525">
                <a:noFill/>
                <a:round/>
                <a:headEnd/>
                <a:tailEnd/>
              </a:ln>
            </p:spPr>
            <p:txBody>
              <a:bodyPr/>
              <a:lstStyle/>
              <a:p>
                <a:endParaRPr lang="en-US"/>
              </a:p>
            </p:txBody>
          </p:sp>
          <p:sp>
            <p:nvSpPr>
              <p:cNvPr id="1171" name="Freeform 137"/>
              <p:cNvSpPr>
                <a:spLocks/>
              </p:cNvSpPr>
              <p:nvPr/>
            </p:nvSpPr>
            <p:spPr bwMode="auto">
              <a:xfrm>
                <a:off x="5156" y="3169"/>
                <a:ext cx="25" cy="12"/>
              </a:xfrm>
              <a:custGeom>
                <a:avLst/>
                <a:gdLst>
                  <a:gd name="T0" fmla="*/ 0 w 50"/>
                  <a:gd name="T1" fmla="*/ 0 h 23"/>
                  <a:gd name="T2" fmla="*/ 1 w 50"/>
                  <a:gd name="T3" fmla="*/ 1 h 23"/>
                  <a:gd name="T4" fmla="*/ 1 w 50"/>
                  <a:gd name="T5" fmla="*/ 1 h 23"/>
                  <a:gd name="T6" fmla="*/ 1 w 50"/>
                  <a:gd name="T7" fmla="*/ 1 h 23"/>
                  <a:gd name="T8" fmla="*/ 0 w 50"/>
                  <a:gd name="T9" fmla="*/ 0 h 23"/>
                  <a:gd name="T10" fmla="*/ 0 60000 65536"/>
                  <a:gd name="T11" fmla="*/ 0 60000 65536"/>
                  <a:gd name="T12" fmla="*/ 0 60000 65536"/>
                  <a:gd name="T13" fmla="*/ 0 60000 65536"/>
                  <a:gd name="T14" fmla="*/ 0 60000 65536"/>
                  <a:gd name="T15" fmla="*/ 0 w 50"/>
                  <a:gd name="T16" fmla="*/ 0 h 23"/>
                  <a:gd name="T17" fmla="*/ 50 w 50"/>
                  <a:gd name="T18" fmla="*/ 23 h 23"/>
                </a:gdLst>
                <a:ahLst/>
                <a:cxnLst>
                  <a:cxn ang="T10">
                    <a:pos x="T0" y="T1"/>
                  </a:cxn>
                  <a:cxn ang="T11">
                    <a:pos x="T2" y="T3"/>
                  </a:cxn>
                  <a:cxn ang="T12">
                    <a:pos x="T4" y="T5"/>
                  </a:cxn>
                  <a:cxn ang="T13">
                    <a:pos x="T6" y="T7"/>
                  </a:cxn>
                  <a:cxn ang="T14">
                    <a:pos x="T8" y="T9"/>
                  </a:cxn>
                </a:cxnLst>
                <a:rect l="T15" t="T16" r="T17" b="T18"/>
                <a:pathLst>
                  <a:path w="50" h="23">
                    <a:moveTo>
                      <a:pt x="0" y="0"/>
                    </a:moveTo>
                    <a:lnTo>
                      <a:pt x="2" y="19"/>
                    </a:lnTo>
                    <a:lnTo>
                      <a:pt x="50" y="23"/>
                    </a:lnTo>
                    <a:lnTo>
                      <a:pt x="48" y="4"/>
                    </a:lnTo>
                    <a:lnTo>
                      <a:pt x="0" y="0"/>
                    </a:lnTo>
                    <a:close/>
                  </a:path>
                </a:pathLst>
              </a:custGeom>
              <a:solidFill>
                <a:srgbClr val="000000"/>
              </a:solidFill>
              <a:ln w="9525">
                <a:noFill/>
                <a:round/>
                <a:headEnd/>
                <a:tailEnd/>
              </a:ln>
            </p:spPr>
            <p:txBody>
              <a:bodyPr/>
              <a:lstStyle/>
              <a:p>
                <a:endParaRPr lang="en-US"/>
              </a:p>
            </p:txBody>
          </p:sp>
          <p:sp>
            <p:nvSpPr>
              <p:cNvPr id="1172" name="Rectangle 138"/>
              <p:cNvSpPr>
                <a:spLocks noChangeArrowheads="1"/>
              </p:cNvSpPr>
              <p:nvPr/>
            </p:nvSpPr>
            <p:spPr bwMode="auto">
              <a:xfrm>
                <a:off x="5158" y="3170"/>
                <a:ext cx="7" cy="1"/>
              </a:xfrm>
              <a:prstGeom prst="rect">
                <a:avLst/>
              </a:prstGeom>
              <a:solidFill>
                <a:srgbClr val="DED6D6"/>
              </a:solidFill>
              <a:ln w="9525">
                <a:noFill/>
                <a:miter lim="800000"/>
                <a:headEnd/>
                <a:tailEnd/>
              </a:ln>
            </p:spPr>
            <p:txBody>
              <a:bodyPr/>
              <a:lstStyle/>
              <a:p>
                <a:endParaRPr lang="en-US"/>
              </a:p>
            </p:txBody>
          </p:sp>
          <p:sp>
            <p:nvSpPr>
              <p:cNvPr id="1173" name="Rectangle 139"/>
              <p:cNvSpPr>
                <a:spLocks noChangeArrowheads="1"/>
              </p:cNvSpPr>
              <p:nvPr/>
            </p:nvSpPr>
            <p:spPr bwMode="auto">
              <a:xfrm>
                <a:off x="5158" y="3172"/>
                <a:ext cx="22" cy="4"/>
              </a:xfrm>
              <a:prstGeom prst="rect">
                <a:avLst/>
              </a:prstGeom>
              <a:solidFill>
                <a:srgbClr val="DED6D6"/>
              </a:solidFill>
              <a:ln w="9525">
                <a:noFill/>
                <a:miter lim="800000"/>
                <a:headEnd/>
                <a:tailEnd/>
              </a:ln>
            </p:spPr>
            <p:txBody>
              <a:bodyPr/>
              <a:lstStyle/>
              <a:p>
                <a:endParaRPr lang="en-US"/>
              </a:p>
            </p:txBody>
          </p:sp>
          <p:sp>
            <p:nvSpPr>
              <p:cNvPr id="1174" name="Rectangle 140"/>
              <p:cNvSpPr>
                <a:spLocks noChangeArrowheads="1"/>
              </p:cNvSpPr>
              <p:nvPr/>
            </p:nvSpPr>
            <p:spPr bwMode="auto">
              <a:xfrm>
                <a:off x="5158" y="3176"/>
                <a:ext cx="23" cy="3"/>
              </a:xfrm>
              <a:prstGeom prst="rect">
                <a:avLst/>
              </a:prstGeom>
              <a:solidFill>
                <a:srgbClr val="DED6D6"/>
              </a:solidFill>
              <a:ln w="9525">
                <a:noFill/>
                <a:miter lim="800000"/>
                <a:headEnd/>
                <a:tailEnd/>
              </a:ln>
            </p:spPr>
            <p:txBody>
              <a:bodyPr/>
              <a:lstStyle/>
              <a:p>
                <a:endParaRPr lang="en-US"/>
              </a:p>
            </p:txBody>
          </p:sp>
          <p:sp>
            <p:nvSpPr>
              <p:cNvPr id="1175" name="Rectangle 141"/>
              <p:cNvSpPr>
                <a:spLocks noChangeArrowheads="1"/>
              </p:cNvSpPr>
              <p:nvPr/>
            </p:nvSpPr>
            <p:spPr bwMode="auto">
              <a:xfrm>
                <a:off x="5201" y="3173"/>
                <a:ext cx="11" cy="1"/>
              </a:xfrm>
              <a:prstGeom prst="rect">
                <a:avLst/>
              </a:prstGeom>
              <a:solidFill>
                <a:srgbClr val="DED6D6"/>
              </a:solidFill>
              <a:ln w="9525">
                <a:noFill/>
                <a:miter lim="800000"/>
                <a:headEnd/>
                <a:tailEnd/>
              </a:ln>
            </p:spPr>
            <p:txBody>
              <a:bodyPr/>
              <a:lstStyle/>
              <a:p>
                <a:endParaRPr lang="en-US"/>
              </a:p>
            </p:txBody>
          </p:sp>
          <p:sp>
            <p:nvSpPr>
              <p:cNvPr id="1176" name="Rectangle 142"/>
              <p:cNvSpPr>
                <a:spLocks noChangeArrowheads="1"/>
              </p:cNvSpPr>
              <p:nvPr/>
            </p:nvSpPr>
            <p:spPr bwMode="auto">
              <a:xfrm>
                <a:off x="5201" y="3174"/>
                <a:ext cx="24" cy="7"/>
              </a:xfrm>
              <a:prstGeom prst="rect">
                <a:avLst/>
              </a:prstGeom>
              <a:solidFill>
                <a:srgbClr val="DED6D6"/>
              </a:solidFill>
              <a:ln w="9525">
                <a:noFill/>
                <a:miter lim="800000"/>
                <a:headEnd/>
                <a:tailEnd/>
              </a:ln>
            </p:spPr>
            <p:txBody>
              <a:bodyPr/>
              <a:lstStyle/>
              <a:p>
                <a:endParaRPr lang="en-US"/>
              </a:p>
            </p:txBody>
          </p:sp>
          <p:sp>
            <p:nvSpPr>
              <p:cNvPr id="1177" name="Freeform 143"/>
              <p:cNvSpPr>
                <a:spLocks/>
              </p:cNvSpPr>
              <p:nvPr/>
            </p:nvSpPr>
            <p:spPr bwMode="auto">
              <a:xfrm>
                <a:off x="5181" y="3169"/>
                <a:ext cx="19" cy="8"/>
              </a:xfrm>
              <a:custGeom>
                <a:avLst/>
                <a:gdLst>
                  <a:gd name="T0" fmla="*/ 0 w 38"/>
                  <a:gd name="T1" fmla="*/ 1 h 15"/>
                  <a:gd name="T2" fmla="*/ 0 w 38"/>
                  <a:gd name="T3" fmla="*/ 1 h 15"/>
                  <a:gd name="T4" fmla="*/ 1 w 38"/>
                  <a:gd name="T5" fmla="*/ 1 h 15"/>
                  <a:gd name="T6" fmla="*/ 1 w 38"/>
                  <a:gd name="T7" fmla="*/ 1 h 15"/>
                  <a:gd name="T8" fmla="*/ 1 w 38"/>
                  <a:gd name="T9" fmla="*/ 1 h 15"/>
                  <a:gd name="T10" fmla="*/ 1 w 38"/>
                  <a:gd name="T11" fmla="*/ 1 h 15"/>
                  <a:gd name="T12" fmla="*/ 1 w 38"/>
                  <a:gd name="T13" fmla="*/ 1 h 15"/>
                  <a:gd name="T14" fmla="*/ 1 w 38"/>
                  <a:gd name="T15" fmla="*/ 1 h 15"/>
                  <a:gd name="T16" fmla="*/ 1 w 38"/>
                  <a:gd name="T17" fmla="*/ 1 h 15"/>
                  <a:gd name="T18" fmla="*/ 1 w 38"/>
                  <a:gd name="T19" fmla="*/ 1 h 15"/>
                  <a:gd name="T20" fmla="*/ 1 w 38"/>
                  <a:gd name="T21" fmla="*/ 1 h 15"/>
                  <a:gd name="T22" fmla="*/ 1 w 38"/>
                  <a:gd name="T23" fmla="*/ 0 h 15"/>
                  <a:gd name="T24" fmla="*/ 1 w 38"/>
                  <a:gd name="T25" fmla="*/ 1 h 15"/>
                  <a:gd name="T26" fmla="*/ 1 w 38"/>
                  <a:gd name="T27" fmla="*/ 1 h 15"/>
                  <a:gd name="T28" fmla="*/ 0 w 38"/>
                  <a:gd name="T29" fmla="*/ 1 h 1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8"/>
                  <a:gd name="T46" fmla="*/ 0 h 15"/>
                  <a:gd name="T47" fmla="*/ 38 w 38"/>
                  <a:gd name="T48" fmla="*/ 15 h 1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8" h="15">
                    <a:moveTo>
                      <a:pt x="0" y="12"/>
                    </a:moveTo>
                    <a:lnTo>
                      <a:pt x="0" y="15"/>
                    </a:lnTo>
                    <a:lnTo>
                      <a:pt x="7" y="13"/>
                    </a:lnTo>
                    <a:lnTo>
                      <a:pt x="17" y="6"/>
                    </a:lnTo>
                    <a:lnTo>
                      <a:pt x="27" y="10"/>
                    </a:lnTo>
                    <a:lnTo>
                      <a:pt x="30" y="12"/>
                    </a:lnTo>
                    <a:lnTo>
                      <a:pt x="32" y="13"/>
                    </a:lnTo>
                    <a:lnTo>
                      <a:pt x="36" y="15"/>
                    </a:lnTo>
                    <a:lnTo>
                      <a:pt x="38" y="10"/>
                    </a:lnTo>
                    <a:lnTo>
                      <a:pt x="32" y="8"/>
                    </a:lnTo>
                    <a:lnTo>
                      <a:pt x="28" y="4"/>
                    </a:lnTo>
                    <a:lnTo>
                      <a:pt x="19" y="0"/>
                    </a:lnTo>
                    <a:lnTo>
                      <a:pt x="9" y="6"/>
                    </a:lnTo>
                    <a:lnTo>
                      <a:pt x="5" y="10"/>
                    </a:lnTo>
                    <a:lnTo>
                      <a:pt x="0" y="12"/>
                    </a:lnTo>
                    <a:close/>
                  </a:path>
                </a:pathLst>
              </a:custGeom>
              <a:solidFill>
                <a:srgbClr val="000000"/>
              </a:solidFill>
              <a:ln w="9525">
                <a:noFill/>
                <a:round/>
                <a:headEnd/>
                <a:tailEnd/>
              </a:ln>
            </p:spPr>
            <p:txBody>
              <a:bodyPr/>
              <a:lstStyle/>
              <a:p>
                <a:endParaRPr lang="en-US"/>
              </a:p>
            </p:txBody>
          </p:sp>
          <p:sp>
            <p:nvSpPr>
              <p:cNvPr id="1178" name="Freeform 144"/>
              <p:cNvSpPr>
                <a:spLocks/>
              </p:cNvSpPr>
              <p:nvPr/>
            </p:nvSpPr>
            <p:spPr bwMode="auto">
              <a:xfrm>
                <a:off x="5224" y="3130"/>
                <a:ext cx="30" cy="48"/>
              </a:xfrm>
              <a:custGeom>
                <a:avLst/>
                <a:gdLst>
                  <a:gd name="T0" fmla="*/ 0 w 59"/>
                  <a:gd name="T1" fmla="*/ 1 h 96"/>
                  <a:gd name="T2" fmla="*/ 1 w 59"/>
                  <a:gd name="T3" fmla="*/ 0 h 96"/>
                  <a:gd name="T4" fmla="*/ 0 w 59"/>
                  <a:gd name="T5" fmla="*/ 1 h 96"/>
                  <a:gd name="T6" fmla="*/ 0 w 59"/>
                  <a:gd name="T7" fmla="*/ 1 h 96"/>
                  <a:gd name="T8" fmla="*/ 0 60000 65536"/>
                  <a:gd name="T9" fmla="*/ 0 60000 65536"/>
                  <a:gd name="T10" fmla="*/ 0 60000 65536"/>
                  <a:gd name="T11" fmla="*/ 0 60000 65536"/>
                  <a:gd name="T12" fmla="*/ 0 w 59"/>
                  <a:gd name="T13" fmla="*/ 0 h 96"/>
                  <a:gd name="T14" fmla="*/ 59 w 59"/>
                  <a:gd name="T15" fmla="*/ 96 h 96"/>
                </a:gdLst>
                <a:ahLst/>
                <a:cxnLst>
                  <a:cxn ang="T8">
                    <a:pos x="T0" y="T1"/>
                  </a:cxn>
                  <a:cxn ang="T9">
                    <a:pos x="T2" y="T3"/>
                  </a:cxn>
                  <a:cxn ang="T10">
                    <a:pos x="T4" y="T5"/>
                  </a:cxn>
                  <a:cxn ang="T11">
                    <a:pos x="T6" y="T7"/>
                  </a:cxn>
                </a:cxnLst>
                <a:rect l="T12" t="T13" r="T14" b="T15"/>
                <a:pathLst>
                  <a:path w="59" h="96">
                    <a:moveTo>
                      <a:pt x="0" y="92"/>
                    </a:moveTo>
                    <a:lnTo>
                      <a:pt x="59" y="0"/>
                    </a:lnTo>
                    <a:lnTo>
                      <a:pt x="0" y="96"/>
                    </a:lnTo>
                    <a:lnTo>
                      <a:pt x="0" y="92"/>
                    </a:lnTo>
                    <a:close/>
                  </a:path>
                </a:pathLst>
              </a:custGeom>
              <a:solidFill>
                <a:srgbClr val="000000"/>
              </a:solidFill>
              <a:ln w="9525">
                <a:noFill/>
                <a:round/>
                <a:headEnd/>
                <a:tailEnd/>
              </a:ln>
            </p:spPr>
            <p:txBody>
              <a:bodyPr/>
              <a:lstStyle/>
              <a:p>
                <a:endParaRPr lang="en-US"/>
              </a:p>
            </p:txBody>
          </p:sp>
          <p:sp>
            <p:nvSpPr>
              <p:cNvPr id="1179" name="Freeform 145"/>
              <p:cNvSpPr>
                <a:spLocks/>
              </p:cNvSpPr>
              <p:nvPr/>
            </p:nvSpPr>
            <p:spPr bwMode="auto">
              <a:xfrm>
                <a:off x="5150" y="3137"/>
                <a:ext cx="7" cy="38"/>
              </a:xfrm>
              <a:custGeom>
                <a:avLst/>
                <a:gdLst>
                  <a:gd name="T0" fmla="*/ 1 w 14"/>
                  <a:gd name="T1" fmla="*/ 0 h 75"/>
                  <a:gd name="T2" fmla="*/ 1 w 14"/>
                  <a:gd name="T3" fmla="*/ 1 h 75"/>
                  <a:gd name="T4" fmla="*/ 1 w 14"/>
                  <a:gd name="T5" fmla="*/ 1 h 75"/>
                  <a:gd name="T6" fmla="*/ 0 w 14"/>
                  <a:gd name="T7" fmla="*/ 1 h 75"/>
                  <a:gd name="T8" fmla="*/ 1 w 14"/>
                  <a:gd name="T9" fmla="*/ 0 h 75"/>
                  <a:gd name="T10" fmla="*/ 0 60000 65536"/>
                  <a:gd name="T11" fmla="*/ 0 60000 65536"/>
                  <a:gd name="T12" fmla="*/ 0 60000 65536"/>
                  <a:gd name="T13" fmla="*/ 0 60000 65536"/>
                  <a:gd name="T14" fmla="*/ 0 60000 65536"/>
                  <a:gd name="T15" fmla="*/ 0 w 14"/>
                  <a:gd name="T16" fmla="*/ 0 h 75"/>
                  <a:gd name="T17" fmla="*/ 14 w 14"/>
                  <a:gd name="T18" fmla="*/ 75 h 75"/>
                </a:gdLst>
                <a:ahLst/>
                <a:cxnLst>
                  <a:cxn ang="T10">
                    <a:pos x="T0" y="T1"/>
                  </a:cxn>
                  <a:cxn ang="T11">
                    <a:pos x="T2" y="T3"/>
                  </a:cxn>
                  <a:cxn ang="T12">
                    <a:pos x="T4" y="T5"/>
                  </a:cxn>
                  <a:cxn ang="T13">
                    <a:pos x="T6" y="T7"/>
                  </a:cxn>
                  <a:cxn ang="T14">
                    <a:pos x="T8" y="T9"/>
                  </a:cxn>
                </a:cxnLst>
                <a:rect l="T15" t="T16" r="T17" b="T18"/>
                <a:pathLst>
                  <a:path w="14" h="75">
                    <a:moveTo>
                      <a:pt x="2" y="0"/>
                    </a:moveTo>
                    <a:lnTo>
                      <a:pt x="12" y="69"/>
                    </a:lnTo>
                    <a:lnTo>
                      <a:pt x="14" y="75"/>
                    </a:lnTo>
                    <a:lnTo>
                      <a:pt x="0" y="4"/>
                    </a:lnTo>
                    <a:lnTo>
                      <a:pt x="2" y="0"/>
                    </a:lnTo>
                    <a:close/>
                  </a:path>
                </a:pathLst>
              </a:custGeom>
              <a:solidFill>
                <a:srgbClr val="000000"/>
              </a:solidFill>
              <a:ln w="9525">
                <a:noFill/>
                <a:round/>
                <a:headEnd/>
                <a:tailEnd/>
              </a:ln>
            </p:spPr>
            <p:txBody>
              <a:bodyPr/>
              <a:lstStyle/>
              <a:p>
                <a:endParaRPr lang="en-US"/>
              </a:p>
            </p:txBody>
          </p:sp>
          <p:sp>
            <p:nvSpPr>
              <p:cNvPr id="1180" name="Freeform 146"/>
              <p:cNvSpPr>
                <a:spLocks/>
              </p:cNvSpPr>
              <p:nvPr/>
            </p:nvSpPr>
            <p:spPr bwMode="auto">
              <a:xfrm>
                <a:off x="5265" y="3415"/>
                <a:ext cx="12" cy="45"/>
              </a:xfrm>
              <a:custGeom>
                <a:avLst/>
                <a:gdLst>
                  <a:gd name="T0" fmla="*/ 1 w 24"/>
                  <a:gd name="T1" fmla="*/ 0 h 90"/>
                  <a:gd name="T2" fmla="*/ 0 w 24"/>
                  <a:gd name="T3" fmla="*/ 1 h 90"/>
                  <a:gd name="T4" fmla="*/ 1 w 24"/>
                  <a:gd name="T5" fmla="*/ 1 h 90"/>
                  <a:gd name="T6" fmla="*/ 1 w 24"/>
                  <a:gd name="T7" fmla="*/ 0 h 90"/>
                  <a:gd name="T8" fmla="*/ 0 60000 65536"/>
                  <a:gd name="T9" fmla="*/ 0 60000 65536"/>
                  <a:gd name="T10" fmla="*/ 0 60000 65536"/>
                  <a:gd name="T11" fmla="*/ 0 60000 65536"/>
                  <a:gd name="T12" fmla="*/ 0 w 24"/>
                  <a:gd name="T13" fmla="*/ 0 h 90"/>
                  <a:gd name="T14" fmla="*/ 24 w 24"/>
                  <a:gd name="T15" fmla="*/ 90 h 90"/>
                </a:gdLst>
                <a:ahLst/>
                <a:cxnLst>
                  <a:cxn ang="T8">
                    <a:pos x="T0" y="T1"/>
                  </a:cxn>
                  <a:cxn ang="T9">
                    <a:pos x="T2" y="T3"/>
                  </a:cxn>
                  <a:cxn ang="T10">
                    <a:pos x="T4" y="T5"/>
                  </a:cxn>
                  <a:cxn ang="T11">
                    <a:pos x="T6" y="T7"/>
                  </a:cxn>
                </a:cxnLst>
                <a:rect l="T12" t="T13" r="T14" b="T15"/>
                <a:pathLst>
                  <a:path w="24" h="90">
                    <a:moveTo>
                      <a:pt x="6" y="0"/>
                    </a:moveTo>
                    <a:lnTo>
                      <a:pt x="0" y="90"/>
                    </a:lnTo>
                    <a:lnTo>
                      <a:pt x="24" y="13"/>
                    </a:lnTo>
                    <a:lnTo>
                      <a:pt x="6" y="0"/>
                    </a:lnTo>
                    <a:close/>
                  </a:path>
                </a:pathLst>
              </a:custGeom>
              <a:solidFill>
                <a:srgbClr val="BF1A00"/>
              </a:solidFill>
              <a:ln w="9525">
                <a:noFill/>
                <a:round/>
                <a:headEnd/>
                <a:tailEnd/>
              </a:ln>
            </p:spPr>
            <p:txBody>
              <a:bodyPr/>
              <a:lstStyle/>
              <a:p>
                <a:endParaRPr lang="en-US"/>
              </a:p>
            </p:txBody>
          </p:sp>
          <p:sp>
            <p:nvSpPr>
              <p:cNvPr id="1181" name="Freeform 147"/>
              <p:cNvSpPr>
                <a:spLocks/>
              </p:cNvSpPr>
              <p:nvPr/>
            </p:nvSpPr>
            <p:spPr bwMode="auto">
              <a:xfrm>
                <a:off x="5242" y="3423"/>
                <a:ext cx="21" cy="17"/>
              </a:xfrm>
              <a:custGeom>
                <a:avLst/>
                <a:gdLst>
                  <a:gd name="T0" fmla="*/ 0 w 43"/>
                  <a:gd name="T1" fmla="*/ 0 h 35"/>
                  <a:gd name="T2" fmla="*/ 0 w 43"/>
                  <a:gd name="T3" fmla="*/ 0 h 35"/>
                  <a:gd name="T4" fmla="*/ 0 w 43"/>
                  <a:gd name="T5" fmla="*/ 0 h 35"/>
                  <a:gd name="T6" fmla="*/ 0 w 43"/>
                  <a:gd name="T7" fmla="*/ 0 h 35"/>
                  <a:gd name="T8" fmla="*/ 0 60000 65536"/>
                  <a:gd name="T9" fmla="*/ 0 60000 65536"/>
                  <a:gd name="T10" fmla="*/ 0 60000 65536"/>
                  <a:gd name="T11" fmla="*/ 0 60000 65536"/>
                  <a:gd name="T12" fmla="*/ 0 w 43"/>
                  <a:gd name="T13" fmla="*/ 0 h 35"/>
                  <a:gd name="T14" fmla="*/ 43 w 43"/>
                  <a:gd name="T15" fmla="*/ 35 h 35"/>
                </a:gdLst>
                <a:ahLst/>
                <a:cxnLst>
                  <a:cxn ang="T8">
                    <a:pos x="T0" y="T1"/>
                  </a:cxn>
                  <a:cxn ang="T9">
                    <a:pos x="T2" y="T3"/>
                  </a:cxn>
                  <a:cxn ang="T10">
                    <a:pos x="T4" y="T5"/>
                  </a:cxn>
                  <a:cxn ang="T11">
                    <a:pos x="T6" y="T7"/>
                  </a:cxn>
                </a:cxnLst>
                <a:rect l="T12" t="T13" r="T14" b="T15"/>
                <a:pathLst>
                  <a:path w="43" h="35">
                    <a:moveTo>
                      <a:pt x="0" y="0"/>
                    </a:moveTo>
                    <a:lnTo>
                      <a:pt x="43" y="14"/>
                    </a:lnTo>
                    <a:lnTo>
                      <a:pt x="37" y="35"/>
                    </a:lnTo>
                    <a:lnTo>
                      <a:pt x="0" y="0"/>
                    </a:lnTo>
                    <a:close/>
                  </a:path>
                </a:pathLst>
              </a:custGeom>
              <a:solidFill>
                <a:srgbClr val="BF1A00"/>
              </a:solidFill>
              <a:ln w="9525">
                <a:noFill/>
                <a:round/>
                <a:headEnd/>
                <a:tailEnd/>
              </a:ln>
            </p:spPr>
            <p:txBody>
              <a:bodyPr/>
              <a:lstStyle/>
              <a:p>
                <a:endParaRPr lang="en-US"/>
              </a:p>
            </p:txBody>
          </p:sp>
          <p:sp>
            <p:nvSpPr>
              <p:cNvPr id="1182" name="Freeform 148"/>
              <p:cNvSpPr>
                <a:spLocks/>
              </p:cNvSpPr>
              <p:nvPr/>
            </p:nvSpPr>
            <p:spPr bwMode="auto">
              <a:xfrm>
                <a:off x="5240" y="3435"/>
                <a:ext cx="14" cy="25"/>
              </a:xfrm>
              <a:custGeom>
                <a:avLst/>
                <a:gdLst>
                  <a:gd name="T0" fmla="*/ 0 w 26"/>
                  <a:gd name="T1" fmla="*/ 0 h 50"/>
                  <a:gd name="T2" fmla="*/ 1 w 26"/>
                  <a:gd name="T3" fmla="*/ 1 h 50"/>
                  <a:gd name="T4" fmla="*/ 1 w 26"/>
                  <a:gd name="T5" fmla="*/ 1 h 50"/>
                  <a:gd name="T6" fmla="*/ 0 w 26"/>
                  <a:gd name="T7" fmla="*/ 0 h 50"/>
                  <a:gd name="T8" fmla="*/ 0 60000 65536"/>
                  <a:gd name="T9" fmla="*/ 0 60000 65536"/>
                  <a:gd name="T10" fmla="*/ 0 60000 65536"/>
                  <a:gd name="T11" fmla="*/ 0 60000 65536"/>
                  <a:gd name="T12" fmla="*/ 0 w 26"/>
                  <a:gd name="T13" fmla="*/ 0 h 50"/>
                  <a:gd name="T14" fmla="*/ 26 w 26"/>
                  <a:gd name="T15" fmla="*/ 50 h 50"/>
                </a:gdLst>
                <a:ahLst/>
                <a:cxnLst>
                  <a:cxn ang="T8">
                    <a:pos x="T0" y="T1"/>
                  </a:cxn>
                  <a:cxn ang="T9">
                    <a:pos x="T2" y="T3"/>
                  </a:cxn>
                  <a:cxn ang="T10">
                    <a:pos x="T4" y="T5"/>
                  </a:cxn>
                  <a:cxn ang="T11">
                    <a:pos x="T6" y="T7"/>
                  </a:cxn>
                </a:cxnLst>
                <a:rect l="T12" t="T13" r="T14" b="T15"/>
                <a:pathLst>
                  <a:path w="26" h="50">
                    <a:moveTo>
                      <a:pt x="0" y="0"/>
                    </a:moveTo>
                    <a:lnTo>
                      <a:pt x="26" y="46"/>
                    </a:lnTo>
                    <a:lnTo>
                      <a:pt x="3" y="50"/>
                    </a:lnTo>
                    <a:lnTo>
                      <a:pt x="0" y="0"/>
                    </a:lnTo>
                    <a:close/>
                  </a:path>
                </a:pathLst>
              </a:custGeom>
              <a:solidFill>
                <a:srgbClr val="BF1A00"/>
              </a:solidFill>
              <a:ln w="9525">
                <a:noFill/>
                <a:round/>
                <a:headEnd/>
                <a:tailEnd/>
              </a:ln>
            </p:spPr>
            <p:txBody>
              <a:bodyPr/>
              <a:lstStyle/>
              <a:p>
                <a:endParaRPr lang="en-US"/>
              </a:p>
            </p:txBody>
          </p:sp>
          <p:sp>
            <p:nvSpPr>
              <p:cNvPr id="1183" name="Freeform 149"/>
              <p:cNvSpPr>
                <a:spLocks/>
              </p:cNvSpPr>
              <p:nvPr/>
            </p:nvSpPr>
            <p:spPr bwMode="auto">
              <a:xfrm>
                <a:off x="5263" y="3305"/>
                <a:ext cx="22" cy="12"/>
              </a:xfrm>
              <a:custGeom>
                <a:avLst/>
                <a:gdLst>
                  <a:gd name="T0" fmla="*/ 1 w 44"/>
                  <a:gd name="T1" fmla="*/ 1 h 23"/>
                  <a:gd name="T2" fmla="*/ 1 w 44"/>
                  <a:gd name="T3" fmla="*/ 1 h 23"/>
                  <a:gd name="T4" fmla="*/ 1 w 44"/>
                  <a:gd name="T5" fmla="*/ 1 h 23"/>
                  <a:gd name="T6" fmla="*/ 1 w 44"/>
                  <a:gd name="T7" fmla="*/ 0 h 23"/>
                  <a:gd name="T8" fmla="*/ 1 w 44"/>
                  <a:gd name="T9" fmla="*/ 1 h 23"/>
                  <a:gd name="T10" fmla="*/ 1 w 44"/>
                  <a:gd name="T11" fmla="*/ 1 h 23"/>
                  <a:gd name="T12" fmla="*/ 1 w 44"/>
                  <a:gd name="T13" fmla="*/ 1 h 23"/>
                  <a:gd name="T14" fmla="*/ 1 w 44"/>
                  <a:gd name="T15" fmla="*/ 1 h 23"/>
                  <a:gd name="T16" fmla="*/ 1 w 44"/>
                  <a:gd name="T17" fmla="*/ 1 h 23"/>
                  <a:gd name="T18" fmla="*/ 0 w 44"/>
                  <a:gd name="T19" fmla="*/ 1 h 23"/>
                  <a:gd name="T20" fmla="*/ 1 w 44"/>
                  <a:gd name="T21" fmla="*/ 1 h 23"/>
                  <a:gd name="T22" fmla="*/ 1 w 44"/>
                  <a:gd name="T23" fmla="*/ 1 h 2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4"/>
                  <a:gd name="T37" fmla="*/ 0 h 23"/>
                  <a:gd name="T38" fmla="*/ 44 w 44"/>
                  <a:gd name="T39" fmla="*/ 23 h 2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4" h="23">
                    <a:moveTo>
                      <a:pt x="17" y="6"/>
                    </a:moveTo>
                    <a:lnTo>
                      <a:pt x="23" y="9"/>
                    </a:lnTo>
                    <a:lnTo>
                      <a:pt x="27" y="9"/>
                    </a:lnTo>
                    <a:lnTo>
                      <a:pt x="28" y="0"/>
                    </a:lnTo>
                    <a:lnTo>
                      <a:pt x="44" y="23"/>
                    </a:lnTo>
                    <a:lnTo>
                      <a:pt x="30" y="13"/>
                    </a:lnTo>
                    <a:lnTo>
                      <a:pt x="21" y="11"/>
                    </a:lnTo>
                    <a:lnTo>
                      <a:pt x="9" y="9"/>
                    </a:lnTo>
                    <a:lnTo>
                      <a:pt x="2" y="7"/>
                    </a:lnTo>
                    <a:lnTo>
                      <a:pt x="0" y="4"/>
                    </a:lnTo>
                    <a:lnTo>
                      <a:pt x="7" y="4"/>
                    </a:lnTo>
                    <a:lnTo>
                      <a:pt x="17" y="6"/>
                    </a:lnTo>
                    <a:close/>
                  </a:path>
                </a:pathLst>
              </a:custGeom>
              <a:solidFill>
                <a:srgbClr val="AD894B"/>
              </a:solidFill>
              <a:ln w="9525">
                <a:noFill/>
                <a:round/>
                <a:headEnd/>
                <a:tailEnd/>
              </a:ln>
            </p:spPr>
            <p:txBody>
              <a:bodyPr/>
              <a:lstStyle/>
              <a:p>
                <a:endParaRPr lang="en-US"/>
              </a:p>
            </p:txBody>
          </p:sp>
          <p:sp>
            <p:nvSpPr>
              <p:cNvPr id="1184" name="Freeform 150"/>
              <p:cNvSpPr>
                <a:spLocks/>
              </p:cNvSpPr>
              <p:nvPr/>
            </p:nvSpPr>
            <p:spPr bwMode="auto">
              <a:xfrm>
                <a:off x="5287" y="3279"/>
                <a:ext cx="13" cy="12"/>
              </a:xfrm>
              <a:custGeom>
                <a:avLst/>
                <a:gdLst>
                  <a:gd name="T0" fmla="*/ 0 w 25"/>
                  <a:gd name="T1" fmla="*/ 0 h 25"/>
                  <a:gd name="T2" fmla="*/ 1 w 25"/>
                  <a:gd name="T3" fmla="*/ 0 h 25"/>
                  <a:gd name="T4" fmla="*/ 1 w 25"/>
                  <a:gd name="T5" fmla="*/ 0 h 25"/>
                  <a:gd name="T6" fmla="*/ 1 w 25"/>
                  <a:gd name="T7" fmla="*/ 0 h 25"/>
                  <a:gd name="T8" fmla="*/ 1 w 25"/>
                  <a:gd name="T9" fmla="*/ 0 h 25"/>
                  <a:gd name="T10" fmla="*/ 1 w 25"/>
                  <a:gd name="T11" fmla="*/ 0 h 25"/>
                  <a:gd name="T12" fmla="*/ 1 w 25"/>
                  <a:gd name="T13" fmla="*/ 0 h 25"/>
                  <a:gd name="T14" fmla="*/ 0 w 25"/>
                  <a:gd name="T15" fmla="*/ 0 h 25"/>
                  <a:gd name="T16" fmla="*/ 0 w 25"/>
                  <a:gd name="T17" fmla="*/ 0 h 2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5"/>
                  <a:gd name="T28" fmla="*/ 0 h 25"/>
                  <a:gd name="T29" fmla="*/ 25 w 25"/>
                  <a:gd name="T30" fmla="*/ 25 h 2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5" h="25">
                    <a:moveTo>
                      <a:pt x="0" y="4"/>
                    </a:moveTo>
                    <a:lnTo>
                      <a:pt x="21" y="19"/>
                    </a:lnTo>
                    <a:lnTo>
                      <a:pt x="23" y="25"/>
                    </a:lnTo>
                    <a:lnTo>
                      <a:pt x="25" y="25"/>
                    </a:lnTo>
                    <a:lnTo>
                      <a:pt x="19" y="12"/>
                    </a:lnTo>
                    <a:lnTo>
                      <a:pt x="11" y="4"/>
                    </a:lnTo>
                    <a:lnTo>
                      <a:pt x="3" y="0"/>
                    </a:lnTo>
                    <a:lnTo>
                      <a:pt x="0" y="0"/>
                    </a:lnTo>
                    <a:lnTo>
                      <a:pt x="0" y="4"/>
                    </a:lnTo>
                    <a:close/>
                  </a:path>
                </a:pathLst>
              </a:custGeom>
              <a:solidFill>
                <a:srgbClr val="A62600"/>
              </a:solidFill>
              <a:ln w="9525">
                <a:noFill/>
                <a:round/>
                <a:headEnd/>
                <a:tailEnd/>
              </a:ln>
            </p:spPr>
            <p:txBody>
              <a:bodyPr/>
              <a:lstStyle/>
              <a:p>
                <a:endParaRPr lang="en-US"/>
              </a:p>
            </p:txBody>
          </p:sp>
          <p:sp>
            <p:nvSpPr>
              <p:cNvPr id="1185" name="Freeform 151"/>
              <p:cNvSpPr>
                <a:spLocks/>
              </p:cNvSpPr>
              <p:nvPr/>
            </p:nvSpPr>
            <p:spPr bwMode="auto">
              <a:xfrm>
                <a:off x="5157" y="3128"/>
                <a:ext cx="6" cy="20"/>
              </a:xfrm>
              <a:custGeom>
                <a:avLst/>
                <a:gdLst>
                  <a:gd name="T0" fmla="*/ 1 w 11"/>
                  <a:gd name="T1" fmla="*/ 0 h 41"/>
                  <a:gd name="T2" fmla="*/ 1 w 11"/>
                  <a:gd name="T3" fmla="*/ 0 h 41"/>
                  <a:gd name="T4" fmla="*/ 1 w 11"/>
                  <a:gd name="T5" fmla="*/ 0 h 41"/>
                  <a:gd name="T6" fmla="*/ 1 w 11"/>
                  <a:gd name="T7" fmla="*/ 0 h 41"/>
                  <a:gd name="T8" fmla="*/ 1 w 11"/>
                  <a:gd name="T9" fmla="*/ 0 h 41"/>
                  <a:gd name="T10" fmla="*/ 1 w 11"/>
                  <a:gd name="T11" fmla="*/ 0 h 41"/>
                  <a:gd name="T12" fmla="*/ 1 w 11"/>
                  <a:gd name="T13" fmla="*/ 0 h 41"/>
                  <a:gd name="T14" fmla="*/ 0 w 11"/>
                  <a:gd name="T15" fmla="*/ 0 h 41"/>
                  <a:gd name="T16" fmla="*/ 0 w 11"/>
                  <a:gd name="T17" fmla="*/ 0 h 41"/>
                  <a:gd name="T18" fmla="*/ 1 w 11"/>
                  <a:gd name="T19" fmla="*/ 0 h 4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
                  <a:gd name="T31" fmla="*/ 0 h 41"/>
                  <a:gd name="T32" fmla="*/ 11 w 11"/>
                  <a:gd name="T33" fmla="*/ 41 h 4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 h="41">
                    <a:moveTo>
                      <a:pt x="2" y="0"/>
                    </a:moveTo>
                    <a:lnTo>
                      <a:pt x="7" y="4"/>
                    </a:lnTo>
                    <a:lnTo>
                      <a:pt x="11" y="14"/>
                    </a:lnTo>
                    <a:lnTo>
                      <a:pt x="9" y="27"/>
                    </a:lnTo>
                    <a:lnTo>
                      <a:pt x="7" y="39"/>
                    </a:lnTo>
                    <a:lnTo>
                      <a:pt x="7" y="41"/>
                    </a:lnTo>
                    <a:lnTo>
                      <a:pt x="5" y="39"/>
                    </a:lnTo>
                    <a:lnTo>
                      <a:pt x="0" y="33"/>
                    </a:lnTo>
                    <a:lnTo>
                      <a:pt x="0" y="12"/>
                    </a:lnTo>
                    <a:lnTo>
                      <a:pt x="2" y="0"/>
                    </a:lnTo>
                    <a:close/>
                  </a:path>
                </a:pathLst>
              </a:custGeom>
              <a:solidFill>
                <a:srgbClr val="FFDE80"/>
              </a:solidFill>
              <a:ln w="9525">
                <a:noFill/>
                <a:round/>
                <a:headEnd/>
                <a:tailEnd/>
              </a:ln>
            </p:spPr>
            <p:txBody>
              <a:bodyPr/>
              <a:lstStyle/>
              <a:p>
                <a:endParaRPr lang="en-US"/>
              </a:p>
            </p:txBody>
          </p:sp>
          <p:sp>
            <p:nvSpPr>
              <p:cNvPr id="1186" name="Freeform 152"/>
              <p:cNvSpPr>
                <a:spLocks/>
              </p:cNvSpPr>
              <p:nvPr/>
            </p:nvSpPr>
            <p:spPr bwMode="auto">
              <a:xfrm>
                <a:off x="5225" y="3126"/>
                <a:ext cx="10" cy="30"/>
              </a:xfrm>
              <a:custGeom>
                <a:avLst/>
                <a:gdLst>
                  <a:gd name="T0" fmla="*/ 1 w 19"/>
                  <a:gd name="T1" fmla="*/ 0 h 59"/>
                  <a:gd name="T2" fmla="*/ 1 w 19"/>
                  <a:gd name="T3" fmla="*/ 1 h 59"/>
                  <a:gd name="T4" fmla="*/ 1 w 19"/>
                  <a:gd name="T5" fmla="*/ 1 h 59"/>
                  <a:gd name="T6" fmla="*/ 1 w 19"/>
                  <a:gd name="T7" fmla="*/ 1 h 59"/>
                  <a:gd name="T8" fmla="*/ 1 w 19"/>
                  <a:gd name="T9" fmla="*/ 1 h 59"/>
                  <a:gd name="T10" fmla="*/ 0 w 19"/>
                  <a:gd name="T11" fmla="*/ 1 h 59"/>
                  <a:gd name="T12" fmla="*/ 1 w 19"/>
                  <a:gd name="T13" fmla="*/ 1 h 59"/>
                  <a:gd name="T14" fmla="*/ 1 w 19"/>
                  <a:gd name="T15" fmla="*/ 1 h 59"/>
                  <a:gd name="T16" fmla="*/ 1 w 19"/>
                  <a:gd name="T17" fmla="*/ 1 h 59"/>
                  <a:gd name="T18" fmla="*/ 1 w 19"/>
                  <a:gd name="T19" fmla="*/ 1 h 59"/>
                  <a:gd name="T20" fmla="*/ 1 w 19"/>
                  <a:gd name="T21" fmla="*/ 1 h 59"/>
                  <a:gd name="T22" fmla="*/ 1 w 19"/>
                  <a:gd name="T23" fmla="*/ 1 h 59"/>
                  <a:gd name="T24" fmla="*/ 1 w 19"/>
                  <a:gd name="T25" fmla="*/ 1 h 59"/>
                  <a:gd name="T26" fmla="*/ 1 w 19"/>
                  <a:gd name="T27" fmla="*/ 1 h 59"/>
                  <a:gd name="T28" fmla="*/ 1 w 19"/>
                  <a:gd name="T29" fmla="*/ 1 h 59"/>
                  <a:gd name="T30" fmla="*/ 1 w 19"/>
                  <a:gd name="T31" fmla="*/ 1 h 59"/>
                  <a:gd name="T32" fmla="*/ 1 w 19"/>
                  <a:gd name="T33" fmla="*/ 0 h 5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9"/>
                  <a:gd name="T52" fmla="*/ 0 h 59"/>
                  <a:gd name="T53" fmla="*/ 19 w 19"/>
                  <a:gd name="T54" fmla="*/ 59 h 59"/>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9" h="59">
                    <a:moveTo>
                      <a:pt x="13" y="0"/>
                    </a:moveTo>
                    <a:lnTo>
                      <a:pt x="11" y="2"/>
                    </a:lnTo>
                    <a:lnTo>
                      <a:pt x="8" y="9"/>
                    </a:lnTo>
                    <a:lnTo>
                      <a:pt x="2" y="23"/>
                    </a:lnTo>
                    <a:lnTo>
                      <a:pt x="2" y="53"/>
                    </a:lnTo>
                    <a:lnTo>
                      <a:pt x="0" y="59"/>
                    </a:lnTo>
                    <a:lnTo>
                      <a:pt x="2" y="59"/>
                    </a:lnTo>
                    <a:lnTo>
                      <a:pt x="6" y="55"/>
                    </a:lnTo>
                    <a:lnTo>
                      <a:pt x="11" y="42"/>
                    </a:lnTo>
                    <a:lnTo>
                      <a:pt x="17" y="17"/>
                    </a:lnTo>
                    <a:lnTo>
                      <a:pt x="19" y="13"/>
                    </a:lnTo>
                    <a:lnTo>
                      <a:pt x="17" y="13"/>
                    </a:lnTo>
                    <a:lnTo>
                      <a:pt x="11" y="17"/>
                    </a:lnTo>
                    <a:lnTo>
                      <a:pt x="11" y="11"/>
                    </a:lnTo>
                    <a:lnTo>
                      <a:pt x="13" y="5"/>
                    </a:lnTo>
                    <a:lnTo>
                      <a:pt x="13" y="2"/>
                    </a:lnTo>
                    <a:lnTo>
                      <a:pt x="13" y="0"/>
                    </a:lnTo>
                    <a:close/>
                  </a:path>
                </a:pathLst>
              </a:custGeom>
              <a:solidFill>
                <a:srgbClr val="A62600"/>
              </a:solidFill>
              <a:ln w="9525">
                <a:noFill/>
                <a:round/>
                <a:headEnd/>
                <a:tailEnd/>
              </a:ln>
            </p:spPr>
            <p:txBody>
              <a:bodyPr/>
              <a:lstStyle/>
              <a:p>
                <a:endParaRPr lang="en-US"/>
              </a:p>
            </p:txBody>
          </p:sp>
          <p:sp>
            <p:nvSpPr>
              <p:cNvPr id="1187" name="Freeform 153"/>
              <p:cNvSpPr>
                <a:spLocks/>
              </p:cNvSpPr>
              <p:nvPr/>
            </p:nvSpPr>
            <p:spPr bwMode="auto">
              <a:xfrm>
                <a:off x="5291" y="3260"/>
                <a:ext cx="68" cy="107"/>
              </a:xfrm>
              <a:custGeom>
                <a:avLst/>
                <a:gdLst>
                  <a:gd name="T0" fmla="*/ 0 w 137"/>
                  <a:gd name="T1" fmla="*/ 1 h 213"/>
                  <a:gd name="T2" fmla="*/ 0 w 137"/>
                  <a:gd name="T3" fmla="*/ 1 h 213"/>
                  <a:gd name="T4" fmla="*/ 0 w 137"/>
                  <a:gd name="T5" fmla="*/ 1 h 213"/>
                  <a:gd name="T6" fmla="*/ 0 w 137"/>
                  <a:gd name="T7" fmla="*/ 1 h 213"/>
                  <a:gd name="T8" fmla="*/ 0 w 137"/>
                  <a:gd name="T9" fmla="*/ 1 h 213"/>
                  <a:gd name="T10" fmla="*/ 0 w 137"/>
                  <a:gd name="T11" fmla="*/ 1 h 213"/>
                  <a:gd name="T12" fmla="*/ 0 w 137"/>
                  <a:gd name="T13" fmla="*/ 1 h 213"/>
                  <a:gd name="T14" fmla="*/ 0 w 137"/>
                  <a:gd name="T15" fmla="*/ 1 h 213"/>
                  <a:gd name="T16" fmla="*/ 0 w 137"/>
                  <a:gd name="T17" fmla="*/ 1 h 213"/>
                  <a:gd name="T18" fmla="*/ 0 w 137"/>
                  <a:gd name="T19" fmla="*/ 1 h 213"/>
                  <a:gd name="T20" fmla="*/ 0 w 137"/>
                  <a:gd name="T21" fmla="*/ 1 h 213"/>
                  <a:gd name="T22" fmla="*/ 0 w 137"/>
                  <a:gd name="T23" fmla="*/ 1 h 213"/>
                  <a:gd name="T24" fmla="*/ 0 w 137"/>
                  <a:gd name="T25" fmla="*/ 1 h 213"/>
                  <a:gd name="T26" fmla="*/ 0 w 137"/>
                  <a:gd name="T27" fmla="*/ 1 h 213"/>
                  <a:gd name="T28" fmla="*/ 0 w 137"/>
                  <a:gd name="T29" fmla="*/ 1 h 213"/>
                  <a:gd name="T30" fmla="*/ 0 w 137"/>
                  <a:gd name="T31" fmla="*/ 1 h 213"/>
                  <a:gd name="T32" fmla="*/ 0 w 137"/>
                  <a:gd name="T33" fmla="*/ 1 h 213"/>
                  <a:gd name="T34" fmla="*/ 0 w 137"/>
                  <a:gd name="T35" fmla="*/ 1 h 213"/>
                  <a:gd name="T36" fmla="*/ 0 w 137"/>
                  <a:gd name="T37" fmla="*/ 1 h 213"/>
                  <a:gd name="T38" fmla="*/ 0 w 137"/>
                  <a:gd name="T39" fmla="*/ 1 h 213"/>
                  <a:gd name="T40" fmla="*/ 0 w 137"/>
                  <a:gd name="T41" fmla="*/ 1 h 213"/>
                  <a:gd name="T42" fmla="*/ 0 w 137"/>
                  <a:gd name="T43" fmla="*/ 1 h 213"/>
                  <a:gd name="T44" fmla="*/ 0 w 137"/>
                  <a:gd name="T45" fmla="*/ 1 h 213"/>
                  <a:gd name="T46" fmla="*/ 0 w 137"/>
                  <a:gd name="T47" fmla="*/ 1 h 213"/>
                  <a:gd name="T48" fmla="*/ 0 w 137"/>
                  <a:gd name="T49" fmla="*/ 1 h 213"/>
                  <a:gd name="T50" fmla="*/ 0 w 137"/>
                  <a:gd name="T51" fmla="*/ 1 h 213"/>
                  <a:gd name="T52" fmla="*/ 0 w 137"/>
                  <a:gd name="T53" fmla="*/ 1 h 213"/>
                  <a:gd name="T54" fmla="*/ 0 w 137"/>
                  <a:gd name="T55" fmla="*/ 1 h 213"/>
                  <a:gd name="T56" fmla="*/ 0 w 137"/>
                  <a:gd name="T57" fmla="*/ 1 h 213"/>
                  <a:gd name="T58" fmla="*/ 0 w 137"/>
                  <a:gd name="T59" fmla="*/ 1 h 213"/>
                  <a:gd name="T60" fmla="*/ 0 w 137"/>
                  <a:gd name="T61" fmla="*/ 1 h 213"/>
                  <a:gd name="T62" fmla="*/ 0 w 137"/>
                  <a:gd name="T63" fmla="*/ 1 h 213"/>
                  <a:gd name="T64" fmla="*/ 0 w 137"/>
                  <a:gd name="T65" fmla="*/ 1 h 213"/>
                  <a:gd name="T66" fmla="*/ 0 w 137"/>
                  <a:gd name="T67" fmla="*/ 1 h 213"/>
                  <a:gd name="T68" fmla="*/ 0 w 137"/>
                  <a:gd name="T69" fmla="*/ 1 h 213"/>
                  <a:gd name="T70" fmla="*/ 0 w 137"/>
                  <a:gd name="T71" fmla="*/ 1 h 213"/>
                  <a:gd name="T72" fmla="*/ 0 w 137"/>
                  <a:gd name="T73" fmla="*/ 1 h 213"/>
                  <a:gd name="T74" fmla="*/ 0 w 137"/>
                  <a:gd name="T75" fmla="*/ 1 h 213"/>
                  <a:gd name="T76" fmla="*/ 0 w 137"/>
                  <a:gd name="T77" fmla="*/ 1 h 213"/>
                  <a:gd name="T78" fmla="*/ 0 w 137"/>
                  <a:gd name="T79" fmla="*/ 1 h 213"/>
                  <a:gd name="T80" fmla="*/ 0 w 137"/>
                  <a:gd name="T81" fmla="*/ 1 h 213"/>
                  <a:gd name="T82" fmla="*/ 0 w 137"/>
                  <a:gd name="T83" fmla="*/ 1 h 213"/>
                  <a:gd name="T84" fmla="*/ 0 w 137"/>
                  <a:gd name="T85" fmla="*/ 1 h 213"/>
                  <a:gd name="T86" fmla="*/ 0 w 137"/>
                  <a:gd name="T87" fmla="*/ 1 h 213"/>
                  <a:gd name="T88" fmla="*/ 0 w 137"/>
                  <a:gd name="T89" fmla="*/ 1 h 213"/>
                  <a:gd name="T90" fmla="*/ 0 w 137"/>
                  <a:gd name="T91" fmla="*/ 1 h 213"/>
                  <a:gd name="T92" fmla="*/ 0 w 137"/>
                  <a:gd name="T93" fmla="*/ 1 h 213"/>
                  <a:gd name="T94" fmla="*/ 0 w 137"/>
                  <a:gd name="T95" fmla="*/ 1 h 213"/>
                  <a:gd name="T96" fmla="*/ 0 w 137"/>
                  <a:gd name="T97" fmla="*/ 1 h 213"/>
                  <a:gd name="T98" fmla="*/ 0 w 137"/>
                  <a:gd name="T99" fmla="*/ 1 h 213"/>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37"/>
                  <a:gd name="T151" fmla="*/ 0 h 213"/>
                  <a:gd name="T152" fmla="*/ 137 w 137"/>
                  <a:gd name="T153" fmla="*/ 213 h 213"/>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37" h="213">
                    <a:moveTo>
                      <a:pt x="69" y="1"/>
                    </a:moveTo>
                    <a:lnTo>
                      <a:pt x="66" y="3"/>
                    </a:lnTo>
                    <a:lnTo>
                      <a:pt x="60" y="7"/>
                    </a:lnTo>
                    <a:lnTo>
                      <a:pt x="52" y="15"/>
                    </a:lnTo>
                    <a:lnTo>
                      <a:pt x="46" y="25"/>
                    </a:lnTo>
                    <a:lnTo>
                      <a:pt x="43" y="34"/>
                    </a:lnTo>
                    <a:lnTo>
                      <a:pt x="37" y="42"/>
                    </a:lnTo>
                    <a:lnTo>
                      <a:pt x="29" y="48"/>
                    </a:lnTo>
                    <a:lnTo>
                      <a:pt x="25" y="48"/>
                    </a:lnTo>
                    <a:lnTo>
                      <a:pt x="23" y="49"/>
                    </a:lnTo>
                    <a:lnTo>
                      <a:pt x="23" y="51"/>
                    </a:lnTo>
                    <a:lnTo>
                      <a:pt x="25" y="55"/>
                    </a:lnTo>
                    <a:lnTo>
                      <a:pt x="25" y="59"/>
                    </a:lnTo>
                    <a:lnTo>
                      <a:pt x="18" y="63"/>
                    </a:lnTo>
                    <a:lnTo>
                      <a:pt x="18" y="67"/>
                    </a:lnTo>
                    <a:lnTo>
                      <a:pt x="19" y="71"/>
                    </a:lnTo>
                    <a:lnTo>
                      <a:pt x="25" y="82"/>
                    </a:lnTo>
                    <a:lnTo>
                      <a:pt x="27" y="86"/>
                    </a:lnTo>
                    <a:lnTo>
                      <a:pt x="27" y="94"/>
                    </a:lnTo>
                    <a:lnTo>
                      <a:pt x="23" y="101"/>
                    </a:lnTo>
                    <a:lnTo>
                      <a:pt x="16" y="109"/>
                    </a:lnTo>
                    <a:lnTo>
                      <a:pt x="10" y="119"/>
                    </a:lnTo>
                    <a:lnTo>
                      <a:pt x="10" y="130"/>
                    </a:lnTo>
                    <a:lnTo>
                      <a:pt x="14" y="140"/>
                    </a:lnTo>
                    <a:lnTo>
                      <a:pt x="16" y="144"/>
                    </a:lnTo>
                    <a:lnTo>
                      <a:pt x="16" y="147"/>
                    </a:lnTo>
                    <a:lnTo>
                      <a:pt x="16" y="163"/>
                    </a:lnTo>
                    <a:lnTo>
                      <a:pt x="12" y="172"/>
                    </a:lnTo>
                    <a:lnTo>
                      <a:pt x="4" y="178"/>
                    </a:lnTo>
                    <a:lnTo>
                      <a:pt x="0" y="182"/>
                    </a:lnTo>
                    <a:lnTo>
                      <a:pt x="0" y="186"/>
                    </a:lnTo>
                    <a:lnTo>
                      <a:pt x="14" y="188"/>
                    </a:lnTo>
                    <a:lnTo>
                      <a:pt x="23" y="184"/>
                    </a:lnTo>
                    <a:lnTo>
                      <a:pt x="39" y="180"/>
                    </a:lnTo>
                    <a:lnTo>
                      <a:pt x="56" y="174"/>
                    </a:lnTo>
                    <a:lnTo>
                      <a:pt x="69" y="169"/>
                    </a:lnTo>
                    <a:lnTo>
                      <a:pt x="77" y="161"/>
                    </a:lnTo>
                    <a:lnTo>
                      <a:pt x="83" y="159"/>
                    </a:lnTo>
                    <a:lnTo>
                      <a:pt x="85" y="159"/>
                    </a:lnTo>
                    <a:lnTo>
                      <a:pt x="83" y="165"/>
                    </a:lnTo>
                    <a:lnTo>
                      <a:pt x="73" y="174"/>
                    </a:lnTo>
                    <a:lnTo>
                      <a:pt x="62" y="180"/>
                    </a:lnTo>
                    <a:lnTo>
                      <a:pt x="50" y="184"/>
                    </a:lnTo>
                    <a:lnTo>
                      <a:pt x="44" y="186"/>
                    </a:lnTo>
                    <a:lnTo>
                      <a:pt x="44" y="188"/>
                    </a:lnTo>
                    <a:lnTo>
                      <a:pt x="46" y="195"/>
                    </a:lnTo>
                    <a:lnTo>
                      <a:pt x="50" y="211"/>
                    </a:lnTo>
                    <a:lnTo>
                      <a:pt x="52" y="213"/>
                    </a:lnTo>
                    <a:lnTo>
                      <a:pt x="58" y="211"/>
                    </a:lnTo>
                    <a:lnTo>
                      <a:pt x="69" y="205"/>
                    </a:lnTo>
                    <a:lnTo>
                      <a:pt x="83" y="194"/>
                    </a:lnTo>
                    <a:lnTo>
                      <a:pt x="90" y="180"/>
                    </a:lnTo>
                    <a:lnTo>
                      <a:pt x="94" y="169"/>
                    </a:lnTo>
                    <a:lnTo>
                      <a:pt x="96" y="157"/>
                    </a:lnTo>
                    <a:lnTo>
                      <a:pt x="96" y="146"/>
                    </a:lnTo>
                    <a:lnTo>
                      <a:pt x="98" y="144"/>
                    </a:lnTo>
                    <a:lnTo>
                      <a:pt x="106" y="144"/>
                    </a:lnTo>
                    <a:lnTo>
                      <a:pt x="117" y="142"/>
                    </a:lnTo>
                    <a:lnTo>
                      <a:pt x="129" y="138"/>
                    </a:lnTo>
                    <a:lnTo>
                      <a:pt x="135" y="134"/>
                    </a:lnTo>
                    <a:lnTo>
                      <a:pt x="137" y="132"/>
                    </a:lnTo>
                    <a:lnTo>
                      <a:pt x="133" y="132"/>
                    </a:lnTo>
                    <a:lnTo>
                      <a:pt x="123" y="136"/>
                    </a:lnTo>
                    <a:lnTo>
                      <a:pt x="112" y="138"/>
                    </a:lnTo>
                    <a:lnTo>
                      <a:pt x="102" y="138"/>
                    </a:lnTo>
                    <a:lnTo>
                      <a:pt x="92" y="140"/>
                    </a:lnTo>
                    <a:lnTo>
                      <a:pt x="89" y="146"/>
                    </a:lnTo>
                    <a:lnTo>
                      <a:pt x="89" y="122"/>
                    </a:lnTo>
                    <a:lnTo>
                      <a:pt x="89" y="119"/>
                    </a:lnTo>
                    <a:lnTo>
                      <a:pt x="87" y="119"/>
                    </a:lnTo>
                    <a:lnTo>
                      <a:pt x="77" y="126"/>
                    </a:lnTo>
                    <a:lnTo>
                      <a:pt x="62" y="134"/>
                    </a:lnTo>
                    <a:lnTo>
                      <a:pt x="46" y="136"/>
                    </a:lnTo>
                    <a:lnTo>
                      <a:pt x="41" y="136"/>
                    </a:lnTo>
                    <a:lnTo>
                      <a:pt x="43" y="134"/>
                    </a:lnTo>
                    <a:lnTo>
                      <a:pt x="44" y="134"/>
                    </a:lnTo>
                    <a:lnTo>
                      <a:pt x="50" y="132"/>
                    </a:lnTo>
                    <a:lnTo>
                      <a:pt x="60" y="126"/>
                    </a:lnTo>
                    <a:lnTo>
                      <a:pt x="69" y="122"/>
                    </a:lnTo>
                    <a:lnTo>
                      <a:pt x="77" y="119"/>
                    </a:lnTo>
                    <a:lnTo>
                      <a:pt x="83" y="111"/>
                    </a:lnTo>
                    <a:lnTo>
                      <a:pt x="87" y="97"/>
                    </a:lnTo>
                    <a:lnTo>
                      <a:pt x="89" y="90"/>
                    </a:lnTo>
                    <a:lnTo>
                      <a:pt x="90" y="88"/>
                    </a:lnTo>
                    <a:lnTo>
                      <a:pt x="96" y="88"/>
                    </a:lnTo>
                    <a:lnTo>
                      <a:pt x="106" y="99"/>
                    </a:lnTo>
                    <a:lnTo>
                      <a:pt x="104" y="111"/>
                    </a:lnTo>
                    <a:lnTo>
                      <a:pt x="102" y="117"/>
                    </a:lnTo>
                    <a:lnTo>
                      <a:pt x="106" y="121"/>
                    </a:lnTo>
                    <a:lnTo>
                      <a:pt x="117" y="117"/>
                    </a:lnTo>
                    <a:lnTo>
                      <a:pt x="121" y="105"/>
                    </a:lnTo>
                    <a:lnTo>
                      <a:pt x="121" y="73"/>
                    </a:lnTo>
                    <a:lnTo>
                      <a:pt x="117" y="53"/>
                    </a:lnTo>
                    <a:lnTo>
                      <a:pt x="114" y="40"/>
                    </a:lnTo>
                    <a:lnTo>
                      <a:pt x="102" y="30"/>
                    </a:lnTo>
                    <a:lnTo>
                      <a:pt x="89" y="17"/>
                    </a:lnTo>
                    <a:lnTo>
                      <a:pt x="77" y="5"/>
                    </a:lnTo>
                    <a:lnTo>
                      <a:pt x="73" y="1"/>
                    </a:lnTo>
                    <a:lnTo>
                      <a:pt x="71" y="0"/>
                    </a:lnTo>
                    <a:lnTo>
                      <a:pt x="69" y="1"/>
                    </a:lnTo>
                    <a:close/>
                  </a:path>
                </a:pathLst>
              </a:custGeom>
              <a:solidFill>
                <a:srgbClr val="D1B17D"/>
              </a:solidFill>
              <a:ln w="9525">
                <a:noFill/>
                <a:round/>
                <a:headEnd/>
                <a:tailEnd/>
              </a:ln>
            </p:spPr>
            <p:txBody>
              <a:bodyPr/>
              <a:lstStyle/>
              <a:p>
                <a:endParaRPr lang="en-US"/>
              </a:p>
            </p:txBody>
          </p:sp>
          <p:sp>
            <p:nvSpPr>
              <p:cNvPr id="1188" name="Freeform 154"/>
              <p:cNvSpPr>
                <a:spLocks/>
              </p:cNvSpPr>
              <p:nvPr/>
            </p:nvSpPr>
            <p:spPr bwMode="auto">
              <a:xfrm>
                <a:off x="5273" y="3204"/>
                <a:ext cx="143" cy="163"/>
              </a:xfrm>
              <a:custGeom>
                <a:avLst/>
                <a:gdLst>
                  <a:gd name="T0" fmla="*/ 0 w 286"/>
                  <a:gd name="T1" fmla="*/ 0 h 327"/>
                  <a:gd name="T2" fmla="*/ 1 w 286"/>
                  <a:gd name="T3" fmla="*/ 0 h 327"/>
                  <a:gd name="T4" fmla="*/ 1 w 286"/>
                  <a:gd name="T5" fmla="*/ 0 h 327"/>
                  <a:gd name="T6" fmla="*/ 1 w 286"/>
                  <a:gd name="T7" fmla="*/ 0 h 327"/>
                  <a:gd name="T8" fmla="*/ 1 w 286"/>
                  <a:gd name="T9" fmla="*/ 0 h 327"/>
                  <a:gd name="T10" fmla="*/ 1 w 286"/>
                  <a:gd name="T11" fmla="*/ 0 h 327"/>
                  <a:gd name="T12" fmla="*/ 1 w 286"/>
                  <a:gd name="T13" fmla="*/ 0 h 327"/>
                  <a:gd name="T14" fmla="*/ 1 w 286"/>
                  <a:gd name="T15" fmla="*/ 0 h 327"/>
                  <a:gd name="T16" fmla="*/ 1 w 286"/>
                  <a:gd name="T17" fmla="*/ 0 h 327"/>
                  <a:gd name="T18" fmla="*/ 1 w 286"/>
                  <a:gd name="T19" fmla="*/ 0 h 327"/>
                  <a:gd name="T20" fmla="*/ 1 w 286"/>
                  <a:gd name="T21" fmla="*/ 0 h 327"/>
                  <a:gd name="T22" fmla="*/ 1 w 286"/>
                  <a:gd name="T23" fmla="*/ 0 h 327"/>
                  <a:gd name="T24" fmla="*/ 1 w 286"/>
                  <a:gd name="T25" fmla="*/ 0 h 327"/>
                  <a:gd name="T26" fmla="*/ 1 w 286"/>
                  <a:gd name="T27" fmla="*/ 0 h 327"/>
                  <a:gd name="T28" fmla="*/ 1 w 286"/>
                  <a:gd name="T29" fmla="*/ 0 h 327"/>
                  <a:gd name="T30" fmla="*/ 1 w 286"/>
                  <a:gd name="T31" fmla="*/ 0 h 327"/>
                  <a:gd name="T32" fmla="*/ 1 w 286"/>
                  <a:gd name="T33" fmla="*/ 0 h 327"/>
                  <a:gd name="T34" fmla="*/ 1 w 286"/>
                  <a:gd name="T35" fmla="*/ 0 h 327"/>
                  <a:gd name="T36" fmla="*/ 1 w 286"/>
                  <a:gd name="T37" fmla="*/ 0 h 327"/>
                  <a:gd name="T38" fmla="*/ 1 w 286"/>
                  <a:gd name="T39" fmla="*/ 0 h 327"/>
                  <a:gd name="T40" fmla="*/ 1 w 286"/>
                  <a:gd name="T41" fmla="*/ 0 h 327"/>
                  <a:gd name="T42" fmla="*/ 1 w 286"/>
                  <a:gd name="T43" fmla="*/ 0 h 327"/>
                  <a:gd name="T44" fmla="*/ 1 w 286"/>
                  <a:gd name="T45" fmla="*/ 0 h 327"/>
                  <a:gd name="T46" fmla="*/ 1 w 286"/>
                  <a:gd name="T47" fmla="*/ 0 h 327"/>
                  <a:gd name="T48" fmla="*/ 1 w 286"/>
                  <a:gd name="T49" fmla="*/ 0 h 327"/>
                  <a:gd name="T50" fmla="*/ 1 w 286"/>
                  <a:gd name="T51" fmla="*/ 0 h 327"/>
                  <a:gd name="T52" fmla="*/ 1 w 286"/>
                  <a:gd name="T53" fmla="*/ 0 h 327"/>
                  <a:gd name="T54" fmla="*/ 1 w 286"/>
                  <a:gd name="T55" fmla="*/ 0 h 327"/>
                  <a:gd name="T56" fmla="*/ 1 w 286"/>
                  <a:gd name="T57" fmla="*/ 0 h 327"/>
                  <a:gd name="T58" fmla="*/ 1 w 286"/>
                  <a:gd name="T59" fmla="*/ 0 h 327"/>
                  <a:gd name="T60" fmla="*/ 1 w 286"/>
                  <a:gd name="T61" fmla="*/ 0 h 327"/>
                  <a:gd name="T62" fmla="*/ 1 w 286"/>
                  <a:gd name="T63" fmla="*/ 0 h 327"/>
                  <a:gd name="T64" fmla="*/ 1 w 286"/>
                  <a:gd name="T65" fmla="*/ 0 h 327"/>
                  <a:gd name="T66" fmla="*/ 1 w 286"/>
                  <a:gd name="T67" fmla="*/ 0 h 327"/>
                  <a:gd name="T68" fmla="*/ 1 w 286"/>
                  <a:gd name="T69" fmla="*/ 0 h 327"/>
                  <a:gd name="T70" fmla="*/ 1 w 286"/>
                  <a:gd name="T71" fmla="*/ 0 h 327"/>
                  <a:gd name="T72" fmla="*/ 1 w 286"/>
                  <a:gd name="T73" fmla="*/ 0 h 327"/>
                  <a:gd name="T74" fmla="*/ 1 w 286"/>
                  <a:gd name="T75" fmla="*/ 0 h 327"/>
                  <a:gd name="T76" fmla="*/ 1 w 286"/>
                  <a:gd name="T77" fmla="*/ 0 h 327"/>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86"/>
                  <a:gd name="T118" fmla="*/ 0 h 327"/>
                  <a:gd name="T119" fmla="*/ 286 w 286"/>
                  <a:gd name="T120" fmla="*/ 327 h 327"/>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86" h="327">
                    <a:moveTo>
                      <a:pt x="0" y="60"/>
                    </a:moveTo>
                    <a:lnTo>
                      <a:pt x="0" y="62"/>
                    </a:lnTo>
                    <a:lnTo>
                      <a:pt x="2" y="67"/>
                    </a:lnTo>
                    <a:lnTo>
                      <a:pt x="6" y="75"/>
                    </a:lnTo>
                    <a:lnTo>
                      <a:pt x="13" y="81"/>
                    </a:lnTo>
                    <a:lnTo>
                      <a:pt x="29" y="87"/>
                    </a:lnTo>
                    <a:lnTo>
                      <a:pt x="48" y="89"/>
                    </a:lnTo>
                    <a:lnTo>
                      <a:pt x="71" y="89"/>
                    </a:lnTo>
                    <a:lnTo>
                      <a:pt x="86" y="102"/>
                    </a:lnTo>
                    <a:lnTo>
                      <a:pt x="90" y="100"/>
                    </a:lnTo>
                    <a:lnTo>
                      <a:pt x="103" y="96"/>
                    </a:lnTo>
                    <a:lnTo>
                      <a:pt x="130" y="85"/>
                    </a:lnTo>
                    <a:lnTo>
                      <a:pt x="148" y="81"/>
                    </a:lnTo>
                    <a:lnTo>
                      <a:pt x="171" y="77"/>
                    </a:lnTo>
                    <a:lnTo>
                      <a:pt x="190" y="75"/>
                    </a:lnTo>
                    <a:lnTo>
                      <a:pt x="197" y="75"/>
                    </a:lnTo>
                    <a:lnTo>
                      <a:pt x="196" y="75"/>
                    </a:lnTo>
                    <a:lnTo>
                      <a:pt x="188" y="77"/>
                    </a:lnTo>
                    <a:lnTo>
                      <a:pt x="167" y="83"/>
                    </a:lnTo>
                    <a:lnTo>
                      <a:pt x="144" y="87"/>
                    </a:lnTo>
                    <a:lnTo>
                      <a:pt x="134" y="89"/>
                    </a:lnTo>
                    <a:lnTo>
                      <a:pt x="128" y="90"/>
                    </a:lnTo>
                    <a:lnTo>
                      <a:pt x="109" y="102"/>
                    </a:lnTo>
                    <a:lnTo>
                      <a:pt x="102" y="106"/>
                    </a:lnTo>
                    <a:lnTo>
                      <a:pt x="98" y="108"/>
                    </a:lnTo>
                    <a:lnTo>
                      <a:pt x="100" y="110"/>
                    </a:lnTo>
                    <a:lnTo>
                      <a:pt x="103" y="115"/>
                    </a:lnTo>
                    <a:lnTo>
                      <a:pt x="126" y="154"/>
                    </a:lnTo>
                    <a:lnTo>
                      <a:pt x="132" y="162"/>
                    </a:lnTo>
                    <a:lnTo>
                      <a:pt x="134" y="165"/>
                    </a:lnTo>
                    <a:lnTo>
                      <a:pt x="134" y="167"/>
                    </a:lnTo>
                    <a:lnTo>
                      <a:pt x="130" y="167"/>
                    </a:lnTo>
                    <a:lnTo>
                      <a:pt x="119" y="163"/>
                    </a:lnTo>
                    <a:lnTo>
                      <a:pt x="107" y="158"/>
                    </a:lnTo>
                    <a:lnTo>
                      <a:pt x="103" y="156"/>
                    </a:lnTo>
                    <a:lnTo>
                      <a:pt x="102" y="156"/>
                    </a:lnTo>
                    <a:lnTo>
                      <a:pt x="103" y="158"/>
                    </a:lnTo>
                    <a:lnTo>
                      <a:pt x="109" y="165"/>
                    </a:lnTo>
                    <a:lnTo>
                      <a:pt x="119" y="173"/>
                    </a:lnTo>
                    <a:lnTo>
                      <a:pt x="130" y="181"/>
                    </a:lnTo>
                    <a:lnTo>
                      <a:pt x="142" y="190"/>
                    </a:lnTo>
                    <a:lnTo>
                      <a:pt x="151" y="206"/>
                    </a:lnTo>
                    <a:lnTo>
                      <a:pt x="157" y="221"/>
                    </a:lnTo>
                    <a:lnTo>
                      <a:pt x="161" y="233"/>
                    </a:lnTo>
                    <a:lnTo>
                      <a:pt x="161" y="240"/>
                    </a:lnTo>
                    <a:lnTo>
                      <a:pt x="163" y="250"/>
                    </a:lnTo>
                    <a:lnTo>
                      <a:pt x="163" y="313"/>
                    </a:lnTo>
                    <a:lnTo>
                      <a:pt x="165" y="315"/>
                    </a:lnTo>
                    <a:lnTo>
                      <a:pt x="174" y="321"/>
                    </a:lnTo>
                    <a:lnTo>
                      <a:pt x="186" y="325"/>
                    </a:lnTo>
                    <a:lnTo>
                      <a:pt x="201" y="327"/>
                    </a:lnTo>
                    <a:lnTo>
                      <a:pt x="221" y="323"/>
                    </a:lnTo>
                    <a:lnTo>
                      <a:pt x="238" y="311"/>
                    </a:lnTo>
                    <a:lnTo>
                      <a:pt x="255" y="294"/>
                    </a:lnTo>
                    <a:lnTo>
                      <a:pt x="267" y="275"/>
                    </a:lnTo>
                    <a:lnTo>
                      <a:pt x="276" y="250"/>
                    </a:lnTo>
                    <a:lnTo>
                      <a:pt x="282" y="233"/>
                    </a:lnTo>
                    <a:lnTo>
                      <a:pt x="284" y="213"/>
                    </a:lnTo>
                    <a:lnTo>
                      <a:pt x="286" y="192"/>
                    </a:lnTo>
                    <a:lnTo>
                      <a:pt x="284" y="167"/>
                    </a:lnTo>
                    <a:lnTo>
                      <a:pt x="276" y="139"/>
                    </a:lnTo>
                    <a:lnTo>
                      <a:pt x="267" y="108"/>
                    </a:lnTo>
                    <a:lnTo>
                      <a:pt x="255" y="79"/>
                    </a:lnTo>
                    <a:lnTo>
                      <a:pt x="244" y="54"/>
                    </a:lnTo>
                    <a:lnTo>
                      <a:pt x="232" y="37"/>
                    </a:lnTo>
                    <a:lnTo>
                      <a:pt x="221" y="25"/>
                    </a:lnTo>
                    <a:lnTo>
                      <a:pt x="209" y="16"/>
                    </a:lnTo>
                    <a:lnTo>
                      <a:pt x="197" y="10"/>
                    </a:lnTo>
                    <a:lnTo>
                      <a:pt x="174" y="4"/>
                    </a:lnTo>
                    <a:lnTo>
                      <a:pt x="161" y="2"/>
                    </a:lnTo>
                    <a:lnTo>
                      <a:pt x="144" y="0"/>
                    </a:lnTo>
                    <a:lnTo>
                      <a:pt x="105" y="0"/>
                    </a:lnTo>
                    <a:lnTo>
                      <a:pt x="65" y="4"/>
                    </a:lnTo>
                    <a:lnTo>
                      <a:pt x="50" y="8"/>
                    </a:lnTo>
                    <a:lnTo>
                      <a:pt x="36" y="14"/>
                    </a:lnTo>
                    <a:lnTo>
                      <a:pt x="17" y="29"/>
                    </a:lnTo>
                    <a:lnTo>
                      <a:pt x="8" y="42"/>
                    </a:lnTo>
                    <a:lnTo>
                      <a:pt x="2" y="56"/>
                    </a:lnTo>
                    <a:lnTo>
                      <a:pt x="0" y="60"/>
                    </a:lnTo>
                    <a:close/>
                  </a:path>
                </a:pathLst>
              </a:custGeom>
              <a:solidFill>
                <a:srgbClr val="333333"/>
              </a:solidFill>
              <a:ln w="9525">
                <a:noFill/>
                <a:round/>
                <a:headEnd/>
                <a:tailEnd/>
              </a:ln>
            </p:spPr>
            <p:txBody>
              <a:bodyPr/>
              <a:lstStyle/>
              <a:p>
                <a:endParaRPr lang="en-US"/>
              </a:p>
            </p:txBody>
          </p:sp>
        </p:grpSp>
        <p:grpSp>
          <p:nvGrpSpPr>
            <p:cNvPr id="6" name="Group 155"/>
            <p:cNvGrpSpPr>
              <a:grpSpLocks/>
            </p:cNvGrpSpPr>
            <p:nvPr/>
          </p:nvGrpSpPr>
          <p:grpSpPr bwMode="auto">
            <a:xfrm>
              <a:off x="4848" y="3360"/>
              <a:ext cx="336" cy="192"/>
              <a:chOff x="5157" y="2853"/>
              <a:chExt cx="952" cy="536"/>
            </a:xfrm>
          </p:grpSpPr>
          <p:sp>
            <p:nvSpPr>
              <p:cNvPr id="1074" name="Freeform 156"/>
              <p:cNvSpPr>
                <a:spLocks/>
              </p:cNvSpPr>
              <p:nvPr/>
            </p:nvSpPr>
            <p:spPr bwMode="auto">
              <a:xfrm>
                <a:off x="5467" y="2853"/>
                <a:ext cx="187" cy="459"/>
              </a:xfrm>
              <a:custGeom>
                <a:avLst/>
                <a:gdLst>
                  <a:gd name="T0" fmla="*/ 0 w 375"/>
                  <a:gd name="T1" fmla="*/ 0 h 919"/>
                  <a:gd name="T2" fmla="*/ 0 w 375"/>
                  <a:gd name="T3" fmla="*/ 0 h 919"/>
                  <a:gd name="T4" fmla="*/ 0 w 375"/>
                  <a:gd name="T5" fmla="*/ 0 h 919"/>
                  <a:gd name="T6" fmla="*/ 0 w 375"/>
                  <a:gd name="T7" fmla="*/ 0 h 919"/>
                  <a:gd name="T8" fmla="*/ 0 w 375"/>
                  <a:gd name="T9" fmla="*/ 0 h 919"/>
                  <a:gd name="T10" fmla="*/ 0 w 375"/>
                  <a:gd name="T11" fmla="*/ 0 h 919"/>
                  <a:gd name="T12" fmla="*/ 0 w 375"/>
                  <a:gd name="T13" fmla="*/ 0 h 919"/>
                  <a:gd name="T14" fmla="*/ 0 w 375"/>
                  <a:gd name="T15" fmla="*/ 0 h 919"/>
                  <a:gd name="T16" fmla="*/ 0 w 375"/>
                  <a:gd name="T17" fmla="*/ 0 h 919"/>
                  <a:gd name="T18" fmla="*/ 0 w 375"/>
                  <a:gd name="T19" fmla="*/ 0 h 919"/>
                  <a:gd name="T20" fmla="*/ 0 w 375"/>
                  <a:gd name="T21" fmla="*/ 0 h 919"/>
                  <a:gd name="T22" fmla="*/ 0 w 375"/>
                  <a:gd name="T23" fmla="*/ 0 h 919"/>
                  <a:gd name="T24" fmla="*/ 0 w 375"/>
                  <a:gd name="T25" fmla="*/ 0 h 919"/>
                  <a:gd name="T26" fmla="*/ 0 w 375"/>
                  <a:gd name="T27" fmla="*/ 0 h 919"/>
                  <a:gd name="T28" fmla="*/ 0 w 375"/>
                  <a:gd name="T29" fmla="*/ 0 h 919"/>
                  <a:gd name="T30" fmla="*/ 0 w 375"/>
                  <a:gd name="T31" fmla="*/ 0 h 919"/>
                  <a:gd name="T32" fmla="*/ 0 w 375"/>
                  <a:gd name="T33" fmla="*/ 0 h 919"/>
                  <a:gd name="T34" fmla="*/ 0 w 375"/>
                  <a:gd name="T35" fmla="*/ 0 h 919"/>
                  <a:gd name="T36" fmla="*/ 0 w 375"/>
                  <a:gd name="T37" fmla="*/ 0 h 919"/>
                  <a:gd name="T38" fmla="*/ 0 w 375"/>
                  <a:gd name="T39" fmla="*/ 0 h 919"/>
                  <a:gd name="T40" fmla="*/ 0 w 375"/>
                  <a:gd name="T41" fmla="*/ 0 h 919"/>
                  <a:gd name="T42" fmla="*/ 0 w 375"/>
                  <a:gd name="T43" fmla="*/ 0 h 919"/>
                  <a:gd name="T44" fmla="*/ 0 w 375"/>
                  <a:gd name="T45" fmla="*/ 0 h 919"/>
                  <a:gd name="T46" fmla="*/ 0 w 375"/>
                  <a:gd name="T47" fmla="*/ 0 h 919"/>
                  <a:gd name="T48" fmla="*/ 0 w 375"/>
                  <a:gd name="T49" fmla="*/ 0 h 919"/>
                  <a:gd name="T50" fmla="*/ 0 w 375"/>
                  <a:gd name="T51" fmla="*/ 0 h 919"/>
                  <a:gd name="T52" fmla="*/ 0 w 375"/>
                  <a:gd name="T53" fmla="*/ 0 h 919"/>
                  <a:gd name="T54" fmla="*/ 0 w 375"/>
                  <a:gd name="T55" fmla="*/ 0 h 919"/>
                  <a:gd name="T56" fmla="*/ 0 w 375"/>
                  <a:gd name="T57" fmla="*/ 0 h 919"/>
                  <a:gd name="T58" fmla="*/ 0 w 375"/>
                  <a:gd name="T59" fmla="*/ 0 h 919"/>
                  <a:gd name="T60" fmla="*/ 0 w 375"/>
                  <a:gd name="T61" fmla="*/ 0 h 919"/>
                  <a:gd name="T62" fmla="*/ 0 w 375"/>
                  <a:gd name="T63" fmla="*/ 0 h 919"/>
                  <a:gd name="T64" fmla="*/ 0 w 375"/>
                  <a:gd name="T65" fmla="*/ 0 h 919"/>
                  <a:gd name="T66" fmla="*/ 0 w 375"/>
                  <a:gd name="T67" fmla="*/ 0 h 919"/>
                  <a:gd name="T68" fmla="*/ 0 w 375"/>
                  <a:gd name="T69" fmla="*/ 0 h 919"/>
                  <a:gd name="T70" fmla="*/ 0 w 375"/>
                  <a:gd name="T71" fmla="*/ 0 h 919"/>
                  <a:gd name="T72" fmla="*/ 0 w 375"/>
                  <a:gd name="T73" fmla="*/ 0 h 919"/>
                  <a:gd name="T74" fmla="*/ 0 w 375"/>
                  <a:gd name="T75" fmla="*/ 0 h 919"/>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375"/>
                  <a:gd name="T115" fmla="*/ 0 h 919"/>
                  <a:gd name="T116" fmla="*/ 375 w 375"/>
                  <a:gd name="T117" fmla="*/ 919 h 919"/>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375" h="919">
                    <a:moveTo>
                      <a:pt x="140" y="2"/>
                    </a:moveTo>
                    <a:lnTo>
                      <a:pt x="27" y="27"/>
                    </a:lnTo>
                    <a:lnTo>
                      <a:pt x="20" y="31"/>
                    </a:lnTo>
                    <a:lnTo>
                      <a:pt x="14" y="35"/>
                    </a:lnTo>
                    <a:lnTo>
                      <a:pt x="10" y="39"/>
                    </a:lnTo>
                    <a:lnTo>
                      <a:pt x="4" y="44"/>
                    </a:lnTo>
                    <a:lnTo>
                      <a:pt x="2" y="50"/>
                    </a:lnTo>
                    <a:lnTo>
                      <a:pt x="0" y="56"/>
                    </a:lnTo>
                    <a:lnTo>
                      <a:pt x="0" y="64"/>
                    </a:lnTo>
                    <a:lnTo>
                      <a:pt x="0" y="72"/>
                    </a:lnTo>
                    <a:lnTo>
                      <a:pt x="188" y="892"/>
                    </a:lnTo>
                    <a:lnTo>
                      <a:pt x="190" y="898"/>
                    </a:lnTo>
                    <a:lnTo>
                      <a:pt x="196" y="903"/>
                    </a:lnTo>
                    <a:lnTo>
                      <a:pt x="200" y="909"/>
                    </a:lnTo>
                    <a:lnTo>
                      <a:pt x="206" y="913"/>
                    </a:lnTo>
                    <a:lnTo>
                      <a:pt x="212" y="917"/>
                    </a:lnTo>
                    <a:lnTo>
                      <a:pt x="217" y="919"/>
                    </a:lnTo>
                    <a:lnTo>
                      <a:pt x="225" y="919"/>
                    </a:lnTo>
                    <a:lnTo>
                      <a:pt x="233" y="919"/>
                    </a:lnTo>
                    <a:lnTo>
                      <a:pt x="347" y="892"/>
                    </a:lnTo>
                    <a:lnTo>
                      <a:pt x="353" y="890"/>
                    </a:lnTo>
                    <a:lnTo>
                      <a:pt x="359" y="886"/>
                    </a:lnTo>
                    <a:lnTo>
                      <a:pt x="365" y="882"/>
                    </a:lnTo>
                    <a:lnTo>
                      <a:pt x="369" y="876"/>
                    </a:lnTo>
                    <a:lnTo>
                      <a:pt x="373" y="870"/>
                    </a:lnTo>
                    <a:lnTo>
                      <a:pt x="375" y="863"/>
                    </a:lnTo>
                    <a:lnTo>
                      <a:pt x="375" y="857"/>
                    </a:lnTo>
                    <a:lnTo>
                      <a:pt x="373" y="849"/>
                    </a:lnTo>
                    <a:lnTo>
                      <a:pt x="184" y="29"/>
                    </a:lnTo>
                    <a:lnTo>
                      <a:pt x="183" y="21"/>
                    </a:lnTo>
                    <a:lnTo>
                      <a:pt x="179" y="17"/>
                    </a:lnTo>
                    <a:lnTo>
                      <a:pt x="173" y="11"/>
                    </a:lnTo>
                    <a:lnTo>
                      <a:pt x="169" y="6"/>
                    </a:lnTo>
                    <a:lnTo>
                      <a:pt x="161" y="4"/>
                    </a:lnTo>
                    <a:lnTo>
                      <a:pt x="155" y="2"/>
                    </a:lnTo>
                    <a:lnTo>
                      <a:pt x="148" y="0"/>
                    </a:lnTo>
                    <a:lnTo>
                      <a:pt x="140" y="2"/>
                    </a:lnTo>
                    <a:close/>
                  </a:path>
                </a:pathLst>
              </a:custGeom>
              <a:solidFill>
                <a:srgbClr val="ACB3B3"/>
              </a:solidFill>
              <a:ln w="9525">
                <a:noFill/>
                <a:round/>
                <a:headEnd/>
                <a:tailEnd/>
              </a:ln>
            </p:spPr>
            <p:txBody>
              <a:bodyPr/>
              <a:lstStyle/>
              <a:p>
                <a:endParaRPr lang="en-US"/>
              </a:p>
            </p:txBody>
          </p:sp>
          <p:sp>
            <p:nvSpPr>
              <p:cNvPr id="1075" name="Freeform 157"/>
              <p:cNvSpPr>
                <a:spLocks/>
              </p:cNvSpPr>
              <p:nvPr/>
            </p:nvSpPr>
            <p:spPr bwMode="auto">
              <a:xfrm>
                <a:off x="5467" y="2889"/>
                <a:ext cx="187" cy="423"/>
              </a:xfrm>
              <a:custGeom>
                <a:avLst/>
                <a:gdLst>
                  <a:gd name="T0" fmla="*/ 0 w 375"/>
                  <a:gd name="T1" fmla="*/ 0 h 847"/>
                  <a:gd name="T2" fmla="*/ 0 w 375"/>
                  <a:gd name="T3" fmla="*/ 0 h 847"/>
                  <a:gd name="T4" fmla="*/ 0 w 375"/>
                  <a:gd name="T5" fmla="*/ 0 h 847"/>
                  <a:gd name="T6" fmla="*/ 0 w 375"/>
                  <a:gd name="T7" fmla="*/ 0 h 847"/>
                  <a:gd name="T8" fmla="*/ 0 w 375"/>
                  <a:gd name="T9" fmla="*/ 0 h 847"/>
                  <a:gd name="T10" fmla="*/ 0 w 375"/>
                  <a:gd name="T11" fmla="*/ 0 h 847"/>
                  <a:gd name="T12" fmla="*/ 0 w 375"/>
                  <a:gd name="T13" fmla="*/ 0 h 847"/>
                  <a:gd name="T14" fmla="*/ 0 w 375"/>
                  <a:gd name="T15" fmla="*/ 0 h 847"/>
                  <a:gd name="T16" fmla="*/ 0 w 375"/>
                  <a:gd name="T17" fmla="*/ 0 h 847"/>
                  <a:gd name="T18" fmla="*/ 0 w 375"/>
                  <a:gd name="T19" fmla="*/ 0 h 847"/>
                  <a:gd name="T20" fmla="*/ 0 w 375"/>
                  <a:gd name="T21" fmla="*/ 0 h 847"/>
                  <a:gd name="T22" fmla="*/ 0 w 375"/>
                  <a:gd name="T23" fmla="*/ 0 h 847"/>
                  <a:gd name="T24" fmla="*/ 0 w 375"/>
                  <a:gd name="T25" fmla="*/ 0 h 847"/>
                  <a:gd name="T26" fmla="*/ 0 w 375"/>
                  <a:gd name="T27" fmla="*/ 0 h 847"/>
                  <a:gd name="T28" fmla="*/ 0 w 375"/>
                  <a:gd name="T29" fmla="*/ 0 h 847"/>
                  <a:gd name="T30" fmla="*/ 0 w 375"/>
                  <a:gd name="T31" fmla="*/ 0 h 847"/>
                  <a:gd name="T32" fmla="*/ 0 w 375"/>
                  <a:gd name="T33" fmla="*/ 0 h 847"/>
                  <a:gd name="T34" fmla="*/ 0 w 375"/>
                  <a:gd name="T35" fmla="*/ 0 h 847"/>
                  <a:gd name="T36" fmla="*/ 0 w 375"/>
                  <a:gd name="T37" fmla="*/ 0 h 84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375"/>
                  <a:gd name="T58" fmla="*/ 0 h 847"/>
                  <a:gd name="T59" fmla="*/ 375 w 375"/>
                  <a:gd name="T60" fmla="*/ 847 h 84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375" h="847">
                    <a:moveTo>
                      <a:pt x="0" y="0"/>
                    </a:moveTo>
                    <a:lnTo>
                      <a:pt x="188" y="820"/>
                    </a:lnTo>
                    <a:lnTo>
                      <a:pt x="190" y="826"/>
                    </a:lnTo>
                    <a:lnTo>
                      <a:pt x="196" y="831"/>
                    </a:lnTo>
                    <a:lnTo>
                      <a:pt x="200" y="837"/>
                    </a:lnTo>
                    <a:lnTo>
                      <a:pt x="206" y="841"/>
                    </a:lnTo>
                    <a:lnTo>
                      <a:pt x="212" y="845"/>
                    </a:lnTo>
                    <a:lnTo>
                      <a:pt x="217" y="847"/>
                    </a:lnTo>
                    <a:lnTo>
                      <a:pt x="225" y="847"/>
                    </a:lnTo>
                    <a:lnTo>
                      <a:pt x="233" y="847"/>
                    </a:lnTo>
                    <a:lnTo>
                      <a:pt x="345" y="820"/>
                    </a:lnTo>
                    <a:lnTo>
                      <a:pt x="353" y="818"/>
                    </a:lnTo>
                    <a:lnTo>
                      <a:pt x="359" y="814"/>
                    </a:lnTo>
                    <a:lnTo>
                      <a:pt x="365" y="810"/>
                    </a:lnTo>
                    <a:lnTo>
                      <a:pt x="369" y="804"/>
                    </a:lnTo>
                    <a:lnTo>
                      <a:pt x="371" y="796"/>
                    </a:lnTo>
                    <a:lnTo>
                      <a:pt x="373" y="791"/>
                    </a:lnTo>
                    <a:lnTo>
                      <a:pt x="375" y="783"/>
                    </a:lnTo>
                    <a:lnTo>
                      <a:pt x="373" y="775"/>
                    </a:lnTo>
                  </a:path>
                </a:pathLst>
              </a:custGeom>
              <a:noFill/>
              <a:ln w="3175">
                <a:solidFill>
                  <a:srgbClr val="798080"/>
                </a:solidFill>
                <a:round/>
                <a:headEnd/>
                <a:tailEnd/>
              </a:ln>
            </p:spPr>
            <p:txBody>
              <a:bodyPr/>
              <a:lstStyle/>
              <a:p>
                <a:endParaRPr lang="en-US"/>
              </a:p>
            </p:txBody>
          </p:sp>
          <p:sp>
            <p:nvSpPr>
              <p:cNvPr id="1076" name="Freeform 158"/>
              <p:cNvSpPr>
                <a:spLocks/>
              </p:cNvSpPr>
              <p:nvPr/>
            </p:nvSpPr>
            <p:spPr bwMode="auto">
              <a:xfrm>
                <a:off x="5158" y="2914"/>
                <a:ext cx="376" cy="374"/>
              </a:xfrm>
              <a:custGeom>
                <a:avLst/>
                <a:gdLst>
                  <a:gd name="T0" fmla="*/ 1 w 752"/>
                  <a:gd name="T1" fmla="*/ 0 h 748"/>
                  <a:gd name="T2" fmla="*/ 1 w 752"/>
                  <a:gd name="T3" fmla="*/ 1 h 748"/>
                  <a:gd name="T4" fmla="*/ 1 w 752"/>
                  <a:gd name="T5" fmla="*/ 1 h 748"/>
                  <a:gd name="T6" fmla="*/ 1 w 752"/>
                  <a:gd name="T7" fmla="*/ 1 h 748"/>
                  <a:gd name="T8" fmla="*/ 0 w 752"/>
                  <a:gd name="T9" fmla="*/ 1 h 748"/>
                  <a:gd name="T10" fmla="*/ 1 w 752"/>
                  <a:gd name="T11" fmla="*/ 1 h 748"/>
                  <a:gd name="T12" fmla="*/ 1 w 752"/>
                  <a:gd name="T13" fmla="*/ 1 h 748"/>
                  <a:gd name="T14" fmla="*/ 1 w 752"/>
                  <a:gd name="T15" fmla="*/ 1 h 748"/>
                  <a:gd name="T16" fmla="*/ 1 w 752"/>
                  <a:gd name="T17" fmla="*/ 1 h 748"/>
                  <a:gd name="T18" fmla="*/ 1 w 752"/>
                  <a:gd name="T19" fmla="*/ 0 h 74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52"/>
                  <a:gd name="T31" fmla="*/ 0 h 748"/>
                  <a:gd name="T32" fmla="*/ 752 w 752"/>
                  <a:gd name="T33" fmla="*/ 748 h 74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52" h="748">
                    <a:moveTo>
                      <a:pt x="574" y="0"/>
                    </a:moveTo>
                    <a:lnTo>
                      <a:pt x="752" y="746"/>
                    </a:lnTo>
                    <a:lnTo>
                      <a:pt x="384" y="748"/>
                    </a:lnTo>
                    <a:lnTo>
                      <a:pt x="69" y="745"/>
                    </a:lnTo>
                    <a:lnTo>
                      <a:pt x="0" y="460"/>
                    </a:lnTo>
                    <a:lnTo>
                      <a:pt x="184" y="333"/>
                    </a:lnTo>
                    <a:lnTo>
                      <a:pt x="259" y="159"/>
                    </a:lnTo>
                    <a:lnTo>
                      <a:pt x="574" y="2"/>
                    </a:lnTo>
                    <a:lnTo>
                      <a:pt x="574" y="0"/>
                    </a:lnTo>
                    <a:close/>
                  </a:path>
                </a:pathLst>
              </a:custGeom>
              <a:solidFill>
                <a:srgbClr val="ACB3B3"/>
              </a:solidFill>
              <a:ln w="9525">
                <a:noFill/>
                <a:round/>
                <a:headEnd/>
                <a:tailEnd/>
              </a:ln>
            </p:spPr>
            <p:txBody>
              <a:bodyPr/>
              <a:lstStyle/>
              <a:p>
                <a:endParaRPr lang="en-US"/>
              </a:p>
            </p:txBody>
          </p:sp>
          <p:sp>
            <p:nvSpPr>
              <p:cNvPr id="1077" name="Freeform 159"/>
              <p:cNvSpPr>
                <a:spLocks/>
              </p:cNvSpPr>
              <p:nvPr/>
            </p:nvSpPr>
            <p:spPr bwMode="auto">
              <a:xfrm>
                <a:off x="5157" y="3144"/>
                <a:ext cx="376" cy="143"/>
              </a:xfrm>
              <a:custGeom>
                <a:avLst/>
                <a:gdLst>
                  <a:gd name="T0" fmla="*/ 0 w 752"/>
                  <a:gd name="T1" fmla="*/ 0 h 286"/>
                  <a:gd name="T2" fmla="*/ 1 w 752"/>
                  <a:gd name="T3" fmla="*/ 1 h 286"/>
                  <a:gd name="T4" fmla="*/ 1 w 752"/>
                  <a:gd name="T5" fmla="*/ 1 h 286"/>
                  <a:gd name="T6" fmla="*/ 0 60000 65536"/>
                  <a:gd name="T7" fmla="*/ 0 60000 65536"/>
                  <a:gd name="T8" fmla="*/ 0 60000 65536"/>
                  <a:gd name="T9" fmla="*/ 0 w 752"/>
                  <a:gd name="T10" fmla="*/ 0 h 286"/>
                  <a:gd name="T11" fmla="*/ 752 w 752"/>
                  <a:gd name="T12" fmla="*/ 286 h 286"/>
                </a:gdLst>
                <a:ahLst/>
                <a:cxnLst>
                  <a:cxn ang="T6">
                    <a:pos x="T0" y="T1"/>
                  </a:cxn>
                  <a:cxn ang="T7">
                    <a:pos x="T2" y="T3"/>
                  </a:cxn>
                  <a:cxn ang="T8">
                    <a:pos x="T4" y="T5"/>
                  </a:cxn>
                </a:cxnLst>
                <a:rect l="T9" t="T10" r="T11" b="T12"/>
                <a:pathLst>
                  <a:path w="752" h="286">
                    <a:moveTo>
                      <a:pt x="0" y="0"/>
                    </a:moveTo>
                    <a:lnTo>
                      <a:pt x="71" y="286"/>
                    </a:lnTo>
                    <a:lnTo>
                      <a:pt x="752" y="286"/>
                    </a:lnTo>
                  </a:path>
                </a:pathLst>
              </a:custGeom>
              <a:noFill/>
              <a:ln w="3175">
                <a:solidFill>
                  <a:srgbClr val="798080"/>
                </a:solidFill>
                <a:round/>
                <a:headEnd/>
                <a:tailEnd/>
              </a:ln>
            </p:spPr>
            <p:txBody>
              <a:bodyPr/>
              <a:lstStyle/>
              <a:p>
                <a:endParaRPr lang="en-US"/>
              </a:p>
            </p:txBody>
          </p:sp>
          <p:sp>
            <p:nvSpPr>
              <p:cNvPr id="1078" name="Freeform 160"/>
              <p:cNvSpPr>
                <a:spLocks/>
              </p:cNvSpPr>
              <p:nvPr/>
            </p:nvSpPr>
            <p:spPr bwMode="auto">
              <a:xfrm>
                <a:off x="5270" y="3305"/>
                <a:ext cx="280" cy="60"/>
              </a:xfrm>
              <a:custGeom>
                <a:avLst/>
                <a:gdLst>
                  <a:gd name="T0" fmla="*/ 1 w 558"/>
                  <a:gd name="T1" fmla="*/ 0 h 121"/>
                  <a:gd name="T2" fmla="*/ 1 w 558"/>
                  <a:gd name="T3" fmla="*/ 0 h 121"/>
                  <a:gd name="T4" fmla="*/ 1 w 558"/>
                  <a:gd name="T5" fmla="*/ 0 h 121"/>
                  <a:gd name="T6" fmla="*/ 1 w 558"/>
                  <a:gd name="T7" fmla="*/ 0 h 121"/>
                  <a:gd name="T8" fmla="*/ 0 w 558"/>
                  <a:gd name="T9" fmla="*/ 0 h 121"/>
                  <a:gd name="T10" fmla="*/ 1 w 558"/>
                  <a:gd name="T11" fmla="*/ 0 h 121"/>
                  <a:gd name="T12" fmla="*/ 1 w 558"/>
                  <a:gd name="T13" fmla="*/ 0 h 121"/>
                  <a:gd name="T14" fmla="*/ 1 w 558"/>
                  <a:gd name="T15" fmla="*/ 0 h 121"/>
                  <a:gd name="T16" fmla="*/ 1 w 558"/>
                  <a:gd name="T17" fmla="*/ 0 h 121"/>
                  <a:gd name="T18" fmla="*/ 1 w 558"/>
                  <a:gd name="T19" fmla="*/ 0 h 12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58"/>
                  <a:gd name="T31" fmla="*/ 0 h 121"/>
                  <a:gd name="T32" fmla="*/ 558 w 558"/>
                  <a:gd name="T33" fmla="*/ 121 h 12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58" h="121">
                    <a:moveTo>
                      <a:pt x="556" y="55"/>
                    </a:moveTo>
                    <a:lnTo>
                      <a:pt x="366" y="55"/>
                    </a:lnTo>
                    <a:lnTo>
                      <a:pt x="275" y="0"/>
                    </a:lnTo>
                    <a:lnTo>
                      <a:pt x="180" y="55"/>
                    </a:lnTo>
                    <a:lnTo>
                      <a:pt x="0" y="55"/>
                    </a:lnTo>
                    <a:lnTo>
                      <a:pt x="2" y="121"/>
                    </a:lnTo>
                    <a:lnTo>
                      <a:pt x="558" y="121"/>
                    </a:lnTo>
                    <a:lnTo>
                      <a:pt x="558" y="55"/>
                    </a:lnTo>
                    <a:lnTo>
                      <a:pt x="556" y="55"/>
                    </a:lnTo>
                    <a:close/>
                  </a:path>
                </a:pathLst>
              </a:custGeom>
              <a:solidFill>
                <a:srgbClr val="ACB3B3"/>
              </a:solidFill>
              <a:ln w="9525">
                <a:noFill/>
                <a:round/>
                <a:headEnd/>
                <a:tailEnd/>
              </a:ln>
            </p:spPr>
            <p:txBody>
              <a:bodyPr/>
              <a:lstStyle/>
              <a:p>
                <a:endParaRPr lang="en-US"/>
              </a:p>
            </p:txBody>
          </p:sp>
          <p:sp>
            <p:nvSpPr>
              <p:cNvPr id="1079" name="Freeform 161"/>
              <p:cNvSpPr>
                <a:spLocks/>
              </p:cNvSpPr>
              <p:nvPr/>
            </p:nvSpPr>
            <p:spPr bwMode="auto">
              <a:xfrm>
                <a:off x="5270" y="3332"/>
                <a:ext cx="280" cy="33"/>
              </a:xfrm>
              <a:custGeom>
                <a:avLst/>
                <a:gdLst>
                  <a:gd name="T0" fmla="*/ 0 w 558"/>
                  <a:gd name="T1" fmla="*/ 0 h 66"/>
                  <a:gd name="T2" fmla="*/ 1 w 558"/>
                  <a:gd name="T3" fmla="*/ 1 h 66"/>
                  <a:gd name="T4" fmla="*/ 1 w 558"/>
                  <a:gd name="T5" fmla="*/ 1 h 66"/>
                  <a:gd name="T6" fmla="*/ 0 60000 65536"/>
                  <a:gd name="T7" fmla="*/ 0 60000 65536"/>
                  <a:gd name="T8" fmla="*/ 0 60000 65536"/>
                  <a:gd name="T9" fmla="*/ 0 w 558"/>
                  <a:gd name="T10" fmla="*/ 0 h 66"/>
                  <a:gd name="T11" fmla="*/ 558 w 558"/>
                  <a:gd name="T12" fmla="*/ 66 h 66"/>
                </a:gdLst>
                <a:ahLst/>
                <a:cxnLst>
                  <a:cxn ang="T6">
                    <a:pos x="T0" y="T1"/>
                  </a:cxn>
                  <a:cxn ang="T7">
                    <a:pos x="T2" y="T3"/>
                  </a:cxn>
                  <a:cxn ang="T8">
                    <a:pos x="T4" y="T5"/>
                  </a:cxn>
                </a:cxnLst>
                <a:rect l="T9" t="T10" r="T11" b="T12"/>
                <a:pathLst>
                  <a:path w="558" h="66">
                    <a:moveTo>
                      <a:pt x="0" y="0"/>
                    </a:moveTo>
                    <a:lnTo>
                      <a:pt x="3" y="66"/>
                    </a:lnTo>
                    <a:lnTo>
                      <a:pt x="558" y="66"/>
                    </a:lnTo>
                  </a:path>
                </a:pathLst>
              </a:custGeom>
              <a:noFill/>
              <a:ln w="3175">
                <a:solidFill>
                  <a:srgbClr val="798080"/>
                </a:solidFill>
                <a:round/>
                <a:headEnd/>
                <a:tailEnd/>
              </a:ln>
            </p:spPr>
            <p:txBody>
              <a:bodyPr/>
              <a:lstStyle/>
              <a:p>
                <a:endParaRPr lang="en-US"/>
              </a:p>
            </p:txBody>
          </p:sp>
          <p:sp>
            <p:nvSpPr>
              <p:cNvPr id="1080" name="Line 162"/>
              <p:cNvSpPr>
                <a:spLocks noChangeShapeType="1"/>
              </p:cNvSpPr>
              <p:nvPr/>
            </p:nvSpPr>
            <p:spPr bwMode="auto">
              <a:xfrm flipH="1">
                <a:off x="5270" y="3332"/>
                <a:ext cx="90" cy="1"/>
              </a:xfrm>
              <a:prstGeom prst="line">
                <a:avLst/>
              </a:prstGeom>
              <a:noFill/>
              <a:ln w="3175">
                <a:solidFill>
                  <a:srgbClr val="DFE6E6"/>
                </a:solidFill>
                <a:round/>
                <a:headEnd/>
                <a:tailEnd/>
              </a:ln>
            </p:spPr>
            <p:txBody>
              <a:bodyPr/>
              <a:lstStyle/>
              <a:p>
                <a:endParaRPr lang="en-US"/>
              </a:p>
            </p:txBody>
          </p:sp>
          <p:sp>
            <p:nvSpPr>
              <p:cNvPr id="1081" name="Line 163"/>
              <p:cNvSpPr>
                <a:spLocks noChangeShapeType="1"/>
              </p:cNvSpPr>
              <p:nvPr/>
            </p:nvSpPr>
            <p:spPr bwMode="auto">
              <a:xfrm flipH="1">
                <a:off x="5360" y="3304"/>
                <a:ext cx="49" cy="28"/>
              </a:xfrm>
              <a:prstGeom prst="line">
                <a:avLst/>
              </a:prstGeom>
              <a:noFill/>
              <a:ln w="3175">
                <a:solidFill>
                  <a:srgbClr val="798080"/>
                </a:solidFill>
                <a:round/>
                <a:headEnd/>
                <a:tailEnd/>
              </a:ln>
            </p:spPr>
            <p:txBody>
              <a:bodyPr/>
              <a:lstStyle/>
              <a:p>
                <a:endParaRPr lang="en-US"/>
              </a:p>
            </p:txBody>
          </p:sp>
          <p:sp>
            <p:nvSpPr>
              <p:cNvPr id="1082" name="Freeform 164"/>
              <p:cNvSpPr>
                <a:spLocks/>
              </p:cNvSpPr>
              <p:nvPr/>
            </p:nvSpPr>
            <p:spPr bwMode="auto">
              <a:xfrm>
                <a:off x="5409" y="3305"/>
                <a:ext cx="141" cy="60"/>
              </a:xfrm>
              <a:custGeom>
                <a:avLst/>
                <a:gdLst>
                  <a:gd name="T0" fmla="*/ 1 w 281"/>
                  <a:gd name="T1" fmla="*/ 0 h 121"/>
                  <a:gd name="T2" fmla="*/ 1 w 281"/>
                  <a:gd name="T3" fmla="*/ 0 h 121"/>
                  <a:gd name="T4" fmla="*/ 1 w 281"/>
                  <a:gd name="T5" fmla="*/ 0 h 121"/>
                  <a:gd name="T6" fmla="*/ 0 w 281"/>
                  <a:gd name="T7" fmla="*/ 0 h 121"/>
                  <a:gd name="T8" fmla="*/ 0 60000 65536"/>
                  <a:gd name="T9" fmla="*/ 0 60000 65536"/>
                  <a:gd name="T10" fmla="*/ 0 60000 65536"/>
                  <a:gd name="T11" fmla="*/ 0 60000 65536"/>
                  <a:gd name="T12" fmla="*/ 0 w 281"/>
                  <a:gd name="T13" fmla="*/ 0 h 121"/>
                  <a:gd name="T14" fmla="*/ 281 w 281"/>
                  <a:gd name="T15" fmla="*/ 121 h 121"/>
                </a:gdLst>
                <a:ahLst/>
                <a:cxnLst>
                  <a:cxn ang="T8">
                    <a:pos x="T0" y="T1"/>
                  </a:cxn>
                  <a:cxn ang="T9">
                    <a:pos x="T2" y="T3"/>
                  </a:cxn>
                  <a:cxn ang="T10">
                    <a:pos x="T4" y="T5"/>
                  </a:cxn>
                  <a:cxn ang="T11">
                    <a:pos x="T6" y="T7"/>
                  </a:cxn>
                </a:cxnLst>
                <a:rect l="T12" t="T13" r="T14" b="T15"/>
                <a:pathLst>
                  <a:path w="281" h="121">
                    <a:moveTo>
                      <a:pt x="281" y="121"/>
                    </a:moveTo>
                    <a:lnTo>
                      <a:pt x="281" y="55"/>
                    </a:lnTo>
                    <a:lnTo>
                      <a:pt x="89" y="55"/>
                    </a:lnTo>
                    <a:lnTo>
                      <a:pt x="0" y="0"/>
                    </a:lnTo>
                  </a:path>
                </a:pathLst>
              </a:custGeom>
              <a:noFill/>
              <a:ln w="3175">
                <a:solidFill>
                  <a:srgbClr val="DFE6E6"/>
                </a:solidFill>
                <a:round/>
                <a:headEnd/>
                <a:tailEnd/>
              </a:ln>
            </p:spPr>
            <p:txBody>
              <a:bodyPr/>
              <a:lstStyle/>
              <a:p>
                <a:endParaRPr lang="en-US"/>
              </a:p>
            </p:txBody>
          </p:sp>
          <p:sp>
            <p:nvSpPr>
              <p:cNvPr id="1083" name="Freeform 165"/>
              <p:cNvSpPr>
                <a:spLocks/>
              </p:cNvSpPr>
              <p:nvPr/>
            </p:nvSpPr>
            <p:spPr bwMode="auto">
              <a:xfrm>
                <a:off x="5747" y="3286"/>
                <a:ext cx="362" cy="103"/>
              </a:xfrm>
              <a:custGeom>
                <a:avLst/>
                <a:gdLst>
                  <a:gd name="T0" fmla="*/ 1 w 723"/>
                  <a:gd name="T1" fmla="*/ 1 h 205"/>
                  <a:gd name="T2" fmla="*/ 1 w 723"/>
                  <a:gd name="T3" fmla="*/ 0 h 205"/>
                  <a:gd name="T4" fmla="*/ 1 w 723"/>
                  <a:gd name="T5" fmla="*/ 0 h 205"/>
                  <a:gd name="T6" fmla="*/ 1 w 723"/>
                  <a:gd name="T7" fmla="*/ 1 h 205"/>
                  <a:gd name="T8" fmla="*/ 1 w 723"/>
                  <a:gd name="T9" fmla="*/ 1 h 205"/>
                  <a:gd name="T10" fmla="*/ 1 w 723"/>
                  <a:gd name="T11" fmla="*/ 1 h 205"/>
                  <a:gd name="T12" fmla="*/ 1 w 723"/>
                  <a:gd name="T13" fmla="*/ 1 h 205"/>
                  <a:gd name="T14" fmla="*/ 1 w 723"/>
                  <a:gd name="T15" fmla="*/ 1 h 205"/>
                  <a:gd name="T16" fmla="*/ 1 w 723"/>
                  <a:gd name="T17" fmla="*/ 1 h 205"/>
                  <a:gd name="T18" fmla="*/ 1 w 723"/>
                  <a:gd name="T19" fmla="*/ 1 h 205"/>
                  <a:gd name="T20" fmla="*/ 0 w 723"/>
                  <a:gd name="T21" fmla="*/ 1 h 205"/>
                  <a:gd name="T22" fmla="*/ 1 w 723"/>
                  <a:gd name="T23" fmla="*/ 1 h 205"/>
                  <a:gd name="T24" fmla="*/ 1 w 723"/>
                  <a:gd name="T25" fmla="*/ 1 h 205"/>
                  <a:gd name="T26" fmla="*/ 1 w 723"/>
                  <a:gd name="T27" fmla="*/ 1 h 205"/>
                  <a:gd name="T28" fmla="*/ 1 w 723"/>
                  <a:gd name="T29" fmla="*/ 1 h 205"/>
                  <a:gd name="T30" fmla="*/ 1 w 723"/>
                  <a:gd name="T31" fmla="*/ 1 h 205"/>
                  <a:gd name="T32" fmla="*/ 1 w 723"/>
                  <a:gd name="T33" fmla="*/ 1 h 205"/>
                  <a:gd name="T34" fmla="*/ 1 w 723"/>
                  <a:gd name="T35" fmla="*/ 1 h 205"/>
                  <a:gd name="T36" fmla="*/ 1 w 723"/>
                  <a:gd name="T37" fmla="*/ 1 h 205"/>
                  <a:gd name="T38" fmla="*/ 1 w 723"/>
                  <a:gd name="T39" fmla="*/ 1 h 205"/>
                  <a:gd name="T40" fmla="*/ 1 w 723"/>
                  <a:gd name="T41" fmla="*/ 1 h 205"/>
                  <a:gd name="T42" fmla="*/ 1 w 723"/>
                  <a:gd name="T43" fmla="*/ 1 h 205"/>
                  <a:gd name="T44" fmla="*/ 1 w 723"/>
                  <a:gd name="T45" fmla="*/ 1 h 205"/>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723"/>
                  <a:gd name="T70" fmla="*/ 0 h 205"/>
                  <a:gd name="T71" fmla="*/ 723 w 723"/>
                  <a:gd name="T72" fmla="*/ 205 h 205"/>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723" h="205">
                    <a:moveTo>
                      <a:pt x="667" y="95"/>
                    </a:moveTo>
                    <a:lnTo>
                      <a:pt x="75" y="0"/>
                    </a:lnTo>
                    <a:lnTo>
                      <a:pt x="64" y="0"/>
                    </a:lnTo>
                    <a:lnTo>
                      <a:pt x="54" y="3"/>
                    </a:lnTo>
                    <a:lnTo>
                      <a:pt x="44" y="11"/>
                    </a:lnTo>
                    <a:lnTo>
                      <a:pt x="37" y="21"/>
                    </a:lnTo>
                    <a:lnTo>
                      <a:pt x="31" y="32"/>
                    </a:lnTo>
                    <a:lnTo>
                      <a:pt x="27" y="46"/>
                    </a:lnTo>
                    <a:lnTo>
                      <a:pt x="21" y="60"/>
                    </a:lnTo>
                    <a:lnTo>
                      <a:pt x="19" y="75"/>
                    </a:lnTo>
                    <a:lnTo>
                      <a:pt x="0" y="205"/>
                    </a:lnTo>
                    <a:lnTo>
                      <a:pt x="723" y="205"/>
                    </a:lnTo>
                    <a:lnTo>
                      <a:pt x="723" y="172"/>
                    </a:lnTo>
                    <a:lnTo>
                      <a:pt x="723" y="158"/>
                    </a:lnTo>
                    <a:lnTo>
                      <a:pt x="719" y="143"/>
                    </a:lnTo>
                    <a:lnTo>
                      <a:pt x="713" y="131"/>
                    </a:lnTo>
                    <a:lnTo>
                      <a:pt x="708" y="120"/>
                    </a:lnTo>
                    <a:lnTo>
                      <a:pt x="698" y="110"/>
                    </a:lnTo>
                    <a:lnTo>
                      <a:pt x="688" y="102"/>
                    </a:lnTo>
                    <a:lnTo>
                      <a:pt x="679" y="98"/>
                    </a:lnTo>
                    <a:lnTo>
                      <a:pt x="667" y="95"/>
                    </a:lnTo>
                    <a:close/>
                  </a:path>
                </a:pathLst>
              </a:custGeom>
              <a:solidFill>
                <a:srgbClr val="ACB3B3"/>
              </a:solidFill>
              <a:ln w="9525">
                <a:noFill/>
                <a:round/>
                <a:headEnd/>
                <a:tailEnd/>
              </a:ln>
            </p:spPr>
            <p:txBody>
              <a:bodyPr/>
              <a:lstStyle/>
              <a:p>
                <a:endParaRPr lang="en-US"/>
              </a:p>
            </p:txBody>
          </p:sp>
          <p:sp>
            <p:nvSpPr>
              <p:cNvPr id="1084" name="Freeform 166"/>
              <p:cNvSpPr>
                <a:spLocks/>
              </p:cNvSpPr>
              <p:nvPr/>
            </p:nvSpPr>
            <p:spPr bwMode="auto">
              <a:xfrm>
                <a:off x="5747" y="3302"/>
                <a:ext cx="362" cy="87"/>
              </a:xfrm>
              <a:custGeom>
                <a:avLst/>
                <a:gdLst>
                  <a:gd name="T0" fmla="*/ 1 w 723"/>
                  <a:gd name="T1" fmla="*/ 0 h 174"/>
                  <a:gd name="T2" fmla="*/ 1 w 723"/>
                  <a:gd name="T3" fmla="*/ 1 h 174"/>
                  <a:gd name="T4" fmla="*/ 1 w 723"/>
                  <a:gd name="T5" fmla="*/ 1 h 174"/>
                  <a:gd name="T6" fmla="*/ 1 w 723"/>
                  <a:gd name="T7" fmla="*/ 1 h 174"/>
                  <a:gd name="T8" fmla="*/ 1 w 723"/>
                  <a:gd name="T9" fmla="*/ 1 h 174"/>
                  <a:gd name="T10" fmla="*/ 1 w 723"/>
                  <a:gd name="T11" fmla="*/ 1 h 174"/>
                  <a:gd name="T12" fmla="*/ 1 w 723"/>
                  <a:gd name="T13" fmla="*/ 1 h 174"/>
                  <a:gd name="T14" fmla="*/ 1 w 723"/>
                  <a:gd name="T15" fmla="*/ 1 h 174"/>
                  <a:gd name="T16" fmla="*/ 0 w 723"/>
                  <a:gd name="T17" fmla="*/ 1 h 174"/>
                  <a:gd name="T18" fmla="*/ 1 w 723"/>
                  <a:gd name="T19" fmla="*/ 1 h 17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23"/>
                  <a:gd name="T31" fmla="*/ 0 h 174"/>
                  <a:gd name="T32" fmla="*/ 723 w 723"/>
                  <a:gd name="T33" fmla="*/ 174 h 17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23" h="174">
                    <a:moveTo>
                      <a:pt x="33" y="0"/>
                    </a:moveTo>
                    <a:lnTo>
                      <a:pt x="27" y="11"/>
                    </a:lnTo>
                    <a:lnTo>
                      <a:pt x="23" y="31"/>
                    </a:lnTo>
                    <a:lnTo>
                      <a:pt x="17" y="52"/>
                    </a:lnTo>
                    <a:lnTo>
                      <a:pt x="13" y="77"/>
                    </a:lnTo>
                    <a:lnTo>
                      <a:pt x="9" y="104"/>
                    </a:lnTo>
                    <a:lnTo>
                      <a:pt x="6" y="129"/>
                    </a:lnTo>
                    <a:lnTo>
                      <a:pt x="4" y="155"/>
                    </a:lnTo>
                    <a:lnTo>
                      <a:pt x="0" y="174"/>
                    </a:lnTo>
                    <a:lnTo>
                      <a:pt x="723" y="174"/>
                    </a:lnTo>
                  </a:path>
                </a:pathLst>
              </a:custGeom>
              <a:noFill/>
              <a:ln w="3175">
                <a:solidFill>
                  <a:srgbClr val="798080"/>
                </a:solidFill>
                <a:round/>
                <a:headEnd/>
                <a:tailEnd/>
              </a:ln>
            </p:spPr>
            <p:txBody>
              <a:bodyPr/>
              <a:lstStyle/>
              <a:p>
                <a:endParaRPr lang="en-US"/>
              </a:p>
            </p:txBody>
          </p:sp>
          <p:sp>
            <p:nvSpPr>
              <p:cNvPr id="1085" name="Freeform 167"/>
              <p:cNvSpPr>
                <a:spLocks/>
              </p:cNvSpPr>
              <p:nvPr/>
            </p:nvSpPr>
            <p:spPr bwMode="auto">
              <a:xfrm>
                <a:off x="5762" y="3285"/>
                <a:ext cx="347" cy="104"/>
              </a:xfrm>
              <a:custGeom>
                <a:avLst/>
                <a:gdLst>
                  <a:gd name="T0" fmla="*/ 1 w 694"/>
                  <a:gd name="T1" fmla="*/ 1 h 207"/>
                  <a:gd name="T2" fmla="*/ 1 w 694"/>
                  <a:gd name="T3" fmla="*/ 1 h 207"/>
                  <a:gd name="T4" fmla="*/ 1 w 694"/>
                  <a:gd name="T5" fmla="*/ 1 h 207"/>
                  <a:gd name="T6" fmla="*/ 1 w 694"/>
                  <a:gd name="T7" fmla="*/ 1 h 207"/>
                  <a:gd name="T8" fmla="*/ 1 w 694"/>
                  <a:gd name="T9" fmla="*/ 1 h 207"/>
                  <a:gd name="T10" fmla="*/ 1 w 694"/>
                  <a:gd name="T11" fmla="*/ 1 h 207"/>
                  <a:gd name="T12" fmla="*/ 1 w 694"/>
                  <a:gd name="T13" fmla="*/ 1 h 207"/>
                  <a:gd name="T14" fmla="*/ 1 w 694"/>
                  <a:gd name="T15" fmla="*/ 1 h 207"/>
                  <a:gd name="T16" fmla="*/ 1 w 694"/>
                  <a:gd name="T17" fmla="*/ 1 h 207"/>
                  <a:gd name="T18" fmla="*/ 1 w 694"/>
                  <a:gd name="T19" fmla="*/ 1 h 207"/>
                  <a:gd name="T20" fmla="*/ 1 w 694"/>
                  <a:gd name="T21" fmla="*/ 1 h 207"/>
                  <a:gd name="T22" fmla="*/ 1 w 694"/>
                  <a:gd name="T23" fmla="*/ 0 h 207"/>
                  <a:gd name="T24" fmla="*/ 1 w 694"/>
                  <a:gd name="T25" fmla="*/ 1 h 207"/>
                  <a:gd name="T26" fmla="*/ 1 w 694"/>
                  <a:gd name="T27" fmla="*/ 1 h 207"/>
                  <a:gd name="T28" fmla="*/ 1 w 694"/>
                  <a:gd name="T29" fmla="*/ 1 h 207"/>
                  <a:gd name="T30" fmla="*/ 1 w 694"/>
                  <a:gd name="T31" fmla="*/ 1 h 207"/>
                  <a:gd name="T32" fmla="*/ 1 w 694"/>
                  <a:gd name="T33" fmla="*/ 1 h 207"/>
                  <a:gd name="T34" fmla="*/ 1 w 694"/>
                  <a:gd name="T35" fmla="*/ 1 h 207"/>
                  <a:gd name="T36" fmla="*/ 0 w 694"/>
                  <a:gd name="T37" fmla="*/ 1 h 20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694"/>
                  <a:gd name="T58" fmla="*/ 0 h 207"/>
                  <a:gd name="T59" fmla="*/ 694 w 694"/>
                  <a:gd name="T60" fmla="*/ 207 h 20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694" h="207">
                    <a:moveTo>
                      <a:pt x="694" y="207"/>
                    </a:moveTo>
                    <a:lnTo>
                      <a:pt x="694" y="174"/>
                    </a:lnTo>
                    <a:lnTo>
                      <a:pt x="694" y="159"/>
                    </a:lnTo>
                    <a:lnTo>
                      <a:pt x="690" y="145"/>
                    </a:lnTo>
                    <a:lnTo>
                      <a:pt x="684" y="133"/>
                    </a:lnTo>
                    <a:lnTo>
                      <a:pt x="679" y="122"/>
                    </a:lnTo>
                    <a:lnTo>
                      <a:pt x="669" y="112"/>
                    </a:lnTo>
                    <a:lnTo>
                      <a:pt x="659" y="104"/>
                    </a:lnTo>
                    <a:lnTo>
                      <a:pt x="650" y="100"/>
                    </a:lnTo>
                    <a:lnTo>
                      <a:pt x="638" y="97"/>
                    </a:lnTo>
                    <a:lnTo>
                      <a:pt x="46" y="2"/>
                    </a:lnTo>
                    <a:lnTo>
                      <a:pt x="37" y="0"/>
                    </a:lnTo>
                    <a:lnTo>
                      <a:pt x="29" y="2"/>
                    </a:lnTo>
                    <a:lnTo>
                      <a:pt x="23" y="3"/>
                    </a:lnTo>
                    <a:lnTo>
                      <a:pt x="15" y="7"/>
                    </a:lnTo>
                    <a:lnTo>
                      <a:pt x="11" y="13"/>
                    </a:lnTo>
                    <a:lnTo>
                      <a:pt x="8" y="21"/>
                    </a:lnTo>
                    <a:lnTo>
                      <a:pt x="4" y="31"/>
                    </a:lnTo>
                    <a:lnTo>
                      <a:pt x="0" y="42"/>
                    </a:lnTo>
                  </a:path>
                </a:pathLst>
              </a:custGeom>
              <a:noFill/>
              <a:ln w="3175">
                <a:solidFill>
                  <a:srgbClr val="DFE6E6"/>
                </a:solidFill>
                <a:round/>
                <a:headEnd/>
                <a:tailEnd/>
              </a:ln>
            </p:spPr>
            <p:txBody>
              <a:bodyPr/>
              <a:lstStyle/>
              <a:p>
                <a:endParaRPr lang="en-US"/>
              </a:p>
            </p:txBody>
          </p:sp>
          <p:sp>
            <p:nvSpPr>
              <p:cNvPr id="1086" name="Line 168"/>
              <p:cNvSpPr>
                <a:spLocks noChangeShapeType="1"/>
              </p:cNvSpPr>
              <p:nvPr/>
            </p:nvSpPr>
            <p:spPr bwMode="auto">
              <a:xfrm flipH="1" flipV="1">
                <a:off x="5445" y="2915"/>
                <a:ext cx="88" cy="372"/>
              </a:xfrm>
              <a:prstGeom prst="line">
                <a:avLst/>
              </a:prstGeom>
              <a:noFill/>
              <a:ln w="3175">
                <a:solidFill>
                  <a:srgbClr val="DFE6E6"/>
                </a:solidFill>
                <a:round/>
                <a:headEnd/>
                <a:tailEnd/>
              </a:ln>
            </p:spPr>
            <p:txBody>
              <a:bodyPr/>
              <a:lstStyle/>
              <a:p>
                <a:endParaRPr lang="en-US"/>
              </a:p>
            </p:txBody>
          </p:sp>
          <p:sp>
            <p:nvSpPr>
              <p:cNvPr id="1087" name="Freeform 169"/>
              <p:cNvSpPr>
                <a:spLocks/>
              </p:cNvSpPr>
              <p:nvPr/>
            </p:nvSpPr>
            <p:spPr bwMode="auto">
              <a:xfrm>
                <a:off x="5157" y="2915"/>
                <a:ext cx="288" cy="229"/>
              </a:xfrm>
              <a:custGeom>
                <a:avLst/>
                <a:gdLst>
                  <a:gd name="T0" fmla="*/ 0 w 576"/>
                  <a:gd name="T1" fmla="*/ 1 h 458"/>
                  <a:gd name="T2" fmla="*/ 1 w 576"/>
                  <a:gd name="T3" fmla="*/ 1 h 458"/>
                  <a:gd name="T4" fmla="*/ 1 w 576"/>
                  <a:gd name="T5" fmla="*/ 1 h 458"/>
                  <a:gd name="T6" fmla="*/ 1 w 576"/>
                  <a:gd name="T7" fmla="*/ 0 h 458"/>
                  <a:gd name="T8" fmla="*/ 0 60000 65536"/>
                  <a:gd name="T9" fmla="*/ 0 60000 65536"/>
                  <a:gd name="T10" fmla="*/ 0 60000 65536"/>
                  <a:gd name="T11" fmla="*/ 0 60000 65536"/>
                  <a:gd name="T12" fmla="*/ 0 w 576"/>
                  <a:gd name="T13" fmla="*/ 0 h 458"/>
                  <a:gd name="T14" fmla="*/ 576 w 576"/>
                  <a:gd name="T15" fmla="*/ 458 h 458"/>
                </a:gdLst>
                <a:ahLst/>
                <a:cxnLst>
                  <a:cxn ang="T8">
                    <a:pos x="T0" y="T1"/>
                  </a:cxn>
                  <a:cxn ang="T9">
                    <a:pos x="T2" y="T3"/>
                  </a:cxn>
                  <a:cxn ang="T10">
                    <a:pos x="T4" y="T5"/>
                  </a:cxn>
                  <a:cxn ang="T11">
                    <a:pos x="T6" y="T7"/>
                  </a:cxn>
                </a:cxnLst>
                <a:rect l="T12" t="T13" r="T14" b="T15"/>
                <a:pathLst>
                  <a:path w="576" h="458">
                    <a:moveTo>
                      <a:pt x="0" y="458"/>
                    </a:moveTo>
                    <a:lnTo>
                      <a:pt x="186" y="331"/>
                    </a:lnTo>
                    <a:lnTo>
                      <a:pt x="261" y="157"/>
                    </a:lnTo>
                    <a:lnTo>
                      <a:pt x="576" y="0"/>
                    </a:lnTo>
                  </a:path>
                </a:pathLst>
              </a:custGeom>
              <a:noFill/>
              <a:ln w="3175">
                <a:solidFill>
                  <a:srgbClr val="DFE6E6"/>
                </a:solidFill>
                <a:round/>
                <a:headEnd/>
                <a:tailEnd/>
              </a:ln>
            </p:spPr>
            <p:txBody>
              <a:bodyPr/>
              <a:lstStyle/>
              <a:p>
                <a:endParaRPr lang="en-US"/>
              </a:p>
            </p:txBody>
          </p:sp>
          <p:sp>
            <p:nvSpPr>
              <p:cNvPr id="1088" name="Freeform 170"/>
              <p:cNvSpPr>
                <a:spLocks/>
              </p:cNvSpPr>
              <p:nvPr/>
            </p:nvSpPr>
            <p:spPr bwMode="auto">
              <a:xfrm>
                <a:off x="5467" y="2854"/>
                <a:ext cx="186" cy="423"/>
              </a:xfrm>
              <a:custGeom>
                <a:avLst/>
                <a:gdLst>
                  <a:gd name="T0" fmla="*/ 0 w 373"/>
                  <a:gd name="T1" fmla="*/ 1 h 845"/>
                  <a:gd name="T2" fmla="*/ 0 w 373"/>
                  <a:gd name="T3" fmla="*/ 1 h 845"/>
                  <a:gd name="T4" fmla="*/ 0 w 373"/>
                  <a:gd name="T5" fmla="*/ 1 h 845"/>
                  <a:gd name="T6" fmla="*/ 0 w 373"/>
                  <a:gd name="T7" fmla="*/ 1 h 845"/>
                  <a:gd name="T8" fmla="*/ 0 w 373"/>
                  <a:gd name="T9" fmla="*/ 1 h 845"/>
                  <a:gd name="T10" fmla="*/ 0 w 373"/>
                  <a:gd name="T11" fmla="*/ 1 h 845"/>
                  <a:gd name="T12" fmla="*/ 0 w 373"/>
                  <a:gd name="T13" fmla="*/ 1 h 845"/>
                  <a:gd name="T14" fmla="*/ 0 w 373"/>
                  <a:gd name="T15" fmla="*/ 0 h 845"/>
                  <a:gd name="T16" fmla="*/ 0 w 373"/>
                  <a:gd name="T17" fmla="*/ 0 h 845"/>
                  <a:gd name="T18" fmla="*/ 0 w 373"/>
                  <a:gd name="T19" fmla="*/ 0 h 845"/>
                  <a:gd name="T20" fmla="*/ 0 w 373"/>
                  <a:gd name="T21" fmla="*/ 1 h 845"/>
                  <a:gd name="T22" fmla="*/ 0 w 373"/>
                  <a:gd name="T23" fmla="*/ 1 h 845"/>
                  <a:gd name="T24" fmla="*/ 0 w 373"/>
                  <a:gd name="T25" fmla="*/ 1 h 845"/>
                  <a:gd name="T26" fmla="*/ 0 w 373"/>
                  <a:gd name="T27" fmla="*/ 1 h 845"/>
                  <a:gd name="T28" fmla="*/ 0 w 373"/>
                  <a:gd name="T29" fmla="*/ 1 h 845"/>
                  <a:gd name="T30" fmla="*/ 0 w 373"/>
                  <a:gd name="T31" fmla="*/ 1 h 845"/>
                  <a:gd name="T32" fmla="*/ 0 w 373"/>
                  <a:gd name="T33" fmla="*/ 1 h 845"/>
                  <a:gd name="T34" fmla="*/ 0 w 373"/>
                  <a:gd name="T35" fmla="*/ 1 h 845"/>
                  <a:gd name="T36" fmla="*/ 0 w 373"/>
                  <a:gd name="T37" fmla="*/ 1 h 84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373"/>
                  <a:gd name="T58" fmla="*/ 0 h 845"/>
                  <a:gd name="T59" fmla="*/ 373 w 373"/>
                  <a:gd name="T60" fmla="*/ 845 h 84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373" h="845">
                    <a:moveTo>
                      <a:pt x="373" y="845"/>
                    </a:moveTo>
                    <a:lnTo>
                      <a:pt x="184" y="27"/>
                    </a:lnTo>
                    <a:lnTo>
                      <a:pt x="183" y="19"/>
                    </a:lnTo>
                    <a:lnTo>
                      <a:pt x="179" y="13"/>
                    </a:lnTo>
                    <a:lnTo>
                      <a:pt x="173" y="9"/>
                    </a:lnTo>
                    <a:lnTo>
                      <a:pt x="169" y="4"/>
                    </a:lnTo>
                    <a:lnTo>
                      <a:pt x="161" y="2"/>
                    </a:lnTo>
                    <a:lnTo>
                      <a:pt x="155" y="0"/>
                    </a:lnTo>
                    <a:lnTo>
                      <a:pt x="148" y="0"/>
                    </a:lnTo>
                    <a:lnTo>
                      <a:pt x="140" y="0"/>
                    </a:lnTo>
                    <a:lnTo>
                      <a:pt x="27" y="27"/>
                    </a:lnTo>
                    <a:lnTo>
                      <a:pt x="20" y="29"/>
                    </a:lnTo>
                    <a:lnTo>
                      <a:pt x="14" y="33"/>
                    </a:lnTo>
                    <a:lnTo>
                      <a:pt x="10" y="37"/>
                    </a:lnTo>
                    <a:lnTo>
                      <a:pt x="4" y="42"/>
                    </a:lnTo>
                    <a:lnTo>
                      <a:pt x="2" y="48"/>
                    </a:lnTo>
                    <a:lnTo>
                      <a:pt x="0" y="54"/>
                    </a:lnTo>
                    <a:lnTo>
                      <a:pt x="0" y="62"/>
                    </a:lnTo>
                    <a:lnTo>
                      <a:pt x="0" y="70"/>
                    </a:lnTo>
                  </a:path>
                </a:pathLst>
              </a:custGeom>
              <a:noFill/>
              <a:ln w="3175">
                <a:solidFill>
                  <a:srgbClr val="DFE6E6"/>
                </a:solidFill>
                <a:round/>
                <a:headEnd/>
                <a:tailEnd/>
              </a:ln>
            </p:spPr>
            <p:txBody>
              <a:bodyPr/>
              <a:lstStyle/>
              <a:p>
                <a:endParaRPr lang="en-US"/>
              </a:p>
            </p:txBody>
          </p:sp>
        </p:grpSp>
      </p:grpSp>
      <p:sp>
        <p:nvSpPr>
          <p:cNvPr id="1032" name="Text Box 171"/>
          <p:cNvSpPr txBox="1">
            <a:spLocks noChangeArrowheads="1"/>
          </p:cNvSpPr>
          <p:nvPr/>
        </p:nvSpPr>
        <p:spPr bwMode="auto">
          <a:xfrm>
            <a:off x="825500" y="3810000"/>
            <a:ext cx="2105025" cy="915988"/>
          </a:xfrm>
          <a:prstGeom prst="rect">
            <a:avLst/>
          </a:prstGeom>
          <a:noFill/>
          <a:ln w="9525">
            <a:noFill/>
            <a:miter lim="800000"/>
            <a:headEnd/>
            <a:tailEnd/>
          </a:ln>
        </p:spPr>
        <p:txBody>
          <a:bodyPr wrap="none">
            <a:spAutoFit/>
          </a:bodyPr>
          <a:lstStyle/>
          <a:p>
            <a:r>
              <a:rPr lang="en-US">
                <a:latin typeface="Tahoma" pitchFamily="34" charset="0"/>
              </a:rPr>
              <a:t>Departemen user</a:t>
            </a:r>
          </a:p>
          <a:p>
            <a:r>
              <a:rPr lang="en-US">
                <a:latin typeface="Tahoma" pitchFamily="34" charset="0"/>
              </a:rPr>
              <a:t>Membuat Purchase</a:t>
            </a:r>
          </a:p>
          <a:p>
            <a:r>
              <a:rPr lang="en-US">
                <a:latin typeface="Tahoma" pitchFamily="34" charset="0"/>
              </a:rPr>
              <a:t>Requisition (PR)</a:t>
            </a:r>
          </a:p>
        </p:txBody>
      </p:sp>
      <p:sp>
        <p:nvSpPr>
          <p:cNvPr id="1033" name="Line 172"/>
          <p:cNvSpPr>
            <a:spLocks noChangeShapeType="1"/>
          </p:cNvSpPr>
          <p:nvPr/>
        </p:nvSpPr>
        <p:spPr bwMode="auto">
          <a:xfrm>
            <a:off x="1816100" y="4724400"/>
            <a:ext cx="2146300" cy="838200"/>
          </a:xfrm>
          <a:prstGeom prst="line">
            <a:avLst/>
          </a:prstGeom>
          <a:noFill/>
          <a:ln w="9525">
            <a:solidFill>
              <a:schemeClr val="tx1"/>
            </a:solidFill>
            <a:round/>
            <a:headEnd/>
            <a:tailEnd type="triangle" w="med" len="med"/>
          </a:ln>
        </p:spPr>
        <p:txBody>
          <a:bodyPr/>
          <a:lstStyle/>
          <a:p>
            <a:endParaRPr lang="en-US"/>
          </a:p>
        </p:txBody>
      </p:sp>
      <p:sp>
        <p:nvSpPr>
          <p:cNvPr id="1034" name="Line 173"/>
          <p:cNvSpPr>
            <a:spLocks noChangeShapeType="1"/>
          </p:cNvSpPr>
          <p:nvPr/>
        </p:nvSpPr>
        <p:spPr bwMode="auto">
          <a:xfrm>
            <a:off x="2063750" y="3276600"/>
            <a:ext cx="1981200" cy="0"/>
          </a:xfrm>
          <a:prstGeom prst="line">
            <a:avLst/>
          </a:prstGeom>
          <a:noFill/>
          <a:ln w="9525">
            <a:solidFill>
              <a:srgbClr val="000000"/>
            </a:solidFill>
            <a:prstDash val="dashDot"/>
            <a:round/>
            <a:headEnd/>
            <a:tailEnd type="triangle" w="med" len="med"/>
          </a:ln>
        </p:spPr>
        <p:txBody>
          <a:bodyPr/>
          <a:lstStyle/>
          <a:p>
            <a:endParaRPr lang="en-US"/>
          </a:p>
        </p:txBody>
      </p:sp>
      <p:sp>
        <p:nvSpPr>
          <p:cNvPr id="1035" name="Text Box 174"/>
          <p:cNvSpPr txBox="1">
            <a:spLocks noChangeArrowheads="1"/>
          </p:cNvSpPr>
          <p:nvPr/>
        </p:nvSpPr>
        <p:spPr bwMode="auto">
          <a:xfrm>
            <a:off x="4870450" y="5943600"/>
            <a:ext cx="1482725" cy="641350"/>
          </a:xfrm>
          <a:prstGeom prst="rect">
            <a:avLst/>
          </a:prstGeom>
          <a:noFill/>
          <a:ln w="9525">
            <a:noFill/>
            <a:miter lim="800000"/>
            <a:headEnd/>
            <a:tailEnd/>
          </a:ln>
        </p:spPr>
        <p:txBody>
          <a:bodyPr wrap="none">
            <a:spAutoFit/>
          </a:bodyPr>
          <a:lstStyle/>
          <a:p>
            <a:r>
              <a:rPr lang="en-US">
                <a:latin typeface="Tahoma" pitchFamily="34" charset="0"/>
              </a:rPr>
              <a:t>Purchasing </a:t>
            </a:r>
          </a:p>
          <a:p>
            <a:r>
              <a:rPr lang="en-US">
                <a:latin typeface="Tahoma" pitchFamily="34" charset="0"/>
              </a:rPr>
              <a:t>Membuat PO</a:t>
            </a:r>
          </a:p>
        </p:txBody>
      </p:sp>
      <p:sp>
        <p:nvSpPr>
          <p:cNvPr id="1036" name="Line 175"/>
          <p:cNvSpPr>
            <a:spLocks noChangeShapeType="1"/>
          </p:cNvSpPr>
          <p:nvPr/>
        </p:nvSpPr>
        <p:spPr bwMode="auto">
          <a:xfrm>
            <a:off x="4292600" y="3962400"/>
            <a:ext cx="0" cy="1219200"/>
          </a:xfrm>
          <a:prstGeom prst="line">
            <a:avLst/>
          </a:prstGeom>
          <a:noFill/>
          <a:ln w="9525">
            <a:solidFill>
              <a:srgbClr val="000000"/>
            </a:solidFill>
            <a:prstDash val="dashDot"/>
            <a:round/>
            <a:headEnd/>
            <a:tailEnd type="triangle" w="med" len="med"/>
          </a:ln>
        </p:spPr>
        <p:txBody>
          <a:bodyPr/>
          <a:lstStyle/>
          <a:p>
            <a:endParaRPr lang="en-US"/>
          </a:p>
        </p:txBody>
      </p:sp>
      <p:graphicFrame>
        <p:nvGraphicFramePr>
          <p:cNvPr id="1027" name="Object 176"/>
          <p:cNvGraphicFramePr>
            <a:graphicFrameLocks noChangeAspect="1"/>
          </p:cNvGraphicFramePr>
          <p:nvPr/>
        </p:nvGraphicFramePr>
        <p:xfrm>
          <a:off x="7016750" y="2743200"/>
          <a:ext cx="1076325" cy="882650"/>
        </p:xfrm>
        <a:graphic>
          <a:graphicData uri="http://schemas.openxmlformats.org/presentationml/2006/ole">
            <p:oleObj spid="_x0000_s462851" name="Clip" r:id="rId7" imgW="2506320" imgH="2225160" progId="">
              <p:embed/>
            </p:oleObj>
          </a:graphicData>
        </a:graphic>
      </p:graphicFrame>
      <p:sp>
        <p:nvSpPr>
          <p:cNvPr id="1037" name="Line 177"/>
          <p:cNvSpPr>
            <a:spLocks noChangeShapeType="1"/>
          </p:cNvSpPr>
          <p:nvPr/>
        </p:nvSpPr>
        <p:spPr bwMode="auto">
          <a:xfrm>
            <a:off x="5695950" y="5867400"/>
            <a:ext cx="2971800" cy="0"/>
          </a:xfrm>
          <a:prstGeom prst="line">
            <a:avLst/>
          </a:prstGeom>
          <a:noFill/>
          <a:ln w="9525">
            <a:solidFill>
              <a:schemeClr val="tx1"/>
            </a:solidFill>
            <a:round/>
            <a:headEnd/>
            <a:tailEnd type="triangle" w="med" len="med"/>
          </a:ln>
        </p:spPr>
        <p:txBody>
          <a:bodyPr/>
          <a:lstStyle/>
          <a:p>
            <a:endParaRPr lang="en-US"/>
          </a:p>
        </p:txBody>
      </p:sp>
      <p:sp>
        <p:nvSpPr>
          <p:cNvPr id="1038" name="Text Box 178"/>
          <p:cNvSpPr txBox="1">
            <a:spLocks noChangeArrowheads="1"/>
          </p:cNvSpPr>
          <p:nvPr/>
        </p:nvSpPr>
        <p:spPr bwMode="auto">
          <a:xfrm>
            <a:off x="5861050" y="5105400"/>
            <a:ext cx="1925638" cy="581025"/>
          </a:xfrm>
          <a:prstGeom prst="rect">
            <a:avLst/>
          </a:prstGeom>
          <a:noFill/>
          <a:ln w="9525">
            <a:noFill/>
            <a:miter lim="800000"/>
            <a:headEnd/>
            <a:tailEnd/>
          </a:ln>
        </p:spPr>
        <p:txBody>
          <a:bodyPr wrap="none">
            <a:spAutoFit/>
          </a:bodyPr>
          <a:lstStyle/>
          <a:p>
            <a:r>
              <a:rPr lang="en-US" sz="1600">
                <a:latin typeface="Tahoma" pitchFamily="34" charset="0"/>
              </a:rPr>
              <a:t>Dikirim ke supplier</a:t>
            </a:r>
          </a:p>
          <a:p>
            <a:r>
              <a:rPr lang="en-US" sz="1600">
                <a:latin typeface="Tahoma" pitchFamily="34" charset="0"/>
              </a:rPr>
              <a:t>Via fax, email, kurir</a:t>
            </a:r>
          </a:p>
        </p:txBody>
      </p:sp>
      <p:sp>
        <p:nvSpPr>
          <p:cNvPr id="1039" name="Line 179"/>
          <p:cNvSpPr>
            <a:spLocks noChangeShapeType="1"/>
          </p:cNvSpPr>
          <p:nvPr/>
        </p:nvSpPr>
        <p:spPr bwMode="auto">
          <a:xfrm flipV="1">
            <a:off x="4870450" y="3962400"/>
            <a:ext cx="0" cy="1143000"/>
          </a:xfrm>
          <a:prstGeom prst="line">
            <a:avLst/>
          </a:prstGeom>
          <a:noFill/>
          <a:ln w="9525">
            <a:solidFill>
              <a:srgbClr val="000000"/>
            </a:solidFill>
            <a:prstDash val="dashDot"/>
            <a:round/>
            <a:headEnd/>
            <a:tailEnd type="triangle" w="med" len="med"/>
          </a:ln>
        </p:spPr>
        <p:txBody>
          <a:bodyPr/>
          <a:lstStyle/>
          <a:p>
            <a:endParaRPr lang="en-US"/>
          </a:p>
        </p:txBody>
      </p:sp>
      <p:pic>
        <p:nvPicPr>
          <p:cNvPr id="1040" name="Picture 180" descr="j0285360"/>
          <p:cNvPicPr>
            <a:picLocks noChangeAspect="1" noChangeArrowheads="1"/>
          </p:cNvPicPr>
          <p:nvPr/>
        </p:nvPicPr>
        <p:blipFill>
          <a:blip r:embed="rId8"/>
          <a:srcRect/>
          <a:stretch>
            <a:fillRect/>
          </a:stretch>
        </p:blipFill>
        <p:spPr bwMode="auto">
          <a:xfrm>
            <a:off x="8750300" y="5029200"/>
            <a:ext cx="931863" cy="1060450"/>
          </a:xfrm>
          <a:prstGeom prst="rect">
            <a:avLst/>
          </a:prstGeom>
          <a:noFill/>
          <a:ln w="9525">
            <a:noFill/>
            <a:miter lim="800000"/>
            <a:headEnd/>
            <a:tailEnd/>
          </a:ln>
        </p:spPr>
      </p:pic>
      <p:sp>
        <p:nvSpPr>
          <p:cNvPr id="1041" name="Line 181"/>
          <p:cNvSpPr>
            <a:spLocks noChangeShapeType="1"/>
          </p:cNvSpPr>
          <p:nvPr/>
        </p:nvSpPr>
        <p:spPr bwMode="auto">
          <a:xfrm>
            <a:off x="5118100" y="3581400"/>
            <a:ext cx="1651000" cy="0"/>
          </a:xfrm>
          <a:prstGeom prst="line">
            <a:avLst/>
          </a:prstGeom>
          <a:noFill/>
          <a:ln w="9525">
            <a:solidFill>
              <a:srgbClr val="000000"/>
            </a:solidFill>
            <a:prstDash val="dashDot"/>
            <a:round/>
            <a:headEnd/>
            <a:tailEnd type="triangle" w="med" len="med"/>
          </a:ln>
        </p:spPr>
        <p:txBody>
          <a:bodyPr/>
          <a:lstStyle/>
          <a:p>
            <a:endParaRPr lang="en-US"/>
          </a:p>
        </p:txBody>
      </p:sp>
      <p:sp>
        <p:nvSpPr>
          <p:cNvPr id="1042" name="Text Box 182"/>
          <p:cNvSpPr txBox="1">
            <a:spLocks noChangeArrowheads="1"/>
          </p:cNvSpPr>
          <p:nvPr/>
        </p:nvSpPr>
        <p:spPr bwMode="auto">
          <a:xfrm>
            <a:off x="6769100" y="1624013"/>
            <a:ext cx="1863725" cy="1069975"/>
          </a:xfrm>
          <a:prstGeom prst="rect">
            <a:avLst/>
          </a:prstGeom>
          <a:noFill/>
          <a:ln w="9525">
            <a:noFill/>
            <a:miter lim="800000"/>
            <a:headEnd/>
            <a:tailEnd/>
          </a:ln>
        </p:spPr>
        <p:txBody>
          <a:bodyPr wrap="none">
            <a:spAutoFit/>
          </a:bodyPr>
          <a:lstStyle/>
          <a:p>
            <a:r>
              <a:rPr lang="en-US" sz="1600">
                <a:latin typeface="Tahoma" pitchFamily="34" charset="0"/>
              </a:rPr>
              <a:t>Gudang membuat </a:t>
            </a:r>
          </a:p>
          <a:p>
            <a:r>
              <a:rPr lang="en-US" sz="1600">
                <a:latin typeface="Tahoma" pitchFamily="34" charset="0"/>
              </a:rPr>
              <a:t>GR document</a:t>
            </a:r>
          </a:p>
          <a:p>
            <a:r>
              <a:rPr lang="en-US" sz="1600">
                <a:latin typeface="Tahoma" pitchFamily="34" charset="0"/>
              </a:rPr>
              <a:t>Setelah menerima </a:t>
            </a:r>
          </a:p>
          <a:p>
            <a:r>
              <a:rPr lang="en-US" sz="1600">
                <a:latin typeface="Tahoma" pitchFamily="34" charset="0"/>
              </a:rPr>
              <a:t>barang dr supplier</a:t>
            </a:r>
          </a:p>
        </p:txBody>
      </p:sp>
      <p:sp>
        <p:nvSpPr>
          <p:cNvPr id="1043" name="Line 183"/>
          <p:cNvSpPr>
            <a:spLocks noChangeShapeType="1"/>
          </p:cNvSpPr>
          <p:nvPr/>
        </p:nvSpPr>
        <p:spPr bwMode="auto">
          <a:xfrm flipH="1" flipV="1">
            <a:off x="8255000" y="3200400"/>
            <a:ext cx="990600" cy="1676400"/>
          </a:xfrm>
          <a:prstGeom prst="line">
            <a:avLst/>
          </a:prstGeom>
          <a:noFill/>
          <a:ln w="9525">
            <a:solidFill>
              <a:schemeClr val="tx1"/>
            </a:solidFill>
            <a:round/>
            <a:headEnd/>
            <a:tailEnd type="triangle" w="med" len="med"/>
          </a:ln>
        </p:spPr>
        <p:txBody>
          <a:bodyPr/>
          <a:lstStyle/>
          <a:p>
            <a:endParaRPr lang="en-US"/>
          </a:p>
        </p:txBody>
      </p:sp>
      <p:sp>
        <p:nvSpPr>
          <p:cNvPr id="1044" name="Line 184"/>
          <p:cNvSpPr>
            <a:spLocks noChangeShapeType="1"/>
          </p:cNvSpPr>
          <p:nvPr/>
        </p:nvSpPr>
        <p:spPr bwMode="auto">
          <a:xfrm flipH="1">
            <a:off x="5035550" y="3200400"/>
            <a:ext cx="1733550" cy="0"/>
          </a:xfrm>
          <a:prstGeom prst="line">
            <a:avLst/>
          </a:prstGeom>
          <a:noFill/>
          <a:ln w="9525">
            <a:solidFill>
              <a:srgbClr val="000000"/>
            </a:solidFill>
            <a:prstDash val="dashDot"/>
            <a:round/>
            <a:headEnd/>
            <a:tailEnd type="triangle" w="med" len="med"/>
          </a:ln>
        </p:spPr>
        <p:txBody>
          <a:bodyPr/>
          <a:lstStyle/>
          <a:p>
            <a:endParaRPr lang="en-US"/>
          </a:p>
        </p:txBody>
      </p:sp>
      <p:sp>
        <p:nvSpPr>
          <p:cNvPr id="1045" name="Text Box 185"/>
          <p:cNvSpPr txBox="1">
            <a:spLocks noChangeArrowheads="1"/>
          </p:cNvSpPr>
          <p:nvPr/>
        </p:nvSpPr>
        <p:spPr bwMode="auto">
          <a:xfrm>
            <a:off x="8815388" y="6051550"/>
            <a:ext cx="1000125" cy="366713"/>
          </a:xfrm>
          <a:prstGeom prst="rect">
            <a:avLst/>
          </a:prstGeom>
          <a:noFill/>
          <a:ln w="9525">
            <a:noFill/>
            <a:miter lim="800000"/>
            <a:headEnd/>
            <a:tailEnd/>
          </a:ln>
        </p:spPr>
        <p:txBody>
          <a:bodyPr wrap="none">
            <a:spAutoFit/>
          </a:bodyPr>
          <a:lstStyle/>
          <a:p>
            <a:r>
              <a:rPr lang="en-US">
                <a:latin typeface="Tahoma" pitchFamily="34" charset="0"/>
              </a:rPr>
              <a:t>Supplier</a:t>
            </a:r>
          </a:p>
        </p:txBody>
      </p:sp>
      <p:sp>
        <p:nvSpPr>
          <p:cNvPr id="1046" name="Text Box 186"/>
          <p:cNvSpPr txBox="1">
            <a:spLocks noChangeArrowheads="1"/>
          </p:cNvSpPr>
          <p:nvPr/>
        </p:nvSpPr>
        <p:spPr bwMode="auto">
          <a:xfrm>
            <a:off x="4292600" y="3505200"/>
            <a:ext cx="939800" cy="376238"/>
          </a:xfrm>
          <a:prstGeom prst="rect">
            <a:avLst/>
          </a:prstGeom>
          <a:solidFill>
            <a:schemeClr val="bg1"/>
          </a:solidFill>
          <a:ln w="9525">
            <a:solidFill>
              <a:srgbClr val="000000"/>
            </a:solidFill>
            <a:miter lim="800000"/>
            <a:headEnd/>
            <a:tailEnd/>
          </a:ln>
        </p:spPr>
        <p:txBody>
          <a:bodyPr wrap="none">
            <a:spAutoFit/>
          </a:bodyPr>
          <a:lstStyle/>
          <a:p>
            <a:r>
              <a:rPr lang="en-US" b="1">
                <a:latin typeface="Tahoma" pitchFamily="34" charset="0"/>
              </a:rPr>
              <a:t>Server</a:t>
            </a:r>
          </a:p>
        </p:txBody>
      </p:sp>
      <p:cxnSp>
        <p:nvCxnSpPr>
          <p:cNvPr id="1047" name="AutoShape 187"/>
          <p:cNvCxnSpPr>
            <a:cxnSpLocks noChangeShapeType="1"/>
          </p:cNvCxnSpPr>
          <p:nvPr/>
        </p:nvCxnSpPr>
        <p:spPr bwMode="auto">
          <a:xfrm rot="5400000" flipH="1">
            <a:off x="4763294" y="951706"/>
            <a:ext cx="4038600" cy="3963988"/>
          </a:xfrm>
          <a:prstGeom prst="bentConnector2">
            <a:avLst/>
          </a:prstGeom>
          <a:noFill/>
          <a:ln w="9525">
            <a:solidFill>
              <a:schemeClr val="tx1"/>
            </a:solidFill>
            <a:miter lim="800000"/>
            <a:headEnd/>
            <a:tailEnd type="triangle" w="med" len="med"/>
          </a:ln>
        </p:spPr>
      </p:cxnSp>
      <p:sp>
        <p:nvSpPr>
          <p:cNvPr id="1048" name="Text Box 188"/>
          <p:cNvSpPr txBox="1">
            <a:spLocks noChangeArrowheads="1"/>
          </p:cNvSpPr>
          <p:nvPr/>
        </p:nvSpPr>
        <p:spPr bwMode="auto">
          <a:xfrm>
            <a:off x="6769100" y="331788"/>
            <a:ext cx="1743075" cy="517525"/>
          </a:xfrm>
          <a:prstGeom prst="rect">
            <a:avLst/>
          </a:prstGeom>
          <a:noFill/>
          <a:ln w="9525">
            <a:noFill/>
            <a:miter lim="800000"/>
            <a:headEnd/>
            <a:tailEnd/>
          </a:ln>
        </p:spPr>
        <p:txBody>
          <a:bodyPr wrap="none">
            <a:spAutoFit/>
          </a:bodyPr>
          <a:lstStyle/>
          <a:p>
            <a:r>
              <a:rPr lang="en-US" sz="1400">
                <a:latin typeface="Tahoma" pitchFamily="34" charset="0"/>
              </a:rPr>
              <a:t>Finance memproses</a:t>
            </a:r>
          </a:p>
          <a:p>
            <a:r>
              <a:rPr lang="en-US" sz="1400">
                <a:latin typeface="Tahoma" pitchFamily="34" charset="0"/>
              </a:rPr>
              <a:t>invoice supplier</a:t>
            </a:r>
          </a:p>
        </p:txBody>
      </p:sp>
      <p:sp>
        <p:nvSpPr>
          <p:cNvPr id="1049" name="Line 189"/>
          <p:cNvSpPr>
            <a:spLocks noChangeShapeType="1"/>
          </p:cNvSpPr>
          <p:nvPr/>
        </p:nvSpPr>
        <p:spPr bwMode="auto">
          <a:xfrm>
            <a:off x="4870450" y="1371600"/>
            <a:ext cx="0" cy="1066800"/>
          </a:xfrm>
          <a:prstGeom prst="line">
            <a:avLst/>
          </a:prstGeom>
          <a:noFill/>
          <a:ln w="9525">
            <a:solidFill>
              <a:srgbClr val="000000"/>
            </a:solidFill>
            <a:prstDash val="dashDot"/>
            <a:round/>
            <a:headEnd/>
            <a:tailEnd type="triangle" w="med" len="med"/>
          </a:ln>
        </p:spPr>
        <p:txBody>
          <a:bodyPr/>
          <a:lstStyle/>
          <a:p>
            <a:endParaRPr lang="en-US"/>
          </a:p>
        </p:txBody>
      </p:sp>
      <p:sp>
        <p:nvSpPr>
          <p:cNvPr id="1050" name="Line 190"/>
          <p:cNvSpPr>
            <a:spLocks noChangeShapeType="1"/>
          </p:cNvSpPr>
          <p:nvPr/>
        </p:nvSpPr>
        <p:spPr bwMode="auto">
          <a:xfrm flipH="1">
            <a:off x="1485900" y="838200"/>
            <a:ext cx="2641600" cy="0"/>
          </a:xfrm>
          <a:prstGeom prst="line">
            <a:avLst/>
          </a:prstGeom>
          <a:noFill/>
          <a:ln w="9525">
            <a:solidFill>
              <a:schemeClr val="tx1"/>
            </a:solidFill>
            <a:round/>
            <a:headEnd/>
            <a:tailEnd type="triangle" w="med" len="med"/>
          </a:ln>
        </p:spPr>
        <p:txBody>
          <a:bodyPr/>
          <a:lstStyle/>
          <a:p>
            <a:endParaRPr lang="en-US"/>
          </a:p>
        </p:txBody>
      </p:sp>
      <p:sp>
        <p:nvSpPr>
          <p:cNvPr id="1051" name="Text Box 191"/>
          <p:cNvSpPr txBox="1">
            <a:spLocks noChangeArrowheads="1"/>
          </p:cNvSpPr>
          <p:nvPr/>
        </p:nvSpPr>
        <p:spPr bwMode="auto">
          <a:xfrm>
            <a:off x="1485900" y="279400"/>
            <a:ext cx="1863725" cy="517525"/>
          </a:xfrm>
          <a:prstGeom prst="rect">
            <a:avLst/>
          </a:prstGeom>
          <a:solidFill>
            <a:schemeClr val="bg1"/>
          </a:solidFill>
          <a:ln w="9525">
            <a:noFill/>
            <a:miter lim="800000"/>
            <a:headEnd/>
            <a:tailEnd/>
          </a:ln>
        </p:spPr>
        <p:txBody>
          <a:bodyPr wrap="none">
            <a:spAutoFit/>
          </a:bodyPr>
          <a:lstStyle/>
          <a:p>
            <a:r>
              <a:rPr lang="en-US" sz="1400">
                <a:latin typeface="Tahoma" pitchFamily="34" charset="0"/>
              </a:rPr>
              <a:t>Finance melunasi A/P</a:t>
            </a:r>
          </a:p>
          <a:p>
            <a:r>
              <a:rPr lang="en-US" sz="1400">
                <a:latin typeface="Tahoma" pitchFamily="34" charset="0"/>
              </a:rPr>
              <a:t>Dan setor pajak</a:t>
            </a:r>
          </a:p>
        </p:txBody>
      </p:sp>
      <p:sp>
        <p:nvSpPr>
          <p:cNvPr id="1052" name="Text Box 192"/>
          <p:cNvSpPr txBox="1">
            <a:spLocks noChangeArrowheads="1"/>
          </p:cNvSpPr>
          <p:nvPr/>
        </p:nvSpPr>
        <p:spPr bwMode="auto">
          <a:xfrm>
            <a:off x="412750" y="1066800"/>
            <a:ext cx="681038" cy="366713"/>
          </a:xfrm>
          <a:prstGeom prst="rect">
            <a:avLst/>
          </a:prstGeom>
          <a:noFill/>
          <a:ln w="9525">
            <a:noFill/>
            <a:miter lim="800000"/>
            <a:headEnd/>
            <a:tailEnd/>
          </a:ln>
        </p:spPr>
        <p:txBody>
          <a:bodyPr wrap="none">
            <a:spAutoFit/>
          </a:bodyPr>
          <a:lstStyle/>
          <a:p>
            <a:r>
              <a:rPr lang="en-US">
                <a:latin typeface="Tahoma" pitchFamily="34" charset="0"/>
              </a:rPr>
              <a:t>Bank</a:t>
            </a:r>
          </a:p>
        </p:txBody>
      </p:sp>
      <p:sp>
        <p:nvSpPr>
          <p:cNvPr id="1053" name="Line 193"/>
          <p:cNvSpPr>
            <a:spLocks noChangeShapeType="1"/>
          </p:cNvSpPr>
          <p:nvPr/>
        </p:nvSpPr>
        <p:spPr bwMode="auto">
          <a:xfrm>
            <a:off x="1651000" y="1066800"/>
            <a:ext cx="2393950" cy="0"/>
          </a:xfrm>
          <a:prstGeom prst="line">
            <a:avLst/>
          </a:prstGeom>
          <a:noFill/>
          <a:ln w="9525">
            <a:solidFill>
              <a:schemeClr val="tx1"/>
            </a:solidFill>
            <a:round/>
            <a:headEnd/>
            <a:tailEnd type="triangle" w="med" len="med"/>
          </a:ln>
        </p:spPr>
        <p:txBody>
          <a:bodyPr/>
          <a:lstStyle/>
          <a:p>
            <a:endParaRPr lang="en-US"/>
          </a:p>
        </p:txBody>
      </p:sp>
      <p:sp>
        <p:nvSpPr>
          <p:cNvPr id="1054" name="Text Box 194"/>
          <p:cNvSpPr txBox="1">
            <a:spLocks noChangeArrowheads="1"/>
          </p:cNvSpPr>
          <p:nvPr/>
        </p:nvSpPr>
        <p:spPr bwMode="auto">
          <a:xfrm>
            <a:off x="1733550" y="1117600"/>
            <a:ext cx="1416050" cy="517525"/>
          </a:xfrm>
          <a:prstGeom prst="rect">
            <a:avLst/>
          </a:prstGeom>
          <a:noFill/>
          <a:ln w="9525">
            <a:noFill/>
            <a:miter lim="800000"/>
            <a:headEnd/>
            <a:tailEnd/>
          </a:ln>
        </p:spPr>
        <p:txBody>
          <a:bodyPr wrap="none">
            <a:spAutoFit/>
          </a:bodyPr>
          <a:lstStyle/>
          <a:p>
            <a:r>
              <a:rPr lang="en-US" sz="1400">
                <a:latin typeface="Tahoma" pitchFamily="34" charset="0"/>
              </a:rPr>
              <a:t>Bank mengirim </a:t>
            </a:r>
          </a:p>
          <a:p>
            <a:r>
              <a:rPr lang="en-US" sz="1400">
                <a:latin typeface="Tahoma" pitchFamily="34" charset="0"/>
              </a:rPr>
              <a:t>rekening koran</a:t>
            </a:r>
          </a:p>
        </p:txBody>
      </p:sp>
      <p:sp>
        <p:nvSpPr>
          <p:cNvPr id="1055" name="Text Box 195"/>
          <p:cNvSpPr txBox="1">
            <a:spLocks noChangeArrowheads="1"/>
          </p:cNvSpPr>
          <p:nvPr/>
        </p:nvSpPr>
        <p:spPr bwMode="auto">
          <a:xfrm>
            <a:off x="1898650" y="5105400"/>
            <a:ext cx="976313" cy="366713"/>
          </a:xfrm>
          <a:prstGeom prst="rect">
            <a:avLst/>
          </a:prstGeom>
          <a:noFill/>
          <a:ln w="9525">
            <a:noFill/>
            <a:miter lim="800000"/>
            <a:headEnd/>
            <a:tailEnd/>
          </a:ln>
        </p:spPr>
        <p:txBody>
          <a:bodyPr wrap="none">
            <a:spAutoFit/>
          </a:bodyPr>
          <a:lstStyle/>
          <a:p>
            <a:r>
              <a:rPr lang="en-US">
                <a:latin typeface="Tahoma" pitchFamily="34" charset="0"/>
              </a:rPr>
              <a:t>Doc. PR</a:t>
            </a:r>
          </a:p>
        </p:txBody>
      </p:sp>
      <p:sp>
        <p:nvSpPr>
          <p:cNvPr id="1056" name="Text Box 196"/>
          <p:cNvSpPr txBox="1">
            <a:spLocks noChangeArrowheads="1"/>
          </p:cNvSpPr>
          <p:nvPr/>
        </p:nvSpPr>
        <p:spPr bwMode="auto">
          <a:xfrm>
            <a:off x="4935538" y="4398963"/>
            <a:ext cx="923925" cy="336550"/>
          </a:xfrm>
          <a:prstGeom prst="rect">
            <a:avLst/>
          </a:prstGeom>
          <a:noFill/>
          <a:ln w="9525">
            <a:noFill/>
            <a:miter lim="800000"/>
            <a:headEnd/>
            <a:tailEnd/>
          </a:ln>
        </p:spPr>
        <p:txBody>
          <a:bodyPr wrap="none">
            <a:spAutoFit/>
          </a:bodyPr>
          <a:lstStyle/>
          <a:p>
            <a:r>
              <a:rPr lang="en-US" sz="1600">
                <a:latin typeface="Tahoma" pitchFamily="34" charset="0"/>
              </a:rPr>
              <a:t>Data PO</a:t>
            </a:r>
          </a:p>
        </p:txBody>
      </p:sp>
      <p:sp>
        <p:nvSpPr>
          <p:cNvPr id="1057" name="Text Box 197"/>
          <p:cNvSpPr txBox="1">
            <a:spLocks noChangeArrowheads="1"/>
          </p:cNvSpPr>
          <p:nvPr/>
        </p:nvSpPr>
        <p:spPr bwMode="auto">
          <a:xfrm>
            <a:off x="3219450" y="4443413"/>
            <a:ext cx="904875" cy="336550"/>
          </a:xfrm>
          <a:prstGeom prst="rect">
            <a:avLst/>
          </a:prstGeom>
          <a:noFill/>
          <a:ln w="9525">
            <a:noFill/>
            <a:miter lim="800000"/>
            <a:headEnd/>
            <a:tailEnd/>
          </a:ln>
        </p:spPr>
        <p:txBody>
          <a:bodyPr wrap="none">
            <a:spAutoFit/>
          </a:bodyPr>
          <a:lstStyle/>
          <a:p>
            <a:r>
              <a:rPr lang="en-US" sz="1600">
                <a:latin typeface="Tahoma" pitchFamily="34" charset="0"/>
              </a:rPr>
              <a:t>Data PR</a:t>
            </a:r>
          </a:p>
        </p:txBody>
      </p:sp>
      <p:sp>
        <p:nvSpPr>
          <p:cNvPr id="1058" name="Line 198"/>
          <p:cNvSpPr>
            <a:spLocks noChangeShapeType="1"/>
          </p:cNvSpPr>
          <p:nvPr/>
        </p:nvSpPr>
        <p:spPr bwMode="auto">
          <a:xfrm>
            <a:off x="4375150" y="1371600"/>
            <a:ext cx="0" cy="1066800"/>
          </a:xfrm>
          <a:prstGeom prst="line">
            <a:avLst/>
          </a:prstGeom>
          <a:noFill/>
          <a:ln w="9525">
            <a:solidFill>
              <a:srgbClr val="000000"/>
            </a:solidFill>
            <a:prstDash val="dashDot"/>
            <a:round/>
            <a:headEnd/>
            <a:tailEnd type="triangle" w="med" len="med"/>
          </a:ln>
        </p:spPr>
        <p:txBody>
          <a:bodyPr/>
          <a:lstStyle/>
          <a:p>
            <a:endParaRPr lang="en-US"/>
          </a:p>
        </p:txBody>
      </p:sp>
      <p:sp>
        <p:nvSpPr>
          <p:cNvPr id="1059" name="Text Box 199"/>
          <p:cNvSpPr txBox="1">
            <a:spLocks noChangeArrowheads="1"/>
          </p:cNvSpPr>
          <p:nvPr/>
        </p:nvSpPr>
        <p:spPr bwMode="auto">
          <a:xfrm>
            <a:off x="4870450" y="2286000"/>
            <a:ext cx="1314450" cy="336550"/>
          </a:xfrm>
          <a:prstGeom prst="rect">
            <a:avLst/>
          </a:prstGeom>
          <a:noFill/>
          <a:ln w="9525">
            <a:noFill/>
            <a:miter lim="800000"/>
            <a:headEnd/>
            <a:tailEnd/>
          </a:ln>
        </p:spPr>
        <p:txBody>
          <a:bodyPr wrap="none">
            <a:spAutoFit/>
          </a:bodyPr>
          <a:lstStyle/>
          <a:p>
            <a:r>
              <a:rPr lang="en-US" sz="1600">
                <a:latin typeface="Tahoma" pitchFamily="34" charset="0"/>
              </a:rPr>
              <a:t>Data Invoice</a:t>
            </a:r>
          </a:p>
        </p:txBody>
      </p:sp>
      <p:sp>
        <p:nvSpPr>
          <p:cNvPr id="1060" name="Text Box 200"/>
          <p:cNvSpPr txBox="1">
            <a:spLocks noChangeArrowheads="1"/>
          </p:cNvSpPr>
          <p:nvPr/>
        </p:nvSpPr>
        <p:spPr bwMode="auto">
          <a:xfrm>
            <a:off x="3384550" y="1676400"/>
            <a:ext cx="990600" cy="581025"/>
          </a:xfrm>
          <a:prstGeom prst="rect">
            <a:avLst/>
          </a:prstGeom>
          <a:noFill/>
          <a:ln w="9525">
            <a:noFill/>
            <a:miter lim="800000"/>
            <a:headEnd/>
            <a:tailEnd/>
          </a:ln>
        </p:spPr>
        <p:txBody>
          <a:bodyPr>
            <a:spAutoFit/>
          </a:bodyPr>
          <a:lstStyle/>
          <a:p>
            <a:r>
              <a:rPr lang="en-US" sz="1600">
                <a:latin typeface="Tahoma" pitchFamily="34" charset="0"/>
              </a:rPr>
              <a:t>Clearing</a:t>
            </a:r>
          </a:p>
          <a:p>
            <a:r>
              <a:rPr lang="en-US" sz="1600">
                <a:latin typeface="Tahoma" pitchFamily="34" charset="0"/>
              </a:rPr>
              <a:t> A/P</a:t>
            </a:r>
          </a:p>
        </p:txBody>
      </p:sp>
      <p:sp>
        <p:nvSpPr>
          <p:cNvPr id="1061" name="Text Box 201"/>
          <p:cNvSpPr txBox="1">
            <a:spLocks noChangeArrowheads="1"/>
          </p:cNvSpPr>
          <p:nvPr/>
        </p:nvSpPr>
        <p:spPr bwMode="auto">
          <a:xfrm>
            <a:off x="5613400" y="3581400"/>
            <a:ext cx="923925" cy="336550"/>
          </a:xfrm>
          <a:prstGeom prst="rect">
            <a:avLst/>
          </a:prstGeom>
          <a:noFill/>
          <a:ln w="9525">
            <a:noFill/>
            <a:miter lim="800000"/>
            <a:headEnd/>
            <a:tailEnd/>
          </a:ln>
        </p:spPr>
        <p:txBody>
          <a:bodyPr wrap="none">
            <a:spAutoFit/>
          </a:bodyPr>
          <a:lstStyle/>
          <a:p>
            <a:r>
              <a:rPr lang="en-US" sz="1600">
                <a:latin typeface="Tahoma" pitchFamily="34" charset="0"/>
              </a:rPr>
              <a:t>Data PO</a:t>
            </a:r>
          </a:p>
        </p:txBody>
      </p:sp>
      <p:sp>
        <p:nvSpPr>
          <p:cNvPr id="1062" name="Text Box 202"/>
          <p:cNvSpPr txBox="1">
            <a:spLocks noChangeArrowheads="1"/>
          </p:cNvSpPr>
          <p:nvPr/>
        </p:nvSpPr>
        <p:spPr bwMode="auto">
          <a:xfrm>
            <a:off x="2559050" y="3352800"/>
            <a:ext cx="904875" cy="336550"/>
          </a:xfrm>
          <a:prstGeom prst="rect">
            <a:avLst/>
          </a:prstGeom>
          <a:noFill/>
          <a:ln w="9525">
            <a:noFill/>
            <a:miter lim="800000"/>
            <a:headEnd/>
            <a:tailEnd/>
          </a:ln>
        </p:spPr>
        <p:txBody>
          <a:bodyPr wrap="none">
            <a:spAutoFit/>
          </a:bodyPr>
          <a:lstStyle/>
          <a:p>
            <a:r>
              <a:rPr lang="en-US" sz="1600">
                <a:latin typeface="Tahoma" pitchFamily="34" charset="0"/>
              </a:rPr>
              <a:t>Data PR</a:t>
            </a:r>
          </a:p>
        </p:txBody>
      </p:sp>
      <p:sp>
        <p:nvSpPr>
          <p:cNvPr id="1063" name="Line 203"/>
          <p:cNvSpPr>
            <a:spLocks noChangeShapeType="1"/>
          </p:cNvSpPr>
          <p:nvPr/>
        </p:nvSpPr>
        <p:spPr bwMode="auto">
          <a:xfrm flipV="1">
            <a:off x="5035550" y="1219200"/>
            <a:ext cx="0" cy="990600"/>
          </a:xfrm>
          <a:prstGeom prst="line">
            <a:avLst/>
          </a:prstGeom>
          <a:noFill/>
          <a:ln w="9525">
            <a:solidFill>
              <a:srgbClr val="000000"/>
            </a:solidFill>
            <a:prstDash val="dashDot"/>
            <a:round/>
            <a:headEnd/>
            <a:tailEnd type="triangle" w="med" len="med"/>
          </a:ln>
        </p:spPr>
        <p:txBody>
          <a:bodyPr/>
          <a:lstStyle/>
          <a:p>
            <a:endParaRPr lang="en-US"/>
          </a:p>
        </p:txBody>
      </p:sp>
      <p:sp>
        <p:nvSpPr>
          <p:cNvPr id="1064" name="Text Box 204"/>
          <p:cNvSpPr txBox="1">
            <a:spLocks noChangeArrowheads="1"/>
          </p:cNvSpPr>
          <p:nvPr/>
        </p:nvSpPr>
        <p:spPr bwMode="auto">
          <a:xfrm>
            <a:off x="5118100" y="1524000"/>
            <a:ext cx="927100" cy="336550"/>
          </a:xfrm>
          <a:prstGeom prst="rect">
            <a:avLst/>
          </a:prstGeom>
          <a:noFill/>
          <a:ln w="9525">
            <a:noFill/>
            <a:miter lim="800000"/>
            <a:headEnd/>
            <a:tailEnd/>
          </a:ln>
        </p:spPr>
        <p:txBody>
          <a:bodyPr wrap="none">
            <a:spAutoFit/>
          </a:bodyPr>
          <a:lstStyle/>
          <a:p>
            <a:r>
              <a:rPr lang="en-US" sz="1600">
                <a:latin typeface="Tahoma" pitchFamily="34" charset="0"/>
              </a:rPr>
              <a:t>Data GR</a:t>
            </a:r>
          </a:p>
        </p:txBody>
      </p:sp>
      <p:sp>
        <p:nvSpPr>
          <p:cNvPr id="1065" name="Text Box 205"/>
          <p:cNvSpPr txBox="1">
            <a:spLocks noChangeArrowheads="1"/>
          </p:cNvSpPr>
          <p:nvPr/>
        </p:nvSpPr>
        <p:spPr bwMode="auto">
          <a:xfrm>
            <a:off x="5448300" y="2819400"/>
            <a:ext cx="927100" cy="336550"/>
          </a:xfrm>
          <a:prstGeom prst="rect">
            <a:avLst/>
          </a:prstGeom>
          <a:noFill/>
          <a:ln w="9525">
            <a:noFill/>
            <a:miter lim="800000"/>
            <a:headEnd/>
            <a:tailEnd/>
          </a:ln>
        </p:spPr>
        <p:txBody>
          <a:bodyPr wrap="none">
            <a:spAutoFit/>
          </a:bodyPr>
          <a:lstStyle/>
          <a:p>
            <a:r>
              <a:rPr lang="en-US" sz="1600">
                <a:latin typeface="Tahoma" pitchFamily="34" charset="0"/>
              </a:rPr>
              <a:t>Data GR</a:t>
            </a:r>
          </a:p>
        </p:txBody>
      </p:sp>
      <p:sp>
        <p:nvSpPr>
          <p:cNvPr id="1066" name="AutoShape 206"/>
          <p:cNvSpPr>
            <a:spLocks noChangeArrowheads="1"/>
          </p:cNvSpPr>
          <p:nvPr/>
        </p:nvSpPr>
        <p:spPr bwMode="auto">
          <a:xfrm>
            <a:off x="2311400" y="2286000"/>
            <a:ext cx="1816100" cy="762000"/>
          </a:xfrm>
          <a:prstGeom prst="wedgeRoundRectCallout">
            <a:avLst>
              <a:gd name="adj1" fmla="val 53407"/>
              <a:gd name="adj2" fmla="val 66250"/>
              <a:gd name="adj3" fmla="val 16667"/>
            </a:avLst>
          </a:prstGeom>
          <a:solidFill>
            <a:schemeClr val="bg1"/>
          </a:solidFill>
          <a:ln w="9525">
            <a:solidFill>
              <a:schemeClr val="tx1"/>
            </a:solidFill>
            <a:miter lim="800000"/>
            <a:headEnd/>
            <a:tailEnd/>
          </a:ln>
        </p:spPr>
        <p:txBody>
          <a:bodyPr/>
          <a:lstStyle/>
          <a:p>
            <a:pPr algn="ctr"/>
            <a:r>
              <a:rPr lang="en-US" sz="1400">
                <a:latin typeface="Tahoma" pitchFamily="34" charset="0"/>
              </a:rPr>
              <a:t>Master data : vendor, alamat, Rek. Bank</a:t>
            </a:r>
          </a:p>
        </p:txBody>
      </p:sp>
      <p:sp>
        <p:nvSpPr>
          <p:cNvPr id="1067" name="Text Box 207"/>
          <p:cNvSpPr txBox="1">
            <a:spLocks noChangeArrowheads="1"/>
          </p:cNvSpPr>
          <p:nvPr/>
        </p:nvSpPr>
        <p:spPr bwMode="auto">
          <a:xfrm>
            <a:off x="6999288" y="5822950"/>
            <a:ext cx="471487" cy="366713"/>
          </a:xfrm>
          <a:prstGeom prst="rect">
            <a:avLst/>
          </a:prstGeom>
          <a:noFill/>
          <a:ln w="9525">
            <a:noFill/>
            <a:miter lim="800000"/>
            <a:headEnd/>
            <a:tailEnd/>
          </a:ln>
        </p:spPr>
        <p:txBody>
          <a:bodyPr wrap="none">
            <a:spAutoFit/>
          </a:bodyPr>
          <a:lstStyle/>
          <a:p>
            <a:r>
              <a:rPr lang="en-US">
                <a:latin typeface="Tahoma" pitchFamily="34" charset="0"/>
              </a:rPr>
              <a:t>PO</a:t>
            </a:r>
          </a:p>
        </p:txBody>
      </p:sp>
      <p:sp>
        <p:nvSpPr>
          <p:cNvPr id="1068" name="Text Box 208"/>
          <p:cNvSpPr txBox="1">
            <a:spLocks noChangeArrowheads="1"/>
          </p:cNvSpPr>
          <p:nvPr/>
        </p:nvSpPr>
        <p:spPr bwMode="auto">
          <a:xfrm>
            <a:off x="7842250" y="3886200"/>
            <a:ext cx="903288" cy="581025"/>
          </a:xfrm>
          <a:prstGeom prst="rect">
            <a:avLst/>
          </a:prstGeom>
          <a:noFill/>
          <a:ln w="9525">
            <a:noFill/>
            <a:miter lim="800000"/>
            <a:headEnd/>
            <a:tailEnd/>
          </a:ln>
        </p:spPr>
        <p:txBody>
          <a:bodyPr wrap="none">
            <a:spAutoFit/>
          </a:bodyPr>
          <a:lstStyle/>
          <a:p>
            <a:r>
              <a:rPr lang="en-US" sz="1600">
                <a:latin typeface="Tahoma" pitchFamily="34" charset="0"/>
              </a:rPr>
              <a:t>Delivery</a:t>
            </a:r>
          </a:p>
          <a:p>
            <a:r>
              <a:rPr lang="en-US" sz="1600">
                <a:latin typeface="Tahoma" pitchFamily="34" charset="0"/>
              </a:rPr>
              <a:t>note</a:t>
            </a:r>
          </a:p>
        </p:txBody>
      </p:sp>
      <p:sp>
        <p:nvSpPr>
          <p:cNvPr id="1069" name="Text Box 209"/>
          <p:cNvSpPr txBox="1">
            <a:spLocks noChangeArrowheads="1"/>
          </p:cNvSpPr>
          <p:nvPr/>
        </p:nvSpPr>
        <p:spPr bwMode="auto">
          <a:xfrm>
            <a:off x="8585200" y="1219200"/>
            <a:ext cx="831850" cy="336550"/>
          </a:xfrm>
          <a:prstGeom prst="rect">
            <a:avLst/>
          </a:prstGeom>
          <a:noFill/>
          <a:ln w="9525">
            <a:noFill/>
            <a:miter lim="800000"/>
            <a:headEnd/>
            <a:tailEnd/>
          </a:ln>
        </p:spPr>
        <p:txBody>
          <a:bodyPr wrap="none">
            <a:spAutoFit/>
          </a:bodyPr>
          <a:lstStyle/>
          <a:p>
            <a:r>
              <a:rPr lang="en-US" sz="1600">
                <a:latin typeface="Tahoma" pitchFamily="34" charset="0"/>
              </a:rPr>
              <a:t>Invoice</a:t>
            </a:r>
          </a:p>
        </p:txBody>
      </p:sp>
      <p:sp>
        <p:nvSpPr>
          <p:cNvPr id="1070" name="AutoShape 210"/>
          <p:cNvSpPr>
            <a:spLocks noChangeArrowheads="1"/>
          </p:cNvSpPr>
          <p:nvPr/>
        </p:nvSpPr>
        <p:spPr bwMode="auto">
          <a:xfrm>
            <a:off x="165100" y="2438400"/>
            <a:ext cx="660400" cy="638175"/>
          </a:xfrm>
          <a:custGeom>
            <a:avLst/>
            <a:gdLst>
              <a:gd name="T0" fmla="*/ 2147483647 w 21600"/>
              <a:gd name="T1" fmla="*/ 0 h 21600"/>
              <a:gd name="T2" fmla="*/ 0 w 21600"/>
              <a:gd name="T3" fmla="*/ 2147483647 h 21600"/>
              <a:gd name="T4" fmla="*/ 2147483647 w 21600"/>
              <a:gd name="T5" fmla="*/ 2147483647 h 21600"/>
              <a:gd name="T6" fmla="*/ 2147483647 w 21600"/>
              <a:gd name="T7" fmla="*/ 2147483647 h 21600"/>
              <a:gd name="T8" fmla="*/ 17694720 60000 65536"/>
              <a:gd name="T9" fmla="*/ 11796480 60000 65536"/>
              <a:gd name="T10" fmla="*/ 5898240 60000 65536"/>
              <a:gd name="T11" fmla="*/ 0 60000 65536"/>
              <a:gd name="T12" fmla="*/ 3375 w 21600"/>
              <a:gd name="T13" fmla="*/ 5365 h 21600"/>
              <a:gd name="T14" fmla="*/ 17524 w 21600"/>
              <a:gd name="T15" fmla="*/ 16235 h 21600"/>
            </a:gdLst>
            <a:ahLst/>
            <a:cxnLst>
              <a:cxn ang="T8">
                <a:pos x="T0" y="T1"/>
              </a:cxn>
              <a:cxn ang="T9">
                <a:pos x="T2" y="T3"/>
              </a:cxn>
              <a:cxn ang="T10">
                <a:pos x="T4" y="T5"/>
              </a:cxn>
              <a:cxn ang="T11">
                <a:pos x="T6" y="T7"/>
              </a:cxn>
            </a:cxnLst>
            <a:rect l="T12" t="T13" r="T14" b="T15"/>
            <a:pathLst>
              <a:path w="21600" h="21600">
                <a:moveTo>
                  <a:pt x="13500" y="0"/>
                </a:moveTo>
                <a:lnTo>
                  <a:pt x="13500" y="5365"/>
                </a:lnTo>
                <a:lnTo>
                  <a:pt x="3375" y="5365"/>
                </a:lnTo>
                <a:lnTo>
                  <a:pt x="3375" y="16235"/>
                </a:lnTo>
                <a:lnTo>
                  <a:pt x="13500" y="16235"/>
                </a:lnTo>
                <a:lnTo>
                  <a:pt x="13500" y="21600"/>
                </a:lnTo>
                <a:lnTo>
                  <a:pt x="21600" y="10800"/>
                </a:lnTo>
                <a:close/>
              </a:path>
              <a:path w="21600" h="21600">
                <a:moveTo>
                  <a:pt x="1350" y="5365"/>
                </a:moveTo>
                <a:lnTo>
                  <a:pt x="1350" y="16235"/>
                </a:lnTo>
                <a:lnTo>
                  <a:pt x="2700" y="16235"/>
                </a:lnTo>
                <a:lnTo>
                  <a:pt x="2700" y="5365"/>
                </a:lnTo>
                <a:close/>
              </a:path>
              <a:path w="21600" h="21600">
                <a:moveTo>
                  <a:pt x="0" y="5365"/>
                </a:moveTo>
                <a:lnTo>
                  <a:pt x="0" y="16235"/>
                </a:lnTo>
                <a:lnTo>
                  <a:pt x="675" y="16235"/>
                </a:lnTo>
                <a:lnTo>
                  <a:pt x="675" y="5365"/>
                </a:lnTo>
                <a:close/>
              </a:path>
            </a:pathLst>
          </a:custGeom>
          <a:solidFill>
            <a:schemeClr val="bg1"/>
          </a:solidFill>
          <a:ln w="9525">
            <a:solidFill>
              <a:schemeClr val="tx1"/>
            </a:solidFill>
            <a:miter lim="800000"/>
            <a:headEnd/>
            <a:tailEnd/>
          </a:ln>
        </p:spPr>
        <p:txBody>
          <a:bodyPr wrap="none" anchor="ctr"/>
          <a:lstStyle/>
          <a:p>
            <a:pPr algn="ctr"/>
            <a:r>
              <a:rPr lang="en-US" sz="1400">
                <a:latin typeface="Tahoma" pitchFamily="34" charset="0"/>
              </a:rPr>
              <a:t>Start</a:t>
            </a:r>
          </a:p>
        </p:txBody>
      </p:sp>
      <p:sp>
        <p:nvSpPr>
          <p:cNvPr id="1071" name="Text Box 211"/>
          <p:cNvSpPr txBox="1">
            <a:spLocks noChangeArrowheads="1"/>
          </p:cNvSpPr>
          <p:nvPr/>
        </p:nvSpPr>
        <p:spPr bwMode="auto">
          <a:xfrm>
            <a:off x="3879850" y="0"/>
            <a:ext cx="2373313" cy="517525"/>
          </a:xfrm>
          <a:prstGeom prst="rect">
            <a:avLst/>
          </a:prstGeom>
          <a:solidFill>
            <a:schemeClr val="bg1"/>
          </a:solidFill>
          <a:ln w="9525">
            <a:noFill/>
            <a:miter lim="800000"/>
            <a:headEnd/>
            <a:tailEnd/>
          </a:ln>
        </p:spPr>
        <p:txBody>
          <a:bodyPr wrap="none">
            <a:spAutoFit/>
          </a:bodyPr>
          <a:lstStyle/>
          <a:p>
            <a:r>
              <a:rPr lang="en-US" sz="1400">
                <a:latin typeface="Tahoma" pitchFamily="34" charset="0"/>
              </a:rPr>
              <a:t>Dipilih invoice yang </a:t>
            </a:r>
          </a:p>
          <a:p>
            <a:r>
              <a:rPr lang="en-US" sz="1400">
                <a:latin typeface="Tahoma" pitchFamily="34" charset="0"/>
              </a:rPr>
              <a:t>diprioritaskan untuk dibayar</a:t>
            </a: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247650" y="381000"/>
            <a:ext cx="9410700" cy="685800"/>
          </a:xfrm>
        </p:spPr>
        <p:txBody>
          <a:bodyPr/>
          <a:lstStyle/>
          <a:p>
            <a:pPr eaLnBrk="1" hangingPunct="1"/>
            <a:r>
              <a:rPr lang="en-US" sz="4000" smtClean="0"/>
              <a:t>Document Flows</a:t>
            </a:r>
          </a:p>
        </p:txBody>
      </p:sp>
      <p:graphicFrame>
        <p:nvGraphicFramePr>
          <p:cNvPr id="364547" name="Group 3"/>
          <p:cNvGraphicFramePr>
            <a:graphicFrameLocks noGrp="1"/>
          </p:cNvGraphicFramePr>
          <p:nvPr>
            <p:ph type="tbl" idx="1"/>
          </p:nvPr>
        </p:nvGraphicFramePr>
        <p:xfrm>
          <a:off x="247650" y="1219200"/>
          <a:ext cx="9410700" cy="4703129"/>
        </p:xfrm>
        <a:graphic>
          <a:graphicData uri="http://schemas.openxmlformats.org/drawingml/2006/table">
            <a:tbl>
              <a:tblPr/>
              <a:tblGrid>
                <a:gridCol w="1860550"/>
                <a:gridCol w="863600"/>
                <a:gridCol w="5035550"/>
                <a:gridCol w="1651000"/>
              </a:tblGrid>
              <a:tr h="381000">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800" b="1" i="0" u="none" strike="noStrike" cap="none" normalizeH="0" baseline="0" smtClean="0">
                          <a:ln>
                            <a:noFill/>
                          </a:ln>
                          <a:solidFill>
                            <a:schemeClr val="tx1"/>
                          </a:solidFill>
                          <a:effectLst/>
                          <a:latin typeface="Arial" charset="0"/>
                          <a:cs typeface="Arial" charset="0"/>
                        </a:rPr>
                        <a:t>Sumber</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800" b="1" i="0" u="none" strike="noStrike" cap="none" normalizeH="0" baseline="0" smtClean="0">
                          <a:ln>
                            <a:noFill/>
                          </a:ln>
                          <a:solidFill>
                            <a:schemeClr val="tx1"/>
                          </a:solidFill>
                          <a:effectLst/>
                          <a:latin typeface="Arial" charset="0"/>
                          <a:cs typeface="Arial" charset="0"/>
                        </a:rPr>
                        <a:t>Doc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800" b="1" i="0" u="none" strike="noStrike" cap="none" normalizeH="0" baseline="0" smtClean="0">
                          <a:ln>
                            <a:noFill/>
                          </a:ln>
                          <a:solidFill>
                            <a:schemeClr val="tx1"/>
                          </a:solidFill>
                          <a:effectLst/>
                          <a:latin typeface="Arial" charset="0"/>
                          <a:cs typeface="Arial" charset="0"/>
                        </a:rPr>
                        <a:t>Data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800" b="1" i="0" u="none" strike="noStrike" cap="none" normalizeH="0" baseline="0" smtClean="0">
                          <a:ln>
                            <a:noFill/>
                          </a:ln>
                          <a:solidFill>
                            <a:schemeClr val="tx1"/>
                          </a:solidFill>
                          <a:effectLst/>
                          <a:latin typeface="Arial" charset="0"/>
                          <a:cs typeface="Arial" charset="0"/>
                        </a:rPr>
                        <a:t>Referensi</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533400">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0" i="0" u="none" strike="noStrike" cap="none" normalizeH="0" baseline="0" smtClean="0">
                          <a:ln>
                            <a:noFill/>
                          </a:ln>
                          <a:solidFill>
                            <a:schemeClr val="tx1"/>
                          </a:solidFill>
                          <a:effectLst/>
                          <a:latin typeface="Arial" charset="0"/>
                          <a:cs typeface="Arial" charset="0"/>
                        </a:rPr>
                        <a:t>PPIC, dept lain</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0" i="0" u="none" strike="noStrike" cap="none" normalizeH="0" baseline="0" smtClean="0">
                          <a:ln>
                            <a:noFill/>
                          </a:ln>
                          <a:solidFill>
                            <a:schemeClr val="tx1"/>
                          </a:solidFill>
                          <a:effectLst/>
                          <a:latin typeface="Arial" charset="0"/>
                          <a:cs typeface="Arial" charset="0"/>
                        </a:rPr>
                        <a:t>PR</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0" i="0" u="none" strike="noStrike" cap="none" normalizeH="0" baseline="0" smtClean="0">
                          <a:ln>
                            <a:noFill/>
                          </a:ln>
                          <a:solidFill>
                            <a:schemeClr val="tx1"/>
                          </a:solidFill>
                          <a:effectLst/>
                          <a:latin typeface="Arial" charset="0"/>
                          <a:cs typeface="Arial" charset="0"/>
                        </a:rPr>
                        <a:t>Kode, desc barang, Qty, UoM, Tanggal dibutuhkan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0" i="0" u="none" strike="noStrike" cap="none" normalizeH="0" baseline="0" smtClean="0">
                          <a:ln>
                            <a:noFill/>
                          </a:ln>
                          <a:solidFill>
                            <a:schemeClr val="tx1"/>
                          </a:solidFill>
                          <a:effectLst/>
                          <a:latin typeface="Arial" charset="0"/>
                          <a:cs typeface="Arial" charset="0"/>
                        </a:rPr>
                        <a:t>MRP, Forecast, dll</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7200">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0" i="0" u="none" strike="noStrike" cap="none" normalizeH="0" baseline="0" smtClean="0">
                          <a:ln>
                            <a:noFill/>
                          </a:ln>
                          <a:solidFill>
                            <a:schemeClr val="tx1"/>
                          </a:solidFill>
                          <a:effectLst/>
                          <a:latin typeface="Arial" charset="0"/>
                          <a:cs typeface="Arial" charset="0"/>
                        </a:rPr>
                        <a:t>Purchasing</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0" i="0" u="none" strike="noStrike" cap="none" normalizeH="0" baseline="0" smtClean="0">
                          <a:ln>
                            <a:noFill/>
                          </a:ln>
                          <a:solidFill>
                            <a:schemeClr val="tx1"/>
                          </a:solidFill>
                          <a:effectLst/>
                          <a:latin typeface="Arial" charset="0"/>
                          <a:cs typeface="Arial" charset="0"/>
                        </a:rPr>
                        <a:t>PO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0" i="0" u="none" strike="noStrike" cap="none" normalizeH="0" baseline="0" smtClean="0">
                          <a:ln>
                            <a:noFill/>
                          </a:ln>
                          <a:solidFill>
                            <a:schemeClr val="tx1"/>
                          </a:solidFill>
                          <a:effectLst/>
                          <a:latin typeface="Arial" charset="0"/>
                          <a:cs typeface="Arial" charset="0"/>
                        </a:rPr>
                        <a:t>No. PR, Vendor, Kode &amp; desc barang, Qty, Price/u, delivery date, TOP (biasanya sesuai master data)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0" i="0" u="none" strike="noStrike" cap="none" normalizeH="0" baseline="0" smtClean="0">
                          <a:ln>
                            <a:noFill/>
                          </a:ln>
                          <a:solidFill>
                            <a:schemeClr val="tx1"/>
                          </a:solidFill>
                          <a:effectLst/>
                          <a:latin typeface="Arial" charset="0"/>
                          <a:cs typeface="Arial" charset="0"/>
                        </a:rPr>
                        <a:t>PR</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22263">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0" i="0" u="none" strike="noStrike" cap="none" normalizeH="0" baseline="0" smtClean="0">
                          <a:ln>
                            <a:noFill/>
                          </a:ln>
                          <a:solidFill>
                            <a:schemeClr val="tx1"/>
                          </a:solidFill>
                          <a:effectLst/>
                          <a:latin typeface="Arial" charset="0"/>
                          <a:cs typeface="Arial" charset="0"/>
                        </a:rPr>
                        <a:t>Warehouse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0" i="0" u="none" strike="noStrike" cap="none" normalizeH="0" baseline="0" smtClean="0">
                          <a:ln>
                            <a:noFill/>
                          </a:ln>
                          <a:solidFill>
                            <a:schemeClr val="tx1"/>
                          </a:solidFill>
                          <a:effectLst/>
                          <a:latin typeface="Arial" charset="0"/>
                          <a:cs typeface="Arial" charset="0"/>
                        </a:rPr>
                        <a:t>GR</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0" i="0" u="none" strike="noStrike" cap="none" normalizeH="0" baseline="0" smtClean="0">
                          <a:ln>
                            <a:noFill/>
                          </a:ln>
                          <a:solidFill>
                            <a:schemeClr val="tx1"/>
                          </a:solidFill>
                          <a:effectLst/>
                          <a:latin typeface="Arial" charset="0"/>
                          <a:cs typeface="Arial" charset="0"/>
                        </a:rPr>
                        <a:t>No. PO, vendor, barang, Qty, incoming date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0" i="0" u="none" strike="noStrike" cap="none" normalizeH="0" baseline="0" smtClean="0">
                          <a:ln>
                            <a:noFill/>
                          </a:ln>
                          <a:solidFill>
                            <a:schemeClr val="tx1"/>
                          </a:solidFill>
                          <a:effectLst/>
                          <a:latin typeface="Arial" charset="0"/>
                          <a:cs typeface="Arial" charset="0"/>
                        </a:rPr>
                        <a:t>PO, surat jalan supplier</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2125">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0" i="0" u="none" strike="noStrike" cap="none" normalizeH="0" baseline="0" smtClean="0">
                          <a:ln>
                            <a:noFill/>
                          </a:ln>
                          <a:solidFill>
                            <a:schemeClr val="tx1"/>
                          </a:solidFill>
                          <a:effectLst/>
                          <a:latin typeface="Arial" charset="0"/>
                          <a:cs typeface="Arial" charset="0"/>
                        </a:rPr>
                        <a:t>Finance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300" b="0" i="0" u="none" strike="noStrike" cap="none" normalizeH="0" baseline="0" smtClean="0">
                          <a:ln>
                            <a:noFill/>
                          </a:ln>
                          <a:solidFill>
                            <a:schemeClr val="tx1"/>
                          </a:solidFill>
                          <a:effectLst/>
                          <a:latin typeface="Arial" charset="0"/>
                          <a:cs typeface="Arial" charset="0"/>
                        </a:rPr>
                        <a:t>Invoice</a:t>
                      </a:r>
                    </a:p>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300" b="0" i="0" u="none" strike="noStrike" cap="none" normalizeH="0" baseline="0" smtClean="0">
                          <a:ln>
                            <a:noFill/>
                          </a:ln>
                          <a:solidFill>
                            <a:schemeClr val="tx1"/>
                          </a:solidFill>
                          <a:effectLst/>
                          <a:latin typeface="Arial" charset="0"/>
                          <a:cs typeface="Arial" charset="0"/>
                        </a:rPr>
                        <a:t>Voucher Bayar</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0" i="0" u="none" strike="noStrike" cap="none" normalizeH="0" baseline="0" smtClean="0">
                          <a:ln>
                            <a:noFill/>
                          </a:ln>
                          <a:solidFill>
                            <a:schemeClr val="tx1"/>
                          </a:solidFill>
                          <a:effectLst/>
                          <a:latin typeface="Arial" charset="0"/>
                          <a:cs typeface="Arial" charset="0"/>
                        </a:rPr>
                        <a:t>Vendor, barang, Qty, Price/u, Amount, tanggal jatuh tempo, No. Rek Bank</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0" i="0" u="none" strike="noStrike" cap="none" normalizeH="0" baseline="0" smtClean="0">
                          <a:ln>
                            <a:noFill/>
                          </a:ln>
                          <a:solidFill>
                            <a:schemeClr val="tx1"/>
                          </a:solidFill>
                          <a:effectLst/>
                          <a:latin typeface="Arial" charset="0"/>
                          <a:cs typeface="Arial" charset="0"/>
                        </a:rPr>
                        <a:t>PO, GR, surat jalan, Faktur pajak,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25463">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0" i="0" u="none" strike="noStrike" cap="none" normalizeH="0" baseline="0" smtClean="0">
                          <a:ln>
                            <a:noFill/>
                          </a:ln>
                          <a:solidFill>
                            <a:schemeClr val="tx1"/>
                          </a:solidFill>
                          <a:effectLst/>
                          <a:latin typeface="Arial" charset="0"/>
                          <a:cs typeface="Arial" charset="0"/>
                        </a:rPr>
                        <a:t>Finance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0" i="0" u="none" strike="noStrike" cap="none" normalizeH="0" baseline="0" smtClean="0">
                          <a:ln>
                            <a:noFill/>
                          </a:ln>
                          <a:solidFill>
                            <a:schemeClr val="tx1"/>
                          </a:solidFill>
                          <a:effectLst/>
                          <a:latin typeface="Arial" charset="0"/>
                          <a:cs typeface="Arial" charset="0"/>
                        </a:rPr>
                        <a:t>Cek Giro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0" i="0" u="none" strike="noStrike" cap="none" normalizeH="0" baseline="0" smtClean="0">
                          <a:ln>
                            <a:noFill/>
                          </a:ln>
                          <a:solidFill>
                            <a:schemeClr val="tx1"/>
                          </a:solidFill>
                          <a:effectLst/>
                          <a:latin typeface="Arial" charset="0"/>
                          <a:cs typeface="Arial" charset="0"/>
                        </a:rPr>
                        <a:t>No. cek, Rek. Vendor, Rek kas negara, Vendor, Amount, No. Invoice, bukti potong PPH 21,23 (kalau ada)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0" i="0" u="none" strike="noStrike" cap="none" normalizeH="0" baseline="0" smtClean="0">
                          <a:ln>
                            <a:noFill/>
                          </a:ln>
                          <a:solidFill>
                            <a:schemeClr val="tx1"/>
                          </a:solidFill>
                          <a:effectLst/>
                          <a:latin typeface="Arial" charset="0"/>
                          <a:cs typeface="Arial" charset="0"/>
                        </a:rPr>
                        <a:t>Invoice, faktur pajak</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47713">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0" i="0" u="none" strike="noStrike" cap="none" normalizeH="0" baseline="0" smtClean="0">
                          <a:ln>
                            <a:noFill/>
                          </a:ln>
                          <a:solidFill>
                            <a:schemeClr val="tx1"/>
                          </a:solidFill>
                          <a:effectLst/>
                          <a:latin typeface="Arial" charset="0"/>
                          <a:cs typeface="Arial" charset="0"/>
                        </a:rPr>
                        <a:t>Bank</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0" i="0" u="none" strike="noStrike" cap="none" normalizeH="0" baseline="0" smtClean="0">
                          <a:ln>
                            <a:noFill/>
                          </a:ln>
                          <a:solidFill>
                            <a:schemeClr val="tx1"/>
                          </a:solidFill>
                          <a:effectLst/>
                          <a:latin typeface="Arial" charset="0"/>
                          <a:cs typeface="Arial" charset="0"/>
                        </a:rPr>
                        <a:t>Rek.</a:t>
                      </a:r>
                    </a:p>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0" i="0" u="none" strike="noStrike" cap="none" normalizeH="0" baseline="0" smtClean="0">
                          <a:ln>
                            <a:noFill/>
                          </a:ln>
                          <a:solidFill>
                            <a:schemeClr val="tx1"/>
                          </a:solidFill>
                          <a:effectLst/>
                          <a:latin typeface="Arial" charset="0"/>
                          <a:cs typeface="Arial" charset="0"/>
                        </a:rPr>
                        <a:t>Koran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0" i="0" u="none" strike="noStrike" cap="none" normalizeH="0" baseline="0" smtClean="0">
                          <a:ln>
                            <a:noFill/>
                          </a:ln>
                          <a:solidFill>
                            <a:schemeClr val="tx1"/>
                          </a:solidFill>
                          <a:effectLst/>
                          <a:latin typeface="Arial" charset="0"/>
                          <a:cs typeface="Arial" charset="0"/>
                        </a:rPr>
                        <a:t>Tanggal, No. cek/giro, No Invoice (jika Cuma 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0" i="0" u="none" strike="noStrike" cap="none" normalizeH="0" baseline="0" smtClean="0">
                          <a:ln>
                            <a:noFill/>
                          </a:ln>
                          <a:solidFill>
                            <a:schemeClr val="tx1"/>
                          </a:solidFill>
                          <a:effectLst/>
                          <a:latin typeface="Arial" charset="0"/>
                          <a:cs typeface="Arial" charset="0"/>
                        </a:rPr>
                        <a:t>Transaksi in out 1 bulan</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47713">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0" i="0" u="none" strike="noStrike" cap="none" normalizeH="0" baseline="0" smtClean="0">
                          <a:ln>
                            <a:noFill/>
                          </a:ln>
                          <a:solidFill>
                            <a:schemeClr val="tx1"/>
                          </a:solidFill>
                          <a:effectLst/>
                          <a:latin typeface="Arial" charset="0"/>
                          <a:cs typeface="Arial" charset="0"/>
                        </a:rPr>
                        <a:t>Finance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0" i="0" u="none" strike="noStrike" cap="none" normalizeH="0" baseline="0" smtClean="0">
                          <a:ln>
                            <a:noFill/>
                          </a:ln>
                          <a:solidFill>
                            <a:schemeClr val="tx1"/>
                          </a:solidFill>
                          <a:effectLst/>
                          <a:latin typeface="Arial" charset="0"/>
                          <a:cs typeface="Arial" charset="0"/>
                        </a:rPr>
                        <a:t>Clear.</a:t>
                      </a:r>
                    </a:p>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0" i="0" u="none" strike="noStrike" cap="none" normalizeH="0" baseline="0" smtClean="0">
                          <a:ln>
                            <a:noFill/>
                          </a:ln>
                          <a:solidFill>
                            <a:schemeClr val="tx1"/>
                          </a:solidFill>
                          <a:effectLst/>
                          <a:latin typeface="Arial" charset="0"/>
                          <a:cs typeface="Arial" charset="0"/>
                        </a:rPr>
                        <a:t>A/p</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0" i="0" u="none" strike="noStrike" cap="none" normalizeH="0" baseline="0" smtClean="0">
                          <a:ln>
                            <a:noFill/>
                          </a:ln>
                          <a:solidFill>
                            <a:schemeClr val="tx1"/>
                          </a:solidFill>
                          <a:effectLst/>
                          <a:latin typeface="Arial" charset="0"/>
                          <a:cs typeface="Arial" charset="0"/>
                        </a:rPr>
                        <a:t>Tanggal, No. cek/giro, No Invoice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0" i="0" u="none" strike="noStrike" cap="none" normalizeH="0" baseline="0" smtClean="0">
                          <a:ln>
                            <a:noFill/>
                          </a:ln>
                          <a:solidFill>
                            <a:schemeClr val="tx1"/>
                          </a:solidFill>
                          <a:effectLst/>
                          <a:latin typeface="Arial" charset="0"/>
                          <a:cs typeface="Arial" charset="0"/>
                        </a:rPr>
                        <a:t>Rek. koran</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0" name="Picture 2"/>
          <p:cNvPicPr>
            <a:picLocks noChangeAspect="1" noChangeArrowheads="1"/>
          </p:cNvPicPr>
          <p:nvPr/>
        </p:nvPicPr>
        <p:blipFill>
          <a:blip r:embed="rId3"/>
          <a:srcRect/>
          <a:stretch>
            <a:fillRect/>
          </a:stretch>
        </p:blipFill>
        <p:spPr bwMode="auto">
          <a:xfrm>
            <a:off x="330200" y="762000"/>
            <a:ext cx="6686550" cy="5486400"/>
          </a:xfrm>
          <a:prstGeom prst="rect">
            <a:avLst/>
          </a:prstGeom>
          <a:noFill/>
          <a:ln w="9525">
            <a:solidFill>
              <a:srgbClr val="000000"/>
            </a:solidFill>
            <a:miter lim="800000"/>
            <a:headEnd/>
            <a:tailEnd/>
          </a:ln>
        </p:spPr>
      </p:pic>
      <p:sp>
        <p:nvSpPr>
          <p:cNvPr id="27651" name="Oval 3"/>
          <p:cNvSpPr>
            <a:spLocks noChangeArrowheads="1"/>
          </p:cNvSpPr>
          <p:nvPr/>
        </p:nvSpPr>
        <p:spPr bwMode="auto">
          <a:xfrm>
            <a:off x="3549650" y="4953000"/>
            <a:ext cx="1568450" cy="609600"/>
          </a:xfrm>
          <a:prstGeom prst="ellipse">
            <a:avLst/>
          </a:prstGeom>
          <a:solidFill>
            <a:schemeClr val="accent1">
              <a:alpha val="0"/>
            </a:schemeClr>
          </a:solidFill>
          <a:ln w="9525">
            <a:solidFill>
              <a:schemeClr val="tx1"/>
            </a:solidFill>
            <a:round/>
            <a:headEnd/>
            <a:tailEnd/>
          </a:ln>
        </p:spPr>
        <p:txBody>
          <a:bodyPr wrap="none" anchor="ctr"/>
          <a:lstStyle/>
          <a:p>
            <a:endParaRPr lang="en-US"/>
          </a:p>
        </p:txBody>
      </p:sp>
      <p:sp>
        <p:nvSpPr>
          <p:cNvPr id="27652" name="Line 4"/>
          <p:cNvSpPr>
            <a:spLocks noChangeShapeType="1"/>
          </p:cNvSpPr>
          <p:nvPr/>
        </p:nvSpPr>
        <p:spPr bwMode="auto">
          <a:xfrm>
            <a:off x="4210050" y="2590800"/>
            <a:ext cx="2971800" cy="0"/>
          </a:xfrm>
          <a:prstGeom prst="line">
            <a:avLst/>
          </a:prstGeom>
          <a:noFill/>
          <a:ln w="38100">
            <a:solidFill>
              <a:srgbClr val="FF0000"/>
            </a:solidFill>
            <a:round/>
            <a:headEnd/>
            <a:tailEnd type="triangle" w="med" len="med"/>
          </a:ln>
        </p:spPr>
        <p:txBody>
          <a:bodyPr/>
          <a:lstStyle/>
          <a:p>
            <a:endParaRPr lang="en-US"/>
          </a:p>
        </p:txBody>
      </p:sp>
      <p:sp>
        <p:nvSpPr>
          <p:cNvPr id="27653" name="Oval 5"/>
          <p:cNvSpPr>
            <a:spLocks noChangeArrowheads="1"/>
          </p:cNvSpPr>
          <p:nvPr/>
        </p:nvSpPr>
        <p:spPr bwMode="auto">
          <a:xfrm>
            <a:off x="2476500" y="2209800"/>
            <a:ext cx="1651000" cy="762000"/>
          </a:xfrm>
          <a:prstGeom prst="ellipse">
            <a:avLst/>
          </a:prstGeom>
          <a:noFill/>
          <a:ln w="28575">
            <a:solidFill>
              <a:srgbClr val="FF0000"/>
            </a:solidFill>
            <a:round/>
            <a:headEnd/>
            <a:tailEnd/>
          </a:ln>
        </p:spPr>
        <p:txBody>
          <a:bodyPr wrap="none" anchor="ctr"/>
          <a:lstStyle/>
          <a:p>
            <a:endParaRPr lang="en-US"/>
          </a:p>
        </p:txBody>
      </p:sp>
      <p:sp>
        <p:nvSpPr>
          <p:cNvPr id="27654" name="Oval 6"/>
          <p:cNvSpPr>
            <a:spLocks noChangeArrowheads="1"/>
          </p:cNvSpPr>
          <p:nvPr/>
        </p:nvSpPr>
        <p:spPr bwMode="auto">
          <a:xfrm>
            <a:off x="330200" y="2971800"/>
            <a:ext cx="6686550" cy="1524000"/>
          </a:xfrm>
          <a:prstGeom prst="ellipse">
            <a:avLst/>
          </a:prstGeom>
          <a:noFill/>
          <a:ln w="28575">
            <a:solidFill>
              <a:srgbClr val="FF0000"/>
            </a:solidFill>
            <a:round/>
            <a:headEnd/>
            <a:tailEnd/>
          </a:ln>
        </p:spPr>
        <p:txBody>
          <a:bodyPr wrap="none" anchor="ctr"/>
          <a:lstStyle/>
          <a:p>
            <a:endParaRPr lang="en-US"/>
          </a:p>
        </p:txBody>
      </p:sp>
      <p:sp>
        <p:nvSpPr>
          <p:cNvPr id="27655" name="AutoShape 7"/>
          <p:cNvSpPr>
            <a:spLocks noChangeArrowheads="1"/>
          </p:cNvSpPr>
          <p:nvPr/>
        </p:nvSpPr>
        <p:spPr bwMode="auto">
          <a:xfrm>
            <a:off x="7264400" y="1524000"/>
            <a:ext cx="2063750" cy="2209800"/>
          </a:xfrm>
          <a:prstGeom prst="star8">
            <a:avLst>
              <a:gd name="adj" fmla="val 38250"/>
            </a:avLst>
          </a:prstGeom>
          <a:solidFill>
            <a:schemeClr val="bg1"/>
          </a:solidFill>
          <a:ln w="9525">
            <a:solidFill>
              <a:srgbClr val="000000"/>
            </a:solidFill>
            <a:miter lim="800000"/>
            <a:headEnd/>
            <a:tailEnd/>
          </a:ln>
        </p:spPr>
        <p:txBody>
          <a:bodyPr wrap="none" anchor="ctr"/>
          <a:lstStyle/>
          <a:p>
            <a:pPr algn="ctr"/>
            <a:r>
              <a:rPr lang="en-US" sz="1400">
                <a:solidFill>
                  <a:srgbClr val="000000"/>
                </a:solidFill>
                <a:latin typeface="Tahoma" pitchFamily="34" charset="0"/>
              </a:rPr>
              <a:t>No. Document</a:t>
            </a:r>
          </a:p>
          <a:p>
            <a:pPr algn="ctr"/>
            <a:r>
              <a:rPr lang="en-US" sz="1400">
                <a:solidFill>
                  <a:srgbClr val="000000"/>
                </a:solidFill>
                <a:latin typeface="Tahoma" pitchFamily="34" charset="0"/>
              </a:rPr>
              <a:t> urut dantercetak</a:t>
            </a:r>
          </a:p>
          <a:p>
            <a:pPr algn="ctr"/>
            <a:r>
              <a:rPr lang="en-US" sz="1400">
                <a:solidFill>
                  <a:srgbClr val="000000"/>
                </a:solidFill>
                <a:latin typeface="Tahoma" pitchFamily="34" charset="0"/>
              </a:rPr>
              <a:t> untuk control</a:t>
            </a:r>
          </a:p>
          <a:p>
            <a:pPr algn="ctr"/>
            <a:r>
              <a:rPr lang="en-US" sz="1400">
                <a:solidFill>
                  <a:srgbClr val="000000"/>
                </a:solidFill>
                <a:latin typeface="Tahoma" pitchFamily="34" charset="0"/>
              </a:rPr>
              <a:t>Dan Departemen</a:t>
            </a:r>
          </a:p>
          <a:p>
            <a:pPr algn="ctr"/>
            <a:r>
              <a:rPr lang="en-US" sz="1400">
                <a:solidFill>
                  <a:srgbClr val="000000"/>
                </a:solidFill>
                <a:latin typeface="Tahoma" pitchFamily="34" charset="0"/>
              </a:rPr>
              <a:t>pemesan</a:t>
            </a:r>
          </a:p>
        </p:txBody>
      </p:sp>
      <p:sp>
        <p:nvSpPr>
          <p:cNvPr id="27656" name="Line 8"/>
          <p:cNvSpPr>
            <a:spLocks noChangeShapeType="1"/>
          </p:cNvSpPr>
          <p:nvPr/>
        </p:nvSpPr>
        <p:spPr bwMode="auto">
          <a:xfrm>
            <a:off x="6851650" y="4114800"/>
            <a:ext cx="660400" cy="381000"/>
          </a:xfrm>
          <a:prstGeom prst="line">
            <a:avLst/>
          </a:prstGeom>
          <a:noFill/>
          <a:ln w="38100">
            <a:solidFill>
              <a:srgbClr val="FF0000"/>
            </a:solidFill>
            <a:round/>
            <a:headEnd/>
            <a:tailEnd type="triangle" w="med" len="med"/>
          </a:ln>
        </p:spPr>
        <p:txBody>
          <a:bodyPr/>
          <a:lstStyle/>
          <a:p>
            <a:endParaRPr lang="en-US"/>
          </a:p>
        </p:txBody>
      </p:sp>
      <p:sp>
        <p:nvSpPr>
          <p:cNvPr id="27657" name="Oval 9"/>
          <p:cNvSpPr>
            <a:spLocks noChangeArrowheads="1"/>
          </p:cNvSpPr>
          <p:nvPr/>
        </p:nvSpPr>
        <p:spPr bwMode="auto">
          <a:xfrm>
            <a:off x="7512050" y="4038600"/>
            <a:ext cx="1403350" cy="1371600"/>
          </a:xfrm>
          <a:prstGeom prst="ellipse">
            <a:avLst/>
          </a:prstGeom>
          <a:solidFill>
            <a:schemeClr val="bg1"/>
          </a:solidFill>
          <a:ln w="9525">
            <a:solidFill>
              <a:srgbClr val="000000"/>
            </a:solidFill>
            <a:round/>
            <a:headEnd/>
            <a:tailEnd/>
          </a:ln>
        </p:spPr>
        <p:txBody>
          <a:bodyPr wrap="none" anchor="ctr"/>
          <a:lstStyle/>
          <a:p>
            <a:pPr algn="ctr"/>
            <a:r>
              <a:rPr lang="en-US" sz="1400">
                <a:solidFill>
                  <a:srgbClr val="000000"/>
                </a:solidFill>
                <a:latin typeface="Tahoma" pitchFamily="34" charset="0"/>
              </a:rPr>
              <a:t>Ada code, </a:t>
            </a:r>
          </a:p>
          <a:p>
            <a:pPr algn="ctr"/>
            <a:r>
              <a:rPr lang="en-US" sz="1400">
                <a:solidFill>
                  <a:srgbClr val="000000"/>
                </a:solidFill>
                <a:latin typeface="Tahoma" pitchFamily="34" charset="0"/>
              </a:rPr>
              <a:t>descripsi, </a:t>
            </a:r>
          </a:p>
          <a:p>
            <a:pPr algn="ctr"/>
            <a:r>
              <a:rPr lang="en-US" sz="1400">
                <a:solidFill>
                  <a:srgbClr val="000000"/>
                </a:solidFill>
                <a:latin typeface="Tahoma" pitchFamily="34" charset="0"/>
              </a:rPr>
              <a:t>Qty dan </a:t>
            </a:r>
          </a:p>
          <a:p>
            <a:pPr algn="ctr"/>
            <a:r>
              <a:rPr lang="en-US" sz="1400">
                <a:solidFill>
                  <a:srgbClr val="000000"/>
                </a:solidFill>
                <a:latin typeface="Tahoma" pitchFamily="34" charset="0"/>
              </a:rPr>
              <a:t>satuan</a:t>
            </a:r>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4" name="Picture 2"/>
          <p:cNvPicPr>
            <a:picLocks noChangeAspect="1" noChangeArrowheads="1"/>
          </p:cNvPicPr>
          <p:nvPr/>
        </p:nvPicPr>
        <p:blipFill>
          <a:blip r:embed="rId3"/>
          <a:srcRect/>
          <a:stretch>
            <a:fillRect/>
          </a:stretch>
        </p:blipFill>
        <p:spPr bwMode="auto">
          <a:xfrm>
            <a:off x="247650" y="381000"/>
            <a:ext cx="6851650" cy="6054725"/>
          </a:xfrm>
          <a:prstGeom prst="rect">
            <a:avLst/>
          </a:prstGeom>
          <a:noFill/>
          <a:ln w="9525">
            <a:noFill/>
            <a:miter lim="800000"/>
            <a:headEnd/>
            <a:tailEnd/>
          </a:ln>
        </p:spPr>
      </p:pic>
      <p:sp>
        <p:nvSpPr>
          <p:cNvPr id="28675" name="Oval 3"/>
          <p:cNvSpPr>
            <a:spLocks noChangeArrowheads="1"/>
          </p:cNvSpPr>
          <p:nvPr/>
        </p:nvSpPr>
        <p:spPr bwMode="auto">
          <a:xfrm>
            <a:off x="4787900" y="2362200"/>
            <a:ext cx="1155700" cy="1371600"/>
          </a:xfrm>
          <a:prstGeom prst="ellipse">
            <a:avLst/>
          </a:prstGeom>
          <a:noFill/>
          <a:ln w="28575">
            <a:solidFill>
              <a:srgbClr val="FF0000"/>
            </a:solidFill>
            <a:round/>
            <a:headEnd/>
            <a:tailEnd/>
          </a:ln>
        </p:spPr>
        <p:txBody>
          <a:bodyPr wrap="none" anchor="ctr"/>
          <a:lstStyle/>
          <a:p>
            <a:endParaRPr lang="en-US"/>
          </a:p>
        </p:txBody>
      </p:sp>
      <p:sp>
        <p:nvSpPr>
          <p:cNvPr id="28676" name="Oval 4"/>
          <p:cNvSpPr>
            <a:spLocks noChangeArrowheads="1"/>
          </p:cNvSpPr>
          <p:nvPr/>
        </p:nvSpPr>
        <p:spPr bwMode="auto">
          <a:xfrm>
            <a:off x="330200" y="3733800"/>
            <a:ext cx="2146300" cy="533400"/>
          </a:xfrm>
          <a:prstGeom prst="ellipse">
            <a:avLst/>
          </a:prstGeom>
          <a:noFill/>
          <a:ln w="28575">
            <a:solidFill>
              <a:srgbClr val="FF0000"/>
            </a:solidFill>
            <a:round/>
            <a:headEnd/>
            <a:tailEnd/>
          </a:ln>
        </p:spPr>
        <p:txBody>
          <a:bodyPr wrap="none" anchor="ctr"/>
          <a:lstStyle/>
          <a:p>
            <a:endParaRPr lang="en-US"/>
          </a:p>
        </p:txBody>
      </p:sp>
      <p:sp>
        <p:nvSpPr>
          <p:cNvPr id="28677" name="Oval 5"/>
          <p:cNvSpPr>
            <a:spLocks noChangeArrowheads="1"/>
          </p:cNvSpPr>
          <p:nvPr/>
        </p:nvSpPr>
        <p:spPr bwMode="auto">
          <a:xfrm>
            <a:off x="330200" y="4191000"/>
            <a:ext cx="5035550" cy="381000"/>
          </a:xfrm>
          <a:prstGeom prst="ellipse">
            <a:avLst/>
          </a:prstGeom>
          <a:noFill/>
          <a:ln w="28575">
            <a:solidFill>
              <a:srgbClr val="FF0000"/>
            </a:solidFill>
            <a:round/>
            <a:headEnd/>
            <a:tailEnd/>
          </a:ln>
        </p:spPr>
        <p:txBody>
          <a:bodyPr wrap="none" anchor="ctr"/>
          <a:lstStyle/>
          <a:p>
            <a:endParaRPr lang="en-US"/>
          </a:p>
        </p:txBody>
      </p:sp>
      <p:sp>
        <p:nvSpPr>
          <p:cNvPr id="28678" name="Oval 6"/>
          <p:cNvSpPr>
            <a:spLocks noChangeArrowheads="1"/>
          </p:cNvSpPr>
          <p:nvPr/>
        </p:nvSpPr>
        <p:spPr bwMode="auto">
          <a:xfrm>
            <a:off x="4622800" y="1676400"/>
            <a:ext cx="2146300" cy="381000"/>
          </a:xfrm>
          <a:prstGeom prst="ellipse">
            <a:avLst/>
          </a:prstGeom>
          <a:noFill/>
          <a:ln w="28575">
            <a:solidFill>
              <a:srgbClr val="FF0000"/>
            </a:solidFill>
            <a:round/>
            <a:headEnd/>
            <a:tailEnd/>
          </a:ln>
        </p:spPr>
        <p:txBody>
          <a:bodyPr wrap="none" anchor="ctr"/>
          <a:lstStyle/>
          <a:p>
            <a:endParaRPr lang="en-US"/>
          </a:p>
        </p:txBody>
      </p:sp>
      <p:sp>
        <p:nvSpPr>
          <p:cNvPr id="28679" name="AutoShape 7"/>
          <p:cNvSpPr>
            <a:spLocks noChangeArrowheads="1"/>
          </p:cNvSpPr>
          <p:nvPr/>
        </p:nvSpPr>
        <p:spPr bwMode="auto">
          <a:xfrm>
            <a:off x="7429500" y="1219200"/>
            <a:ext cx="1981200" cy="1219200"/>
          </a:xfrm>
          <a:prstGeom prst="star8">
            <a:avLst>
              <a:gd name="adj" fmla="val 38250"/>
            </a:avLst>
          </a:prstGeom>
          <a:solidFill>
            <a:schemeClr val="bg1"/>
          </a:solidFill>
          <a:ln w="9525">
            <a:solidFill>
              <a:srgbClr val="000000"/>
            </a:solidFill>
            <a:miter lim="800000"/>
            <a:headEnd/>
            <a:tailEnd/>
          </a:ln>
        </p:spPr>
        <p:txBody>
          <a:bodyPr wrap="none" anchor="ctr"/>
          <a:lstStyle/>
          <a:p>
            <a:pPr algn="ctr"/>
            <a:r>
              <a:rPr lang="en-US" sz="1400">
                <a:solidFill>
                  <a:srgbClr val="000000"/>
                </a:solidFill>
                <a:latin typeface="Tahoma" pitchFamily="34" charset="0"/>
              </a:rPr>
              <a:t>No. Document</a:t>
            </a:r>
          </a:p>
          <a:p>
            <a:pPr algn="ctr"/>
            <a:r>
              <a:rPr lang="en-US" sz="1400">
                <a:solidFill>
                  <a:srgbClr val="000000"/>
                </a:solidFill>
                <a:latin typeface="Tahoma" pitchFamily="34" charset="0"/>
              </a:rPr>
              <a:t> urut dantercetak</a:t>
            </a:r>
          </a:p>
          <a:p>
            <a:pPr algn="ctr"/>
            <a:r>
              <a:rPr lang="en-US" sz="1400">
                <a:solidFill>
                  <a:srgbClr val="000000"/>
                </a:solidFill>
                <a:latin typeface="Tahoma" pitchFamily="34" charset="0"/>
              </a:rPr>
              <a:t> untuk control</a:t>
            </a:r>
          </a:p>
          <a:p>
            <a:pPr algn="ctr"/>
            <a:endParaRPr lang="en-US" sz="1400">
              <a:solidFill>
                <a:srgbClr val="000000"/>
              </a:solidFill>
              <a:latin typeface="Tahoma" pitchFamily="34" charset="0"/>
            </a:endParaRPr>
          </a:p>
        </p:txBody>
      </p:sp>
      <p:sp>
        <p:nvSpPr>
          <p:cNvPr id="28680" name="Line 8"/>
          <p:cNvSpPr>
            <a:spLocks noChangeShapeType="1"/>
          </p:cNvSpPr>
          <p:nvPr/>
        </p:nvSpPr>
        <p:spPr bwMode="auto">
          <a:xfrm>
            <a:off x="6851650" y="1828800"/>
            <a:ext cx="495300" cy="0"/>
          </a:xfrm>
          <a:prstGeom prst="line">
            <a:avLst/>
          </a:prstGeom>
          <a:noFill/>
          <a:ln w="38100">
            <a:solidFill>
              <a:srgbClr val="FF0000"/>
            </a:solidFill>
            <a:round/>
            <a:headEnd/>
            <a:tailEnd type="triangle" w="med" len="med"/>
          </a:ln>
        </p:spPr>
        <p:txBody>
          <a:bodyPr/>
          <a:lstStyle/>
          <a:p>
            <a:endParaRPr lang="en-US"/>
          </a:p>
        </p:txBody>
      </p:sp>
      <p:sp>
        <p:nvSpPr>
          <p:cNvPr id="28681" name="Line 9"/>
          <p:cNvSpPr>
            <a:spLocks noChangeShapeType="1"/>
          </p:cNvSpPr>
          <p:nvPr/>
        </p:nvSpPr>
        <p:spPr bwMode="auto">
          <a:xfrm flipV="1">
            <a:off x="5861050" y="2971800"/>
            <a:ext cx="1981200" cy="304800"/>
          </a:xfrm>
          <a:prstGeom prst="line">
            <a:avLst/>
          </a:prstGeom>
          <a:noFill/>
          <a:ln w="38100">
            <a:solidFill>
              <a:srgbClr val="FF0000"/>
            </a:solidFill>
            <a:round/>
            <a:headEnd/>
            <a:tailEnd type="triangle" w="med" len="med"/>
          </a:ln>
        </p:spPr>
        <p:txBody>
          <a:bodyPr/>
          <a:lstStyle/>
          <a:p>
            <a:endParaRPr lang="en-US"/>
          </a:p>
        </p:txBody>
      </p:sp>
      <p:sp>
        <p:nvSpPr>
          <p:cNvPr id="28682" name="Oval 10"/>
          <p:cNvSpPr>
            <a:spLocks noChangeArrowheads="1"/>
          </p:cNvSpPr>
          <p:nvPr/>
        </p:nvSpPr>
        <p:spPr bwMode="auto">
          <a:xfrm>
            <a:off x="7924800" y="2514600"/>
            <a:ext cx="1485900" cy="1371600"/>
          </a:xfrm>
          <a:prstGeom prst="ellipse">
            <a:avLst/>
          </a:prstGeom>
          <a:solidFill>
            <a:schemeClr val="bg1"/>
          </a:solidFill>
          <a:ln w="9525">
            <a:solidFill>
              <a:schemeClr val="tx1"/>
            </a:solidFill>
            <a:round/>
            <a:headEnd/>
            <a:tailEnd/>
          </a:ln>
        </p:spPr>
        <p:txBody>
          <a:bodyPr wrap="none" anchor="ctr"/>
          <a:lstStyle/>
          <a:p>
            <a:pPr algn="ctr"/>
            <a:r>
              <a:rPr lang="en-US" sz="1400">
                <a:latin typeface="Tahoma" pitchFamily="34" charset="0"/>
              </a:rPr>
              <a:t>Informasi</a:t>
            </a:r>
          </a:p>
          <a:p>
            <a:pPr algn="ctr"/>
            <a:r>
              <a:rPr lang="en-US" sz="1400">
                <a:latin typeface="Tahoma" pitchFamily="34" charset="0"/>
              </a:rPr>
              <a:t>Harga per unit</a:t>
            </a:r>
          </a:p>
          <a:p>
            <a:pPr algn="ctr"/>
            <a:r>
              <a:rPr lang="en-US" sz="1400">
                <a:latin typeface="Tahoma" pitchFamily="34" charset="0"/>
              </a:rPr>
              <a:t>Sebagai dasar</a:t>
            </a:r>
          </a:p>
          <a:p>
            <a:pPr algn="ctr"/>
            <a:r>
              <a:rPr lang="en-US" sz="1400">
                <a:latin typeface="Tahoma" pitchFamily="34" charset="0"/>
              </a:rPr>
              <a:t>penagihan</a:t>
            </a:r>
          </a:p>
        </p:txBody>
      </p:sp>
      <p:sp>
        <p:nvSpPr>
          <p:cNvPr id="28683" name="Line 11"/>
          <p:cNvSpPr>
            <a:spLocks noChangeShapeType="1"/>
          </p:cNvSpPr>
          <p:nvPr/>
        </p:nvSpPr>
        <p:spPr bwMode="auto">
          <a:xfrm>
            <a:off x="5035550" y="4572000"/>
            <a:ext cx="2311400" cy="1143000"/>
          </a:xfrm>
          <a:prstGeom prst="line">
            <a:avLst/>
          </a:prstGeom>
          <a:noFill/>
          <a:ln w="38100">
            <a:solidFill>
              <a:srgbClr val="FF0000"/>
            </a:solidFill>
            <a:round/>
            <a:headEnd/>
            <a:tailEnd type="triangle" w="med" len="med"/>
          </a:ln>
        </p:spPr>
        <p:txBody>
          <a:bodyPr/>
          <a:lstStyle/>
          <a:p>
            <a:endParaRPr lang="en-US"/>
          </a:p>
        </p:txBody>
      </p:sp>
      <p:sp>
        <p:nvSpPr>
          <p:cNvPr id="28684" name="Line 12"/>
          <p:cNvSpPr>
            <a:spLocks noChangeShapeType="1"/>
          </p:cNvSpPr>
          <p:nvPr/>
        </p:nvSpPr>
        <p:spPr bwMode="auto">
          <a:xfrm>
            <a:off x="2559050" y="4114800"/>
            <a:ext cx="4787900" cy="304800"/>
          </a:xfrm>
          <a:prstGeom prst="line">
            <a:avLst/>
          </a:prstGeom>
          <a:noFill/>
          <a:ln w="38100">
            <a:solidFill>
              <a:srgbClr val="FF0000"/>
            </a:solidFill>
            <a:round/>
            <a:headEnd/>
            <a:tailEnd type="triangle" w="med" len="med"/>
          </a:ln>
        </p:spPr>
        <p:txBody>
          <a:bodyPr/>
          <a:lstStyle/>
          <a:p>
            <a:endParaRPr lang="en-US"/>
          </a:p>
        </p:txBody>
      </p:sp>
      <p:sp>
        <p:nvSpPr>
          <p:cNvPr id="28685" name="Oval 13"/>
          <p:cNvSpPr>
            <a:spLocks noChangeArrowheads="1"/>
          </p:cNvSpPr>
          <p:nvPr/>
        </p:nvSpPr>
        <p:spPr bwMode="auto">
          <a:xfrm>
            <a:off x="7264400" y="4038600"/>
            <a:ext cx="2311400" cy="1143000"/>
          </a:xfrm>
          <a:prstGeom prst="ellipse">
            <a:avLst/>
          </a:prstGeom>
          <a:solidFill>
            <a:schemeClr val="bg1"/>
          </a:solidFill>
          <a:ln w="9525">
            <a:solidFill>
              <a:srgbClr val="000000"/>
            </a:solidFill>
            <a:round/>
            <a:headEnd/>
            <a:tailEnd/>
          </a:ln>
        </p:spPr>
        <p:txBody>
          <a:bodyPr wrap="none" anchor="ctr"/>
          <a:lstStyle/>
          <a:p>
            <a:pPr algn="ctr"/>
            <a:r>
              <a:rPr lang="en-US" sz="1400">
                <a:latin typeface="Tahoma" pitchFamily="34" charset="0"/>
              </a:rPr>
              <a:t>Info Waktu </a:t>
            </a:r>
          </a:p>
          <a:p>
            <a:pPr algn="ctr"/>
            <a:r>
              <a:rPr lang="en-US" sz="1400">
                <a:latin typeface="Tahoma" pitchFamily="34" charset="0"/>
              </a:rPr>
              <a:t>Pengiriman Dan TOP. </a:t>
            </a:r>
          </a:p>
          <a:p>
            <a:pPr algn="ctr"/>
            <a:r>
              <a:rPr lang="en-US" sz="1400">
                <a:latin typeface="Tahoma" pitchFamily="34" charset="0"/>
              </a:rPr>
              <a:t>(biasanya TOP Juga </a:t>
            </a:r>
          </a:p>
          <a:p>
            <a:pPr algn="ctr"/>
            <a:r>
              <a:rPr lang="en-US" sz="1400">
                <a:latin typeface="Tahoma" pitchFamily="34" charset="0"/>
              </a:rPr>
              <a:t>sudah fixed di </a:t>
            </a:r>
          </a:p>
          <a:p>
            <a:pPr algn="ctr"/>
            <a:r>
              <a:rPr lang="en-US" sz="1400">
                <a:latin typeface="Tahoma" pitchFamily="34" charset="0"/>
              </a:rPr>
              <a:t>master data</a:t>
            </a:r>
          </a:p>
        </p:txBody>
      </p:sp>
      <p:sp>
        <p:nvSpPr>
          <p:cNvPr id="28686" name="Oval 14"/>
          <p:cNvSpPr>
            <a:spLocks noChangeArrowheads="1"/>
          </p:cNvSpPr>
          <p:nvPr/>
        </p:nvSpPr>
        <p:spPr bwMode="auto">
          <a:xfrm>
            <a:off x="7346950" y="5334000"/>
            <a:ext cx="1898650" cy="1295400"/>
          </a:xfrm>
          <a:prstGeom prst="ellipse">
            <a:avLst/>
          </a:prstGeom>
          <a:solidFill>
            <a:schemeClr val="bg1"/>
          </a:solidFill>
          <a:ln w="9525">
            <a:solidFill>
              <a:srgbClr val="000000"/>
            </a:solidFill>
            <a:round/>
            <a:headEnd/>
            <a:tailEnd/>
          </a:ln>
        </p:spPr>
        <p:txBody>
          <a:bodyPr wrap="none" anchor="ctr"/>
          <a:lstStyle/>
          <a:p>
            <a:pPr algn="ctr"/>
            <a:r>
              <a:rPr lang="en-US" sz="1400">
                <a:solidFill>
                  <a:srgbClr val="000000"/>
                </a:solidFill>
                <a:latin typeface="Tahoma" pitchFamily="34" charset="0"/>
              </a:rPr>
              <a:t>Informasi lokasi </a:t>
            </a:r>
          </a:p>
          <a:p>
            <a:pPr algn="ctr"/>
            <a:r>
              <a:rPr lang="en-US" sz="1400">
                <a:solidFill>
                  <a:srgbClr val="000000"/>
                </a:solidFill>
                <a:latin typeface="Tahoma" pitchFamily="34" charset="0"/>
              </a:rPr>
              <a:t>pengiriman</a:t>
            </a:r>
          </a:p>
          <a:p>
            <a:pPr algn="ctr"/>
            <a:r>
              <a:rPr lang="en-US" sz="1400">
                <a:solidFill>
                  <a:srgbClr val="000000"/>
                </a:solidFill>
                <a:latin typeface="Tahoma" pitchFamily="34" charset="0"/>
              </a:rPr>
              <a:t>Agar tidak ada </a:t>
            </a:r>
          </a:p>
          <a:p>
            <a:pPr algn="ctr"/>
            <a:r>
              <a:rPr lang="en-US" sz="1400">
                <a:solidFill>
                  <a:srgbClr val="000000"/>
                </a:solidFill>
                <a:latin typeface="Tahoma" pitchFamily="34" charset="0"/>
              </a:rPr>
              <a:t>keslahan lokasi</a:t>
            </a: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8" name="Picture 2"/>
          <p:cNvPicPr>
            <a:picLocks noChangeAspect="1" noChangeArrowheads="1"/>
          </p:cNvPicPr>
          <p:nvPr/>
        </p:nvPicPr>
        <p:blipFill>
          <a:blip r:embed="rId3"/>
          <a:srcRect/>
          <a:stretch>
            <a:fillRect/>
          </a:stretch>
        </p:blipFill>
        <p:spPr bwMode="auto">
          <a:xfrm>
            <a:off x="330200" y="533400"/>
            <a:ext cx="6769100" cy="5791200"/>
          </a:xfrm>
          <a:prstGeom prst="rect">
            <a:avLst/>
          </a:prstGeom>
          <a:noFill/>
          <a:ln w="9525">
            <a:noFill/>
            <a:miter lim="800000"/>
            <a:headEnd/>
            <a:tailEnd/>
          </a:ln>
        </p:spPr>
      </p:pic>
      <p:sp>
        <p:nvSpPr>
          <p:cNvPr id="29699" name="Oval 3"/>
          <p:cNvSpPr>
            <a:spLocks noChangeArrowheads="1"/>
          </p:cNvSpPr>
          <p:nvPr/>
        </p:nvSpPr>
        <p:spPr bwMode="auto">
          <a:xfrm>
            <a:off x="5861050" y="2057400"/>
            <a:ext cx="1155700" cy="1143000"/>
          </a:xfrm>
          <a:prstGeom prst="ellipse">
            <a:avLst/>
          </a:prstGeom>
          <a:noFill/>
          <a:ln w="28575">
            <a:solidFill>
              <a:srgbClr val="FF0000"/>
            </a:solidFill>
            <a:round/>
            <a:headEnd/>
            <a:tailEnd/>
          </a:ln>
        </p:spPr>
        <p:txBody>
          <a:bodyPr wrap="none" anchor="ctr"/>
          <a:lstStyle/>
          <a:p>
            <a:endParaRPr lang="en-US"/>
          </a:p>
        </p:txBody>
      </p:sp>
      <p:sp>
        <p:nvSpPr>
          <p:cNvPr id="29700" name="Oval 4"/>
          <p:cNvSpPr>
            <a:spLocks noChangeArrowheads="1"/>
          </p:cNvSpPr>
          <p:nvPr/>
        </p:nvSpPr>
        <p:spPr bwMode="auto">
          <a:xfrm>
            <a:off x="5861050" y="3352800"/>
            <a:ext cx="1155700" cy="1371600"/>
          </a:xfrm>
          <a:prstGeom prst="ellipse">
            <a:avLst/>
          </a:prstGeom>
          <a:noFill/>
          <a:ln w="28575">
            <a:solidFill>
              <a:srgbClr val="FF0000"/>
            </a:solidFill>
            <a:round/>
            <a:headEnd/>
            <a:tailEnd/>
          </a:ln>
        </p:spPr>
        <p:txBody>
          <a:bodyPr wrap="none" anchor="ctr"/>
          <a:lstStyle/>
          <a:p>
            <a:endParaRPr lang="en-US"/>
          </a:p>
        </p:txBody>
      </p:sp>
      <p:sp>
        <p:nvSpPr>
          <p:cNvPr id="29701" name="Oval 5"/>
          <p:cNvSpPr>
            <a:spLocks noChangeArrowheads="1"/>
          </p:cNvSpPr>
          <p:nvPr/>
        </p:nvSpPr>
        <p:spPr bwMode="auto">
          <a:xfrm>
            <a:off x="3714750" y="3200400"/>
            <a:ext cx="1155700" cy="1371600"/>
          </a:xfrm>
          <a:prstGeom prst="ellipse">
            <a:avLst/>
          </a:prstGeom>
          <a:noFill/>
          <a:ln w="28575">
            <a:solidFill>
              <a:srgbClr val="FF0000"/>
            </a:solidFill>
            <a:round/>
            <a:headEnd/>
            <a:tailEnd/>
          </a:ln>
        </p:spPr>
        <p:txBody>
          <a:bodyPr wrap="none" anchor="ctr"/>
          <a:lstStyle/>
          <a:p>
            <a:endParaRPr lang="en-US"/>
          </a:p>
        </p:txBody>
      </p:sp>
      <p:sp>
        <p:nvSpPr>
          <p:cNvPr id="29702" name="Oval 6"/>
          <p:cNvSpPr>
            <a:spLocks noChangeArrowheads="1"/>
          </p:cNvSpPr>
          <p:nvPr/>
        </p:nvSpPr>
        <p:spPr bwMode="auto">
          <a:xfrm>
            <a:off x="3384550" y="5105400"/>
            <a:ext cx="3467100" cy="533400"/>
          </a:xfrm>
          <a:prstGeom prst="ellipse">
            <a:avLst/>
          </a:prstGeom>
          <a:noFill/>
          <a:ln w="28575">
            <a:solidFill>
              <a:srgbClr val="FF0000"/>
            </a:solidFill>
            <a:round/>
            <a:headEnd/>
            <a:tailEnd/>
          </a:ln>
        </p:spPr>
        <p:txBody>
          <a:bodyPr wrap="none" anchor="ctr"/>
          <a:lstStyle/>
          <a:p>
            <a:endParaRPr lang="en-US"/>
          </a:p>
        </p:txBody>
      </p:sp>
      <p:sp>
        <p:nvSpPr>
          <p:cNvPr id="29703" name="AutoShape 7"/>
          <p:cNvSpPr>
            <a:spLocks noChangeArrowheads="1"/>
          </p:cNvSpPr>
          <p:nvPr/>
        </p:nvSpPr>
        <p:spPr bwMode="auto">
          <a:xfrm>
            <a:off x="7512050" y="1905000"/>
            <a:ext cx="1981200" cy="1219200"/>
          </a:xfrm>
          <a:prstGeom prst="star8">
            <a:avLst>
              <a:gd name="adj" fmla="val 38250"/>
            </a:avLst>
          </a:prstGeom>
          <a:solidFill>
            <a:schemeClr val="bg1"/>
          </a:solidFill>
          <a:ln w="9525">
            <a:solidFill>
              <a:srgbClr val="000000"/>
            </a:solidFill>
            <a:miter lim="800000"/>
            <a:headEnd/>
            <a:tailEnd/>
          </a:ln>
        </p:spPr>
        <p:txBody>
          <a:bodyPr wrap="none" anchor="ctr"/>
          <a:lstStyle/>
          <a:p>
            <a:pPr algn="ctr"/>
            <a:r>
              <a:rPr lang="en-US" sz="1400">
                <a:solidFill>
                  <a:srgbClr val="000000"/>
                </a:solidFill>
                <a:latin typeface="Tahoma" pitchFamily="34" charset="0"/>
              </a:rPr>
              <a:t>No. Document</a:t>
            </a:r>
          </a:p>
          <a:p>
            <a:pPr algn="ctr"/>
            <a:r>
              <a:rPr lang="en-US" sz="1400">
                <a:solidFill>
                  <a:srgbClr val="000000"/>
                </a:solidFill>
                <a:latin typeface="Tahoma" pitchFamily="34" charset="0"/>
              </a:rPr>
              <a:t> urut dantercetak</a:t>
            </a:r>
          </a:p>
          <a:p>
            <a:pPr algn="ctr"/>
            <a:r>
              <a:rPr lang="en-US" sz="1400">
                <a:solidFill>
                  <a:srgbClr val="000000"/>
                </a:solidFill>
                <a:latin typeface="Tahoma" pitchFamily="34" charset="0"/>
              </a:rPr>
              <a:t> untuk control</a:t>
            </a:r>
          </a:p>
          <a:p>
            <a:pPr algn="ctr"/>
            <a:endParaRPr lang="en-US" sz="1400">
              <a:solidFill>
                <a:srgbClr val="000000"/>
              </a:solidFill>
              <a:latin typeface="Tahoma" pitchFamily="34" charset="0"/>
            </a:endParaRPr>
          </a:p>
        </p:txBody>
      </p:sp>
      <p:sp>
        <p:nvSpPr>
          <p:cNvPr id="29704" name="Oval 8"/>
          <p:cNvSpPr>
            <a:spLocks noChangeArrowheads="1"/>
          </p:cNvSpPr>
          <p:nvPr/>
        </p:nvSpPr>
        <p:spPr bwMode="auto">
          <a:xfrm>
            <a:off x="7594600" y="3276600"/>
            <a:ext cx="2311400" cy="1219200"/>
          </a:xfrm>
          <a:prstGeom prst="ellipse">
            <a:avLst/>
          </a:prstGeom>
          <a:solidFill>
            <a:schemeClr val="bg1"/>
          </a:solidFill>
          <a:ln w="9525">
            <a:solidFill>
              <a:schemeClr val="tx1"/>
            </a:solidFill>
            <a:round/>
            <a:headEnd/>
            <a:tailEnd/>
          </a:ln>
        </p:spPr>
        <p:txBody>
          <a:bodyPr wrap="none" anchor="ctr"/>
          <a:lstStyle/>
          <a:p>
            <a:pPr algn="ctr"/>
            <a:r>
              <a:rPr lang="en-US" sz="1400">
                <a:latin typeface="Tahoma" pitchFamily="34" charset="0"/>
              </a:rPr>
              <a:t>Tidak ada info harga </a:t>
            </a:r>
          </a:p>
          <a:p>
            <a:pPr algn="ctr"/>
            <a:r>
              <a:rPr lang="en-US" sz="1400">
                <a:latin typeface="Tahoma" pitchFamily="34" charset="0"/>
              </a:rPr>
              <a:t>(confidensial) hanya Qty.</a:t>
            </a:r>
          </a:p>
          <a:p>
            <a:pPr algn="ctr"/>
            <a:r>
              <a:rPr lang="en-US" sz="1400">
                <a:latin typeface="Tahoma" pitchFamily="34" charset="0"/>
              </a:rPr>
              <a:t> Karena itu yang </a:t>
            </a:r>
          </a:p>
          <a:p>
            <a:pPr algn="ctr"/>
            <a:r>
              <a:rPr lang="en-US" sz="1400">
                <a:latin typeface="Tahoma" pitchFamily="34" charset="0"/>
              </a:rPr>
              <a:t>dibutuhkan</a:t>
            </a:r>
          </a:p>
        </p:txBody>
      </p:sp>
      <p:sp>
        <p:nvSpPr>
          <p:cNvPr id="29705" name="Oval 9"/>
          <p:cNvSpPr>
            <a:spLocks noChangeArrowheads="1"/>
          </p:cNvSpPr>
          <p:nvPr/>
        </p:nvSpPr>
        <p:spPr bwMode="auto">
          <a:xfrm>
            <a:off x="7181850" y="5486400"/>
            <a:ext cx="2393950" cy="914400"/>
          </a:xfrm>
          <a:prstGeom prst="ellipse">
            <a:avLst/>
          </a:prstGeom>
          <a:solidFill>
            <a:schemeClr val="bg1"/>
          </a:solidFill>
          <a:ln w="9525">
            <a:solidFill>
              <a:schemeClr val="tx1"/>
            </a:solidFill>
            <a:round/>
            <a:headEnd/>
            <a:tailEnd/>
          </a:ln>
        </p:spPr>
        <p:txBody>
          <a:bodyPr wrap="none" anchor="ctr"/>
          <a:lstStyle/>
          <a:p>
            <a:pPr algn="ctr"/>
            <a:r>
              <a:rPr lang="en-US" sz="1400">
                <a:solidFill>
                  <a:srgbClr val="000000"/>
                </a:solidFill>
                <a:latin typeface="Tahoma" pitchFamily="34" charset="0"/>
              </a:rPr>
              <a:t>Approved oleh yang </a:t>
            </a:r>
          </a:p>
          <a:p>
            <a:pPr algn="ctr"/>
            <a:r>
              <a:rPr lang="en-US" sz="1400">
                <a:solidFill>
                  <a:srgbClr val="000000"/>
                </a:solidFill>
                <a:latin typeface="Tahoma" pitchFamily="34" charset="0"/>
              </a:rPr>
              <a:t>Berwenang bahwa barang </a:t>
            </a:r>
          </a:p>
          <a:p>
            <a:pPr algn="ctr"/>
            <a:r>
              <a:rPr lang="en-US" sz="1400">
                <a:solidFill>
                  <a:srgbClr val="000000"/>
                </a:solidFill>
                <a:latin typeface="Tahoma" pitchFamily="34" charset="0"/>
              </a:rPr>
              <a:t>memang diterima</a:t>
            </a:r>
          </a:p>
        </p:txBody>
      </p:sp>
      <p:sp>
        <p:nvSpPr>
          <p:cNvPr id="29706" name="Oval 10"/>
          <p:cNvSpPr>
            <a:spLocks noChangeArrowheads="1"/>
          </p:cNvSpPr>
          <p:nvPr/>
        </p:nvSpPr>
        <p:spPr bwMode="auto">
          <a:xfrm>
            <a:off x="7181850" y="4648200"/>
            <a:ext cx="2724150" cy="609600"/>
          </a:xfrm>
          <a:prstGeom prst="ellipse">
            <a:avLst/>
          </a:prstGeom>
          <a:solidFill>
            <a:schemeClr val="bg1"/>
          </a:solidFill>
          <a:ln w="9525">
            <a:solidFill>
              <a:schemeClr val="tx1"/>
            </a:solidFill>
            <a:round/>
            <a:headEnd/>
            <a:tailEnd/>
          </a:ln>
        </p:spPr>
        <p:txBody>
          <a:bodyPr wrap="none" anchor="ctr"/>
          <a:lstStyle/>
          <a:p>
            <a:pPr algn="ctr"/>
            <a:r>
              <a:rPr lang="en-US" sz="1400">
                <a:latin typeface="Tahoma" pitchFamily="34" charset="0"/>
              </a:rPr>
              <a:t>Qty harus jelas, </a:t>
            </a:r>
          </a:p>
          <a:p>
            <a:pPr algn="ctr"/>
            <a:r>
              <a:rPr lang="en-US" sz="1400">
                <a:latin typeface="Tahoma" pitchFamily="34" charset="0"/>
              </a:rPr>
              <a:t>agar tidak terjadi </a:t>
            </a:r>
          </a:p>
          <a:p>
            <a:pPr algn="ctr"/>
            <a:r>
              <a:rPr lang="en-US" sz="1400">
                <a:latin typeface="Tahoma" pitchFamily="34" charset="0"/>
              </a:rPr>
              <a:t>salah hitung</a:t>
            </a:r>
          </a:p>
        </p:txBody>
      </p:sp>
      <p:sp>
        <p:nvSpPr>
          <p:cNvPr id="29707" name="Line 11"/>
          <p:cNvSpPr>
            <a:spLocks noChangeShapeType="1"/>
          </p:cNvSpPr>
          <p:nvPr/>
        </p:nvSpPr>
        <p:spPr bwMode="auto">
          <a:xfrm>
            <a:off x="4292600" y="4648200"/>
            <a:ext cx="2806700" cy="304800"/>
          </a:xfrm>
          <a:prstGeom prst="line">
            <a:avLst/>
          </a:prstGeom>
          <a:noFill/>
          <a:ln w="38100">
            <a:solidFill>
              <a:srgbClr val="FF0000"/>
            </a:solidFill>
            <a:round/>
            <a:headEnd/>
            <a:tailEnd type="triangle" w="med" len="med"/>
          </a:ln>
        </p:spPr>
        <p:txBody>
          <a:bodyPr/>
          <a:lstStyle/>
          <a:p>
            <a:endParaRPr lang="en-US"/>
          </a:p>
        </p:txBody>
      </p:sp>
      <p:sp>
        <p:nvSpPr>
          <p:cNvPr id="29708" name="Line 12"/>
          <p:cNvSpPr>
            <a:spLocks noChangeShapeType="1"/>
          </p:cNvSpPr>
          <p:nvPr/>
        </p:nvSpPr>
        <p:spPr bwMode="auto">
          <a:xfrm>
            <a:off x="5118100" y="5715000"/>
            <a:ext cx="2063750" cy="381000"/>
          </a:xfrm>
          <a:prstGeom prst="line">
            <a:avLst/>
          </a:prstGeom>
          <a:noFill/>
          <a:ln w="38100">
            <a:solidFill>
              <a:srgbClr val="FF0000"/>
            </a:solidFill>
            <a:round/>
            <a:headEnd/>
            <a:tailEnd type="triangle" w="med" len="med"/>
          </a:ln>
        </p:spPr>
        <p:txBody>
          <a:bodyPr/>
          <a:lstStyle/>
          <a:p>
            <a:endParaRPr lang="en-US"/>
          </a:p>
        </p:txBody>
      </p:sp>
      <p:sp>
        <p:nvSpPr>
          <p:cNvPr id="29709" name="Line 13"/>
          <p:cNvSpPr>
            <a:spLocks noChangeShapeType="1"/>
          </p:cNvSpPr>
          <p:nvPr/>
        </p:nvSpPr>
        <p:spPr bwMode="auto">
          <a:xfrm flipV="1">
            <a:off x="7016750" y="2743200"/>
            <a:ext cx="660400" cy="76200"/>
          </a:xfrm>
          <a:prstGeom prst="line">
            <a:avLst/>
          </a:prstGeom>
          <a:noFill/>
          <a:ln w="38100">
            <a:solidFill>
              <a:srgbClr val="FF0000"/>
            </a:solidFill>
            <a:round/>
            <a:headEnd/>
            <a:tailEnd type="triangle" w="med" len="med"/>
          </a:ln>
        </p:spPr>
        <p:txBody>
          <a:bodyPr/>
          <a:lstStyle/>
          <a:p>
            <a:endParaRPr lang="en-US"/>
          </a:p>
        </p:txBody>
      </p:sp>
      <p:sp>
        <p:nvSpPr>
          <p:cNvPr id="29710" name="Line 14"/>
          <p:cNvSpPr>
            <a:spLocks noChangeShapeType="1"/>
          </p:cNvSpPr>
          <p:nvPr/>
        </p:nvSpPr>
        <p:spPr bwMode="auto">
          <a:xfrm>
            <a:off x="7099300" y="4114800"/>
            <a:ext cx="495300" cy="76200"/>
          </a:xfrm>
          <a:prstGeom prst="line">
            <a:avLst/>
          </a:prstGeom>
          <a:noFill/>
          <a:ln w="38100">
            <a:solidFill>
              <a:srgbClr val="FF0000"/>
            </a:solidFill>
            <a:round/>
            <a:headEnd/>
            <a:tailEnd type="triangle" w="med" len="med"/>
          </a:ln>
        </p:spPr>
        <p:txBody>
          <a:bodyPr/>
          <a:lstStyle/>
          <a:p>
            <a:endParaRPr lang="en-US"/>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2" name="Picture 2"/>
          <p:cNvPicPr>
            <a:picLocks noChangeAspect="1" noChangeArrowheads="1"/>
          </p:cNvPicPr>
          <p:nvPr/>
        </p:nvPicPr>
        <p:blipFill>
          <a:blip r:embed="rId3"/>
          <a:srcRect/>
          <a:stretch>
            <a:fillRect/>
          </a:stretch>
        </p:blipFill>
        <p:spPr bwMode="auto">
          <a:xfrm>
            <a:off x="330200" y="304800"/>
            <a:ext cx="6026150" cy="6107113"/>
          </a:xfrm>
          <a:prstGeom prst="rect">
            <a:avLst/>
          </a:prstGeom>
          <a:noFill/>
          <a:ln w="9525">
            <a:noFill/>
            <a:miter lim="800000"/>
            <a:headEnd/>
            <a:tailEnd/>
          </a:ln>
        </p:spPr>
      </p:pic>
      <p:sp>
        <p:nvSpPr>
          <p:cNvPr id="30723" name="Oval 3"/>
          <p:cNvSpPr>
            <a:spLocks noChangeArrowheads="1"/>
          </p:cNvSpPr>
          <p:nvPr/>
        </p:nvSpPr>
        <p:spPr bwMode="auto">
          <a:xfrm>
            <a:off x="5118100" y="2057400"/>
            <a:ext cx="1155700" cy="762000"/>
          </a:xfrm>
          <a:prstGeom prst="ellipse">
            <a:avLst/>
          </a:prstGeom>
          <a:noFill/>
          <a:ln w="28575">
            <a:solidFill>
              <a:srgbClr val="FF0000"/>
            </a:solidFill>
            <a:round/>
            <a:headEnd/>
            <a:tailEnd/>
          </a:ln>
        </p:spPr>
        <p:txBody>
          <a:bodyPr wrap="none" anchor="ctr"/>
          <a:lstStyle/>
          <a:p>
            <a:endParaRPr lang="en-US"/>
          </a:p>
        </p:txBody>
      </p:sp>
      <p:sp>
        <p:nvSpPr>
          <p:cNvPr id="30724" name="Oval 4"/>
          <p:cNvSpPr>
            <a:spLocks noChangeArrowheads="1"/>
          </p:cNvSpPr>
          <p:nvPr/>
        </p:nvSpPr>
        <p:spPr bwMode="auto">
          <a:xfrm>
            <a:off x="4953000" y="2971800"/>
            <a:ext cx="1320800" cy="1905000"/>
          </a:xfrm>
          <a:prstGeom prst="ellipse">
            <a:avLst/>
          </a:prstGeom>
          <a:noFill/>
          <a:ln w="28575">
            <a:solidFill>
              <a:srgbClr val="FF0000"/>
            </a:solidFill>
            <a:round/>
            <a:headEnd/>
            <a:tailEnd/>
          </a:ln>
        </p:spPr>
        <p:txBody>
          <a:bodyPr wrap="none" anchor="ctr"/>
          <a:lstStyle/>
          <a:p>
            <a:endParaRPr lang="en-US"/>
          </a:p>
        </p:txBody>
      </p:sp>
      <p:sp>
        <p:nvSpPr>
          <p:cNvPr id="30725" name="Oval 5"/>
          <p:cNvSpPr>
            <a:spLocks noChangeArrowheads="1"/>
          </p:cNvSpPr>
          <p:nvPr/>
        </p:nvSpPr>
        <p:spPr bwMode="auto">
          <a:xfrm>
            <a:off x="412750" y="4572000"/>
            <a:ext cx="3797300" cy="914400"/>
          </a:xfrm>
          <a:prstGeom prst="ellipse">
            <a:avLst/>
          </a:prstGeom>
          <a:noFill/>
          <a:ln w="28575">
            <a:solidFill>
              <a:srgbClr val="FF0000"/>
            </a:solidFill>
            <a:round/>
            <a:headEnd/>
            <a:tailEnd/>
          </a:ln>
        </p:spPr>
        <p:txBody>
          <a:bodyPr wrap="none" anchor="ctr"/>
          <a:lstStyle/>
          <a:p>
            <a:endParaRPr lang="en-US"/>
          </a:p>
        </p:txBody>
      </p:sp>
      <p:sp>
        <p:nvSpPr>
          <p:cNvPr id="30726" name="AutoShape 6"/>
          <p:cNvSpPr>
            <a:spLocks noChangeArrowheads="1"/>
          </p:cNvSpPr>
          <p:nvPr/>
        </p:nvSpPr>
        <p:spPr bwMode="auto">
          <a:xfrm>
            <a:off x="7512050" y="1905000"/>
            <a:ext cx="1981200" cy="1219200"/>
          </a:xfrm>
          <a:prstGeom prst="star8">
            <a:avLst>
              <a:gd name="adj" fmla="val 38250"/>
            </a:avLst>
          </a:prstGeom>
          <a:solidFill>
            <a:schemeClr val="bg1"/>
          </a:solidFill>
          <a:ln w="9525">
            <a:solidFill>
              <a:srgbClr val="000000"/>
            </a:solidFill>
            <a:miter lim="800000"/>
            <a:headEnd/>
            <a:tailEnd/>
          </a:ln>
        </p:spPr>
        <p:txBody>
          <a:bodyPr wrap="none" anchor="ctr"/>
          <a:lstStyle/>
          <a:p>
            <a:pPr algn="ctr"/>
            <a:r>
              <a:rPr lang="en-US" sz="1400">
                <a:solidFill>
                  <a:srgbClr val="000000"/>
                </a:solidFill>
                <a:latin typeface="Tahoma" pitchFamily="34" charset="0"/>
              </a:rPr>
              <a:t>No. Document</a:t>
            </a:r>
          </a:p>
          <a:p>
            <a:pPr algn="ctr"/>
            <a:r>
              <a:rPr lang="en-US" sz="1400">
                <a:solidFill>
                  <a:srgbClr val="000000"/>
                </a:solidFill>
                <a:latin typeface="Tahoma" pitchFamily="34" charset="0"/>
              </a:rPr>
              <a:t> urut dantercetak</a:t>
            </a:r>
          </a:p>
          <a:p>
            <a:pPr algn="ctr"/>
            <a:r>
              <a:rPr lang="en-US" sz="1400">
                <a:solidFill>
                  <a:srgbClr val="000000"/>
                </a:solidFill>
                <a:latin typeface="Tahoma" pitchFamily="34" charset="0"/>
              </a:rPr>
              <a:t> untuk control</a:t>
            </a:r>
          </a:p>
          <a:p>
            <a:pPr algn="ctr"/>
            <a:endParaRPr lang="en-US" sz="1400">
              <a:solidFill>
                <a:srgbClr val="000000"/>
              </a:solidFill>
              <a:latin typeface="Tahoma" pitchFamily="34" charset="0"/>
            </a:endParaRPr>
          </a:p>
        </p:txBody>
      </p:sp>
      <p:sp>
        <p:nvSpPr>
          <p:cNvPr id="30727" name="Oval 7"/>
          <p:cNvSpPr>
            <a:spLocks noChangeArrowheads="1"/>
          </p:cNvSpPr>
          <p:nvPr/>
        </p:nvSpPr>
        <p:spPr bwMode="auto">
          <a:xfrm>
            <a:off x="6521450" y="3200400"/>
            <a:ext cx="3384550" cy="1295400"/>
          </a:xfrm>
          <a:prstGeom prst="ellipse">
            <a:avLst/>
          </a:prstGeom>
          <a:solidFill>
            <a:schemeClr val="bg1"/>
          </a:solidFill>
          <a:ln w="9525">
            <a:solidFill>
              <a:schemeClr val="tx1"/>
            </a:solidFill>
            <a:round/>
            <a:headEnd/>
            <a:tailEnd/>
          </a:ln>
        </p:spPr>
        <p:txBody>
          <a:bodyPr wrap="none" anchor="ctr"/>
          <a:lstStyle/>
          <a:p>
            <a:pPr algn="ctr"/>
            <a:r>
              <a:rPr lang="en-US" sz="1400">
                <a:latin typeface="Tahoma" pitchFamily="34" charset="0"/>
              </a:rPr>
              <a:t>Nilai yang ditagihkan berdasar </a:t>
            </a:r>
          </a:p>
          <a:p>
            <a:pPr algn="ctr"/>
            <a:r>
              <a:rPr lang="en-US" sz="1400">
                <a:latin typeface="Tahoma" pitchFamily="34" charset="0"/>
              </a:rPr>
              <a:t>harga yang sudah deal, </a:t>
            </a:r>
          </a:p>
          <a:p>
            <a:pPr algn="ctr"/>
            <a:r>
              <a:rPr lang="en-US" sz="1400">
                <a:latin typeface="Tahoma" pitchFamily="34" charset="0"/>
              </a:rPr>
              <a:t>ditambah  dengan nilai </a:t>
            </a:r>
          </a:p>
          <a:p>
            <a:pPr algn="ctr"/>
            <a:r>
              <a:rPr lang="en-US" sz="1400">
                <a:latin typeface="Tahoma" pitchFamily="34" charset="0"/>
              </a:rPr>
              <a:t>PPN  masukan</a:t>
            </a:r>
          </a:p>
        </p:txBody>
      </p:sp>
      <p:sp>
        <p:nvSpPr>
          <p:cNvPr id="30728" name="Oval 8"/>
          <p:cNvSpPr>
            <a:spLocks noChangeArrowheads="1"/>
          </p:cNvSpPr>
          <p:nvPr/>
        </p:nvSpPr>
        <p:spPr bwMode="auto">
          <a:xfrm>
            <a:off x="7016750" y="4876800"/>
            <a:ext cx="2311400" cy="1066800"/>
          </a:xfrm>
          <a:prstGeom prst="ellipse">
            <a:avLst/>
          </a:prstGeom>
          <a:solidFill>
            <a:schemeClr val="bg1"/>
          </a:solidFill>
          <a:ln w="9525">
            <a:solidFill>
              <a:srgbClr val="000000"/>
            </a:solidFill>
            <a:round/>
            <a:headEnd/>
            <a:tailEnd/>
          </a:ln>
        </p:spPr>
        <p:txBody>
          <a:bodyPr wrap="none" anchor="ctr"/>
          <a:lstStyle/>
          <a:p>
            <a:pPr algn="ctr"/>
            <a:r>
              <a:rPr lang="en-US" sz="1400">
                <a:solidFill>
                  <a:srgbClr val="000000"/>
                </a:solidFill>
                <a:latin typeface="Tahoma" pitchFamily="34" charset="0"/>
              </a:rPr>
              <a:t>Informasi no rekening, </a:t>
            </a:r>
          </a:p>
          <a:p>
            <a:pPr algn="ctr"/>
            <a:r>
              <a:rPr lang="en-US" sz="1400">
                <a:solidFill>
                  <a:srgbClr val="000000"/>
                </a:solidFill>
                <a:latin typeface="Tahoma" pitchFamily="34" charset="0"/>
              </a:rPr>
              <a:t>agar tidak salah transfer</a:t>
            </a:r>
          </a:p>
        </p:txBody>
      </p:sp>
      <p:sp>
        <p:nvSpPr>
          <p:cNvPr id="30729" name="Line 9"/>
          <p:cNvSpPr>
            <a:spLocks noChangeShapeType="1"/>
          </p:cNvSpPr>
          <p:nvPr/>
        </p:nvSpPr>
        <p:spPr bwMode="auto">
          <a:xfrm>
            <a:off x="4292600" y="5105400"/>
            <a:ext cx="2724150" cy="304800"/>
          </a:xfrm>
          <a:prstGeom prst="line">
            <a:avLst/>
          </a:prstGeom>
          <a:noFill/>
          <a:ln w="38100">
            <a:solidFill>
              <a:srgbClr val="FF0000"/>
            </a:solidFill>
            <a:round/>
            <a:headEnd/>
            <a:tailEnd type="triangle" w="med" len="med"/>
          </a:ln>
        </p:spPr>
        <p:txBody>
          <a:bodyPr/>
          <a:lstStyle/>
          <a:p>
            <a:endParaRPr lang="en-US"/>
          </a:p>
        </p:txBody>
      </p:sp>
      <p:sp>
        <p:nvSpPr>
          <p:cNvPr id="30730" name="Line 10"/>
          <p:cNvSpPr>
            <a:spLocks noChangeShapeType="1"/>
          </p:cNvSpPr>
          <p:nvPr/>
        </p:nvSpPr>
        <p:spPr bwMode="auto">
          <a:xfrm>
            <a:off x="6273800" y="3810000"/>
            <a:ext cx="577850" cy="76200"/>
          </a:xfrm>
          <a:prstGeom prst="line">
            <a:avLst/>
          </a:prstGeom>
          <a:noFill/>
          <a:ln w="38100">
            <a:solidFill>
              <a:srgbClr val="FF0000"/>
            </a:solidFill>
            <a:round/>
            <a:headEnd/>
            <a:tailEnd type="triangle" w="med" len="med"/>
          </a:ln>
        </p:spPr>
        <p:txBody>
          <a:bodyPr/>
          <a:lstStyle/>
          <a:p>
            <a:endParaRPr lang="en-US"/>
          </a:p>
        </p:txBody>
      </p:sp>
      <p:sp>
        <p:nvSpPr>
          <p:cNvPr id="30731" name="Line 11"/>
          <p:cNvSpPr>
            <a:spLocks noChangeShapeType="1"/>
          </p:cNvSpPr>
          <p:nvPr/>
        </p:nvSpPr>
        <p:spPr bwMode="auto">
          <a:xfrm>
            <a:off x="6356350" y="2438400"/>
            <a:ext cx="1073150" cy="152400"/>
          </a:xfrm>
          <a:prstGeom prst="line">
            <a:avLst/>
          </a:prstGeom>
          <a:noFill/>
          <a:ln w="38100">
            <a:solidFill>
              <a:srgbClr val="FF0000"/>
            </a:solidFill>
            <a:round/>
            <a:headEnd/>
            <a:tailEnd type="triangle" w="med" len="med"/>
          </a:ln>
        </p:spPr>
        <p:txBody>
          <a:bodyPr/>
          <a:lstStyle/>
          <a:p>
            <a:endParaRPr lang="en-US"/>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6" name="Picture 2"/>
          <p:cNvPicPr>
            <a:picLocks noChangeAspect="1" noChangeArrowheads="1"/>
          </p:cNvPicPr>
          <p:nvPr/>
        </p:nvPicPr>
        <p:blipFill>
          <a:blip r:embed="rId3"/>
          <a:srcRect/>
          <a:stretch>
            <a:fillRect/>
          </a:stretch>
        </p:blipFill>
        <p:spPr bwMode="auto">
          <a:xfrm>
            <a:off x="247650" y="381000"/>
            <a:ext cx="6026150" cy="6019800"/>
          </a:xfrm>
          <a:prstGeom prst="rect">
            <a:avLst/>
          </a:prstGeom>
          <a:noFill/>
          <a:ln w="9525">
            <a:noFill/>
            <a:miter lim="800000"/>
            <a:headEnd/>
            <a:tailEnd/>
          </a:ln>
        </p:spPr>
      </p:pic>
      <p:sp>
        <p:nvSpPr>
          <p:cNvPr id="31747" name="Oval 3"/>
          <p:cNvSpPr>
            <a:spLocks noChangeArrowheads="1"/>
          </p:cNvSpPr>
          <p:nvPr/>
        </p:nvSpPr>
        <p:spPr bwMode="auto">
          <a:xfrm>
            <a:off x="5200650" y="4267200"/>
            <a:ext cx="1155700" cy="914400"/>
          </a:xfrm>
          <a:prstGeom prst="ellipse">
            <a:avLst/>
          </a:prstGeom>
          <a:noFill/>
          <a:ln w="28575">
            <a:solidFill>
              <a:srgbClr val="FF0000"/>
            </a:solidFill>
            <a:round/>
            <a:headEnd/>
            <a:tailEnd/>
          </a:ln>
        </p:spPr>
        <p:txBody>
          <a:bodyPr wrap="none" anchor="ctr"/>
          <a:lstStyle/>
          <a:p>
            <a:endParaRPr lang="en-US"/>
          </a:p>
        </p:txBody>
      </p:sp>
      <p:sp>
        <p:nvSpPr>
          <p:cNvPr id="31748" name="Oval 4"/>
          <p:cNvSpPr>
            <a:spLocks noChangeArrowheads="1"/>
          </p:cNvSpPr>
          <p:nvPr/>
        </p:nvSpPr>
        <p:spPr bwMode="auto">
          <a:xfrm>
            <a:off x="1485900" y="1219200"/>
            <a:ext cx="4622800" cy="2133600"/>
          </a:xfrm>
          <a:prstGeom prst="ellipse">
            <a:avLst/>
          </a:prstGeom>
          <a:noFill/>
          <a:ln w="28575">
            <a:solidFill>
              <a:srgbClr val="FF0000"/>
            </a:solidFill>
            <a:round/>
            <a:headEnd/>
            <a:tailEnd/>
          </a:ln>
        </p:spPr>
        <p:txBody>
          <a:bodyPr wrap="none" anchor="ctr"/>
          <a:lstStyle/>
          <a:p>
            <a:endParaRPr lang="en-US"/>
          </a:p>
        </p:txBody>
      </p:sp>
      <p:sp>
        <p:nvSpPr>
          <p:cNvPr id="31749" name="Oval 5"/>
          <p:cNvSpPr>
            <a:spLocks noChangeArrowheads="1"/>
          </p:cNvSpPr>
          <p:nvPr/>
        </p:nvSpPr>
        <p:spPr bwMode="auto">
          <a:xfrm>
            <a:off x="3962400" y="5257800"/>
            <a:ext cx="1155700" cy="990600"/>
          </a:xfrm>
          <a:prstGeom prst="ellipse">
            <a:avLst/>
          </a:prstGeom>
          <a:noFill/>
          <a:ln w="28575">
            <a:solidFill>
              <a:srgbClr val="FF0000"/>
            </a:solidFill>
            <a:round/>
            <a:headEnd/>
            <a:tailEnd/>
          </a:ln>
        </p:spPr>
        <p:txBody>
          <a:bodyPr wrap="none" anchor="ctr"/>
          <a:lstStyle/>
          <a:p>
            <a:endParaRPr lang="en-US"/>
          </a:p>
        </p:txBody>
      </p:sp>
      <p:sp>
        <p:nvSpPr>
          <p:cNvPr id="31750" name="Oval 6"/>
          <p:cNvSpPr>
            <a:spLocks noChangeArrowheads="1"/>
          </p:cNvSpPr>
          <p:nvPr/>
        </p:nvSpPr>
        <p:spPr bwMode="auto">
          <a:xfrm>
            <a:off x="6521450" y="1600200"/>
            <a:ext cx="3136900" cy="1143000"/>
          </a:xfrm>
          <a:prstGeom prst="ellipse">
            <a:avLst/>
          </a:prstGeom>
          <a:solidFill>
            <a:schemeClr val="bg1"/>
          </a:solidFill>
          <a:ln w="9525">
            <a:solidFill>
              <a:schemeClr val="tx1"/>
            </a:solidFill>
            <a:round/>
            <a:headEnd/>
            <a:tailEnd/>
          </a:ln>
        </p:spPr>
        <p:txBody>
          <a:bodyPr wrap="none" anchor="ctr"/>
          <a:lstStyle/>
          <a:p>
            <a:pPr algn="ctr"/>
            <a:r>
              <a:rPr lang="en-US" sz="1400">
                <a:latin typeface="Tahoma" pitchFamily="34" charset="0"/>
              </a:rPr>
              <a:t>Data kode dan nomor </a:t>
            </a:r>
          </a:p>
          <a:p>
            <a:pPr algn="ctr"/>
            <a:r>
              <a:rPr lang="en-US" sz="1400">
                <a:latin typeface="Tahoma" pitchFamily="34" charset="0"/>
              </a:rPr>
              <a:t>seri faktur, serta ingo </a:t>
            </a:r>
          </a:p>
          <a:p>
            <a:pPr algn="ctr"/>
            <a:r>
              <a:rPr lang="en-US" sz="1400">
                <a:latin typeface="Tahoma" pitchFamily="34" charset="0"/>
              </a:rPr>
              <a:t>NPWP dab alamat supplier </a:t>
            </a:r>
          </a:p>
          <a:p>
            <a:pPr algn="ctr"/>
            <a:r>
              <a:rPr lang="en-US" sz="1400">
                <a:latin typeface="Tahoma" pitchFamily="34" charset="0"/>
              </a:rPr>
              <a:t>dan perusahaan. Tidak </a:t>
            </a:r>
          </a:p>
          <a:p>
            <a:pPr algn="ctr"/>
            <a:r>
              <a:rPr lang="en-US" sz="1400">
                <a:latin typeface="Tahoma" pitchFamily="34" charset="0"/>
              </a:rPr>
              <a:t>boleh salah</a:t>
            </a:r>
          </a:p>
        </p:txBody>
      </p:sp>
      <p:sp>
        <p:nvSpPr>
          <p:cNvPr id="31751" name="Oval 7"/>
          <p:cNvSpPr>
            <a:spLocks noChangeArrowheads="1"/>
          </p:cNvSpPr>
          <p:nvPr/>
        </p:nvSpPr>
        <p:spPr bwMode="auto">
          <a:xfrm>
            <a:off x="6851650" y="4343400"/>
            <a:ext cx="2476500" cy="609600"/>
          </a:xfrm>
          <a:prstGeom prst="ellipse">
            <a:avLst/>
          </a:prstGeom>
          <a:solidFill>
            <a:schemeClr val="bg1"/>
          </a:solidFill>
          <a:ln w="9525">
            <a:solidFill>
              <a:schemeClr val="tx1"/>
            </a:solidFill>
            <a:round/>
            <a:headEnd/>
            <a:tailEnd/>
          </a:ln>
        </p:spPr>
        <p:txBody>
          <a:bodyPr wrap="none" anchor="ctr"/>
          <a:lstStyle/>
          <a:p>
            <a:pPr algn="ctr"/>
            <a:r>
              <a:rPr lang="en-US" sz="1400">
                <a:latin typeface="Tahoma" pitchFamily="34" charset="0"/>
              </a:rPr>
              <a:t>Nilai principal dan </a:t>
            </a:r>
          </a:p>
          <a:p>
            <a:pPr algn="ctr"/>
            <a:r>
              <a:rPr lang="en-US" sz="1400">
                <a:latin typeface="Tahoma" pitchFamily="34" charset="0"/>
              </a:rPr>
              <a:t>PPN masukan</a:t>
            </a:r>
          </a:p>
        </p:txBody>
      </p:sp>
      <p:sp>
        <p:nvSpPr>
          <p:cNvPr id="31752" name="Oval 8"/>
          <p:cNvSpPr>
            <a:spLocks noChangeArrowheads="1"/>
          </p:cNvSpPr>
          <p:nvPr/>
        </p:nvSpPr>
        <p:spPr bwMode="auto">
          <a:xfrm>
            <a:off x="6686550" y="5638800"/>
            <a:ext cx="2889250" cy="914400"/>
          </a:xfrm>
          <a:prstGeom prst="ellipse">
            <a:avLst/>
          </a:prstGeom>
          <a:solidFill>
            <a:schemeClr val="bg1"/>
          </a:solidFill>
          <a:ln w="9525">
            <a:solidFill>
              <a:schemeClr val="tx1"/>
            </a:solidFill>
            <a:round/>
            <a:headEnd/>
            <a:tailEnd/>
          </a:ln>
        </p:spPr>
        <p:txBody>
          <a:bodyPr wrap="none" anchor="ctr"/>
          <a:lstStyle/>
          <a:p>
            <a:pPr algn="ctr"/>
            <a:r>
              <a:rPr lang="en-US" sz="1400">
                <a:latin typeface="Tahoma" pitchFamily="34" charset="0"/>
              </a:rPr>
              <a:t>Pejabat yang mengotorisasi, </a:t>
            </a:r>
          </a:p>
          <a:p>
            <a:pPr algn="ctr"/>
            <a:r>
              <a:rPr lang="en-US" sz="1400">
                <a:latin typeface="Tahoma" pitchFamily="34" charset="0"/>
              </a:rPr>
              <a:t>Tidak boleh berganti-ganti </a:t>
            </a:r>
          </a:p>
          <a:p>
            <a:pPr algn="ctr"/>
            <a:r>
              <a:rPr lang="en-US" sz="1400">
                <a:latin typeface="Tahoma" pitchFamily="34" charset="0"/>
              </a:rPr>
              <a:t>(kecuali dilaporkan)</a:t>
            </a:r>
          </a:p>
        </p:txBody>
      </p:sp>
      <p:sp>
        <p:nvSpPr>
          <p:cNvPr id="31753" name="Line 9"/>
          <p:cNvSpPr>
            <a:spLocks noChangeShapeType="1"/>
          </p:cNvSpPr>
          <p:nvPr/>
        </p:nvSpPr>
        <p:spPr bwMode="auto">
          <a:xfrm flipV="1">
            <a:off x="6026150" y="2362200"/>
            <a:ext cx="742950" cy="228600"/>
          </a:xfrm>
          <a:prstGeom prst="line">
            <a:avLst/>
          </a:prstGeom>
          <a:noFill/>
          <a:ln w="38100">
            <a:solidFill>
              <a:srgbClr val="FF0000"/>
            </a:solidFill>
            <a:round/>
            <a:headEnd/>
            <a:tailEnd type="triangle" w="med" len="med"/>
          </a:ln>
        </p:spPr>
        <p:txBody>
          <a:bodyPr/>
          <a:lstStyle/>
          <a:p>
            <a:endParaRPr lang="en-US"/>
          </a:p>
        </p:txBody>
      </p:sp>
      <p:sp>
        <p:nvSpPr>
          <p:cNvPr id="31754" name="Line 10"/>
          <p:cNvSpPr>
            <a:spLocks noChangeShapeType="1"/>
          </p:cNvSpPr>
          <p:nvPr/>
        </p:nvSpPr>
        <p:spPr bwMode="auto">
          <a:xfrm flipV="1">
            <a:off x="6273800" y="4876800"/>
            <a:ext cx="742950" cy="76200"/>
          </a:xfrm>
          <a:prstGeom prst="line">
            <a:avLst/>
          </a:prstGeom>
          <a:noFill/>
          <a:ln w="38100">
            <a:solidFill>
              <a:srgbClr val="FF0000"/>
            </a:solidFill>
            <a:round/>
            <a:headEnd/>
            <a:tailEnd type="triangle" w="med" len="med"/>
          </a:ln>
        </p:spPr>
        <p:txBody>
          <a:bodyPr/>
          <a:lstStyle/>
          <a:p>
            <a:endParaRPr lang="en-US"/>
          </a:p>
        </p:txBody>
      </p:sp>
      <p:sp>
        <p:nvSpPr>
          <p:cNvPr id="31755" name="Line 11"/>
          <p:cNvSpPr>
            <a:spLocks noChangeShapeType="1"/>
          </p:cNvSpPr>
          <p:nvPr/>
        </p:nvSpPr>
        <p:spPr bwMode="auto">
          <a:xfrm>
            <a:off x="5283200" y="5791200"/>
            <a:ext cx="1320800" cy="304800"/>
          </a:xfrm>
          <a:prstGeom prst="line">
            <a:avLst/>
          </a:prstGeom>
          <a:noFill/>
          <a:ln w="38100">
            <a:solidFill>
              <a:srgbClr val="FF0000"/>
            </a:solidFill>
            <a:round/>
            <a:headEnd/>
            <a:tailEnd type="triangle" w="med" len="med"/>
          </a:ln>
        </p:spPr>
        <p:txBody>
          <a:bodyPr/>
          <a:lstStyle/>
          <a:p>
            <a:endParaRPr lang="en-US"/>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2"/>
          <p:cNvSpPr>
            <a:spLocks noChangeArrowheads="1"/>
          </p:cNvSpPr>
          <p:nvPr/>
        </p:nvSpPr>
        <p:spPr bwMode="auto">
          <a:xfrm>
            <a:off x="-28575" y="-3629025"/>
            <a:ext cx="9906000" cy="0"/>
          </a:xfrm>
          <a:prstGeom prst="rect">
            <a:avLst/>
          </a:prstGeom>
          <a:noFill/>
          <a:ln w="9525">
            <a:noFill/>
            <a:miter lim="800000"/>
            <a:headEnd/>
            <a:tailEnd/>
          </a:ln>
        </p:spPr>
        <p:txBody>
          <a:bodyPr wrap="none">
            <a:spAutoFit/>
          </a:bodyPr>
          <a:lstStyle/>
          <a:p>
            <a:endParaRPr lang="en-US"/>
          </a:p>
        </p:txBody>
      </p:sp>
      <p:graphicFrame>
        <p:nvGraphicFramePr>
          <p:cNvPr id="376835" name="Group 3"/>
          <p:cNvGraphicFramePr>
            <a:graphicFrameLocks noGrp="1"/>
          </p:cNvGraphicFramePr>
          <p:nvPr/>
        </p:nvGraphicFramePr>
        <p:xfrm>
          <a:off x="-28575" y="-2987675"/>
          <a:ext cx="208280" cy="518160"/>
        </p:xfrm>
        <a:graphic>
          <a:graphicData uri="http://schemas.openxmlformats.org/drawingml/2006/table">
            <a:tbl>
              <a:tblPr/>
              <a:tblGrid>
                <a:gridCol w="208280"/>
              </a:tblGrid>
              <a:tr h="0">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cs typeface="Arial" charset="0"/>
                      </a:endParaRPr>
                    </a:p>
                  </a:txBody>
                  <a:tcPr horzOverflow="overflow">
                    <a:lnL cap="flat">
                      <a:noFill/>
                    </a:lnL>
                    <a:lnR cap="flat">
                      <a:noFill/>
                    </a:lnR>
                    <a:lnT cap="flat">
                      <a:noFill/>
                    </a:lnT>
                    <a:lnB cap="flat">
                      <a:noFill/>
                    </a:lnB>
                    <a:lnTlToBr>
                      <a:noFill/>
                    </a:lnTlToBr>
                    <a:lnBlToTr>
                      <a:noFill/>
                    </a:lnBlToTr>
                    <a:noFill/>
                  </a:tcPr>
                </a:tc>
              </a:tr>
            </a:tbl>
          </a:graphicData>
        </a:graphic>
      </p:graphicFrame>
      <p:sp>
        <p:nvSpPr>
          <p:cNvPr id="2054" name="Rectangle 9"/>
          <p:cNvSpPr>
            <a:spLocks noChangeArrowheads="1"/>
          </p:cNvSpPr>
          <p:nvPr/>
        </p:nvSpPr>
        <p:spPr bwMode="auto">
          <a:xfrm>
            <a:off x="-28575" y="-1585913"/>
            <a:ext cx="198438" cy="534988"/>
          </a:xfrm>
          <a:prstGeom prst="rect">
            <a:avLst/>
          </a:prstGeom>
          <a:noFill/>
          <a:ln w="9525">
            <a:noFill/>
            <a:miter lim="800000"/>
            <a:headEnd/>
            <a:tailEnd/>
          </a:ln>
        </p:spPr>
        <p:txBody>
          <a:bodyPr wrap="none" anchor="ctr">
            <a:spAutoFit/>
          </a:bodyPr>
          <a:lstStyle/>
          <a:p>
            <a:r>
              <a:rPr lang="en-US" sz="1100"/>
              <a:t/>
            </a:r>
            <a:br>
              <a:rPr lang="en-US" sz="1100"/>
            </a:br>
            <a:endParaRPr lang="en-US"/>
          </a:p>
        </p:txBody>
      </p:sp>
      <p:graphicFrame>
        <p:nvGraphicFramePr>
          <p:cNvPr id="2050" name="Object 10"/>
          <p:cNvGraphicFramePr>
            <a:graphicFrameLocks noChangeAspect="1"/>
          </p:cNvGraphicFramePr>
          <p:nvPr/>
        </p:nvGraphicFramePr>
        <p:xfrm>
          <a:off x="330200" y="381000"/>
          <a:ext cx="5613400" cy="6019800"/>
        </p:xfrm>
        <a:graphic>
          <a:graphicData uri="http://schemas.openxmlformats.org/presentationml/2006/ole">
            <p:oleObj spid="_x0000_s463874" name="Document" r:id="rId4" imgW="6786199" imgH="9903957" progId="Word.Document.8">
              <p:embed/>
            </p:oleObj>
          </a:graphicData>
        </a:graphic>
      </p:graphicFrame>
      <p:sp>
        <p:nvSpPr>
          <p:cNvPr id="2055" name="Oval 11"/>
          <p:cNvSpPr>
            <a:spLocks noChangeArrowheads="1"/>
          </p:cNvSpPr>
          <p:nvPr/>
        </p:nvSpPr>
        <p:spPr bwMode="auto">
          <a:xfrm>
            <a:off x="247650" y="762000"/>
            <a:ext cx="5365750" cy="1600200"/>
          </a:xfrm>
          <a:prstGeom prst="ellipse">
            <a:avLst/>
          </a:prstGeom>
          <a:noFill/>
          <a:ln w="28575">
            <a:solidFill>
              <a:srgbClr val="FF0000"/>
            </a:solidFill>
            <a:round/>
            <a:headEnd/>
            <a:tailEnd/>
          </a:ln>
        </p:spPr>
        <p:txBody>
          <a:bodyPr wrap="none" anchor="ctr"/>
          <a:lstStyle/>
          <a:p>
            <a:endParaRPr lang="en-US"/>
          </a:p>
        </p:txBody>
      </p:sp>
      <p:sp>
        <p:nvSpPr>
          <p:cNvPr id="2056" name="Oval 12"/>
          <p:cNvSpPr>
            <a:spLocks noChangeArrowheads="1"/>
          </p:cNvSpPr>
          <p:nvPr/>
        </p:nvSpPr>
        <p:spPr bwMode="auto">
          <a:xfrm>
            <a:off x="6356350" y="1143000"/>
            <a:ext cx="3136900" cy="1143000"/>
          </a:xfrm>
          <a:prstGeom prst="ellipse">
            <a:avLst/>
          </a:prstGeom>
          <a:solidFill>
            <a:schemeClr val="bg1"/>
          </a:solidFill>
          <a:ln w="9525">
            <a:solidFill>
              <a:schemeClr val="tx1"/>
            </a:solidFill>
            <a:round/>
            <a:headEnd/>
            <a:tailEnd/>
          </a:ln>
        </p:spPr>
        <p:txBody>
          <a:bodyPr wrap="none" anchor="ctr"/>
          <a:lstStyle/>
          <a:p>
            <a:pPr algn="ctr"/>
            <a:r>
              <a:rPr lang="en-US" sz="1400">
                <a:latin typeface="Tahoma" pitchFamily="34" charset="0"/>
              </a:rPr>
              <a:t>Data kode dan nomor </a:t>
            </a:r>
          </a:p>
          <a:p>
            <a:pPr algn="ctr"/>
            <a:r>
              <a:rPr lang="en-US" sz="1400">
                <a:latin typeface="Tahoma" pitchFamily="34" charset="0"/>
              </a:rPr>
              <a:t>seri faktur, serta ingo </a:t>
            </a:r>
          </a:p>
          <a:p>
            <a:pPr algn="ctr"/>
            <a:r>
              <a:rPr lang="en-US" sz="1400">
                <a:latin typeface="Tahoma" pitchFamily="34" charset="0"/>
              </a:rPr>
              <a:t>NPWP dan alamat supplier </a:t>
            </a:r>
          </a:p>
          <a:p>
            <a:pPr algn="ctr"/>
            <a:r>
              <a:rPr lang="en-US" sz="1400">
                <a:latin typeface="Tahoma" pitchFamily="34" charset="0"/>
              </a:rPr>
              <a:t> Tidak boleh salah</a:t>
            </a:r>
          </a:p>
        </p:txBody>
      </p:sp>
      <p:sp>
        <p:nvSpPr>
          <p:cNvPr id="2057" name="Line 13"/>
          <p:cNvSpPr>
            <a:spLocks noChangeShapeType="1"/>
          </p:cNvSpPr>
          <p:nvPr/>
        </p:nvSpPr>
        <p:spPr bwMode="auto">
          <a:xfrm flipV="1">
            <a:off x="5448300" y="1905000"/>
            <a:ext cx="1155700" cy="76200"/>
          </a:xfrm>
          <a:prstGeom prst="line">
            <a:avLst/>
          </a:prstGeom>
          <a:noFill/>
          <a:ln w="38100">
            <a:solidFill>
              <a:srgbClr val="FF0000"/>
            </a:solidFill>
            <a:round/>
            <a:headEnd/>
            <a:tailEnd type="triangle" w="med" len="med"/>
          </a:ln>
        </p:spPr>
        <p:txBody>
          <a:bodyPr/>
          <a:lstStyle/>
          <a:p>
            <a:endParaRPr lang="en-US"/>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p:cNvSpPr>
            <a:spLocks noGrp="1" noChangeArrowheads="1"/>
          </p:cNvSpPr>
          <p:nvPr>
            <p:ph type="title"/>
          </p:nvPr>
        </p:nvSpPr>
        <p:spPr/>
        <p:txBody>
          <a:bodyPr/>
          <a:lstStyle/>
          <a:p>
            <a:pPr eaLnBrk="1" hangingPunct="1"/>
            <a:r>
              <a:rPr lang="en-US" sz="4000" smtClean="0"/>
              <a:t>Indirect Method Cash Flow</a:t>
            </a:r>
          </a:p>
        </p:txBody>
      </p:sp>
      <p:sp>
        <p:nvSpPr>
          <p:cNvPr id="112643" name="Rectangle 3"/>
          <p:cNvSpPr>
            <a:spLocks noGrp="1" noChangeArrowheads="1"/>
          </p:cNvSpPr>
          <p:nvPr>
            <p:ph type="body" idx="1"/>
          </p:nvPr>
        </p:nvSpPr>
        <p:spPr>
          <a:xfrm>
            <a:off x="495300" y="1600200"/>
            <a:ext cx="8915400" cy="4495800"/>
          </a:xfrm>
        </p:spPr>
        <p:txBody>
          <a:bodyPr/>
          <a:lstStyle/>
          <a:p>
            <a:pPr eaLnBrk="1" hangingPunct="1">
              <a:buClr>
                <a:schemeClr val="tx1"/>
              </a:buClr>
              <a:buSzTx/>
            </a:pPr>
            <a:r>
              <a:rPr lang="en-US" smtClean="0"/>
              <a:t>Memperlihatkan uses dan sources dana</a:t>
            </a:r>
          </a:p>
          <a:p>
            <a:pPr lvl="1" eaLnBrk="1" hangingPunct="1">
              <a:buClr>
                <a:schemeClr val="tx1"/>
              </a:buClr>
              <a:buSzTx/>
            </a:pPr>
            <a:r>
              <a:rPr lang="en-US" smtClean="0"/>
              <a:t>Menjelaskan kemana profit </a:t>
            </a:r>
          </a:p>
          <a:p>
            <a:pPr lvl="1" eaLnBrk="1" hangingPunct="1">
              <a:buClr>
                <a:schemeClr val="tx1"/>
              </a:buClr>
              <a:buSzTx/>
            </a:pPr>
            <a:r>
              <a:rPr lang="en-US" smtClean="0"/>
              <a:t>Mengapa perusahaan membutuhkan pinjaman</a:t>
            </a:r>
          </a:p>
          <a:p>
            <a:pPr lvl="1" eaLnBrk="1" hangingPunct="1">
              <a:buClr>
                <a:schemeClr val="tx1"/>
              </a:buClr>
              <a:buSzTx/>
            </a:pPr>
            <a:r>
              <a:rPr lang="en-US" smtClean="0"/>
              <a:t>Bagaimana perusahaan mendanai investasi</a:t>
            </a:r>
          </a:p>
          <a:p>
            <a:pPr lvl="1" eaLnBrk="1" hangingPunct="1">
              <a:buClr>
                <a:schemeClr val="tx1"/>
              </a:buClr>
              <a:buSzTx/>
            </a:pPr>
            <a:r>
              <a:rPr lang="en-US" smtClean="0"/>
              <a:t>Bagaimana hutang dapat dibayar</a:t>
            </a:r>
          </a:p>
          <a:p>
            <a:pPr lvl="1" eaLnBrk="1" hangingPunct="1">
              <a:buClr>
                <a:schemeClr val="tx1"/>
              </a:buClr>
              <a:buSzTx/>
            </a:pPr>
            <a:r>
              <a:rPr lang="en-US" smtClean="0"/>
              <a:t>etc</a:t>
            </a:r>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p:cNvSpPr>
            <a:spLocks noGrp="1" noChangeArrowheads="1"/>
          </p:cNvSpPr>
          <p:nvPr>
            <p:ph type="title" idx="4294967295"/>
          </p:nvPr>
        </p:nvSpPr>
        <p:spPr>
          <a:xfrm>
            <a:off x="762000" y="76200"/>
            <a:ext cx="4114800" cy="533400"/>
          </a:xfrm>
          <a:solidFill>
            <a:schemeClr val="bg1"/>
          </a:solidFill>
        </p:spPr>
        <p:txBody>
          <a:bodyPr/>
          <a:lstStyle/>
          <a:p>
            <a:pPr eaLnBrk="1" hangingPunct="1"/>
            <a:r>
              <a:rPr lang="en-US" sz="4000" smtClean="0"/>
              <a:t>Indirect Method</a:t>
            </a:r>
          </a:p>
        </p:txBody>
      </p:sp>
      <p:sp>
        <p:nvSpPr>
          <p:cNvPr id="113667" name="Rectangle 3"/>
          <p:cNvSpPr>
            <a:spLocks noGrp="1" noChangeArrowheads="1"/>
          </p:cNvSpPr>
          <p:nvPr>
            <p:ph type="body" idx="4294967295"/>
          </p:nvPr>
        </p:nvSpPr>
        <p:spPr>
          <a:xfrm>
            <a:off x="660400" y="762000"/>
            <a:ext cx="9245600" cy="5638800"/>
          </a:xfrm>
        </p:spPr>
        <p:txBody>
          <a:bodyPr/>
          <a:lstStyle/>
          <a:p>
            <a:pPr eaLnBrk="1" hangingPunct="1">
              <a:lnSpc>
                <a:spcPct val="90000"/>
              </a:lnSpc>
              <a:buClr>
                <a:schemeClr val="tx1"/>
              </a:buClr>
              <a:buSzTx/>
            </a:pPr>
            <a:r>
              <a:rPr lang="en-US" sz="2800" smtClean="0"/>
              <a:t>Calculation</a:t>
            </a:r>
          </a:p>
          <a:p>
            <a:pPr lvl="1" eaLnBrk="1" hangingPunct="1">
              <a:lnSpc>
                <a:spcPct val="90000"/>
              </a:lnSpc>
              <a:buClr>
                <a:schemeClr val="tx1"/>
              </a:buClr>
              <a:buSzTx/>
            </a:pPr>
            <a:r>
              <a:rPr lang="en-US" sz="2400" smtClean="0"/>
              <a:t>Last year cash sebagai beginning cash </a:t>
            </a:r>
          </a:p>
          <a:p>
            <a:pPr lvl="1" eaLnBrk="1" hangingPunct="1">
              <a:lnSpc>
                <a:spcPct val="90000"/>
              </a:lnSpc>
              <a:buClr>
                <a:schemeClr val="tx1"/>
              </a:buClr>
              <a:buSzTx/>
            </a:pPr>
            <a:r>
              <a:rPr lang="en-US" sz="2400" smtClean="0"/>
              <a:t>Tentukan </a:t>
            </a:r>
            <a:r>
              <a:rPr lang="en-US" sz="2400" i="1" smtClean="0"/>
              <a:t>source</a:t>
            </a:r>
            <a:r>
              <a:rPr lang="en-US" sz="2400" smtClean="0"/>
              <a:t> of fund dan </a:t>
            </a:r>
            <a:r>
              <a:rPr lang="en-US" sz="2400" i="1" smtClean="0"/>
              <a:t>uses </a:t>
            </a:r>
            <a:r>
              <a:rPr lang="en-US" sz="2400" smtClean="0"/>
              <a:t>of funds</a:t>
            </a:r>
          </a:p>
          <a:p>
            <a:pPr lvl="2" eaLnBrk="1" hangingPunct="1">
              <a:lnSpc>
                <a:spcPct val="90000"/>
              </a:lnSpc>
              <a:buClr>
                <a:schemeClr val="tx1"/>
              </a:buClr>
              <a:buSzTx/>
            </a:pPr>
            <a:r>
              <a:rPr lang="en-US" sz="2200" smtClean="0"/>
              <a:t>Net income + non cash charges sebagai sources of fund</a:t>
            </a:r>
          </a:p>
          <a:p>
            <a:pPr lvl="2" eaLnBrk="1" hangingPunct="1">
              <a:lnSpc>
                <a:spcPct val="90000"/>
              </a:lnSpc>
              <a:buClr>
                <a:schemeClr val="tx1"/>
              </a:buClr>
              <a:buSzTx/>
            </a:pPr>
            <a:r>
              <a:rPr lang="en-US" sz="2200" smtClean="0"/>
              <a:t>Dividend sebagai </a:t>
            </a:r>
            <a:r>
              <a:rPr lang="en-US" sz="2200" i="1" smtClean="0"/>
              <a:t>uses </a:t>
            </a:r>
            <a:r>
              <a:rPr lang="en-US" sz="2200" smtClean="0"/>
              <a:t>of fund</a:t>
            </a:r>
          </a:p>
          <a:p>
            <a:pPr lvl="2" eaLnBrk="1" hangingPunct="1">
              <a:lnSpc>
                <a:spcPct val="90000"/>
              </a:lnSpc>
              <a:buClr>
                <a:schemeClr val="tx1"/>
              </a:buClr>
              <a:buSzTx/>
            </a:pPr>
            <a:r>
              <a:rPr lang="en-US" sz="2200" smtClean="0"/>
              <a:t>Hitung seluruh  movement balance sheet items (current year dikurangi last year)</a:t>
            </a:r>
          </a:p>
          <a:p>
            <a:pPr lvl="2" eaLnBrk="1" hangingPunct="1">
              <a:lnSpc>
                <a:spcPct val="90000"/>
              </a:lnSpc>
              <a:buClr>
                <a:schemeClr val="tx1"/>
              </a:buClr>
              <a:buSzTx/>
            </a:pPr>
            <a:r>
              <a:rPr lang="en-US" sz="2200" smtClean="0"/>
              <a:t>Klasifikasikan sources and uses of fund</a:t>
            </a:r>
          </a:p>
          <a:p>
            <a:pPr lvl="2" eaLnBrk="1" hangingPunct="1">
              <a:lnSpc>
                <a:spcPct val="90000"/>
              </a:lnSpc>
              <a:buClr>
                <a:schemeClr val="tx1"/>
              </a:buClr>
              <a:buSzTx/>
              <a:buFont typeface="Wingdings" pitchFamily="2" charset="2"/>
              <a:buNone/>
            </a:pPr>
            <a:r>
              <a:rPr lang="en-US" sz="2200" smtClean="0"/>
              <a:t>		            </a:t>
            </a:r>
            <a:r>
              <a:rPr lang="en-US" sz="1600" smtClean="0"/>
              <a:t>Assets			Liabilities and Equity</a:t>
            </a:r>
          </a:p>
          <a:p>
            <a:pPr lvl="2" eaLnBrk="1" hangingPunct="1">
              <a:lnSpc>
                <a:spcPct val="90000"/>
              </a:lnSpc>
              <a:buClr>
                <a:schemeClr val="tx1"/>
              </a:buClr>
              <a:buSzTx/>
              <a:buFont typeface="Wingdings" pitchFamily="2" charset="2"/>
              <a:buNone/>
            </a:pPr>
            <a:r>
              <a:rPr lang="en-US" sz="1600" smtClean="0"/>
              <a:t>Increase		Uses of funds		Sources of funds</a:t>
            </a:r>
          </a:p>
          <a:p>
            <a:pPr lvl="2" eaLnBrk="1" hangingPunct="1">
              <a:lnSpc>
                <a:spcPct val="90000"/>
              </a:lnSpc>
              <a:buClr>
                <a:schemeClr val="tx1"/>
              </a:buClr>
              <a:buSzTx/>
              <a:buFont typeface="Wingdings" pitchFamily="2" charset="2"/>
              <a:buNone/>
            </a:pPr>
            <a:r>
              <a:rPr lang="en-US" sz="1600" smtClean="0"/>
              <a:t>Decrease		Sources of funds		Uses of funds</a:t>
            </a:r>
          </a:p>
          <a:p>
            <a:pPr lvl="2" eaLnBrk="1" hangingPunct="1">
              <a:lnSpc>
                <a:spcPct val="90000"/>
              </a:lnSpc>
              <a:buClr>
                <a:schemeClr val="tx1"/>
              </a:buClr>
              <a:buSzTx/>
            </a:pPr>
            <a:r>
              <a:rPr lang="en-US" sz="2200" smtClean="0"/>
              <a:t>cash, retained earnings and plant &amp; equipment tidak diklasifikasikan</a:t>
            </a:r>
          </a:p>
          <a:p>
            <a:pPr lvl="2" eaLnBrk="1" hangingPunct="1">
              <a:lnSpc>
                <a:spcPct val="90000"/>
              </a:lnSpc>
              <a:buClr>
                <a:schemeClr val="tx1"/>
              </a:buClr>
              <a:buSzTx/>
            </a:pPr>
            <a:r>
              <a:rPr lang="en-US" sz="2200" smtClean="0"/>
              <a:t>Perhitungan untuk plant and equipment</a:t>
            </a:r>
          </a:p>
          <a:p>
            <a:pPr lvl="1" eaLnBrk="1" hangingPunct="1">
              <a:lnSpc>
                <a:spcPct val="90000"/>
              </a:lnSpc>
              <a:buClr>
                <a:schemeClr val="tx1"/>
              </a:buClr>
              <a:buSzTx/>
              <a:buFont typeface="Wingdings" pitchFamily="2" charset="2"/>
              <a:buNone/>
            </a:pPr>
            <a:r>
              <a:rPr lang="en-US" sz="1600" smtClean="0"/>
              <a:t>Purchase (sale) P&amp;E = Net P&amp;E current + Depreciation Current – Last year Net P&amp;E</a:t>
            </a:r>
          </a:p>
          <a:p>
            <a:pPr lvl="1" eaLnBrk="1" hangingPunct="1">
              <a:lnSpc>
                <a:spcPct val="90000"/>
              </a:lnSpc>
              <a:buClr>
                <a:schemeClr val="tx1"/>
              </a:buClr>
              <a:buSzTx/>
            </a:pPr>
            <a:r>
              <a:rPr lang="en-US" sz="2400" smtClean="0"/>
              <a:t>Beginning cash + Sources – Uses = Ending Cash</a:t>
            </a:r>
          </a:p>
        </p:txBody>
      </p:sp>
      <p:sp>
        <p:nvSpPr>
          <p:cNvPr id="113668" name="Line 4"/>
          <p:cNvSpPr>
            <a:spLocks noChangeShapeType="1"/>
          </p:cNvSpPr>
          <p:nvPr/>
        </p:nvSpPr>
        <p:spPr bwMode="auto">
          <a:xfrm>
            <a:off x="1733550" y="4191000"/>
            <a:ext cx="7512050" cy="0"/>
          </a:xfrm>
          <a:prstGeom prst="line">
            <a:avLst/>
          </a:prstGeom>
          <a:noFill/>
          <a:ln w="9525">
            <a:solidFill>
              <a:schemeClr val="tx1"/>
            </a:solidFill>
            <a:round/>
            <a:headEnd/>
            <a:tailEnd/>
          </a:ln>
        </p:spPr>
        <p:txBody>
          <a:bodyPr/>
          <a:lstStyle/>
          <a:p>
            <a:endParaRPr lang="en-US"/>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2"/>
          <p:cNvSpPr>
            <a:spLocks noGrp="1" noChangeArrowheads="1"/>
          </p:cNvSpPr>
          <p:nvPr>
            <p:ph type="title"/>
          </p:nvPr>
        </p:nvSpPr>
        <p:spPr>
          <a:xfrm>
            <a:off x="660400" y="228600"/>
            <a:ext cx="3987800" cy="914400"/>
          </a:xfrm>
          <a:solidFill>
            <a:schemeClr val="bg1"/>
          </a:solidFill>
        </p:spPr>
        <p:txBody>
          <a:bodyPr/>
          <a:lstStyle/>
          <a:p>
            <a:pPr eaLnBrk="1" hangingPunct="1"/>
            <a:r>
              <a:rPr lang="en-US" sz="4000" smtClean="0"/>
              <a:t>Indirect Method</a:t>
            </a:r>
          </a:p>
        </p:txBody>
      </p:sp>
      <p:graphicFrame>
        <p:nvGraphicFramePr>
          <p:cNvPr id="6146" name="Object 3"/>
          <p:cNvGraphicFramePr>
            <a:graphicFrameLocks noChangeAspect="1"/>
          </p:cNvGraphicFramePr>
          <p:nvPr/>
        </p:nvGraphicFramePr>
        <p:xfrm>
          <a:off x="990600" y="990600"/>
          <a:ext cx="8255000" cy="5407025"/>
        </p:xfrm>
        <a:graphic>
          <a:graphicData uri="http://schemas.openxmlformats.org/presentationml/2006/ole">
            <p:oleObj spid="_x0000_s242690" name="Worksheet" r:id="rId4" imgW="9570960" imgH="7801920" progId="Excel.Sheet.8">
              <p:link updateAutomatic="1"/>
            </p:oleObj>
          </a:graphicData>
        </a:graphic>
      </p:graphicFrame>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2"/>
          <p:cNvSpPr>
            <a:spLocks noGrp="1" noChangeArrowheads="1"/>
          </p:cNvSpPr>
          <p:nvPr>
            <p:ph type="title"/>
          </p:nvPr>
        </p:nvSpPr>
        <p:spPr>
          <a:xfrm>
            <a:off x="825500" y="0"/>
            <a:ext cx="3822700" cy="762000"/>
          </a:xfrm>
          <a:solidFill>
            <a:schemeClr val="bg1"/>
          </a:solidFill>
        </p:spPr>
        <p:txBody>
          <a:bodyPr/>
          <a:lstStyle/>
          <a:p>
            <a:pPr eaLnBrk="1" hangingPunct="1"/>
            <a:r>
              <a:rPr lang="en-US" sz="4000" smtClean="0"/>
              <a:t>Indirect Method</a:t>
            </a:r>
          </a:p>
        </p:txBody>
      </p:sp>
      <p:graphicFrame>
        <p:nvGraphicFramePr>
          <p:cNvPr id="7170" name="Object 3"/>
          <p:cNvGraphicFramePr>
            <a:graphicFrameLocks noChangeAspect="1"/>
          </p:cNvGraphicFramePr>
          <p:nvPr/>
        </p:nvGraphicFramePr>
        <p:xfrm>
          <a:off x="2057400" y="685800"/>
          <a:ext cx="6311900" cy="6102350"/>
        </p:xfrm>
        <a:graphic>
          <a:graphicData uri="http://schemas.openxmlformats.org/presentationml/2006/ole">
            <p:oleObj spid="_x0000_s243714" name="Worksheet" r:id="rId4" imgW="5649480" imgH="5906160" progId="Excel.Sheet.8">
              <p:link updateAutomatic="1"/>
            </p:oleObj>
          </a:graphicData>
        </a:graphic>
      </p:graphicFrame>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p:cNvSpPr>
            <a:spLocks noGrp="1" noChangeArrowheads="1"/>
          </p:cNvSpPr>
          <p:nvPr>
            <p:ph type="title"/>
          </p:nvPr>
        </p:nvSpPr>
        <p:spPr/>
        <p:txBody>
          <a:bodyPr/>
          <a:lstStyle/>
          <a:p>
            <a:pPr eaLnBrk="1" hangingPunct="1"/>
            <a:r>
              <a:rPr lang="en-US" sz="4000" smtClean="0"/>
              <a:t>Direct Method Cash Flow</a:t>
            </a:r>
          </a:p>
        </p:txBody>
      </p:sp>
      <p:sp>
        <p:nvSpPr>
          <p:cNvPr id="114691" name="Rectangle 3"/>
          <p:cNvSpPr>
            <a:spLocks noGrp="1" noChangeArrowheads="1"/>
          </p:cNvSpPr>
          <p:nvPr>
            <p:ph type="body" idx="1"/>
          </p:nvPr>
        </p:nvSpPr>
        <p:spPr>
          <a:xfrm>
            <a:off x="577850" y="1676400"/>
            <a:ext cx="8915400" cy="4114800"/>
          </a:xfrm>
        </p:spPr>
        <p:txBody>
          <a:bodyPr/>
          <a:lstStyle/>
          <a:p>
            <a:pPr eaLnBrk="1" hangingPunct="1">
              <a:buClr>
                <a:schemeClr val="tx1"/>
              </a:buClr>
              <a:buSzTx/>
            </a:pPr>
            <a:r>
              <a:rPr lang="en-US" smtClean="0"/>
              <a:t>Direct Method</a:t>
            </a:r>
          </a:p>
          <a:p>
            <a:pPr lvl="1" eaLnBrk="1" hangingPunct="1">
              <a:buClr>
                <a:schemeClr val="tx1"/>
              </a:buClr>
              <a:buSzTx/>
            </a:pPr>
            <a:r>
              <a:rPr lang="en-US" smtClean="0"/>
              <a:t>Perhitungan berdasarkan katagori the gross receipt dan disbursements </a:t>
            </a:r>
          </a:p>
          <a:p>
            <a:pPr lvl="1" eaLnBrk="1" hangingPunct="1">
              <a:buClr>
                <a:schemeClr val="tx1"/>
              </a:buClr>
              <a:buSzTx/>
            </a:pPr>
            <a:r>
              <a:rPr lang="en-US" smtClean="0"/>
              <a:t>Lebih mudah untuk planning purpose</a:t>
            </a:r>
          </a:p>
          <a:p>
            <a:pPr lvl="1" eaLnBrk="1" hangingPunct="1">
              <a:buClr>
                <a:schemeClr val="tx1"/>
              </a:buClr>
              <a:buSzTx/>
            </a:pPr>
            <a:r>
              <a:rPr lang="en-US" smtClean="0"/>
              <a:t>Kategori</a:t>
            </a:r>
          </a:p>
          <a:p>
            <a:pPr lvl="2" eaLnBrk="1" hangingPunct="1">
              <a:buClr>
                <a:schemeClr val="tx1"/>
              </a:buClr>
              <a:buSzTx/>
            </a:pPr>
            <a:r>
              <a:rPr lang="en-US" smtClean="0"/>
              <a:t>Cash Receipt </a:t>
            </a:r>
          </a:p>
          <a:p>
            <a:pPr lvl="3" eaLnBrk="1" hangingPunct="1">
              <a:buClr>
                <a:schemeClr val="tx1"/>
              </a:buClr>
              <a:buSzTx/>
            </a:pPr>
            <a:r>
              <a:rPr lang="en-US" smtClean="0"/>
              <a:t>Cash sales, Collection, borrowing etc</a:t>
            </a:r>
          </a:p>
          <a:p>
            <a:pPr lvl="2" eaLnBrk="1" hangingPunct="1">
              <a:buClr>
                <a:schemeClr val="tx1"/>
              </a:buClr>
              <a:buSzTx/>
            </a:pPr>
            <a:r>
              <a:rPr lang="en-US" smtClean="0"/>
              <a:t>Cash Disbursement</a:t>
            </a:r>
          </a:p>
          <a:p>
            <a:pPr lvl="3" eaLnBrk="1" hangingPunct="1">
              <a:buClr>
                <a:schemeClr val="tx1"/>
              </a:buClr>
              <a:buSzTx/>
            </a:pPr>
            <a:r>
              <a:rPr lang="en-US" smtClean="0"/>
              <a:t>Payable, Admin expenses, marketing expenses, etc</a:t>
            </a:r>
          </a:p>
          <a:p>
            <a:pPr lvl="3" eaLnBrk="1" hangingPunct="1">
              <a:buClr>
                <a:schemeClr val="tx1"/>
              </a:buClr>
              <a:buSzTx/>
            </a:pPr>
            <a:endParaRPr lang="en-US" smtClean="0"/>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p:cNvSpPr>
            <a:spLocks noGrp="1" noChangeArrowheads="1"/>
          </p:cNvSpPr>
          <p:nvPr>
            <p:ph type="title"/>
          </p:nvPr>
        </p:nvSpPr>
        <p:spPr>
          <a:xfrm>
            <a:off x="1246188" y="76200"/>
            <a:ext cx="3554412" cy="762000"/>
          </a:xfrm>
          <a:solidFill>
            <a:schemeClr val="bg1"/>
          </a:solidFill>
        </p:spPr>
        <p:txBody>
          <a:bodyPr/>
          <a:lstStyle/>
          <a:p>
            <a:pPr eaLnBrk="1" hangingPunct="1"/>
            <a:r>
              <a:rPr lang="en-US" sz="4000" smtClean="0"/>
              <a:t>Direct Method</a:t>
            </a:r>
          </a:p>
        </p:txBody>
      </p:sp>
      <p:graphicFrame>
        <p:nvGraphicFramePr>
          <p:cNvPr id="8194" name="Object 3"/>
          <p:cNvGraphicFramePr>
            <a:graphicFrameLocks noChangeAspect="1"/>
          </p:cNvGraphicFramePr>
          <p:nvPr/>
        </p:nvGraphicFramePr>
        <p:xfrm>
          <a:off x="660400" y="838200"/>
          <a:ext cx="8667750" cy="5562600"/>
        </p:xfrm>
        <a:graphic>
          <a:graphicData uri="http://schemas.openxmlformats.org/presentationml/2006/ole">
            <p:oleObj spid="_x0000_s244738" name="Worksheet" r:id="rId4" imgW="9957240" imgH="7859880" progId="Excel.Sheet.8">
              <p:link updateAutomatic="1"/>
            </p:oleObj>
          </a:graphicData>
        </a:graphic>
      </p:graphicFrame>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p:cNvSpPr>
            <a:spLocks noGrp="1" noChangeArrowheads="1"/>
          </p:cNvSpPr>
          <p:nvPr>
            <p:ph type="title"/>
          </p:nvPr>
        </p:nvSpPr>
        <p:spPr/>
        <p:txBody>
          <a:bodyPr/>
          <a:lstStyle/>
          <a:p>
            <a:pPr eaLnBrk="1" hangingPunct="1"/>
            <a:r>
              <a:rPr lang="en-US" smtClean="0"/>
              <a:t>Statement of account</a:t>
            </a:r>
          </a:p>
        </p:txBody>
      </p:sp>
      <p:sp>
        <p:nvSpPr>
          <p:cNvPr id="115715" name="Rectangle 3"/>
          <p:cNvSpPr>
            <a:spLocks noGrp="1" noChangeArrowheads="1"/>
          </p:cNvSpPr>
          <p:nvPr>
            <p:ph type="body" idx="1"/>
          </p:nvPr>
        </p:nvSpPr>
        <p:spPr>
          <a:xfrm>
            <a:off x="495300" y="1524000"/>
            <a:ext cx="9163050" cy="4800600"/>
          </a:xfrm>
        </p:spPr>
        <p:txBody>
          <a:bodyPr/>
          <a:lstStyle/>
          <a:p>
            <a:pPr eaLnBrk="1" hangingPunct="1">
              <a:lnSpc>
                <a:spcPct val="80000"/>
              </a:lnSpc>
              <a:buClr>
                <a:schemeClr val="tx1"/>
              </a:buClr>
              <a:buSzTx/>
            </a:pPr>
            <a:r>
              <a:rPr lang="en-US" sz="2000" smtClean="0"/>
              <a:t>Bukanlah sesuatu yang mandatory sebagaimana konfirmasi piutang :</a:t>
            </a:r>
          </a:p>
          <a:p>
            <a:pPr lvl="2" eaLnBrk="1" hangingPunct="1">
              <a:lnSpc>
                <a:spcPct val="80000"/>
              </a:lnSpc>
              <a:buClr>
                <a:schemeClr val="tx1"/>
              </a:buClr>
              <a:buSzTx/>
            </a:pPr>
            <a:r>
              <a:rPr lang="en-US" sz="1600" smtClean="0"/>
              <a:t>Pengujian subtantif A/P untuk menemukan unrecorded A/P</a:t>
            </a:r>
          </a:p>
          <a:p>
            <a:pPr lvl="2" eaLnBrk="1" hangingPunct="1">
              <a:lnSpc>
                <a:spcPct val="80000"/>
              </a:lnSpc>
              <a:buClr>
                <a:schemeClr val="tx1"/>
              </a:buClr>
              <a:buSzTx/>
            </a:pPr>
            <a:r>
              <a:rPr lang="en-US" sz="1600" smtClean="0"/>
              <a:t>Statement of account berdasarkan A/P yang telah tercatat</a:t>
            </a:r>
          </a:p>
          <a:p>
            <a:pPr lvl="2" eaLnBrk="1" hangingPunct="1">
              <a:lnSpc>
                <a:spcPct val="80000"/>
              </a:lnSpc>
              <a:buClr>
                <a:schemeClr val="tx1"/>
              </a:buClr>
              <a:buSzTx/>
            </a:pPr>
            <a:r>
              <a:rPr lang="en-US" sz="1600" smtClean="0"/>
              <a:t>Bukti dari pihak luar dapat diperoleh dari invoice dan pernyataan piutang dari kreditur</a:t>
            </a:r>
          </a:p>
          <a:p>
            <a:pPr eaLnBrk="1" hangingPunct="1">
              <a:lnSpc>
                <a:spcPct val="80000"/>
              </a:lnSpc>
              <a:buClr>
                <a:schemeClr val="tx1"/>
              </a:buClr>
              <a:buSzTx/>
            </a:pPr>
            <a:r>
              <a:rPr lang="en-US" sz="2000" smtClean="0"/>
              <a:t>Memastikan nilai A/P yang dicatat perusahaan sama dengan supplier</a:t>
            </a:r>
          </a:p>
          <a:p>
            <a:pPr eaLnBrk="1" hangingPunct="1">
              <a:lnSpc>
                <a:spcPct val="80000"/>
              </a:lnSpc>
              <a:buClr>
                <a:schemeClr val="tx1"/>
              </a:buClr>
              <a:buSzTx/>
            </a:pPr>
            <a:r>
              <a:rPr lang="en-US" sz="2000" smtClean="0"/>
              <a:t>Berisi permintaan pernyataan/persetujuan tentang nilai A/P yang dicatat perusahaan</a:t>
            </a:r>
          </a:p>
          <a:p>
            <a:pPr eaLnBrk="1" hangingPunct="1">
              <a:lnSpc>
                <a:spcPct val="80000"/>
              </a:lnSpc>
              <a:buClr>
                <a:schemeClr val="tx1"/>
              </a:buClr>
              <a:buSzTx/>
            </a:pPr>
            <a:r>
              <a:rPr lang="en-US" sz="2000" smtClean="0"/>
              <a:t>Cocok dilakukan pada perusahaan dengan pengendalian internal A/P lemah</a:t>
            </a:r>
          </a:p>
          <a:p>
            <a:pPr eaLnBrk="1" hangingPunct="1">
              <a:lnSpc>
                <a:spcPct val="80000"/>
              </a:lnSpc>
              <a:buClr>
                <a:schemeClr val="tx1"/>
              </a:buClr>
              <a:buSzTx/>
            </a:pPr>
            <a:r>
              <a:rPr lang="en-US" sz="2000" smtClean="0"/>
              <a:t>Tidak dijumpai adanya pernyataan piutang supplier</a:t>
            </a:r>
          </a:p>
          <a:p>
            <a:pPr eaLnBrk="1" hangingPunct="1">
              <a:lnSpc>
                <a:spcPct val="80000"/>
              </a:lnSpc>
              <a:buClr>
                <a:schemeClr val="tx1"/>
              </a:buClr>
              <a:buSzTx/>
            </a:pPr>
            <a:r>
              <a:rPr lang="en-US" sz="2000" smtClean="0"/>
              <a:t>Terdiri atas 2 jenis</a:t>
            </a:r>
          </a:p>
          <a:p>
            <a:pPr lvl="2" eaLnBrk="1" hangingPunct="1">
              <a:lnSpc>
                <a:spcPct val="80000"/>
              </a:lnSpc>
              <a:buClr>
                <a:schemeClr val="tx1"/>
              </a:buClr>
              <a:buSzTx/>
            </a:pPr>
            <a:r>
              <a:rPr lang="en-US" sz="1600" smtClean="0"/>
              <a:t>Konfirmasi positif : membutuhkan jawaban balik dari suuplier</a:t>
            </a:r>
          </a:p>
          <a:p>
            <a:pPr lvl="2" eaLnBrk="1" hangingPunct="1">
              <a:lnSpc>
                <a:spcPct val="80000"/>
              </a:lnSpc>
              <a:buClr>
                <a:schemeClr val="tx1"/>
              </a:buClr>
              <a:buSzTx/>
            </a:pPr>
            <a:r>
              <a:rPr lang="en-US" sz="1600" smtClean="0"/>
              <a:t>Konfirmasi negatif : Jika tidak dijawab dianggap supplier menyetujui nilainya</a:t>
            </a:r>
          </a:p>
          <a:p>
            <a:pPr eaLnBrk="1" hangingPunct="1">
              <a:lnSpc>
                <a:spcPct val="80000"/>
              </a:lnSpc>
              <a:buClr>
                <a:schemeClr val="tx1"/>
              </a:buClr>
              <a:buSzTx/>
            </a:pPr>
            <a:endParaRPr lang="en-US" sz="2000" smtClean="0"/>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6738" name="Picture 2"/>
          <p:cNvPicPr>
            <a:picLocks noChangeAspect="1" noChangeArrowheads="1"/>
          </p:cNvPicPr>
          <p:nvPr/>
        </p:nvPicPr>
        <p:blipFill>
          <a:blip r:embed="rId3">
            <a:lum bright="-4000" contrast="40000"/>
          </a:blip>
          <a:srcRect/>
          <a:stretch>
            <a:fillRect/>
          </a:stretch>
        </p:blipFill>
        <p:spPr bwMode="auto">
          <a:xfrm>
            <a:off x="381000" y="533400"/>
            <a:ext cx="9163050" cy="5880100"/>
          </a:xfrm>
          <a:prstGeom prst="rect">
            <a:avLst/>
          </a:prstGeom>
          <a:solidFill>
            <a:schemeClr val="bg1"/>
          </a:solidFill>
          <a:ln w="9525">
            <a:solidFill>
              <a:srgbClr val="080808"/>
            </a:solidFill>
            <a:miter lim="800000"/>
            <a:headEnd/>
            <a:tailEnd/>
          </a:ln>
        </p:spPr>
      </p:pic>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p:cNvSpPr>
            <a:spLocks noGrp="1" noChangeArrowheads="1"/>
          </p:cNvSpPr>
          <p:nvPr>
            <p:ph type="title" idx="4294967295"/>
          </p:nvPr>
        </p:nvSpPr>
        <p:spPr>
          <a:xfrm>
            <a:off x="495300" y="0"/>
            <a:ext cx="8915400" cy="533400"/>
          </a:xfrm>
          <a:solidFill>
            <a:schemeClr val="bg1"/>
          </a:solidFill>
        </p:spPr>
        <p:txBody>
          <a:bodyPr/>
          <a:lstStyle/>
          <a:p>
            <a:pPr eaLnBrk="1" hangingPunct="1"/>
            <a:r>
              <a:rPr lang="en-US" sz="4000" u="sng" smtClean="0"/>
              <a:t>Simalakama</a:t>
            </a:r>
          </a:p>
        </p:txBody>
      </p:sp>
      <p:sp>
        <p:nvSpPr>
          <p:cNvPr id="117763" name="Rectangle 3"/>
          <p:cNvSpPr>
            <a:spLocks noGrp="1" noChangeArrowheads="1"/>
          </p:cNvSpPr>
          <p:nvPr>
            <p:ph type="body" idx="4294967295"/>
          </p:nvPr>
        </p:nvSpPr>
        <p:spPr>
          <a:xfrm>
            <a:off x="381000" y="762000"/>
            <a:ext cx="9163050" cy="5791200"/>
          </a:xfrm>
        </p:spPr>
        <p:txBody>
          <a:bodyPr/>
          <a:lstStyle/>
          <a:p>
            <a:pPr algn="just" eaLnBrk="1" hangingPunct="1">
              <a:lnSpc>
                <a:spcPct val="80000"/>
              </a:lnSpc>
              <a:buClr>
                <a:schemeClr val="tx1"/>
              </a:buClr>
            </a:pPr>
            <a:r>
              <a:rPr lang="en-US" sz="2000" smtClean="0"/>
              <a:t>PT. Artha Wahana Plastika adalah sebuah perusahaan yang memproduksi sparepart untuk otomotif. Baik Roda 2 maupun roda 4. Selama tiga bulan ini perusahaan mulai mengalami kesulitan cash flow akibat beberapa tagihan ke customer macet.</a:t>
            </a:r>
          </a:p>
          <a:p>
            <a:pPr algn="just" eaLnBrk="1" hangingPunct="1">
              <a:lnSpc>
                <a:spcPct val="80000"/>
              </a:lnSpc>
              <a:buClr>
                <a:schemeClr val="tx1"/>
              </a:buClr>
            </a:pPr>
            <a:r>
              <a:rPr lang="en-US" sz="2000" smtClean="0"/>
              <a:t>Kepala pabrik yang merupakan executive in charge tiba-tiba menanyakan ke bagian finance tentang kapan dilakukan pembayaran untuk invoice dari PT. Aria Wiasa sebesar 150 Jt. Dan meminta untuk dibayar secepatnya</a:t>
            </a:r>
          </a:p>
          <a:p>
            <a:pPr algn="just" eaLnBrk="1" hangingPunct="1">
              <a:lnSpc>
                <a:spcPct val="80000"/>
              </a:lnSpc>
              <a:buClr>
                <a:schemeClr val="tx1"/>
              </a:buClr>
            </a:pPr>
            <a:r>
              <a:rPr lang="en-US" sz="2000" smtClean="0"/>
              <a:t>Tagihan tersebut sebenarnya masih akan jatuh tempo tiga minggu lagi. Sedangkan pembayaran periode pertama baru akan dilakukan hari Jumat minggu ini. PT. Aria Wiasa sendiri bukanlah supplier utama terbesar perusahaan.</a:t>
            </a:r>
          </a:p>
          <a:p>
            <a:pPr algn="just" eaLnBrk="1" hangingPunct="1">
              <a:lnSpc>
                <a:spcPct val="80000"/>
              </a:lnSpc>
              <a:buClr>
                <a:schemeClr val="tx1"/>
              </a:buClr>
            </a:pPr>
            <a:r>
              <a:rPr lang="en-US" sz="2000" smtClean="0"/>
              <a:t>Ada beberapa supplier utama yang harus dibayarkan tagihannya segera karena sudah jatuh tempo. Jika tidak dibayarkan, supplier ini akan menahan delivery periode berikutnya.</a:t>
            </a:r>
          </a:p>
          <a:p>
            <a:pPr algn="just" eaLnBrk="1" hangingPunct="1">
              <a:lnSpc>
                <a:spcPct val="80000"/>
              </a:lnSpc>
              <a:buClr>
                <a:schemeClr val="tx1"/>
              </a:buClr>
            </a:pPr>
            <a:r>
              <a:rPr lang="en-US" sz="2000" smtClean="0"/>
              <a:t>Jumlah cash yang dimiliki perusahaan hanya mencukupi untuk membayar tagihan beberapa supplier saja</a:t>
            </a:r>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p:cNvSpPr>
            <a:spLocks noGrp="1" noChangeArrowheads="1"/>
          </p:cNvSpPr>
          <p:nvPr>
            <p:ph type="title" idx="4294967295"/>
          </p:nvPr>
        </p:nvSpPr>
        <p:spPr>
          <a:xfrm>
            <a:off x="495300" y="304800"/>
            <a:ext cx="8915400" cy="1038225"/>
          </a:xfrm>
        </p:spPr>
        <p:txBody>
          <a:bodyPr/>
          <a:lstStyle/>
          <a:p>
            <a:pPr eaLnBrk="1" hangingPunct="1"/>
            <a:r>
              <a:rPr lang="en-US" smtClean="0"/>
              <a:t>Discusion</a:t>
            </a:r>
          </a:p>
        </p:txBody>
      </p:sp>
      <p:sp>
        <p:nvSpPr>
          <p:cNvPr id="118787" name="Rectangle 3"/>
          <p:cNvSpPr>
            <a:spLocks noGrp="1" noChangeArrowheads="1"/>
          </p:cNvSpPr>
          <p:nvPr>
            <p:ph type="body" idx="4294967295"/>
          </p:nvPr>
        </p:nvSpPr>
        <p:spPr>
          <a:xfrm>
            <a:off x="495300" y="1219200"/>
            <a:ext cx="7346950" cy="5334000"/>
          </a:xfrm>
        </p:spPr>
        <p:txBody>
          <a:bodyPr/>
          <a:lstStyle/>
          <a:p>
            <a:pPr algn="just" eaLnBrk="1" hangingPunct="1">
              <a:lnSpc>
                <a:spcPct val="80000"/>
              </a:lnSpc>
              <a:buClr>
                <a:schemeClr val="tx1"/>
              </a:buClr>
            </a:pPr>
            <a:r>
              <a:rPr lang="en-US" sz="2400" smtClean="0"/>
              <a:t>PT. AOP-AWP adalah supplier spareparts otomotif untuk ATPM W2 dan W4. Tahun 2005 mulai mengembangkan penjualan untuk assesoris otomotif untuk after market.</a:t>
            </a:r>
          </a:p>
          <a:p>
            <a:pPr algn="just" eaLnBrk="1" hangingPunct="1">
              <a:lnSpc>
                <a:spcPct val="80000"/>
              </a:lnSpc>
              <a:buClr>
                <a:schemeClr val="tx1"/>
              </a:buClr>
            </a:pPr>
            <a:r>
              <a:rPr lang="en-US" sz="2400" smtClean="0"/>
              <a:t>Beberapa customer baru yang dijaring adalah perusahaan yang sekelas dealer atau toko spareparts</a:t>
            </a:r>
          </a:p>
          <a:p>
            <a:pPr algn="just" eaLnBrk="1" hangingPunct="1">
              <a:lnSpc>
                <a:spcPct val="80000"/>
              </a:lnSpc>
              <a:buClr>
                <a:schemeClr val="tx1"/>
              </a:buClr>
            </a:pPr>
            <a:r>
              <a:rPr lang="en-US" sz="2400" smtClean="0"/>
              <a:t>PT. Uniparts salah satu customer mereka tiba-tiba tak sanggup membayar tagihan. Akibatnya sekitar part yang sudah dikirim sebesar Rp 200 Jt harus ditarik kembali.</a:t>
            </a:r>
          </a:p>
          <a:p>
            <a:pPr algn="just" eaLnBrk="1" hangingPunct="1">
              <a:lnSpc>
                <a:spcPct val="80000"/>
              </a:lnSpc>
              <a:buClr>
                <a:schemeClr val="tx1"/>
              </a:buClr>
            </a:pPr>
            <a:r>
              <a:rPr lang="en-US" sz="2400" smtClean="0"/>
              <a:t>Sementara tagihan sebesar Rp 150 Jt, harus restrukturisasi selama 2 tahun.</a:t>
            </a:r>
          </a:p>
        </p:txBody>
      </p:sp>
      <p:pic>
        <p:nvPicPr>
          <p:cNvPr id="118788" name="Picture 4"/>
          <p:cNvPicPr>
            <a:picLocks noChangeAspect="1" noChangeArrowheads="1"/>
          </p:cNvPicPr>
          <p:nvPr/>
        </p:nvPicPr>
        <p:blipFill>
          <a:blip r:embed="rId3"/>
          <a:srcRect/>
          <a:stretch>
            <a:fillRect/>
          </a:stretch>
        </p:blipFill>
        <p:spPr bwMode="auto">
          <a:xfrm>
            <a:off x="7869238" y="1524000"/>
            <a:ext cx="2036762" cy="4114800"/>
          </a:xfrm>
          <a:prstGeom prst="rect">
            <a:avLst/>
          </a:prstGeom>
          <a:noFill/>
          <a:ln w="9525">
            <a:noFill/>
            <a:round/>
            <a:headEnd/>
            <a:tailEnd/>
          </a:ln>
        </p:spPr>
      </p:pic>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ctr"/>
            <a:r>
              <a:rPr lang="en-US" sz="6600" dirty="0" smtClean="0"/>
              <a:t>Day 2</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Number Placeholder 3"/>
          <p:cNvSpPr>
            <a:spLocks noGrp="1"/>
          </p:cNvSpPr>
          <p:nvPr>
            <p:ph type="sldNum" sz="quarter" idx="11"/>
          </p:nvPr>
        </p:nvSpPr>
        <p:spPr>
          <a:xfrm>
            <a:off x="3384550" y="6248400"/>
            <a:ext cx="3136900" cy="457200"/>
          </a:xfrm>
          <a:noFill/>
        </p:spPr>
        <p:txBody>
          <a:bodyPr/>
          <a:lstStyle/>
          <a:p>
            <a:pPr algn="ctr"/>
            <a:fld id="{5BD1B022-2FB8-45D8-9A36-6D92523EBDDF}" type="slidenum">
              <a:rPr lang="en-US" smtClean="0">
                <a:latin typeface="Arial" charset="0"/>
              </a:rPr>
              <a:pPr algn="ctr"/>
              <a:t>67</a:t>
            </a:fld>
            <a:endParaRPr lang="en-US" smtClean="0">
              <a:latin typeface="Arial" charset="0"/>
            </a:endParaRPr>
          </a:p>
        </p:txBody>
      </p:sp>
      <p:sp>
        <p:nvSpPr>
          <p:cNvPr id="11267" name="Rectangle 2"/>
          <p:cNvSpPr>
            <a:spLocks noGrp="1" noChangeArrowheads="1"/>
          </p:cNvSpPr>
          <p:nvPr>
            <p:ph type="title"/>
          </p:nvPr>
        </p:nvSpPr>
        <p:spPr/>
        <p:txBody>
          <a:bodyPr/>
          <a:lstStyle/>
          <a:p>
            <a:pPr eaLnBrk="1" hangingPunct="1"/>
            <a:r>
              <a:rPr lang="en-US" sz="4000" b="1" smtClean="0"/>
              <a:t>HASTONI, Ak., MM</a:t>
            </a:r>
            <a:endParaRPr lang="en-US" sz="4000" smtClean="0"/>
          </a:p>
        </p:txBody>
      </p:sp>
      <p:sp>
        <p:nvSpPr>
          <p:cNvPr id="11268" name="Rectangle 3"/>
          <p:cNvSpPr>
            <a:spLocks noGrp="1" noChangeArrowheads="1"/>
          </p:cNvSpPr>
          <p:nvPr>
            <p:ph type="body" idx="1"/>
          </p:nvPr>
        </p:nvSpPr>
        <p:spPr>
          <a:xfrm>
            <a:off x="428625" y="1524000"/>
            <a:ext cx="9205913" cy="4648200"/>
          </a:xfrm>
        </p:spPr>
        <p:txBody>
          <a:bodyPr/>
          <a:lstStyle/>
          <a:p>
            <a:pPr eaLnBrk="1" hangingPunct="1"/>
            <a:r>
              <a:rPr lang="en-US" sz="2000" smtClean="0"/>
              <a:t>Mengawali pendidikan di Sekolah Tinggi Akuntansi Negara (STAN) jurusan Akuntansi dan mendapatkan gelar  gelar Akuntan., kemudian  mendapatkan Gelar Master Management (Postgraduate degree in Master of Management) jurusan Finance Management, di salah satu perguruan tinggi ternama di Jakarta. </a:t>
            </a:r>
          </a:p>
          <a:p>
            <a:pPr eaLnBrk="1" hangingPunct="1"/>
            <a:r>
              <a:rPr lang="en-US" sz="2000" smtClean="0"/>
              <a:t>Bekerja   sebagai profesional audit di beberapa perusahaan nasional dan multi nasional selama lebih dari 20 tahun. Pada tahun 1996 s/d 2004 sebagai tim audit di beberapa perusahaan, diantaranya PT. K M S (Hotel Ritz Carlton Bali), PT. Batavia Realty (Menara Batavia Jakarta), PT Aria West International (Joint Operation between PT Telkom of West Java with private company) dan PT Trebor Indonesia. </a:t>
            </a:r>
          </a:p>
          <a:p>
            <a:pPr eaLnBrk="1" hangingPunct="1"/>
            <a:r>
              <a:rPr lang="en-US" sz="2000" smtClean="0"/>
              <a:t>Sebagai staf pengajar tetap di beberapa  Perguruan Tinggi di Jakarta dan Bogor dan saat ini menjadi Ketua Jurusan di Sekolah Tinggi Ilmu Ekonomi Kesatuan  dengan kompetensi di bidang Finance, Accounting dan Audit (fraud).</a:t>
            </a:r>
            <a:endParaRPr lang="en-US" sz="2000" smtClean="0">
              <a:ea typeface="Times New Roman" pitchFamily="18" charset="0"/>
              <a:cs typeface="Tahoma" pitchFamily="34" charset="0"/>
            </a:endParaRPr>
          </a:p>
        </p:txBody>
      </p:sp>
    </p:spTree>
  </p:cSld>
  <p:clrMapOvr>
    <a:masterClrMapping/>
  </p:clrMapOvr>
  <p:transition/>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5202" name="Title 1"/>
          <p:cNvSpPr>
            <a:spLocks noGrp="1"/>
          </p:cNvSpPr>
          <p:nvPr>
            <p:ph type="title" idx="4294967295"/>
          </p:nvPr>
        </p:nvSpPr>
        <p:spPr bwMode="auto">
          <a:xfrm>
            <a:off x="835819" y="457200"/>
            <a:ext cx="8906802" cy="706438"/>
          </a:xfrm>
          <a:noFill/>
        </p:spPr>
        <p:txBody>
          <a:bodyPr wrap="square" lIns="91440" tIns="45720" rIns="91440" bIns="45720" numCol="1" anchorCtr="0" compatLnSpc="1">
            <a:prstTxWarp prst="textNoShape">
              <a:avLst/>
            </a:prstTxWarp>
          </a:bodyPr>
          <a:lstStyle/>
          <a:p>
            <a:pPr algn="ctr"/>
            <a:r>
              <a:rPr lang="en-US" sz="2600" cap="none" dirty="0" smtClean="0">
                <a:effectLst/>
              </a:rPr>
              <a:t>Balance </a:t>
            </a:r>
            <a:r>
              <a:rPr lang="en-US" sz="2600" cap="none" dirty="0" smtClean="0">
                <a:effectLst/>
              </a:rPr>
              <a:t>sheet</a:t>
            </a:r>
          </a:p>
        </p:txBody>
      </p:sp>
      <p:pic>
        <p:nvPicPr>
          <p:cNvPr id="435203" name="Picture 2"/>
          <p:cNvPicPr>
            <a:picLocks noChangeAspect="1" noChangeArrowheads="1"/>
          </p:cNvPicPr>
          <p:nvPr/>
        </p:nvPicPr>
        <p:blipFill>
          <a:blip r:embed="rId2"/>
          <a:srcRect l="2930" t="24414" r="49414" b="11131"/>
          <a:stretch>
            <a:fillRect/>
          </a:stretch>
        </p:blipFill>
        <p:spPr bwMode="auto">
          <a:xfrm>
            <a:off x="1981200" y="1371600"/>
            <a:ext cx="6553200" cy="4714875"/>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7250" name="Title 1"/>
          <p:cNvSpPr>
            <a:spLocks noGrp="1"/>
          </p:cNvSpPr>
          <p:nvPr>
            <p:ph type="title" idx="4294967295"/>
          </p:nvPr>
        </p:nvSpPr>
        <p:spPr bwMode="auto">
          <a:xfrm>
            <a:off x="835819" y="457200"/>
            <a:ext cx="8906802" cy="706438"/>
          </a:xfrm>
          <a:noFill/>
        </p:spPr>
        <p:txBody>
          <a:bodyPr wrap="square" lIns="91440" tIns="45720" rIns="91440" bIns="45720" numCol="1" anchorCtr="0" compatLnSpc="1">
            <a:prstTxWarp prst="textNoShape">
              <a:avLst/>
            </a:prstTxWarp>
          </a:bodyPr>
          <a:lstStyle/>
          <a:p>
            <a:r>
              <a:rPr lang="en-US" sz="2600" cap="none" dirty="0" smtClean="0">
                <a:effectLst/>
              </a:rPr>
              <a:t>Income </a:t>
            </a:r>
            <a:r>
              <a:rPr lang="en-US" sz="2600" cap="none" dirty="0" smtClean="0">
                <a:effectLst/>
              </a:rPr>
              <a:t>Statement</a:t>
            </a:r>
          </a:p>
        </p:txBody>
      </p:sp>
      <p:pic>
        <p:nvPicPr>
          <p:cNvPr id="437251" name="Picture 2"/>
          <p:cNvPicPr>
            <a:picLocks noChangeAspect="1" noChangeArrowheads="1"/>
          </p:cNvPicPr>
          <p:nvPr/>
        </p:nvPicPr>
        <p:blipFill>
          <a:blip r:embed="rId2"/>
          <a:srcRect l="2197" t="32227" r="49609" b="16016"/>
          <a:stretch>
            <a:fillRect/>
          </a:stretch>
        </p:blipFill>
        <p:spPr bwMode="auto">
          <a:xfrm>
            <a:off x="2559050" y="1447800"/>
            <a:ext cx="5861050" cy="4357688"/>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58754" name="Rectangle 2"/>
          <p:cNvSpPr>
            <a:spLocks noGrp="1" noChangeArrowheads="1"/>
          </p:cNvSpPr>
          <p:nvPr>
            <p:ph type="title" idx="4294967295"/>
          </p:nvPr>
        </p:nvSpPr>
        <p:spPr bwMode="auto">
          <a:noFill/>
        </p:spPr>
        <p:txBody>
          <a:bodyPr wrap="square" lIns="92075" tIns="46038" rIns="92075" bIns="46038" numCol="1" anchor="b" anchorCtr="0" compatLnSpc="1">
            <a:prstTxWarp prst="textNoShape">
              <a:avLst/>
            </a:prstTxWarp>
          </a:bodyPr>
          <a:lstStyle/>
          <a:p>
            <a:r>
              <a:rPr lang="en-US" sz="2400" b="1" cap="none" smtClean="0">
                <a:effectLst/>
              </a:rPr>
              <a:t>KEWAJIBAN </a:t>
            </a:r>
            <a:r>
              <a:rPr lang="id-ID" sz="2400" b="1" cap="none" smtClean="0">
                <a:effectLst/>
              </a:rPr>
              <a:t>JANGKA PENDEK </a:t>
            </a:r>
            <a:br>
              <a:rPr lang="id-ID" sz="2400" b="1" cap="none" smtClean="0">
                <a:effectLst/>
              </a:rPr>
            </a:br>
            <a:r>
              <a:rPr lang="en-US" sz="2400" b="1" cap="none" smtClean="0">
                <a:effectLst/>
              </a:rPr>
              <a:t>(CURRENT LIABILITIES)</a:t>
            </a:r>
            <a:endParaRPr lang="en-US" cap="none" smtClean="0">
              <a:effectLst/>
            </a:endParaRPr>
          </a:p>
        </p:txBody>
      </p:sp>
      <p:sp>
        <p:nvSpPr>
          <p:cNvPr id="32771" name="Rectangle 3"/>
          <p:cNvSpPr>
            <a:spLocks noGrp="1" noChangeArrowheads="1"/>
          </p:cNvSpPr>
          <p:nvPr>
            <p:ph type="body" idx="4294967295"/>
          </p:nvPr>
        </p:nvSpPr>
        <p:spPr>
          <a:noFill/>
        </p:spPr>
        <p:txBody>
          <a:bodyPr lIns="92075" tIns="46038" rIns="92075" bIns="46038"/>
          <a:lstStyle/>
          <a:p>
            <a:pPr>
              <a:buFont typeface="Wingdings 2" pitchFamily="18" charset="2"/>
              <a:buNone/>
            </a:pPr>
            <a:r>
              <a:rPr lang="en-US" sz="2400" b="1" smtClean="0"/>
              <a:t>meliputi antara lain :</a:t>
            </a:r>
          </a:p>
          <a:p>
            <a:pPr>
              <a:buFont typeface="Wingdings 2" pitchFamily="18" charset="2"/>
              <a:buNone/>
            </a:pPr>
            <a:r>
              <a:rPr lang="en-US" sz="2400" b="1" smtClean="0"/>
              <a:t>1.  Hutang Dagang/ Hutang Usaha  (Accounts Payable)</a:t>
            </a:r>
          </a:p>
          <a:p>
            <a:pPr>
              <a:buFont typeface="Wingdings 2" pitchFamily="18" charset="2"/>
              <a:buNone/>
            </a:pPr>
            <a:r>
              <a:rPr lang="en-US" sz="2400" b="1" smtClean="0"/>
              <a:t>2.  Hutang Bank Jangka Pendek  (Kredit Modal Kerja/ Working Capital Loan)</a:t>
            </a:r>
          </a:p>
          <a:p>
            <a:pPr>
              <a:buFont typeface="Wingdings 2" pitchFamily="18" charset="2"/>
              <a:buNone/>
            </a:pPr>
            <a:r>
              <a:rPr lang="en-US" sz="2400" b="1" smtClean="0"/>
              <a:t>3.  Uang Muka Penjualan/ Uang Jaminan Pelanggan</a:t>
            </a:r>
          </a:p>
          <a:p>
            <a:pPr>
              <a:buFont typeface="Wingdings 2" pitchFamily="18" charset="2"/>
              <a:buNone/>
            </a:pPr>
            <a:r>
              <a:rPr lang="en-US" sz="2400" b="1" smtClean="0"/>
              <a:t>4.  Biaya-biaya Yang Masih Harus Dibayar  (Accrued Expenses)</a:t>
            </a:r>
          </a:p>
          <a:p>
            <a:pPr>
              <a:buFont typeface="Wingdings 2" pitchFamily="18" charset="2"/>
              <a:buNone/>
            </a:pPr>
            <a:r>
              <a:rPr lang="en-US" sz="2400" b="1" smtClean="0"/>
              <a:t>5.  Pendapatan Yang Diterima Dimuka  (Unearned Income)</a:t>
            </a:r>
          </a:p>
          <a:p>
            <a:pPr>
              <a:buFont typeface="Wingdings 2" pitchFamily="18" charset="2"/>
              <a:buNone/>
            </a:pPr>
            <a:r>
              <a:rPr lang="en-US" sz="2400" b="1" smtClean="0"/>
              <a:t>6.  Rupa-rupa Hutang lainnya yang harus diselesaikan dalam waktu satu tahun</a:t>
            </a:r>
            <a:endParaRPr lang="en-US" smtClean="0"/>
          </a:p>
        </p:txBody>
      </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2771">
                                            <p:txEl>
                                              <p:pRg st="0" end="0"/>
                                            </p:txEl>
                                          </p:spTgt>
                                        </p:tgtEl>
                                        <p:attrNameLst>
                                          <p:attrName>style.visibility</p:attrName>
                                        </p:attrNameLst>
                                      </p:cBhvr>
                                      <p:to>
                                        <p:strVal val="visible"/>
                                      </p:to>
                                    </p:set>
                                    <p:animEffect transition="in" filter="wipe(left)">
                                      <p:cBhvr>
                                        <p:cTn id="7" dur="500"/>
                                        <p:tgtEl>
                                          <p:spTgt spid="3277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2771">
                                            <p:txEl>
                                              <p:pRg st="1" end="1"/>
                                            </p:txEl>
                                          </p:spTgt>
                                        </p:tgtEl>
                                        <p:attrNameLst>
                                          <p:attrName>style.visibility</p:attrName>
                                        </p:attrNameLst>
                                      </p:cBhvr>
                                      <p:to>
                                        <p:strVal val="visible"/>
                                      </p:to>
                                    </p:set>
                                    <p:animEffect transition="in" filter="wipe(left)">
                                      <p:cBhvr>
                                        <p:cTn id="12" dur="500"/>
                                        <p:tgtEl>
                                          <p:spTgt spid="3277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2771">
                                            <p:txEl>
                                              <p:pRg st="2" end="2"/>
                                            </p:txEl>
                                          </p:spTgt>
                                        </p:tgtEl>
                                        <p:attrNameLst>
                                          <p:attrName>style.visibility</p:attrName>
                                        </p:attrNameLst>
                                      </p:cBhvr>
                                      <p:to>
                                        <p:strVal val="visible"/>
                                      </p:to>
                                    </p:set>
                                    <p:animEffect transition="in" filter="wipe(left)">
                                      <p:cBhvr>
                                        <p:cTn id="17" dur="500"/>
                                        <p:tgtEl>
                                          <p:spTgt spid="3277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2771">
                                            <p:txEl>
                                              <p:pRg st="3" end="3"/>
                                            </p:txEl>
                                          </p:spTgt>
                                        </p:tgtEl>
                                        <p:attrNameLst>
                                          <p:attrName>style.visibility</p:attrName>
                                        </p:attrNameLst>
                                      </p:cBhvr>
                                      <p:to>
                                        <p:strVal val="visible"/>
                                      </p:to>
                                    </p:set>
                                    <p:animEffect transition="in" filter="wipe(left)">
                                      <p:cBhvr>
                                        <p:cTn id="22" dur="500"/>
                                        <p:tgtEl>
                                          <p:spTgt spid="3277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2771">
                                            <p:txEl>
                                              <p:pRg st="4" end="4"/>
                                            </p:txEl>
                                          </p:spTgt>
                                        </p:tgtEl>
                                        <p:attrNameLst>
                                          <p:attrName>style.visibility</p:attrName>
                                        </p:attrNameLst>
                                      </p:cBhvr>
                                      <p:to>
                                        <p:strVal val="visible"/>
                                      </p:to>
                                    </p:set>
                                    <p:animEffect transition="in" filter="wipe(left)">
                                      <p:cBhvr>
                                        <p:cTn id="27" dur="500"/>
                                        <p:tgtEl>
                                          <p:spTgt spid="3277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2771">
                                            <p:txEl>
                                              <p:pRg st="5" end="5"/>
                                            </p:txEl>
                                          </p:spTgt>
                                        </p:tgtEl>
                                        <p:attrNameLst>
                                          <p:attrName>style.visibility</p:attrName>
                                        </p:attrNameLst>
                                      </p:cBhvr>
                                      <p:to>
                                        <p:strVal val="visible"/>
                                      </p:to>
                                    </p:set>
                                    <p:animEffect transition="in" filter="wipe(left)">
                                      <p:cBhvr>
                                        <p:cTn id="32" dur="500"/>
                                        <p:tgtEl>
                                          <p:spTgt spid="32771">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2771">
                                            <p:txEl>
                                              <p:pRg st="6" end="6"/>
                                            </p:txEl>
                                          </p:spTgt>
                                        </p:tgtEl>
                                        <p:attrNameLst>
                                          <p:attrName>style.visibility</p:attrName>
                                        </p:attrNameLst>
                                      </p:cBhvr>
                                      <p:to>
                                        <p:strVal val="visible"/>
                                      </p:to>
                                    </p:set>
                                    <p:animEffect transition="in" filter="wipe(left)">
                                      <p:cBhvr>
                                        <p:cTn id="37" dur="500"/>
                                        <p:tgtEl>
                                          <p:spTgt spid="3277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1" grpId="0" build="p" autoUpdateAnimBg="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ctrTitle"/>
          </p:nvPr>
        </p:nvSpPr>
        <p:spPr/>
        <p:txBody>
          <a:bodyPr/>
          <a:lstStyle/>
          <a:p>
            <a:pPr algn="r" eaLnBrk="1" hangingPunct="1"/>
            <a:r>
              <a:rPr lang="en-US" smtClean="0"/>
              <a:t>SOP, Internal Control </a:t>
            </a:r>
            <a:br>
              <a:rPr lang="en-US" smtClean="0"/>
            </a:br>
            <a:r>
              <a:rPr lang="en-US" smtClean="0"/>
              <a:t>dan Management Tagihan</a:t>
            </a:r>
          </a:p>
        </p:txBody>
      </p:sp>
      <p:sp>
        <p:nvSpPr>
          <p:cNvPr id="15363" name="Rectangle 3"/>
          <p:cNvSpPr>
            <a:spLocks noGrp="1" noChangeArrowheads="1"/>
          </p:cNvSpPr>
          <p:nvPr>
            <p:ph type="subTitle" idx="1"/>
          </p:nvPr>
        </p:nvSpPr>
        <p:spPr>
          <a:xfrm>
            <a:off x="660400" y="3581400"/>
            <a:ext cx="8255000" cy="2590800"/>
          </a:xfrm>
        </p:spPr>
        <p:txBody>
          <a:bodyPr/>
          <a:lstStyle/>
          <a:p>
            <a:pPr marL="515938" indent="-515938" algn="l" eaLnBrk="1" hangingPunct="1">
              <a:lnSpc>
                <a:spcPct val="80000"/>
              </a:lnSpc>
              <a:buClr>
                <a:schemeClr val="tx1"/>
              </a:buClr>
              <a:buFont typeface="Wingdings" pitchFamily="2" charset="2"/>
              <a:buChar char="n"/>
            </a:pPr>
            <a:r>
              <a:rPr lang="en-US" sz="2400" b="1" dirty="0" smtClean="0">
                <a:solidFill>
                  <a:srgbClr val="000000"/>
                </a:solidFill>
              </a:rPr>
              <a:t>SOP </a:t>
            </a:r>
            <a:r>
              <a:rPr lang="en-US" sz="2400" b="1" dirty="0" err="1" smtClean="0">
                <a:solidFill>
                  <a:srgbClr val="000000"/>
                </a:solidFill>
              </a:rPr>
              <a:t>dan</a:t>
            </a:r>
            <a:r>
              <a:rPr lang="en-US" sz="2400" b="1" dirty="0" smtClean="0">
                <a:solidFill>
                  <a:srgbClr val="000000"/>
                </a:solidFill>
              </a:rPr>
              <a:t> Internal Control</a:t>
            </a:r>
          </a:p>
          <a:p>
            <a:pPr marL="515938" indent="-515938" algn="l" eaLnBrk="1" hangingPunct="1">
              <a:lnSpc>
                <a:spcPct val="80000"/>
              </a:lnSpc>
              <a:buClr>
                <a:schemeClr val="tx1"/>
              </a:buClr>
              <a:buFont typeface="Wingdings" pitchFamily="2" charset="2"/>
              <a:buChar char="n"/>
            </a:pPr>
            <a:r>
              <a:rPr lang="en-US" sz="2400" b="1" dirty="0" smtClean="0">
                <a:solidFill>
                  <a:srgbClr val="000000"/>
                </a:solidFill>
              </a:rPr>
              <a:t>Real Condition</a:t>
            </a:r>
          </a:p>
          <a:p>
            <a:pPr marL="515938" indent="-515938" algn="l" eaLnBrk="1" hangingPunct="1">
              <a:lnSpc>
                <a:spcPct val="80000"/>
              </a:lnSpc>
              <a:buClr>
                <a:schemeClr val="tx1"/>
              </a:buClr>
              <a:buFont typeface="Wingdings" pitchFamily="2" charset="2"/>
              <a:buChar char="n"/>
            </a:pPr>
            <a:r>
              <a:rPr lang="en-US" sz="2400" b="1" dirty="0" err="1" smtClean="0">
                <a:solidFill>
                  <a:srgbClr val="000000"/>
                </a:solidFill>
              </a:rPr>
              <a:t>Praktek</a:t>
            </a:r>
            <a:r>
              <a:rPr lang="en-US" sz="2400" b="1" dirty="0" smtClean="0">
                <a:solidFill>
                  <a:srgbClr val="000000"/>
                </a:solidFill>
              </a:rPr>
              <a:t> yang </a:t>
            </a:r>
            <a:r>
              <a:rPr lang="en-US" sz="2400" b="1" dirty="0" err="1" smtClean="0">
                <a:solidFill>
                  <a:srgbClr val="000000"/>
                </a:solidFill>
              </a:rPr>
              <a:t>sehat</a:t>
            </a:r>
            <a:endParaRPr lang="en-US" sz="2400" b="1" dirty="0" smtClean="0">
              <a:solidFill>
                <a:srgbClr val="000000"/>
              </a:solidFill>
            </a:endParaRPr>
          </a:p>
          <a:p>
            <a:pPr marL="515938" indent="-515938" algn="l" eaLnBrk="1" hangingPunct="1">
              <a:lnSpc>
                <a:spcPct val="80000"/>
              </a:lnSpc>
              <a:buClr>
                <a:schemeClr val="tx1"/>
              </a:buClr>
              <a:buFont typeface="Wingdings" pitchFamily="2" charset="2"/>
              <a:buChar char="n"/>
            </a:pPr>
            <a:r>
              <a:rPr lang="en-US" sz="2400" b="1" dirty="0" err="1" smtClean="0">
                <a:solidFill>
                  <a:srgbClr val="000000"/>
                </a:solidFill>
              </a:rPr>
              <a:t>Documentasi</a:t>
            </a:r>
            <a:r>
              <a:rPr lang="en-US" sz="2400" b="1" dirty="0" smtClean="0">
                <a:solidFill>
                  <a:srgbClr val="000000"/>
                </a:solidFill>
              </a:rPr>
              <a:t> </a:t>
            </a:r>
            <a:r>
              <a:rPr lang="en-US" sz="2400" b="1" dirty="0" err="1" smtClean="0">
                <a:solidFill>
                  <a:srgbClr val="000000"/>
                </a:solidFill>
              </a:rPr>
              <a:t>dan</a:t>
            </a:r>
            <a:r>
              <a:rPr lang="en-US" sz="2400" b="1" dirty="0" smtClean="0">
                <a:solidFill>
                  <a:srgbClr val="000000"/>
                </a:solidFill>
              </a:rPr>
              <a:t> </a:t>
            </a:r>
            <a:r>
              <a:rPr lang="en-US" sz="2400" b="1" dirty="0" err="1" smtClean="0">
                <a:solidFill>
                  <a:srgbClr val="000000"/>
                </a:solidFill>
              </a:rPr>
              <a:t>Kontrol</a:t>
            </a:r>
            <a:r>
              <a:rPr lang="en-US" sz="2400" b="1" dirty="0" smtClean="0">
                <a:solidFill>
                  <a:srgbClr val="000000"/>
                </a:solidFill>
              </a:rPr>
              <a:t> </a:t>
            </a:r>
            <a:r>
              <a:rPr lang="en-US" sz="2400" b="1" dirty="0" err="1" smtClean="0">
                <a:solidFill>
                  <a:srgbClr val="000000"/>
                </a:solidFill>
              </a:rPr>
              <a:t>Dokumen</a:t>
            </a:r>
            <a:endParaRPr lang="en-US" sz="2400" b="1" dirty="0" smtClean="0">
              <a:solidFill>
                <a:srgbClr val="000000"/>
              </a:solidFill>
            </a:endParaRPr>
          </a:p>
          <a:p>
            <a:pPr marL="515938" indent="-515938" algn="l" eaLnBrk="1" hangingPunct="1">
              <a:lnSpc>
                <a:spcPct val="80000"/>
              </a:lnSpc>
              <a:buClr>
                <a:schemeClr val="tx1"/>
              </a:buClr>
              <a:buFont typeface="Wingdings" pitchFamily="2" charset="2"/>
              <a:buChar char="n"/>
            </a:pPr>
            <a:r>
              <a:rPr lang="en-US" sz="2400" b="1" dirty="0" err="1" smtClean="0">
                <a:solidFill>
                  <a:srgbClr val="000000"/>
                </a:solidFill>
              </a:rPr>
              <a:t>Jurnal-jurnal</a:t>
            </a:r>
            <a:endParaRPr lang="en-US" sz="2400" b="1" dirty="0" smtClean="0">
              <a:solidFill>
                <a:srgbClr val="000000"/>
              </a:solidFill>
            </a:endParaRPr>
          </a:p>
          <a:p>
            <a:pPr marL="515938" indent="-515938" algn="l" eaLnBrk="1" hangingPunct="1">
              <a:lnSpc>
                <a:spcPct val="80000"/>
              </a:lnSpc>
              <a:buClr>
                <a:schemeClr val="tx1"/>
              </a:buClr>
              <a:buFont typeface="Wingdings" pitchFamily="2" charset="2"/>
              <a:buChar char="n"/>
            </a:pPr>
            <a:r>
              <a:rPr lang="en-US" sz="2400" b="1" dirty="0" err="1" smtClean="0">
                <a:solidFill>
                  <a:srgbClr val="000000"/>
                </a:solidFill>
              </a:rPr>
              <a:t>Transaksi</a:t>
            </a:r>
            <a:r>
              <a:rPr lang="en-US" sz="2400" b="1" dirty="0" smtClean="0">
                <a:solidFill>
                  <a:srgbClr val="000000"/>
                </a:solidFill>
              </a:rPr>
              <a:t> </a:t>
            </a:r>
            <a:r>
              <a:rPr lang="en-US" sz="2400" b="1" dirty="0" err="1" smtClean="0">
                <a:solidFill>
                  <a:srgbClr val="000000"/>
                </a:solidFill>
              </a:rPr>
              <a:t>Valas</a:t>
            </a:r>
            <a:endParaRPr lang="en-US" sz="2400" b="1" dirty="0" smtClean="0">
              <a:solidFill>
                <a:srgbClr val="000000"/>
              </a:solidFill>
            </a:endParaRPr>
          </a:p>
          <a:p>
            <a:pPr marL="515938" indent="-515938" algn="l" eaLnBrk="1" hangingPunct="1">
              <a:lnSpc>
                <a:spcPct val="80000"/>
              </a:lnSpc>
              <a:buClr>
                <a:schemeClr val="tx1"/>
              </a:buClr>
              <a:buFont typeface="Wingdings" pitchFamily="2" charset="2"/>
              <a:buChar char="n"/>
            </a:pPr>
            <a:endParaRPr lang="en-US" sz="2400" dirty="0" smtClean="0">
              <a:solidFill>
                <a:srgbClr val="000000"/>
              </a:solidFill>
            </a:endParaRPr>
          </a:p>
        </p:txBody>
      </p:sp>
      <p:pic>
        <p:nvPicPr>
          <p:cNvPr id="15364" name="Picture 4" descr="g0402458"/>
          <p:cNvPicPr>
            <a:picLocks noChangeAspect="1" noChangeArrowheads="1"/>
          </p:cNvPicPr>
          <p:nvPr/>
        </p:nvPicPr>
        <p:blipFill>
          <a:blip r:embed="rId3"/>
          <a:srcRect/>
          <a:stretch>
            <a:fillRect/>
          </a:stretch>
        </p:blipFill>
        <p:spPr bwMode="auto">
          <a:xfrm>
            <a:off x="247650" y="304800"/>
            <a:ext cx="2641600" cy="22098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descr="a2eA"/>
          <p:cNvPicPr>
            <a:picLocks noChangeAspect="1" noChangeArrowheads="1"/>
          </p:cNvPicPr>
          <p:nvPr/>
        </p:nvPicPr>
        <p:blipFill>
          <a:blip r:embed="rId3"/>
          <a:srcRect/>
          <a:stretch>
            <a:fillRect/>
          </a:stretch>
        </p:blipFill>
        <p:spPr bwMode="auto">
          <a:xfrm>
            <a:off x="0" y="0"/>
            <a:ext cx="9906000" cy="6858000"/>
          </a:xfrm>
          <a:prstGeom prst="rect">
            <a:avLst/>
          </a:prstGeom>
          <a:solidFill>
            <a:schemeClr val="accent2"/>
          </a:solidFill>
          <a:ln w="9525">
            <a:noFill/>
            <a:miter lim="800000"/>
            <a:headEnd/>
            <a:tailEnd/>
          </a:ln>
        </p:spPr>
      </p:pic>
      <p:sp>
        <p:nvSpPr>
          <p:cNvPr id="16387" name="Text Box 3"/>
          <p:cNvSpPr txBox="1">
            <a:spLocks noChangeArrowheads="1"/>
          </p:cNvSpPr>
          <p:nvPr/>
        </p:nvSpPr>
        <p:spPr bwMode="auto">
          <a:xfrm>
            <a:off x="2427288" y="1011238"/>
            <a:ext cx="5146675" cy="492125"/>
          </a:xfrm>
          <a:prstGeom prst="rect">
            <a:avLst/>
          </a:prstGeom>
          <a:noFill/>
          <a:ln w="9525">
            <a:noFill/>
            <a:miter lim="800000"/>
            <a:headEnd/>
            <a:tailEnd/>
          </a:ln>
        </p:spPr>
        <p:txBody>
          <a:bodyPr wrap="none" lIns="0" tIns="41010" rIns="82021" bIns="41010">
            <a:spAutoFit/>
          </a:bodyPr>
          <a:lstStyle/>
          <a:p>
            <a:pPr algn="just" defTabSz="820738">
              <a:lnSpc>
                <a:spcPts val="3225"/>
              </a:lnSpc>
              <a:spcBef>
                <a:spcPts val="13"/>
              </a:spcBef>
              <a:spcAft>
                <a:spcPts val="13"/>
              </a:spcAft>
            </a:pPr>
            <a:r>
              <a:rPr lang="en-US" sz="3200">
                <a:solidFill>
                  <a:srgbClr val="000000"/>
                </a:solidFill>
                <a:latin typeface="Arial Bold"/>
              </a:rPr>
              <a:t>Purchasing Procedures </a:t>
            </a:r>
          </a:p>
        </p:txBody>
      </p:sp>
      <p:sp>
        <p:nvSpPr>
          <p:cNvPr id="16388" name="Text Box 4"/>
          <p:cNvSpPr txBox="1">
            <a:spLocks noChangeArrowheads="1"/>
          </p:cNvSpPr>
          <p:nvPr/>
        </p:nvSpPr>
        <p:spPr bwMode="auto">
          <a:xfrm>
            <a:off x="3775075" y="1885950"/>
            <a:ext cx="3036888" cy="287338"/>
          </a:xfrm>
          <a:prstGeom prst="rect">
            <a:avLst/>
          </a:prstGeom>
          <a:noFill/>
          <a:ln w="9525">
            <a:noFill/>
            <a:miter lim="800000"/>
            <a:headEnd/>
            <a:tailEnd/>
          </a:ln>
        </p:spPr>
        <p:txBody>
          <a:bodyPr wrap="none" lIns="0" tIns="41010" rIns="82021" bIns="41010">
            <a:spAutoFit/>
          </a:bodyPr>
          <a:lstStyle/>
          <a:p>
            <a:pPr algn="just" defTabSz="820738">
              <a:lnSpc>
                <a:spcPts val="1613"/>
              </a:lnSpc>
              <a:spcBef>
                <a:spcPts val="13"/>
              </a:spcBef>
              <a:spcAft>
                <a:spcPts val="13"/>
              </a:spcAft>
            </a:pPr>
            <a:r>
              <a:rPr lang="en-US" sz="1600">
                <a:solidFill>
                  <a:srgbClr val="000066"/>
                </a:solidFill>
                <a:latin typeface="Arial Bold"/>
              </a:rPr>
              <a:t>The PPIC/Sales Department </a:t>
            </a:r>
          </a:p>
        </p:txBody>
      </p:sp>
      <p:sp>
        <p:nvSpPr>
          <p:cNvPr id="16389" name="Text Box 5"/>
          <p:cNvSpPr txBox="1">
            <a:spLocks noChangeArrowheads="1"/>
          </p:cNvSpPr>
          <p:nvPr/>
        </p:nvSpPr>
        <p:spPr bwMode="auto">
          <a:xfrm>
            <a:off x="1057275" y="2127250"/>
            <a:ext cx="7773988" cy="287338"/>
          </a:xfrm>
          <a:prstGeom prst="rect">
            <a:avLst/>
          </a:prstGeom>
          <a:noFill/>
          <a:ln w="9525">
            <a:noFill/>
            <a:miter lim="800000"/>
            <a:headEnd/>
            <a:tailEnd/>
          </a:ln>
        </p:spPr>
        <p:txBody>
          <a:bodyPr wrap="none" lIns="0" tIns="41010" rIns="82021" bIns="41010">
            <a:spAutoFit/>
          </a:bodyPr>
          <a:lstStyle/>
          <a:p>
            <a:pPr algn="just" defTabSz="820738">
              <a:lnSpc>
                <a:spcPts val="1613"/>
              </a:lnSpc>
              <a:spcBef>
                <a:spcPts val="13"/>
              </a:spcBef>
              <a:spcAft>
                <a:spcPts val="13"/>
              </a:spcAft>
            </a:pPr>
            <a:r>
              <a:rPr lang="en-US" sz="1600">
                <a:solidFill>
                  <a:srgbClr val="000000"/>
                </a:solidFill>
                <a:latin typeface="Arial Bold"/>
              </a:rPr>
              <a:t>sends an authorized purchase requisition to the Purchasing Department. </a:t>
            </a:r>
          </a:p>
        </p:txBody>
      </p:sp>
      <p:sp>
        <p:nvSpPr>
          <p:cNvPr id="16390" name="Text Box 6"/>
          <p:cNvSpPr txBox="1">
            <a:spLocks noChangeArrowheads="1"/>
          </p:cNvSpPr>
          <p:nvPr/>
        </p:nvSpPr>
        <p:spPr bwMode="auto">
          <a:xfrm>
            <a:off x="3454400" y="2925763"/>
            <a:ext cx="3086100" cy="287337"/>
          </a:xfrm>
          <a:prstGeom prst="rect">
            <a:avLst/>
          </a:prstGeom>
          <a:noFill/>
          <a:ln w="9525">
            <a:noFill/>
            <a:miter lim="800000"/>
            <a:headEnd/>
            <a:tailEnd/>
          </a:ln>
        </p:spPr>
        <p:txBody>
          <a:bodyPr wrap="none" lIns="0" tIns="41010" rIns="82021" bIns="41010">
            <a:spAutoFit/>
          </a:bodyPr>
          <a:lstStyle/>
          <a:p>
            <a:pPr algn="just" defTabSz="820738">
              <a:lnSpc>
                <a:spcPts val="1613"/>
              </a:lnSpc>
              <a:spcBef>
                <a:spcPts val="13"/>
              </a:spcBef>
              <a:spcAft>
                <a:spcPts val="13"/>
              </a:spcAft>
            </a:pPr>
            <a:r>
              <a:rPr lang="en-US" sz="1600">
                <a:solidFill>
                  <a:srgbClr val="000066"/>
                </a:solidFill>
                <a:latin typeface="Arial Bold"/>
              </a:rPr>
              <a:t>The Purchasing Department </a:t>
            </a:r>
          </a:p>
        </p:txBody>
      </p:sp>
      <p:sp>
        <p:nvSpPr>
          <p:cNvPr id="16391" name="Text Box 7"/>
          <p:cNvSpPr txBox="1">
            <a:spLocks noChangeArrowheads="1"/>
          </p:cNvSpPr>
          <p:nvPr/>
        </p:nvSpPr>
        <p:spPr bwMode="auto">
          <a:xfrm>
            <a:off x="1085850" y="3168650"/>
            <a:ext cx="7724775" cy="287338"/>
          </a:xfrm>
          <a:prstGeom prst="rect">
            <a:avLst/>
          </a:prstGeom>
          <a:noFill/>
          <a:ln w="9525">
            <a:noFill/>
            <a:miter lim="800000"/>
            <a:headEnd/>
            <a:tailEnd/>
          </a:ln>
        </p:spPr>
        <p:txBody>
          <a:bodyPr wrap="none" lIns="0" tIns="41010" rIns="82021" bIns="41010">
            <a:spAutoFit/>
          </a:bodyPr>
          <a:lstStyle/>
          <a:p>
            <a:pPr algn="just" defTabSz="820738">
              <a:lnSpc>
                <a:spcPts val="1613"/>
              </a:lnSpc>
              <a:spcBef>
                <a:spcPts val="13"/>
              </a:spcBef>
              <a:spcAft>
                <a:spcPts val="13"/>
              </a:spcAft>
            </a:pPr>
            <a:r>
              <a:rPr lang="en-US" sz="1600">
                <a:solidFill>
                  <a:srgbClr val="000000"/>
                </a:solidFill>
                <a:latin typeface="Arial Bold"/>
              </a:rPr>
              <a:t>issues an authorized purchase order and sends to the selected supplier. </a:t>
            </a:r>
          </a:p>
        </p:txBody>
      </p:sp>
      <p:sp>
        <p:nvSpPr>
          <p:cNvPr id="16392" name="Text Box 8"/>
          <p:cNvSpPr txBox="1">
            <a:spLocks noChangeArrowheads="1"/>
          </p:cNvSpPr>
          <p:nvPr/>
        </p:nvSpPr>
        <p:spPr bwMode="auto">
          <a:xfrm>
            <a:off x="1465263" y="3970338"/>
            <a:ext cx="6981825" cy="287337"/>
          </a:xfrm>
          <a:prstGeom prst="rect">
            <a:avLst/>
          </a:prstGeom>
          <a:noFill/>
          <a:ln w="9525">
            <a:noFill/>
            <a:miter lim="800000"/>
            <a:headEnd/>
            <a:tailEnd/>
          </a:ln>
        </p:spPr>
        <p:txBody>
          <a:bodyPr wrap="none" lIns="0" tIns="41010" rIns="82021" bIns="41010">
            <a:spAutoFit/>
          </a:bodyPr>
          <a:lstStyle/>
          <a:p>
            <a:pPr algn="just" defTabSz="820738">
              <a:lnSpc>
                <a:spcPts val="1613"/>
              </a:lnSpc>
              <a:spcBef>
                <a:spcPts val="13"/>
              </a:spcBef>
              <a:spcAft>
                <a:spcPts val="13"/>
              </a:spcAft>
            </a:pPr>
            <a:r>
              <a:rPr lang="en-US" sz="1600">
                <a:solidFill>
                  <a:srgbClr val="000000"/>
                </a:solidFill>
                <a:latin typeface="Arial Bold"/>
              </a:rPr>
              <a:t>A receiving report is prepared when the merchandise is received. </a:t>
            </a:r>
          </a:p>
        </p:txBody>
      </p:sp>
      <p:sp>
        <p:nvSpPr>
          <p:cNvPr id="16393" name="Text Box 9"/>
          <p:cNvSpPr txBox="1">
            <a:spLocks noChangeArrowheads="1"/>
          </p:cNvSpPr>
          <p:nvPr/>
        </p:nvSpPr>
        <p:spPr bwMode="auto">
          <a:xfrm>
            <a:off x="3451225" y="4776788"/>
            <a:ext cx="3097213" cy="287337"/>
          </a:xfrm>
          <a:prstGeom prst="rect">
            <a:avLst/>
          </a:prstGeom>
          <a:noFill/>
          <a:ln w="9525">
            <a:noFill/>
            <a:miter lim="800000"/>
            <a:headEnd/>
            <a:tailEnd/>
          </a:ln>
        </p:spPr>
        <p:txBody>
          <a:bodyPr wrap="none" lIns="0" tIns="41010" rIns="82021" bIns="41010">
            <a:spAutoFit/>
          </a:bodyPr>
          <a:lstStyle/>
          <a:p>
            <a:pPr algn="just" defTabSz="820738">
              <a:lnSpc>
                <a:spcPts val="1613"/>
              </a:lnSpc>
              <a:spcBef>
                <a:spcPts val="13"/>
              </a:spcBef>
              <a:spcAft>
                <a:spcPts val="13"/>
              </a:spcAft>
            </a:pPr>
            <a:r>
              <a:rPr lang="en-US" sz="1600">
                <a:solidFill>
                  <a:srgbClr val="000066"/>
                </a:solidFill>
                <a:latin typeface="Arial Bold"/>
              </a:rPr>
              <a:t>The Accounting Department </a:t>
            </a:r>
          </a:p>
        </p:txBody>
      </p:sp>
      <p:sp>
        <p:nvSpPr>
          <p:cNvPr id="16394" name="Text Box 10"/>
          <p:cNvSpPr txBox="1">
            <a:spLocks noChangeArrowheads="1"/>
          </p:cNvSpPr>
          <p:nvPr/>
        </p:nvSpPr>
        <p:spPr bwMode="auto">
          <a:xfrm>
            <a:off x="936625" y="5018088"/>
            <a:ext cx="8021638" cy="287337"/>
          </a:xfrm>
          <a:prstGeom prst="rect">
            <a:avLst/>
          </a:prstGeom>
          <a:noFill/>
          <a:ln w="9525">
            <a:noFill/>
            <a:miter lim="800000"/>
            <a:headEnd/>
            <a:tailEnd/>
          </a:ln>
        </p:spPr>
        <p:txBody>
          <a:bodyPr wrap="none" lIns="0" tIns="41010" rIns="82021" bIns="41010">
            <a:spAutoFit/>
          </a:bodyPr>
          <a:lstStyle/>
          <a:p>
            <a:pPr algn="just" defTabSz="820738">
              <a:lnSpc>
                <a:spcPts val="1613"/>
              </a:lnSpc>
              <a:spcBef>
                <a:spcPts val="13"/>
              </a:spcBef>
              <a:spcAft>
                <a:spcPts val="13"/>
              </a:spcAft>
            </a:pPr>
            <a:r>
              <a:rPr lang="en-US" sz="1600">
                <a:solidFill>
                  <a:srgbClr val="000000"/>
                </a:solidFill>
                <a:latin typeface="Arial Bold"/>
              </a:rPr>
              <a:t>receives the invoice and copies of the purchase order and receiving report. </a:t>
            </a:r>
          </a:p>
        </p:txBody>
      </p:sp>
      <p:sp>
        <p:nvSpPr>
          <p:cNvPr id="16395" name="Text Box 11"/>
          <p:cNvSpPr txBox="1">
            <a:spLocks noChangeArrowheads="1"/>
          </p:cNvSpPr>
          <p:nvPr/>
        </p:nvSpPr>
        <p:spPr bwMode="auto">
          <a:xfrm>
            <a:off x="4808538" y="6242050"/>
            <a:ext cx="398462" cy="241300"/>
          </a:xfrm>
          <a:prstGeom prst="rect">
            <a:avLst/>
          </a:prstGeom>
          <a:noFill/>
          <a:ln w="9525">
            <a:noFill/>
            <a:miter lim="800000"/>
            <a:headEnd/>
            <a:tailEnd/>
          </a:ln>
        </p:spPr>
        <p:txBody>
          <a:bodyPr wrap="none" lIns="0" tIns="41010" rIns="82021" bIns="41010">
            <a:spAutoFit/>
          </a:bodyPr>
          <a:lstStyle/>
          <a:p>
            <a:pPr algn="just" defTabSz="820738">
              <a:lnSpc>
                <a:spcPts val="1250"/>
              </a:lnSpc>
              <a:spcBef>
                <a:spcPts val="13"/>
              </a:spcBef>
              <a:spcAft>
                <a:spcPts val="13"/>
              </a:spcAft>
            </a:pPr>
            <a:r>
              <a:rPr lang="en-US" sz="1300">
                <a:solidFill>
                  <a:srgbClr val="000000"/>
                </a:solidFill>
              </a:rPr>
              <a:t>8-3 </a:t>
            </a:r>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idx="4294967295"/>
          </p:nvPr>
        </p:nvSpPr>
        <p:spPr>
          <a:xfrm>
            <a:off x="0" y="381000"/>
            <a:ext cx="8915400" cy="990600"/>
          </a:xfrm>
        </p:spPr>
        <p:txBody>
          <a:bodyPr/>
          <a:lstStyle/>
          <a:p>
            <a:pPr eaLnBrk="1" hangingPunct="1"/>
            <a:r>
              <a:rPr lang="en-US" smtClean="0"/>
              <a:t>Internal Control</a:t>
            </a:r>
          </a:p>
        </p:txBody>
      </p:sp>
      <p:sp>
        <p:nvSpPr>
          <p:cNvPr id="17411" name="Rectangle 3"/>
          <p:cNvSpPr>
            <a:spLocks noGrp="1" noChangeArrowheads="1"/>
          </p:cNvSpPr>
          <p:nvPr>
            <p:ph type="body" idx="4294967295"/>
          </p:nvPr>
        </p:nvSpPr>
        <p:spPr>
          <a:xfrm>
            <a:off x="742950" y="1295400"/>
            <a:ext cx="9163050" cy="5562600"/>
          </a:xfrm>
        </p:spPr>
        <p:txBody>
          <a:bodyPr/>
          <a:lstStyle/>
          <a:p>
            <a:pPr eaLnBrk="1" hangingPunct="1">
              <a:lnSpc>
                <a:spcPct val="80000"/>
              </a:lnSpc>
              <a:buClr>
                <a:schemeClr val="tx1"/>
              </a:buClr>
              <a:buSzTx/>
            </a:pPr>
            <a:r>
              <a:rPr lang="en-US" sz="1800" dirty="0" smtClean="0"/>
              <a:t>Administrative control</a:t>
            </a:r>
          </a:p>
          <a:p>
            <a:pPr lvl="1" eaLnBrk="1" hangingPunct="1">
              <a:lnSpc>
                <a:spcPct val="80000"/>
              </a:lnSpc>
              <a:buClr>
                <a:schemeClr val="tx1"/>
              </a:buClr>
              <a:buSzTx/>
            </a:pPr>
            <a:r>
              <a:rPr lang="en-US" sz="1600" dirty="0" err="1" smtClean="0"/>
              <a:t>Prosedur</a:t>
            </a:r>
            <a:r>
              <a:rPr lang="en-US" sz="1600" dirty="0" smtClean="0"/>
              <a:t> </a:t>
            </a:r>
            <a:r>
              <a:rPr lang="en-US" sz="1600" dirty="0" err="1" smtClean="0"/>
              <a:t>dan</a:t>
            </a:r>
            <a:r>
              <a:rPr lang="en-US" sz="1600" dirty="0" smtClean="0"/>
              <a:t> </a:t>
            </a:r>
            <a:r>
              <a:rPr lang="en-US" sz="1600" dirty="0" err="1" smtClean="0"/>
              <a:t>catatan</a:t>
            </a:r>
            <a:r>
              <a:rPr lang="en-US" sz="1600" dirty="0" smtClean="0"/>
              <a:t> yang </a:t>
            </a:r>
            <a:r>
              <a:rPr lang="en-US" sz="1600" dirty="0" err="1" smtClean="0"/>
              <a:t>membantu</a:t>
            </a:r>
            <a:r>
              <a:rPr lang="en-US" sz="1600" dirty="0" smtClean="0"/>
              <a:t> </a:t>
            </a:r>
            <a:r>
              <a:rPr lang="en-US" sz="1600" dirty="0" err="1" smtClean="0"/>
              <a:t>manajemen</a:t>
            </a:r>
            <a:r>
              <a:rPr lang="en-US" sz="1600" dirty="0" smtClean="0"/>
              <a:t> </a:t>
            </a:r>
            <a:r>
              <a:rPr lang="en-US" sz="1600" dirty="0" err="1" smtClean="0"/>
              <a:t>untuk</a:t>
            </a:r>
            <a:r>
              <a:rPr lang="en-US" sz="1600" dirty="0" smtClean="0"/>
              <a:t> </a:t>
            </a:r>
            <a:r>
              <a:rPr lang="en-US" sz="1600" dirty="0" err="1" smtClean="0"/>
              <a:t>mencapai</a:t>
            </a:r>
            <a:r>
              <a:rPr lang="en-US" sz="1600" dirty="0" smtClean="0"/>
              <a:t> </a:t>
            </a:r>
            <a:r>
              <a:rPr lang="en-US" sz="1600" dirty="0" err="1" smtClean="0"/>
              <a:t>tujuan</a:t>
            </a:r>
            <a:r>
              <a:rPr lang="en-US" sz="1600" dirty="0" smtClean="0"/>
              <a:t> </a:t>
            </a:r>
            <a:r>
              <a:rPr lang="en-US" sz="1600" dirty="0" err="1" smtClean="0"/>
              <a:t>perusahan</a:t>
            </a:r>
            <a:endParaRPr lang="en-US" sz="1600" dirty="0" smtClean="0"/>
          </a:p>
          <a:p>
            <a:pPr lvl="1" eaLnBrk="1" hangingPunct="1">
              <a:lnSpc>
                <a:spcPct val="80000"/>
              </a:lnSpc>
              <a:buClr>
                <a:schemeClr val="tx1"/>
              </a:buClr>
              <a:buSzTx/>
            </a:pPr>
            <a:endParaRPr lang="en-US" sz="1600" dirty="0" smtClean="0"/>
          </a:p>
          <a:p>
            <a:pPr eaLnBrk="1" hangingPunct="1">
              <a:lnSpc>
                <a:spcPct val="80000"/>
              </a:lnSpc>
              <a:buClr>
                <a:schemeClr val="tx1"/>
              </a:buClr>
              <a:buSzTx/>
            </a:pPr>
            <a:r>
              <a:rPr lang="en-US" sz="1800" dirty="0" smtClean="0"/>
              <a:t>Accounting control</a:t>
            </a:r>
          </a:p>
          <a:p>
            <a:pPr lvl="1" eaLnBrk="1" hangingPunct="1">
              <a:lnSpc>
                <a:spcPct val="80000"/>
              </a:lnSpc>
              <a:buClr>
                <a:schemeClr val="tx1"/>
              </a:buClr>
              <a:buSzTx/>
            </a:pPr>
            <a:r>
              <a:rPr lang="en-US" sz="1600" dirty="0" err="1" smtClean="0"/>
              <a:t>Prosedur</a:t>
            </a:r>
            <a:r>
              <a:rPr lang="en-US" sz="1600" dirty="0" smtClean="0"/>
              <a:t> </a:t>
            </a:r>
            <a:r>
              <a:rPr lang="en-US" sz="1600" dirty="0" err="1" smtClean="0"/>
              <a:t>dan</a:t>
            </a:r>
            <a:r>
              <a:rPr lang="en-US" sz="1600" dirty="0" smtClean="0"/>
              <a:t> </a:t>
            </a:r>
            <a:r>
              <a:rPr lang="en-US" sz="1600" dirty="0" err="1" smtClean="0"/>
              <a:t>catatan</a:t>
            </a:r>
            <a:r>
              <a:rPr lang="en-US" sz="1600" dirty="0" smtClean="0"/>
              <a:t> yang </a:t>
            </a:r>
            <a:r>
              <a:rPr lang="en-US" sz="1600" dirty="0" err="1" smtClean="0"/>
              <a:t>berkaitan</a:t>
            </a:r>
            <a:r>
              <a:rPr lang="en-US" sz="1600" dirty="0" smtClean="0"/>
              <a:t> </a:t>
            </a:r>
            <a:r>
              <a:rPr lang="en-US" sz="1600" dirty="0" err="1" smtClean="0"/>
              <a:t>kebenaran</a:t>
            </a:r>
            <a:r>
              <a:rPr lang="en-US" sz="1600" dirty="0" smtClean="0"/>
              <a:t> </a:t>
            </a:r>
            <a:r>
              <a:rPr lang="en-US" sz="1600" dirty="0" err="1" smtClean="0"/>
              <a:t>catatan</a:t>
            </a:r>
            <a:r>
              <a:rPr lang="en-US" sz="1600" dirty="0" smtClean="0"/>
              <a:t> </a:t>
            </a:r>
            <a:r>
              <a:rPr lang="en-US" sz="1600" dirty="0" err="1" smtClean="0"/>
              <a:t>keuangan</a:t>
            </a:r>
            <a:r>
              <a:rPr lang="en-US" sz="1600" dirty="0" smtClean="0"/>
              <a:t> </a:t>
            </a:r>
            <a:r>
              <a:rPr lang="en-US" sz="1600" dirty="0" err="1" smtClean="0"/>
              <a:t>dan</a:t>
            </a:r>
            <a:r>
              <a:rPr lang="en-US" sz="1600" dirty="0" smtClean="0"/>
              <a:t> </a:t>
            </a:r>
            <a:r>
              <a:rPr lang="en-US" sz="1600" dirty="0" err="1" smtClean="0"/>
              <a:t>laporan</a:t>
            </a:r>
            <a:endParaRPr lang="en-US" sz="1600" dirty="0" smtClean="0"/>
          </a:p>
          <a:p>
            <a:pPr lvl="1" eaLnBrk="1" hangingPunct="1">
              <a:lnSpc>
                <a:spcPct val="80000"/>
              </a:lnSpc>
              <a:buClr>
                <a:schemeClr val="tx1"/>
              </a:buClr>
              <a:buSzTx/>
            </a:pPr>
            <a:endParaRPr lang="en-US" sz="1600" dirty="0" smtClean="0"/>
          </a:p>
          <a:p>
            <a:pPr eaLnBrk="1" hangingPunct="1">
              <a:lnSpc>
                <a:spcPct val="80000"/>
              </a:lnSpc>
              <a:buClr>
                <a:schemeClr val="tx1"/>
              </a:buClr>
              <a:buSzTx/>
            </a:pPr>
            <a:r>
              <a:rPr lang="en-US" sz="1800" dirty="0" smtClean="0"/>
              <a:t>Personal control</a:t>
            </a:r>
          </a:p>
          <a:p>
            <a:pPr lvl="1" eaLnBrk="1" hangingPunct="1">
              <a:lnSpc>
                <a:spcPct val="80000"/>
              </a:lnSpc>
              <a:buClr>
                <a:schemeClr val="tx1"/>
              </a:buClr>
              <a:buSzTx/>
            </a:pPr>
            <a:r>
              <a:rPr lang="en-US" sz="1600" dirty="0" smtClean="0"/>
              <a:t>Person yang </a:t>
            </a:r>
            <a:r>
              <a:rPr lang="en-US" sz="1600" dirty="0" err="1" smtClean="0"/>
              <a:t>cakap</a:t>
            </a:r>
            <a:r>
              <a:rPr lang="en-US" sz="1600" dirty="0" smtClean="0"/>
              <a:t>/</a:t>
            </a:r>
            <a:r>
              <a:rPr lang="en-US" sz="1600" dirty="0" err="1" smtClean="0"/>
              <a:t>kompeten</a:t>
            </a:r>
            <a:endParaRPr lang="en-US" sz="1600" dirty="0" smtClean="0"/>
          </a:p>
          <a:p>
            <a:pPr lvl="1" eaLnBrk="1" hangingPunct="1">
              <a:lnSpc>
                <a:spcPct val="80000"/>
              </a:lnSpc>
              <a:buClr>
                <a:schemeClr val="tx1"/>
              </a:buClr>
              <a:buSzTx/>
            </a:pPr>
            <a:r>
              <a:rPr lang="en-US" sz="1600" dirty="0" err="1" smtClean="0"/>
              <a:t>Pengawasan</a:t>
            </a:r>
            <a:r>
              <a:rPr lang="en-US" sz="1600" dirty="0" smtClean="0"/>
              <a:t> </a:t>
            </a:r>
            <a:r>
              <a:rPr lang="en-US" sz="1600" dirty="0" err="1" smtClean="0"/>
              <a:t>dalam</a:t>
            </a:r>
            <a:r>
              <a:rPr lang="en-US" sz="1600" dirty="0" smtClean="0"/>
              <a:t> </a:t>
            </a:r>
            <a:r>
              <a:rPr lang="en-US" sz="1600" dirty="0" err="1" smtClean="0"/>
              <a:t>melaksanakan</a:t>
            </a:r>
            <a:r>
              <a:rPr lang="en-US" sz="1600" dirty="0" smtClean="0"/>
              <a:t> </a:t>
            </a:r>
            <a:r>
              <a:rPr lang="en-US" sz="1600" dirty="0" err="1" smtClean="0"/>
              <a:t>tugas</a:t>
            </a:r>
            <a:endParaRPr lang="en-US" sz="1600" dirty="0" smtClean="0"/>
          </a:p>
          <a:p>
            <a:pPr lvl="1" eaLnBrk="1" hangingPunct="1">
              <a:lnSpc>
                <a:spcPct val="80000"/>
              </a:lnSpc>
              <a:buClr>
                <a:schemeClr val="tx1"/>
              </a:buClr>
              <a:buSzTx/>
            </a:pPr>
            <a:r>
              <a:rPr lang="en-US" sz="1600" dirty="0" err="1" smtClean="0"/>
              <a:t>Ada</a:t>
            </a:r>
            <a:r>
              <a:rPr lang="en-US" sz="1600" dirty="0" smtClean="0"/>
              <a:t> </a:t>
            </a:r>
            <a:r>
              <a:rPr lang="en-US" sz="1600" dirty="0" err="1" smtClean="0"/>
              <a:t>rotasi</a:t>
            </a:r>
            <a:r>
              <a:rPr lang="en-US" sz="1600" dirty="0" smtClean="0"/>
              <a:t> </a:t>
            </a:r>
            <a:r>
              <a:rPr lang="en-US" sz="1600" dirty="0" err="1" smtClean="0"/>
              <a:t>atau</a:t>
            </a:r>
            <a:r>
              <a:rPr lang="en-US" sz="1600" dirty="0" smtClean="0"/>
              <a:t> </a:t>
            </a:r>
            <a:r>
              <a:rPr lang="en-US" sz="1600" dirty="0" err="1" smtClean="0"/>
              <a:t>perputaran</a:t>
            </a:r>
            <a:r>
              <a:rPr lang="en-US" sz="1600" dirty="0" smtClean="0"/>
              <a:t> </a:t>
            </a:r>
            <a:r>
              <a:rPr lang="en-US" sz="1600" dirty="0" err="1" smtClean="0"/>
              <a:t>tugas</a:t>
            </a:r>
            <a:r>
              <a:rPr lang="en-US" sz="1600" dirty="0" smtClean="0"/>
              <a:t> (</a:t>
            </a:r>
            <a:r>
              <a:rPr lang="en-US" sz="1600" dirty="0" err="1" smtClean="0"/>
              <a:t>cuti</a:t>
            </a:r>
            <a:r>
              <a:rPr lang="en-US" sz="1600" dirty="0" smtClean="0"/>
              <a:t>, </a:t>
            </a:r>
            <a:r>
              <a:rPr lang="en-US" sz="1600" dirty="0" err="1" smtClean="0"/>
              <a:t>mutasi</a:t>
            </a:r>
            <a:r>
              <a:rPr lang="en-US" sz="1600" dirty="0" smtClean="0"/>
              <a:t>)</a:t>
            </a:r>
          </a:p>
          <a:p>
            <a:pPr lvl="1" eaLnBrk="1" hangingPunct="1">
              <a:lnSpc>
                <a:spcPct val="80000"/>
              </a:lnSpc>
              <a:buClr>
                <a:schemeClr val="tx1"/>
              </a:buClr>
              <a:buSzTx/>
            </a:pPr>
            <a:endParaRPr lang="en-US" sz="1600" dirty="0" smtClean="0"/>
          </a:p>
          <a:p>
            <a:pPr eaLnBrk="1" hangingPunct="1">
              <a:lnSpc>
                <a:spcPct val="80000"/>
              </a:lnSpc>
              <a:buClr>
                <a:schemeClr val="tx1"/>
              </a:buClr>
              <a:buSzTx/>
            </a:pPr>
            <a:r>
              <a:rPr lang="en-US" sz="1800" dirty="0" smtClean="0"/>
              <a:t>Responsibility</a:t>
            </a:r>
          </a:p>
          <a:p>
            <a:pPr lvl="1" eaLnBrk="1" hangingPunct="1">
              <a:lnSpc>
                <a:spcPct val="80000"/>
              </a:lnSpc>
              <a:buClr>
                <a:schemeClr val="tx1"/>
              </a:buClr>
              <a:buSzTx/>
            </a:pPr>
            <a:r>
              <a:rPr lang="en-US" sz="1600" dirty="0" err="1" smtClean="0"/>
              <a:t>Penetapan</a:t>
            </a:r>
            <a:r>
              <a:rPr lang="en-US" sz="1600" dirty="0" smtClean="0"/>
              <a:t> </a:t>
            </a:r>
            <a:r>
              <a:rPr lang="en-US" sz="1600" dirty="0" err="1" smtClean="0"/>
              <a:t>tangung</a:t>
            </a:r>
            <a:r>
              <a:rPr lang="en-US" sz="1600" dirty="0" smtClean="0"/>
              <a:t> </a:t>
            </a:r>
            <a:r>
              <a:rPr lang="en-US" sz="1600" dirty="0" err="1" smtClean="0"/>
              <a:t>jawab</a:t>
            </a:r>
            <a:r>
              <a:rPr lang="en-US" sz="1600" dirty="0" smtClean="0"/>
              <a:t> </a:t>
            </a:r>
            <a:r>
              <a:rPr lang="en-US" sz="1600" dirty="0" err="1" smtClean="0"/>
              <a:t>masing-masing</a:t>
            </a:r>
            <a:r>
              <a:rPr lang="en-US" sz="1600" dirty="0" smtClean="0"/>
              <a:t> </a:t>
            </a:r>
            <a:r>
              <a:rPr lang="en-US" sz="1600" dirty="0" err="1" smtClean="0"/>
              <a:t>secara</a:t>
            </a:r>
            <a:r>
              <a:rPr lang="en-US" sz="1600" dirty="0" smtClean="0"/>
              <a:t> </a:t>
            </a:r>
            <a:r>
              <a:rPr lang="en-US" sz="1600" dirty="0" err="1" smtClean="0"/>
              <a:t>jelas</a:t>
            </a:r>
            <a:endParaRPr lang="en-US" sz="1600" dirty="0" smtClean="0"/>
          </a:p>
          <a:p>
            <a:pPr lvl="1" eaLnBrk="1" hangingPunct="1">
              <a:lnSpc>
                <a:spcPct val="80000"/>
              </a:lnSpc>
              <a:buClr>
                <a:schemeClr val="tx1"/>
              </a:buClr>
              <a:buSzTx/>
            </a:pPr>
            <a:r>
              <a:rPr lang="en-US" sz="1600" dirty="0" err="1" smtClean="0"/>
              <a:t>Tidak</a:t>
            </a:r>
            <a:r>
              <a:rPr lang="en-US" sz="1600" dirty="0" smtClean="0"/>
              <a:t> </a:t>
            </a:r>
            <a:r>
              <a:rPr lang="en-US" sz="1600" dirty="0" err="1" smtClean="0"/>
              <a:t>ada</a:t>
            </a:r>
            <a:r>
              <a:rPr lang="en-US" sz="1600" dirty="0" smtClean="0"/>
              <a:t> </a:t>
            </a:r>
            <a:r>
              <a:rPr lang="en-US" sz="1600" dirty="0" err="1" smtClean="0"/>
              <a:t>tumpang</a:t>
            </a:r>
            <a:r>
              <a:rPr lang="en-US" sz="1600" dirty="0" smtClean="0"/>
              <a:t> </a:t>
            </a:r>
            <a:r>
              <a:rPr lang="en-US" sz="1600" dirty="0" err="1" smtClean="0"/>
              <a:t>tindih</a:t>
            </a:r>
            <a:endParaRPr lang="en-US" sz="1600" dirty="0" smtClean="0"/>
          </a:p>
          <a:p>
            <a:pPr lvl="1" eaLnBrk="1" hangingPunct="1">
              <a:lnSpc>
                <a:spcPct val="80000"/>
              </a:lnSpc>
              <a:buClr>
                <a:schemeClr val="tx1"/>
              </a:buClr>
              <a:buSzTx/>
            </a:pPr>
            <a:r>
              <a:rPr lang="en-US" sz="1600" dirty="0" err="1" smtClean="0"/>
              <a:t>Tanggung</a:t>
            </a:r>
            <a:r>
              <a:rPr lang="en-US" sz="1600" dirty="0" smtClean="0"/>
              <a:t> </a:t>
            </a:r>
            <a:r>
              <a:rPr lang="en-US" sz="1600" dirty="0" err="1" smtClean="0"/>
              <a:t>jawab</a:t>
            </a:r>
            <a:r>
              <a:rPr lang="en-US" sz="1600" dirty="0" smtClean="0"/>
              <a:t> </a:t>
            </a:r>
            <a:r>
              <a:rPr lang="en-US" sz="1600" dirty="0" err="1" smtClean="0"/>
              <a:t>atas</a:t>
            </a:r>
            <a:r>
              <a:rPr lang="en-US" sz="1600" dirty="0" smtClean="0"/>
              <a:t> </a:t>
            </a:r>
            <a:r>
              <a:rPr lang="en-US" sz="1600" dirty="0" err="1" smtClean="0"/>
              <a:t>operasi</a:t>
            </a:r>
            <a:r>
              <a:rPr lang="en-US" sz="1600" dirty="0" smtClean="0"/>
              <a:t> yang </a:t>
            </a:r>
            <a:r>
              <a:rPr lang="en-US" sz="1600" dirty="0" err="1" smtClean="0"/>
              <a:t>berhubungan</a:t>
            </a:r>
            <a:r>
              <a:rPr lang="en-US" sz="1600" dirty="0" smtClean="0"/>
              <a:t> </a:t>
            </a:r>
            <a:r>
              <a:rPr lang="en-US" sz="1600" dirty="0" err="1" smtClean="0"/>
              <a:t>hendaknya</a:t>
            </a:r>
            <a:r>
              <a:rPr lang="en-US" sz="1600" dirty="0" smtClean="0"/>
              <a:t> </a:t>
            </a:r>
            <a:r>
              <a:rPr lang="en-US" sz="1600" dirty="0" err="1" smtClean="0"/>
              <a:t>dibagi</a:t>
            </a:r>
            <a:r>
              <a:rPr lang="en-US" sz="1600" dirty="0" smtClean="0"/>
              <a:t> </a:t>
            </a:r>
            <a:r>
              <a:rPr lang="en-US" sz="1600" dirty="0" err="1" smtClean="0"/>
              <a:t>diantara</a:t>
            </a:r>
            <a:r>
              <a:rPr lang="en-US" sz="1600" dirty="0" smtClean="0"/>
              <a:t> </a:t>
            </a:r>
            <a:r>
              <a:rPr lang="en-US" sz="1600" dirty="0" err="1" smtClean="0"/>
              <a:t>duan</a:t>
            </a:r>
            <a:r>
              <a:rPr lang="en-US" sz="1600" dirty="0" smtClean="0"/>
              <a:t> </a:t>
            </a:r>
            <a:r>
              <a:rPr lang="en-US" sz="1600" dirty="0" err="1" smtClean="0"/>
              <a:t>orang</a:t>
            </a:r>
            <a:r>
              <a:rPr lang="en-US" sz="1600" dirty="0" smtClean="0"/>
              <a:t> </a:t>
            </a:r>
            <a:r>
              <a:rPr lang="en-US" sz="1600" dirty="0" err="1" smtClean="0"/>
              <a:t>atau</a:t>
            </a:r>
            <a:r>
              <a:rPr lang="en-US" sz="1600" dirty="0" smtClean="0"/>
              <a:t> </a:t>
            </a:r>
            <a:r>
              <a:rPr lang="en-US" sz="1600" dirty="0" err="1" smtClean="0"/>
              <a:t>lebih</a:t>
            </a:r>
            <a:endParaRPr lang="en-US" sz="1600" dirty="0" smtClean="0"/>
          </a:p>
          <a:p>
            <a:pPr lvl="1" eaLnBrk="1" hangingPunct="1">
              <a:lnSpc>
                <a:spcPct val="80000"/>
              </a:lnSpc>
              <a:buClr>
                <a:schemeClr val="tx1"/>
              </a:buClr>
              <a:buSzTx/>
            </a:pPr>
            <a:r>
              <a:rPr lang="en-US" sz="1600" dirty="0" err="1" smtClean="0"/>
              <a:t>Perangkapan</a:t>
            </a:r>
            <a:r>
              <a:rPr lang="en-US" sz="1600" dirty="0" smtClean="0"/>
              <a:t> </a:t>
            </a:r>
            <a:r>
              <a:rPr lang="en-US" sz="1600" dirty="0" err="1" smtClean="0"/>
              <a:t>tugas</a:t>
            </a:r>
            <a:r>
              <a:rPr lang="en-US" sz="1600" dirty="0" smtClean="0"/>
              <a:t> </a:t>
            </a:r>
            <a:r>
              <a:rPr lang="en-US" sz="1600" dirty="0" err="1" smtClean="0"/>
              <a:t>mengundang</a:t>
            </a:r>
            <a:r>
              <a:rPr lang="en-US" sz="1600" dirty="0" smtClean="0"/>
              <a:t> </a:t>
            </a:r>
            <a:r>
              <a:rPr lang="en-US" sz="1600" dirty="0" err="1" smtClean="0"/>
              <a:t>penyelewengan</a:t>
            </a:r>
            <a:endParaRPr lang="en-US" sz="1600" dirty="0" smtClean="0"/>
          </a:p>
          <a:p>
            <a:pPr lvl="1" eaLnBrk="1" hangingPunct="1">
              <a:lnSpc>
                <a:spcPct val="80000"/>
              </a:lnSpc>
              <a:buClr>
                <a:schemeClr val="tx1"/>
              </a:buClr>
              <a:buSzTx/>
            </a:pPr>
            <a:r>
              <a:rPr lang="en-US" sz="1600" dirty="0" err="1" smtClean="0"/>
              <a:t>Tidak</a:t>
            </a:r>
            <a:r>
              <a:rPr lang="en-US" sz="1600" dirty="0" smtClean="0"/>
              <a:t> </a:t>
            </a:r>
            <a:r>
              <a:rPr lang="en-US" sz="1600" dirty="0" err="1" smtClean="0"/>
              <a:t>ada</a:t>
            </a:r>
            <a:r>
              <a:rPr lang="en-US" sz="1600" dirty="0" smtClean="0"/>
              <a:t> </a:t>
            </a:r>
            <a:r>
              <a:rPr lang="en-US" sz="1600" dirty="0" err="1" smtClean="0"/>
              <a:t>duplikasi</a:t>
            </a:r>
            <a:r>
              <a:rPr lang="en-US" sz="1600" dirty="0" smtClean="0"/>
              <a:t>/</a:t>
            </a:r>
            <a:r>
              <a:rPr lang="en-US" sz="1600" dirty="0" err="1" smtClean="0"/>
              <a:t>kerja</a:t>
            </a:r>
            <a:r>
              <a:rPr lang="en-US" sz="1600" dirty="0" smtClean="0"/>
              <a:t> </a:t>
            </a:r>
            <a:r>
              <a:rPr lang="en-US" sz="1600" dirty="0" err="1" smtClean="0"/>
              <a:t>ganda</a:t>
            </a:r>
            <a:endParaRPr lang="en-US" sz="1600" dirty="0" smtClean="0"/>
          </a:p>
          <a:p>
            <a:pPr lvl="1" eaLnBrk="1" hangingPunct="1">
              <a:lnSpc>
                <a:spcPct val="80000"/>
              </a:lnSpc>
              <a:buClr>
                <a:schemeClr val="tx1"/>
              </a:buClr>
              <a:buSzTx/>
            </a:pPr>
            <a:r>
              <a:rPr lang="en-US" sz="1600" dirty="0" err="1" smtClean="0"/>
              <a:t>Tanggung</a:t>
            </a:r>
            <a:r>
              <a:rPr lang="en-US" sz="1600" dirty="0" smtClean="0"/>
              <a:t> </a:t>
            </a:r>
            <a:r>
              <a:rPr lang="en-US" sz="1600" dirty="0" err="1" smtClean="0"/>
              <a:t>jawab</a:t>
            </a:r>
            <a:r>
              <a:rPr lang="en-US" sz="1600" dirty="0" smtClean="0"/>
              <a:t> </a:t>
            </a:r>
            <a:r>
              <a:rPr lang="en-US" sz="1600" dirty="0" err="1" smtClean="0"/>
              <a:t>penyelenggara</a:t>
            </a:r>
            <a:r>
              <a:rPr lang="en-US" sz="1600" dirty="0" smtClean="0"/>
              <a:t> </a:t>
            </a:r>
            <a:r>
              <a:rPr lang="en-US" sz="1600" dirty="0" err="1" smtClean="0"/>
              <a:t>catatan</a:t>
            </a:r>
            <a:r>
              <a:rPr lang="en-US" sz="1600" dirty="0" smtClean="0"/>
              <a:t> </a:t>
            </a:r>
            <a:r>
              <a:rPr lang="en-US" sz="1600" dirty="0" err="1" smtClean="0"/>
              <a:t>akuntansi</a:t>
            </a:r>
            <a:r>
              <a:rPr lang="en-US" sz="1600" dirty="0" smtClean="0"/>
              <a:t> </a:t>
            </a:r>
            <a:r>
              <a:rPr lang="en-US" sz="1600" dirty="0" err="1" smtClean="0"/>
              <a:t>dipisah</a:t>
            </a:r>
            <a:r>
              <a:rPr lang="en-US" sz="1600" dirty="0" smtClean="0"/>
              <a:t> </a:t>
            </a:r>
            <a:r>
              <a:rPr lang="en-US" sz="1600" dirty="0" err="1" smtClean="0"/>
              <a:t>dengan</a:t>
            </a:r>
            <a:r>
              <a:rPr lang="en-US" sz="1600" dirty="0" smtClean="0"/>
              <a:t> </a:t>
            </a:r>
            <a:r>
              <a:rPr lang="en-US" sz="1600" dirty="0" err="1" smtClean="0"/>
              <a:t>tanggung</a:t>
            </a:r>
            <a:r>
              <a:rPr lang="en-US" sz="1600" dirty="0" smtClean="0"/>
              <a:t> </a:t>
            </a:r>
            <a:r>
              <a:rPr lang="en-US" sz="1600" dirty="0" err="1" smtClean="0"/>
              <a:t>jawab</a:t>
            </a:r>
            <a:r>
              <a:rPr lang="en-US" sz="1600" dirty="0" smtClean="0"/>
              <a:t> </a:t>
            </a:r>
            <a:r>
              <a:rPr lang="en-US" sz="1600" dirty="0" err="1" smtClean="0"/>
              <a:t>pelaksana</a:t>
            </a:r>
            <a:r>
              <a:rPr lang="en-US" sz="1600" dirty="0" smtClean="0"/>
              <a:t> </a:t>
            </a:r>
            <a:r>
              <a:rPr lang="en-US" sz="1600" dirty="0" err="1" smtClean="0"/>
              <a:t>transaksi</a:t>
            </a:r>
            <a:endParaRPr lang="en-US" sz="1600" dirty="0" smtClean="0"/>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pPr eaLnBrk="1" hangingPunct="1"/>
            <a:r>
              <a:rPr lang="en-US" smtClean="0"/>
              <a:t>Internal Control</a:t>
            </a:r>
          </a:p>
        </p:txBody>
      </p:sp>
      <p:sp>
        <p:nvSpPr>
          <p:cNvPr id="18435" name="Rectangle 3"/>
          <p:cNvSpPr>
            <a:spLocks noGrp="1" noChangeArrowheads="1"/>
          </p:cNvSpPr>
          <p:nvPr>
            <p:ph type="body" idx="1"/>
          </p:nvPr>
        </p:nvSpPr>
        <p:spPr>
          <a:xfrm>
            <a:off x="495300" y="1600200"/>
            <a:ext cx="6972300" cy="4495800"/>
          </a:xfrm>
        </p:spPr>
        <p:txBody>
          <a:bodyPr/>
          <a:lstStyle/>
          <a:p>
            <a:pPr eaLnBrk="1" hangingPunct="1">
              <a:lnSpc>
                <a:spcPct val="80000"/>
              </a:lnSpc>
              <a:buClr>
                <a:schemeClr val="tx1"/>
              </a:buClr>
              <a:buSzTx/>
            </a:pPr>
            <a:r>
              <a:rPr lang="en-US" sz="2000" dirty="0" smtClean="0"/>
              <a:t>Evidence &amp; Security</a:t>
            </a:r>
          </a:p>
          <a:p>
            <a:pPr lvl="1" eaLnBrk="1" hangingPunct="1">
              <a:lnSpc>
                <a:spcPct val="80000"/>
              </a:lnSpc>
              <a:buClr>
                <a:schemeClr val="tx1"/>
              </a:buClr>
              <a:buSzTx/>
            </a:pPr>
            <a:r>
              <a:rPr lang="en-US" sz="1800" dirty="0" err="1" smtClean="0"/>
              <a:t>Pembuktian</a:t>
            </a:r>
            <a:r>
              <a:rPr lang="en-US" sz="1800" dirty="0" smtClean="0"/>
              <a:t> </a:t>
            </a:r>
            <a:r>
              <a:rPr lang="en-US" sz="1800" dirty="0" err="1" smtClean="0"/>
              <a:t>catatan</a:t>
            </a:r>
            <a:r>
              <a:rPr lang="en-US" sz="1800" dirty="0" smtClean="0"/>
              <a:t> </a:t>
            </a:r>
            <a:r>
              <a:rPr lang="en-US" sz="1800" dirty="0" err="1" smtClean="0"/>
              <a:t>untuk</a:t>
            </a:r>
            <a:r>
              <a:rPr lang="en-US" sz="1800" dirty="0" smtClean="0"/>
              <a:t> </a:t>
            </a:r>
            <a:r>
              <a:rPr lang="en-US" sz="1800" dirty="0" err="1" smtClean="0"/>
              <a:t>meyakinkan</a:t>
            </a:r>
            <a:r>
              <a:rPr lang="en-US" sz="1800" dirty="0" smtClean="0"/>
              <a:t> </a:t>
            </a:r>
            <a:r>
              <a:rPr lang="en-US" sz="1800" dirty="0" err="1" smtClean="0"/>
              <a:t>kebenaran</a:t>
            </a:r>
            <a:r>
              <a:rPr lang="en-US" sz="1800" dirty="0" smtClean="0"/>
              <a:t> data </a:t>
            </a:r>
            <a:r>
              <a:rPr lang="en-US" sz="1800" dirty="0" err="1" smtClean="0"/>
              <a:t>akuntansi</a:t>
            </a:r>
            <a:r>
              <a:rPr lang="en-US" sz="1800" dirty="0" smtClean="0"/>
              <a:t> (</a:t>
            </a:r>
            <a:r>
              <a:rPr lang="en-US" sz="1800" dirty="0" err="1" smtClean="0"/>
              <a:t>rekening</a:t>
            </a:r>
            <a:r>
              <a:rPr lang="en-US" sz="1800" dirty="0" smtClean="0"/>
              <a:t> </a:t>
            </a:r>
            <a:r>
              <a:rPr lang="en-US" sz="1800" dirty="0" err="1" smtClean="0"/>
              <a:t>koran</a:t>
            </a:r>
            <a:r>
              <a:rPr lang="en-US" sz="1800" dirty="0" smtClean="0"/>
              <a:t>, tracing, </a:t>
            </a:r>
            <a:r>
              <a:rPr lang="en-US" sz="1800" dirty="0" err="1" smtClean="0"/>
              <a:t>dll</a:t>
            </a:r>
            <a:r>
              <a:rPr lang="en-US" sz="1800" dirty="0" smtClean="0"/>
              <a:t>)</a:t>
            </a:r>
          </a:p>
          <a:p>
            <a:pPr lvl="1" eaLnBrk="1" hangingPunct="1">
              <a:lnSpc>
                <a:spcPct val="80000"/>
              </a:lnSpc>
              <a:buClr>
                <a:schemeClr val="tx1"/>
              </a:buClr>
              <a:buSzTx/>
            </a:pPr>
            <a:r>
              <a:rPr lang="en-US" sz="1800" dirty="0" err="1" smtClean="0"/>
              <a:t>Nomor</a:t>
            </a:r>
            <a:r>
              <a:rPr lang="en-US" sz="1800" dirty="0" smtClean="0"/>
              <a:t> </a:t>
            </a:r>
            <a:r>
              <a:rPr lang="en-US" sz="1800" dirty="0" err="1" smtClean="0"/>
              <a:t>bukti</a:t>
            </a:r>
            <a:r>
              <a:rPr lang="en-US" sz="1800" dirty="0" smtClean="0"/>
              <a:t>/</a:t>
            </a:r>
            <a:r>
              <a:rPr lang="en-US" sz="1800" dirty="0" err="1" smtClean="0"/>
              <a:t>transaksi</a:t>
            </a:r>
            <a:r>
              <a:rPr lang="en-US" sz="1800" dirty="0" smtClean="0"/>
              <a:t> </a:t>
            </a:r>
            <a:r>
              <a:rPr lang="en-US" sz="1800" dirty="0" err="1" smtClean="0"/>
              <a:t>urut</a:t>
            </a:r>
            <a:r>
              <a:rPr lang="en-US" sz="1800" dirty="0" smtClean="0"/>
              <a:t> </a:t>
            </a:r>
            <a:r>
              <a:rPr lang="en-US" sz="1800" dirty="0" err="1" smtClean="0"/>
              <a:t>dan</a:t>
            </a:r>
            <a:r>
              <a:rPr lang="en-US" sz="1800" dirty="0" smtClean="0"/>
              <a:t> </a:t>
            </a:r>
            <a:r>
              <a:rPr lang="en-US" sz="1800" dirty="0" err="1" smtClean="0"/>
              <a:t>tercetak</a:t>
            </a:r>
            <a:r>
              <a:rPr lang="en-US" sz="1800" dirty="0" smtClean="0"/>
              <a:t>, </a:t>
            </a:r>
            <a:r>
              <a:rPr lang="en-US" sz="1800" dirty="0" err="1" smtClean="0"/>
              <a:t>dan</a:t>
            </a:r>
            <a:r>
              <a:rPr lang="en-US" sz="1800" dirty="0" smtClean="0"/>
              <a:t> </a:t>
            </a:r>
            <a:r>
              <a:rPr lang="en-US" sz="1800" dirty="0" err="1" smtClean="0"/>
              <a:t>referensi</a:t>
            </a:r>
            <a:r>
              <a:rPr lang="en-US" sz="1800" dirty="0" smtClean="0"/>
              <a:t> </a:t>
            </a:r>
            <a:r>
              <a:rPr lang="en-US" sz="1800" dirty="0" err="1" smtClean="0"/>
              <a:t>transaksi</a:t>
            </a:r>
            <a:endParaRPr lang="en-US" sz="1800" dirty="0" smtClean="0"/>
          </a:p>
          <a:p>
            <a:pPr lvl="1" eaLnBrk="1" hangingPunct="1">
              <a:lnSpc>
                <a:spcPct val="80000"/>
              </a:lnSpc>
              <a:buClr>
                <a:schemeClr val="tx1"/>
              </a:buClr>
              <a:buSzTx/>
            </a:pPr>
            <a:r>
              <a:rPr lang="en-US" sz="1800" dirty="0" err="1" smtClean="0"/>
              <a:t>Transaksi</a:t>
            </a:r>
            <a:r>
              <a:rPr lang="en-US" sz="1800" dirty="0" smtClean="0"/>
              <a:t> </a:t>
            </a:r>
            <a:r>
              <a:rPr lang="en-US" sz="1800" dirty="0" err="1" smtClean="0"/>
              <a:t>beikutnya</a:t>
            </a:r>
            <a:r>
              <a:rPr lang="en-US" sz="1800" dirty="0" smtClean="0"/>
              <a:t> </a:t>
            </a:r>
            <a:r>
              <a:rPr lang="en-US" sz="1800" dirty="0" err="1" smtClean="0"/>
              <a:t>tidak</a:t>
            </a:r>
            <a:r>
              <a:rPr lang="en-US" sz="1800" dirty="0" smtClean="0"/>
              <a:t> </a:t>
            </a:r>
            <a:r>
              <a:rPr lang="en-US" sz="1800" dirty="0" err="1" smtClean="0"/>
              <a:t>dilakukan</a:t>
            </a:r>
            <a:r>
              <a:rPr lang="en-US" sz="1800" dirty="0" smtClean="0"/>
              <a:t> </a:t>
            </a:r>
            <a:r>
              <a:rPr lang="en-US" sz="1800" dirty="0" err="1" smtClean="0"/>
              <a:t>jika</a:t>
            </a:r>
            <a:r>
              <a:rPr lang="en-US" sz="1800" dirty="0" smtClean="0"/>
              <a:t> </a:t>
            </a:r>
            <a:r>
              <a:rPr lang="en-US" sz="1800" dirty="0" err="1" smtClean="0"/>
              <a:t>dokumen</a:t>
            </a:r>
            <a:r>
              <a:rPr lang="en-US" sz="1800" dirty="0" smtClean="0"/>
              <a:t> </a:t>
            </a:r>
            <a:r>
              <a:rPr lang="en-US" sz="1800" dirty="0" err="1" smtClean="0"/>
              <a:t>sebelumnya</a:t>
            </a:r>
            <a:r>
              <a:rPr lang="en-US" sz="1800" dirty="0" smtClean="0"/>
              <a:t> </a:t>
            </a:r>
            <a:r>
              <a:rPr lang="en-US" sz="1800" dirty="0" err="1" smtClean="0"/>
              <a:t>tidak</a:t>
            </a:r>
            <a:r>
              <a:rPr lang="en-US" sz="1800" dirty="0" smtClean="0"/>
              <a:t> </a:t>
            </a:r>
            <a:r>
              <a:rPr lang="en-US" sz="1800" dirty="0" err="1" smtClean="0"/>
              <a:t>ada</a:t>
            </a:r>
            <a:endParaRPr lang="en-US" sz="1800" dirty="0" smtClean="0"/>
          </a:p>
          <a:p>
            <a:pPr lvl="1" eaLnBrk="1" hangingPunct="1">
              <a:lnSpc>
                <a:spcPct val="80000"/>
              </a:lnSpc>
              <a:buClr>
                <a:schemeClr val="tx1"/>
              </a:buClr>
              <a:buSzTx/>
            </a:pPr>
            <a:r>
              <a:rPr lang="en-US" sz="1800" dirty="0" err="1" smtClean="0"/>
              <a:t>Ada</a:t>
            </a:r>
            <a:r>
              <a:rPr lang="en-US" sz="1800" dirty="0" smtClean="0"/>
              <a:t> approval </a:t>
            </a:r>
            <a:r>
              <a:rPr lang="en-US" sz="1800" dirty="0" err="1" smtClean="0"/>
              <a:t>dari</a:t>
            </a:r>
            <a:r>
              <a:rPr lang="en-US" sz="1800" dirty="0" smtClean="0"/>
              <a:t> management </a:t>
            </a:r>
            <a:r>
              <a:rPr lang="en-US" sz="1800" dirty="0" err="1" smtClean="0"/>
              <a:t>dan</a:t>
            </a:r>
            <a:r>
              <a:rPr lang="en-US" sz="1800" dirty="0" smtClean="0"/>
              <a:t> supplier</a:t>
            </a:r>
          </a:p>
          <a:p>
            <a:pPr lvl="1" eaLnBrk="1" hangingPunct="1">
              <a:lnSpc>
                <a:spcPct val="80000"/>
              </a:lnSpc>
              <a:buClr>
                <a:schemeClr val="tx1"/>
              </a:buClr>
              <a:buSzTx/>
            </a:pPr>
            <a:r>
              <a:rPr lang="en-US" sz="1800" dirty="0" err="1" smtClean="0"/>
              <a:t>Pengecekan</a:t>
            </a:r>
            <a:r>
              <a:rPr lang="en-US" sz="1800" dirty="0" smtClean="0"/>
              <a:t> </a:t>
            </a:r>
            <a:r>
              <a:rPr lang="en-US" sz="1800" dirty="0" err="1" smtClean="0"/>
              <a:t>oleh</a:t>
            </a:r>
            <a:r>
              <a:rPr lang="en-US" sz="1800" dirty="0" smtClean="0"/>
              <a:t> supplier </a:t>
            </a:r>
            <a:r>
              <a:rPr lang="en-US" sz="1800" dirty="0" err="1" smtClean="0"/>
              <a:t>dan</a:t>
            </a:r>
            <a:r>
              <a:rPr lang="en-US" sz="1800" dirty="0" smtClean="0"/>
              <a:t> </a:t>
            </a:r>
            <a:r>
              <a:rPr lang="en-US" sz="1800" dirty="0" err="1" smtClean="0"/>
              <a:t>tanda</a:t>
            </a:r>
            <a:r>
              <a:rPr lang="en-US" sz="1800" dirty="0" smtClean="0"/>
              <a:t> </a:t>
            </a:r>
            <a:r>
              <a:rPr lang="en-US" sz="1800" dirty="0" err="1" smtClean="0"/>
              <a:t>terima</a:t>
            </a:r>
            <a:endParaRPr lang="en-US" sz="1800" dirty="0" smtClean="0"/>
          </a:p>
          <a:p>
            <a:pPr lvl="1" eaLnBrk="1" hangingPunct="1">
              <a:lnSpc>
                <a:spcPct val="80000"/>
              </a:lnSpc>
              <a:buClr>
                <a:schemeClr val="tx1"/>
              </a:buClr>
              <a:buSzTx/>
            </a:pPr>
            <a:r>
              <a:rPr lang="en-US" sz="1800" dirty="0" err="1" smtClean="0"/>
              <a:t>Penggunaan</a:t>
            </a:r>
            <a:r>
              <a:rPr lang="en-US" sz="1800" dirty="0" smtClean="0"/>
              <a:t> </a:t>
            </a:r>
            <a:r>
              <a:rPr lang="en-US" sz="1800" dirty="0" err="1" smtClean="0"/>
              <a:t>asuransi</a:t>
            </a:r>
            <a:endParaRPr lang="en-US" sz="1800" dirty="0" smtClean="0"/>
          </a:p>
          <a:p>
            <a:pPr lvl="1" eaLnBrk="1" hangingPunct="1">
              <a:lnSpc>
                <a:spcPct val="80000"/>
              </a:lnSpc>
              <a:buClr>
                <a:schemeClr val="tx1"/>
              </a:buClr>
              <a:buSzTx/>
            </a:pPr>
            <a:endParaRPr lang="en-US" sz="1800" dirty="0" smtClean="0"/>
          </a:p>
          <a:p>
            <a:pPr eaLnBrk="1" hangingPunct="1">
              <a:lnSpc>
                <a:spcPct val="80000"/>
              </a:lnSpc>
              <a:buClr>
                <a:schemeClr val="tx1"/>
              </a:buClr>
              <a:buSzTx/>
            </a:pPr>
            <a:r>
              <a:rPr lang="en-US" sz="2000" dirty="0" smtClean="0"/>
              <a:t>Independent Review</a:t>
            </a:r>
          </a:p>
          <a:p>
            <a:pPr lvl="1" eaLnBrk="1" hangingPunct="1">
              <a:lnSpc>
                <a:spcPct val="80000"/>
              </a:lnSpc>
              <a:buClr>
                <a:schemeClr val="tx1"/>
              </a:buClr>
              <a:buSzTx/>
            </a:pPr>
            <a:r>
              <a:rPr lang="en-US" sz="1800" dirty="0" err="1" smtClean="0"/>
              <a:t>Sistem</a:t>
            </a:r>
            <a:r>
              <a:rPr lang="en-US" sz="1800" dirty="0" smtClean="0"/>
              <a:t> </a:t>
            </a:r>
            <a:r>
              <a:rPr lang="en-US" sz="1800" dirty="0" err="1" smtClean="0"/>
              <a:t>pengendalian</a:t>
            </a:r>
            <a:r>
              <a:rPr lang="en-US" sz="1800" dirty="0" smtClean="0"/>
              <a:t> internal </a:t>
            </a:r>
            <a:r>
              <a:rPr lang="en-US" sz="1800" dirty="0" err="1" smtClean="0"/>
              <a:t>dievaluasi</a:t>
            </a:r>
            <a:r>
              <a:rPr lang="en-US" sz="1800" dirty="0" smtClean="0"/>
              <a:t> </a:t>
            </a:r>
            <a:r>
              <a:rPr lang="en-US" sz="1800" dirty="0" err="1" smtClean="0"/>
              <a:t>secara</a:t>
            </a:r>
            <a:r>
              <a:rPr lang="en-US" sz="1800" dirty="0" smtClean="0"/>
              <a:t> </a:t>
            </a:r>
            <a:r>
              <a:rPr lang="en-US" sz="1800" dirty="0" err="1" smtClean="0"/>
              <a:t>berkala</a:t>
            </a:r>
            <a:r>
              <a:rPr lang="en-US" sz="1800" dirty="0" smtClean="0"/>
              <a:t> </a:t>
            </a:r>
            <a:r>
              <a:rPr lang="en-US" sz="1800" dirty="0" err="1" smtClean="0"/>
              <a:t>oleh</a:t>
            </a:r>
            <a:r>
              <a:rPr lang="en-US" sz="1800" dirty="0" smtClean="0"/>
              <a:t> internal auditor</a:t>
            </a:r>
          </a:p>
          <a:p>
            <a:pPr lvl="1" eaLnBrk="1" hangingPunct="1">
              <a:lnSpc>
                <a:spcPct val="80000"/>
              </a:lnSpc>
              <a:buClr>
                <a:schemeClr val="tx1"/>
              </a:buClr>
              <a:buSzTx/>
            </a:pPr>
            <a:r>
              <a:rPr lang="en-US" sz="1800" dirty="0" smtClean="0"/>
              <a:t>Auditor internal </a:t>
            </a:r>
            <a:r>
              <a:rPr lang="en-US" sz="1800" dirty="0" err="1" smtClean="0"/>
              <a:t>adalah</a:t>
            </a:r>
            <a:r>
              <a:rPr lang="en-US" sz="1800" dirty="0" smtClean="0"/>
              <a:t> </a:t>
            </a:r>
            <a:r>
              <a:rPr lang="en-US" sz="1800" dirty="0" err="1" smtClean="0"/>
              <a:t>departemen</a:t>
            </a:r>
            <a:r>
              <a:rPr lang="en-US" sz="1800" dirty="0" smtClean="0"/>
              <a:t> </a:t>
            </a:r>
            <a:r>
              <a:rPr lang="en-US" sz="1800" dirty="0" err="1" smtClean="0"/>
              <a:t>tersendiri</a:t>
            </a:r>
            <a:r>
              <a:rPr lang="en-US" sz="1800" dirty="0" smtClean="0"/>
              <a:t> yang </a:t>
            </a:r>
            <a:r>
              <a:rPr lang="en-US" sz="1800" dirty="0" err="1" smtClean="0"/>
              <a:t>independen</a:t>
            </a:r>
            <a:r>
              <a:rPr lang="en-US" sz="1800" dirty="0" smtClean="0"/>
              <a:t> (</a:t>
            </a:r>
            <a:r>
              <a:rPr lang="en-US" sz="1800" dirty="0" err="1" smtClean="0"/>
              <a:t>diluar</a:t>
            </a:r>
            <a:r>
              <a:rPr lang="en-US" sz="1800" dirty="0" smtClean="0"/>
              <a:t> </a:t>
            </a:r>
            <a:r>
              <a:rPr lang="en-US" sz="1800" dirty="0" err="1" smtClean="0"/>
              <a:t>pegawai</a:t>
            </a:r>
            <a:r>
              <a:rPr lang="en-US" sz="1800" dirty="0" smtClean="0"/>
              <a:t> </a:t>
            </a:r>
            <a:r>
              <a:rPr lang="en-US" sz="1800" dirty="0" err="1" smtClean="0"/>
              <a:t>operasi</a:t>
            </a:r>
            <a:r>
              <a:rPr lang="en-US" sz="1800" dirty="0" smtClean="0"/>
              <a:t> </a:t>
            </a:r>
            <a:r>
              <a:rPr lang="en-US" sz="1800" dirty="0" err="1" smtClean="0"/>
              <a:t>perusahaan</a:t>
            </a:r>
            <a:r>
              <a:rPr lang="en-US" sz="1800" dirty="0" smtClean="0"/>
              <a:t>)</a:t>
            </a:r>
          </a:p>
          <a:p>
            <a:pPr lvl="1" eaLnBrk="1" hangingPunct="1">
              <a:lnSpc>
                <a:spcPct val="80000"/>
              </a:lnSpc>
              <a:buClr>
                <a:schemeClr val="tx1"/>
              </a:buClr>
              <a:buSzTx/>
            </a:pPr>
            <a:r>
              <a:rPr lang="en-US" sz="1800" dirty="0" smtClean="0"/>
              <a:t>Auditor </a:t>
            </a:r>
            <a:r>
              <a:rPr lang="en-US" sz="1800" dirty="0" err="1" smtClean="0"/>
              <a:t>melaporkan</a:t>
            </a:r>
            <a:r>
              <a:rPr lang="en-US" sz="1800" dirty="0" smtClean="0"/>
              <a:t> </a:t>
            </a:r>
            <a:r>
              <a:rPr lang="en-US" sz="1800" dirty="0" err="1" smtClean="0"/>
              <a:t>kekurangan</a:t>
            </a:r>
            <a:r>
              <a:rPr lang="en-US" sz="1800" dirty="0" smtClean="0"/>
              <a:t> </a:t>
            </a:r>
            <a:r>
              <a:rPr lang="en-US" sz="1800" dirty="0" err="1" smtClean="0"/>
              <a:t>dan</a:t>
            </a:r>
            <a:r>
              <a:rPr lang="en-US" sz="1800" dirty="0" smtClean="0"/>
              <a:t> </a:t>
            </a:r>
            <a:r>
              <a:rPr lang="en-US" sz="1800" dirty="0" err="1" smtClean="0"/>
              <a:t>rekomendasi</a:t>
            </a:r>
            <a:r>
              <a:rPr lang="en-US" sz="1800" dirty="0" smtClean="0"/>
              <a:t> </a:t>
            </a:r>
            <a:r>
              <a:rPr lang="en-US" sz="1800" dirty="0" err="1" smtClean="0"/>
              <a:t>perbaikan</a:t>
            </a:r>
            <a:endParaRPr lang="en-US" sz="1800" dirty="0" smtClean="0"/>
          </a:p>
          <a:p>
            <a:pPr lvl="1" eaLnBrk="1" hangingPunct="1">
              <a:lnSpc>
                <a:spcPct val="80000"/>
              </a:lnSpc>
              <a:buClr>
                <a:schemeClr val="tx1"/>
              </a:buClr>
              <a:buSzTx/>
            </a:pPr>
            <a:endParaRPr lang="en-US" sz="1800" dirty="0" smtClean="0"/>
          </a:p>
        </p:txBody>
      </p:sp>
      <p:pic>
        <p:nvPicPr>
          <p:cNvPr id="4" name="Picture 4" descr="g0419038"/>
          <p:cNvPicPr>
            <a:picLocks noChangeAspect="1" noChangeArrowheads="1"/>
          </p:cNvPicPr>
          <p:nvPr/>
        </p:nvPicPr>
        <p:blipFill>
          <a:blip r:embed="rId3"/>
          <a:srcRect/>
          <a:stretch>
            <a:fillRect/>
          </a:stretch>
        </p:blipFill>
        <p:spPr bwMode="auto">
          <a:xfrm>
            <a:off x="6858000" y="1066800"/>
            <a:ext cx="2228850" cy="32766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pPr eaLnBrk="1" hangingPunct="1"/>
            <a:r>
              <a:rPr lang="en-US" smtClean="0"/>
              <a:t>PRAKTEK YANG SEHAT</a:t>
            </a:r>
          </a:p>
        </p:txBody>
      </p:sp>
      <p:sp>
        <p:nvSpPr>
          <p:cNvPr id="19459" name="Rectangle 3"/>
          <p:cNvSpPr>
            <a:spLocks noGrp="1" noChangeArrowheads="1"/>
          </p:cNvSpPr>
          <p:nvPr>
            <p:ph type="body" idx="1"/>
          </p:nvPr>
        </p:nvSpPr>
        <p:spPr>
          <a:xfrm>
            <a:off x="495300" y="1524000"/>
            <a:ext cx="8915400" cy="4724400"/>
          </a:xfrm>
        </p:spPr>
        <p:txBody>
          <a:bodyPr/>
          <a:lstStyle/>
          <a:p>
            <a:pPr eaLnBrk="1" hangingPunct="1">
              <a:lnSpc>
                <a:spcPct val="90000"/>
              </a:lnSpc>
              <a:buClr>
                <a:schemeClr val="tx1"/>
              </a:buClr>
            </a:pPr>
            <a:r>
              <a:rPr lang="en-US" sz="2400" smtClean="0"/>
              <a:t>Semua dokumen bernomor urut tercetak/print komputer</a:t>
            </a:r>
          </a:p>
          <a:p>
            <a:pPr eaLnBrk="1" hangingPunct="1">
              <a:lnSpc>
                <a:spcPct val="90000"/>
              </a:lnSpc>
              <a:buClr>
                <a:schemeClr val="tx1"/>
              </a:buClr>
            </a:pPr>
            <a:r>
              <a:rPr lang="en-US" sz="2400" smtClean="0"/>
              <a:t>Supplier dipilih atas total cost yang terbaik</a:t>
            </a:r>
          </a:p>
          <a:p>
            <a:pPr eaLnBrk="1" hangingPunct="1">
              <a:lnSpc>
                <a:spcPct val="90000"/>
              </a:lnSpc>
              <a:buClr>
                <a:schemeClr val="tx1"/>
              </a:buClr>
            </a:pPr>
            <a:r>
              <a:rPr lang="en-US" sz="2400" smtClean="0"/>
              <a:t>Dokumen bisa diproses jika sudah ada dokumen terdahulu (proses sebelumnya)</a:t>
            </a:r>
          </a:p>
          <a:p>
            <a:pPr eaLnBrk="1" hangingPunct="1">
              <a:lnSpc>
                <a:spcPct val="90000"/>
              </a:lnSpc>
              <a:buClr>
                <a:schemeClr val="tx1"/>
              </a:buClr>
            </a:pPr>
            <a:r>
              <a:rPr lang="en-US" sz="2400" smtClean="0"/>
              <a:t>Ada pengecekan kesesuaian dokumen dengan barang oleh gudang</a:t>
            </a:r>
          </a:p>
          <a:p>
            <a:pPr eaLnBrk="1" hangingPunct="1">
              <a:lnSpc>
                <a:spcPct val="90000"/>
              </a:lnSpc>
              <a:buClr>
                <a:schemeClr val="tx1"/>
              </a:buClr>
            </a:pPr>
            <a:r>
              <a:rPr lang="en-US" sz="2400" smtClean="0"/>
              <a:t>Pengecekan harga, TOP, dan ketelitian penambahan dan perkalian dalam invoice</a:t>
            </a:r>
          </a:p>
          <a:p>
            <a:pPr eaLnBrk="1" hangingPunct="1">
              <a:lnSpc>
                <a:spcPct val="90000"/>
              </a:lnSpc>
              <a:buClr>
                <a:schemeClr val="tx1"/>
              </a:buClr>
            </a:pPr>
            <a:r>
              <a:rPr lang="en-US" sz="2400" smtClean="0"/>
              <a:t>Buku pembantu A/P direkonsiliasi secara periodik dengan General Ledger</a:t>
            </a:r>
          </a:p>
          <a:p>
            <a:pPr eaLnBrk="1" hangingPunct="1">
              <a:lnSpc>
                <a:spcPct val="90000"/>
              </a:lnSpc>
              <a:buClr>
                <a:schemeClr val="tx1"/>
              </a:buClr>
            </a:pPr>
            <a:r>
              <a:rPr lang="en-US" sz="2400" smtClean="0"/>
              <a:t>Pembayaran memperhitung kesempatan potongan tunai</a:t>
            </a:r>
          </a:p>
          <a:p>
            <a:pPr eaLnBrk="1" hangingPunct="1">
              <a:lnSpc>
                <a:spcPct val="90000"/>
              </a:lnSpc>
              <a:buClr>
                <a:schemeClr val="tx1"/>
              </a:buClr>
            </a:pPr>
            <a:r>
              <a:rPr lang="en-US" sz="2400" smtClean="0"/>
              <a:t>Setelah pembayaran, dokumen invoice dicap lunas</a:t>
            </a:r>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body" idx="1"/>
          </p:nvPr>
        </p:nvSpPr>
        <p:spPr>
          <a:xfrm>
            <a:off x="495300" y="1524000"/>
            <a:ext cx="8915400" cy="4572000"/>
          </a:xfrm>
        </p:spPr>
        <p:txBody>
          <a:bodyPr/>
          <a:lstStyle/>
          <a:p>
            <a:pPr eaLnBrk="1" hangingPunct="1">
              <a:lnSpc>
                <a:spcPct val="80000"/>
              </a:lnSpc>
              <a:buClr>
                <a:schemeClr val="tx1"/>
              </a:buClr>
            </a:pPr>
            <a:r>
              <a:rPr lang="en-US" sz="2200" smtClean="0"/>
              <a:t>Supplier mengumpulkan beberapa kali pengiriman, baru membuat invoice</a:t>
            </a:r>
          </a:p>
          <a:p>
            <a:pPr eaLnBrk="1" hangingPunct="1">
              <a:lnSpc>
                <a:spcPct val="80000"/>
              </a:lnSpc>
              <a:buClr>
                <a:schemeClr val="tx1"/>
              </a:buClr>
            </a:pPr>
            <a:r>
              <a:rPr lang="en-US" sz="2200" smtClean="0"/>
              <a:t>Penghematan biaya dokumen dan administrasi</a:t>
            </a:r>
          </a:p>
          <a:p>
            <a:pPr eaLnBrk="1" hangingPunct="1">
              <a:lnSpc>
                <a:spcPct val="80000"/>
              </a:lnSpc>
              <a:buClr>
                <a:schemeClr val="tx1"/>
              </a:buClr>
            </a:pPr>
            <a:r>
              <a:rPr lang="en-US" sz="2200" smtClean="0"/>
              <a:t>Perusahaan cenderung memperlambat pembayaran</a:t>
            </a:r>
          </a:p>
          <a:p>
            <a:pPr eaLnBrk="1" hangingPunct="1">
              <a:lnSpc>
                <a:spcPct val="80000"/>
              </a:lnSpc>
              <a:buClr>
                <a:schemeClr val="tx1"/>
              </a:buClr>
            </a:pPr>
            <a:r>
              <a:rPr lang="en-US" sz="2200" smtClean="0"/>
              <a:t>Term of payment akan molor</a:t>
            </a:r>
          </a:p>
          <a:p>
            <a:pPr eaLnBrk="1" hangingPunct="1">
              <a:lnSpc>
                <a:spcPct val="80000"/>
              </a:lnSpc>
              <a:buClr>
                <a:schemeClr val="tx1"/>
              </a:buClr>
            </a:pPr>
            <a:r>
              <a:rPr lang="en-US" sz="2200" smtClean="0"/>
              <a:t>Tidak cukup dana untuk membayar semua tagihan yang jatuh tempo</a:t>
            </a:r>
          </a:p>
          <a:p>
            <a:pPr eaLnBrk="1" hangingPunct="1">
              <a:lnSpc>
                <a:spcPct val="80000"/>
              </a:lnSpc>
              <a:buClr>
                <a:schemeClr val="tx1"/>
              </a:buClr>
            </a:pPr>
            <a:r>
              <a:rPr lang="en-US" sz="2200" smtClean="0"/>
              <a:t>Ketidak cocokan antara data di invoice dan catatan perusahaan</a:t>
            </a:r>
          </a:p>
          <a:p>
            <a:pPr eaLnBrk="1" hangingPunct="1">
              <a:lnSpc>
                <a:spcPct val="80000"/>
              </a:lnSpc>
              <a:buClr>
                <a:schemeClr val="tx1"/>
              </a:buClr>
            </a:pPr>
            <a:r>
              <a:rPr lang="en-US" sz="2200" smtClean="0"/>
              <a:t>Ada barang yang diretur, tapi invoice tidak menunjukkan adanya retur</a:t>
            </a:r>
          </a:p>
          <a:p>
            <a:pPr eaLnBrk="1" hangingPunct="1">
              <a:lnSpc>
                <a:spcPct val="80000"/>
              </a:lnSpc>
              <a:buClr>
                <a:schemeClr val="tx1"/>
              </a:buClr>
            </a:pPr>
            <a:r>
              <a:rPr lang="en-US" sz="2200" smtClean="0"/>
              <a:t>Invoice tidak mencantumkan nomor PO dan kode barang</a:t>
            </a:r>
          </a:p>
          <a:p>
            <a:pPr eaLnBrk="1" hangingPunct="1">
              <a:lnSpc>
                <a:spcPct val="80000"/>
              </a:lnSpc>
              <a:buClr>
                <a:schemeClr val="tx1"/>
              </a:buClr>
            </a:pPr>
            <a:r>
              <a:rPr lang="en-US" sz="2200" smtClean="0"/>
              <a:t>Penagihan dengan tentative price</a:t>
            </a:r>
          </a:p>
          <a:p>
            <a:pPr eaLnBrk="1" hangingPunct="1">
              <a:lnSpc>
                <a:spcPct val="80000"/>
              </a:lnSpc>
              <a:buClr>
                <a:schemeClr val="tx1"/>
              </a:buClr>
            </a:pPr>
            <a:r>
              <a:rPr lang="en-US" sz="2200" smtClean="0"/>
              <a:t>Problem pajak saat invoice/retur invoice melewati waktu periode pajak</a:t>
            </a:r>
          </a:p>
          <a:p>
            <a:pPr eaLnBrk="1" hangingPunct="1">
              <a:lnSpc>
                <a:spcPct val="80000"/>
              </a:lnSpc>
              <a:buClr>
                <a:schemeClr val="tx1"/>
              </a:buClr>
            </a:pPr>
            <a:endParaRPr lang="en-US" sz="2200" smtClean="0"/>
          </a:p>
          <a:p>
            <a:pPr eaLnBrk="1" hangingPunct="1">
              <a:lnSpc>
                <a:spcPct val="80000"/>
              </a:lnSpc>
              <a:buClr>
                <a:schemeClr val="tx1"/>
              </a:buClr>
            </a:pPr>
            <a:endParaRPr lang="en-US" sz="2000" smtClean="0"/>
          </a:p>
        </p:txBody>
      </p:sp>
      <p:sp>
        <p:nvSpPr>
          <p:cNvPr id="20483" name="Rectangle 3"/>
          <p:cNvSpPr>
            <a:spLocks noGrp="1" noChangeArrowheads="1"/>
          </p:cNvSpPr>
          <p:nvPr>
            <p:ph type="title"/>
          </p:nvPr>
        </p:nvSpPr>
        <p:spPr/>
        <p:txBody>
          <a:bodyPr/>
          <a:lstStyle/>
          <a:p>
            <a:pPr eaLnBrk="1" hangingPunct="1"/>
            <a:r>
              <a:rPr lang="en-US" smtClean="0"/>
              <a:t>Real Condition</a:t>
            </a:r>
          </a:p>
        </p:txBody>
      </p:sp>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495300" y="457200"/>
            <a:ext cx="8915400" cy="990600"/>
          </a:xfrm>
        </p:spPr>
        <p:txBody>
          <a:bodyPr/>
          <a:lstStyle/>
          <a:p>
            <a:pPr eaLnBrk="1" hangingPunct="1"/>
            <a:r>
              <a:rPr lang="en-US" smtClean="0"/>
              <a:t>Real Condition</a:t>
            </a:r>
          </a:p>
        </p:txBody>
      </p:sp>
      <p:sp>
        <p:nvSpPr>
          <p:cNvPr id="21507" name="Rectangle 3"/>
          <p:cNvSpPr>
            <a:spLocks noGrp="1" noChangeArrowheads="1"/>
          </p:cNvSpPr>
          <p:nvPr>
            <p:ph type="body" idx="1"/>
          </p:nvPr>
        </p:nvSpPr>
        <p:spPr>
          <a:xfrm>
            <a:off x="495300" y="1676400"/>
            <a:ext cx="8915400" cy="4800600"/>
          </a:xfrm>
        </p:spPr>
        <p:txBody>
          <a:bodyPr/>
          <a:lstStyle/>
          <a:p>
            <a:pPr eaLnBrk="1" hangingPunct="1">
              <a:lnSpc>
                <a:spcPct val="80000"/>
              </a:lnSpc>
              <a:buClr>
                <a:schemeClr val="tx1"/>
              </a:buClr>
            </a:pPr>
            <a:r>
              <a:rPr lang="en-US" sz="2200" smtClean="0"/>
              <a:t>Posisi supplier lebih kuat, dan memaksakan waktu pembayaran</a:t>
            </a:r>
          </a:p>
          <a:p>
            <a:pPr eaLnBrk="1" hangingPunct="1">
              <a:lnSpc>
                <a:spcPct val="80000"/>
              </a:lnSpc>
              <a:buClr>
                <a:schemeClr val="tx1"/>
              </a:buClr>
            </a:pPr>
            <a:r>
              <a:rPr lang="en-US" sz="2200" smtClean="0"/>
              <a:t>Supplier merubah harga secara sepihak</a:t>
            </a:r>
          </a:p>
          <a:p>
            <a:pPr eaLnBrk="1" hangingPunct="1">
              <a:lnSpc>
                <a:spcPct val="80000"/>
              </a:lnSpc>
              <a:buClr>
                <a:schemeClr val="tx1"/>
              </a:buClr>
            </a:pPr>
            <a:r>
              <a:rPr lang="en-US" sz="2200" smtClean="0"/>
              <a:t>Pembayaran urgent, dokumen belum lengkap</a:t>
            </a:r>
          </a:p>
          <a:p>
            <a:pPr eaLnBrk="1" hangingPunct="1">
              <a:lnSpc>
                <a:spcPct val="80000"/>
              </a:lnSpc>
              <a:buClr>
                <a:schemeClr val="tx1"/>
              </a:buClr>
            </a:pPr>
            <a:r>
              <a:rPr lang="en-US" sz="2200" smtClean="0"/>
              <a:t>Nilai tagihan yang akan dibayar jauh meningkat dibanding biasanya</a:t>
            </a:r>
          </a:p>
          <a:p>
            <a:pPr eaLnBrk="1" hangingPunct="1">
              <a:lnSpc>
                <a:spcPct val="80000"/>
              </a:lnSpc>
              <a:buClr>
                <a:schemeClr val="tx1"/>
              </a:buClr>
            </a:pPr>
            <a:r>
              <a:rPr lang="en-US" sz="2200" smtClean="0"/>
              <a:t>Data tidak terintegrasi, pengecekan dokumen secara manual</a:t>
            </a:r>
          </a:p>
          <a:p>
            <a:pPr eaLnBrk="1" hangingPunct="1">
              <a:lnSpc>
                <a:spcPct val="80000"/>
              </a:lnSpc>
              <a:buClr>
                <a:schemeClr val="tx1"/>
              </a:buClr>
            </a:pPr>
            <a:r>
              <a:rPr lang="en-US" sz="2200" smtClean="0"/>
              <a:t>Banyaknya pembelian expense, tidak menggunakan master data</a:t>
            </a:r>
          </a:p>
          <a:p>
            <a:pPr eaLnBrk="1" hangingPunct="1">
              <a:lnSpc>
                <a:spcPct val="80000"/>
              </a:lnSpc>
              <a:buClr>
                <a:schemeClr val="tx1"/>
              </a:buClr>
            </a:pPr>
            <a:r>
              <a:rPr lang="en-US" sz="2200" smtClean="0"/>
              <a:t>Kesalahan rekening, karena supplier mengganti rekening tanpa pemberitahuan</a:t>
            </a:r>
          </a:p>
          <a:p>
            <a:pPr eaLnBrk="1" hangingPunct="1">
              <a:lnSpc>
                <a:spcPct val="80000"/>
              </a:lnSpc>
              <a:buClr>
                <a:schemeClr val="tx1"/>
              </a:buClr>
            </a:pPr>
            <a:r>
              <a:rPr lang="en-US" sz="2200" smtClean="0"/>
              <a:t>Banyak supplier minta advanced payment, dana tidak mencukupi</a:t>
            </a:r>
          </a:p>
          <a:p>
            <a:pPr eaLnBrk="1" hangingPunct="1">
              <a:lnSpc>
                <a:spcPct val="80000"/>
              </a:lnSpc>
              <a:buClr>
                <a:schemeClr val="tx1"/>
              </a:buClr>
            </a:pPr>
            <a:r>
              <a:rPr lang="en-US" sz="2200" smtClean="0"/>
              <a:t>Dana tidak mencukupi untuk membayar L/C</a:t>
            </a:r>
          </a:p>
          <a:p>
            <a:pPr eaLnBrk="1" hangingPunct="1">
              <a:lnSpc>
                <a:spcPct val="80000"/>
              </a:lnSpc>
              <a:buClr>
                <a:schemeClr val="tx1"/>
              </a:buClr>
              <a:buFont typeface="Wingdings" pitchFamily="2" charset="2"/>
              <a:buNone/>
            </a:pPr>
            <a:endParaRPr lang="en-US" sz="2200" smtClean="0"/>
          </a:p>
        </p:txBody>
      </p:sp>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Line 2"/>
          <p:cNvSpPr>
            <a:spLocks noChangeShapeType="1"/>
          </p:cNvSpPr>
          <p:nvPr/>
        </p:nvSpPr>
        <p:spPr bwMode="auto">
          <a:xfrm>
            <a:off x="330200" y="2362200"/>
            <a:ext cx="9245600" cy="0"/>
          </a:xfrm>
          <a:prstGeom prst="line">
            <a:avLst/>
          </a:prstGeom>
          <a:noFill/>
          <a:ln w="57150">
            <a:solidFill>
              <a:schemeClr val="tx1"/>
            </a:solidFill>
            <a:prstDash val="sysDot"/>
            <a:round/>
            <a:headEnd/>
            <a:tailEnd type="triangle" w="med" len="med"/>
          </a:ln>
        </p:spPr>
        <p:txBody>
          <a:bodyPr/>
          <a:lstStyle/>
          <a:p>
            <a:endParaRPr lang="en-US"/>
          </a:p>
        </p:txBody>
      </p:sp>
      <p:sp>
        <p:nvSpPr>
          <p:cNvPr id="22531" name="Text Box 3"/>
          <p:cNvSpPr txBox="1">
            <a:spLocks noChangeArrowheads="1"/>
          </p:cNvSpPr>
          <p:nvPr/>
        </p:nvSpPr>
        <p:spPr bwMode="auto">
          <a:xfrm>
            <a:off x="230188" y="1936750"/>
            <a:ext cx="334962" cy="366713"/>
          </a:xfrm>
          <a:prstGeom prst="rect">
            <a:avLst/>
          </a:prstGeom>
          <a:noFill/>
          <a:ln w="9525">
            <a:noFill/>
            <a:miter lim="800000"/>
            <a:headEnd/>
            <a:tailEnd/>
          </a:ln>
        </p:spPr>
        <p:txBody>
          <a:bodyPr wrap="none">
            <a:spAutoFit/>
          </a:bodyPr>
          <a:lstStyle/>
          <a:p>
            <a:r>
              <a:rPr lang="en-US">
                <a:latin typeface="Tahoma" pitchFamily="34" charset="0"/>
              </a:rPr>
              <a:t>1</a:t>
            </a:r>
          </a:p>
        </p:txBody>
      </p:sp>
      <p:sp>
        <p:nvSpPr>
          <p:cNvPr id="22532" name="Text Box 4"/>
          <p:cNvSpPr txBox="1">
            <a:spLocks noChangeArrowheads="1"/>
          </p:cNvSpPr>
          <p:nvPr/>
        </p:nvSpPr>
        <p:spPr bwMode="auto">
          <a:xfrm>
            <a:off x="312738" y="2393950"/>
            <a:ext cx="963612" cy="915988"/>
          </a:xfrm>
          <a:prstGeom prst="rect">
            <a:avLst/>
          </a:prstGeom>
          <a:noFill/>
          <a:ln w="9525">
            <a:noFill/>
            <a:miter lim="800000"/>
            <a:headEnd/>
            <a:tailEnd/>
          </a:ln>
        </p:spPr>
        <p:txBody>
          <a:bodyPr wrap="none">
            <a:spAutoFit/>
          </a:bodyPr>
          <a:lstStyle/>
          <a:p>
            <a:r>
              <a:rPr lang="en-US">
                <a:latin typeface="Tahoma" pitchFamily="34" charset="0"/>
              </a:rPr>
              <a:t>W/h</a:t>
            </a:r>
          </a:p>
          <a:p>
            <a:r>
              <a:rPr lang="en-US">
                <a:latin typeface="Tahoma" pitchFamily="34" charset="0"/>
              </a:rPr>
              <a:t>terima</a:t>
            </a:r>
          </a:p>
          <a:p>
            <a:r>
              <a:rPr lang="en-US">
                <a:latin typeface="Tahoma" pitchFamily="34" charset="0"/>
              </a:rPr>
              <a:t>barang</a:t>
            </a:r>
          </a:p>
        </p:txBody>
      </p:sp>
      <p:sp>
        <p:nvSpPr>
          <p:cNvPr id="22533" name="Text Box 5"/>
          <p:cNvSpPr txBox="1">
            <a:spLocks noChangeArrowheads="1"/>
          </p:cNvSpPr>
          <p:nvPr/>
        </p:nvSpPr>
        <p:spPr bwMode="auto">
          <a:xfrm>
            <a:off x="1651000" y="1981200"/>
            <a:ext cx="334963" cy="366713"/>
          </a:xfrm>
          <a:prstGeom prst="rect">
            <a:avLst/>
          </a:prstGeom>
          <a:noFill/>
          <a:ln w="9525">
            <a:noFill/>
            <a:miter lim="800000"/>
            <a:headEnd/>
            <a:tailEnd/>
          </a:ln>
        </p:spPr>
        <p:txBody>
          <a:bodyPr wrap="none">
            <a:spAutoFit/>
          </a:bodyPr>
          <a:lstStyle/>
          <a:p>
            <a:r>
              <a:rPr lang="en-US">
                <a:latin typeface="Tahoma" pitchFamily="34" charset="0"/>
              </a:rPr>
              <a:t>5</a:t>
            </a:r>
          </a:p>
        </p:txBody>
      </p:sp>
      <p:sp>
        <p:nvSpPr>
          <p:cNvPr id="22534" name="Text Box 6"/>
          <p:cNvSpPr txBox="1">
            <a:spLocks noChangeArrowheads="1"/>
          </p:cNvSpPr>
          <p:nvPr/>
        </p:nvSpPr>
        <p:spPr bwMode="auto">
          <a:xfrm>
            <a:off x="1733550" y="2438400"/>
            <a:ext cx="1092200" cy="641350"/>
          </a:xfrm>
          <a:prstGeom prst="rect">
            <a:avLst/>
          </a:prstGeom>
          <a:noFill/>
          <a:ln w="9525">
            <a:noFill/>
            <a:miter lim="800000"/>
            <a:headEnd/>
            <a:tailEnd/>
          </a:ln>
        </p:spPr>
        <p:txBody>
          <a:bodyPr wrap="none">
            <a:spAutoFit/>
          </a:bodyPr>
          <a:lstStyle/>
          <a:p>
            <a:r>
              <a:rPr lang="en-US">
                <a:latin typeface="Tahoma" pitchFamily="34" charset="0"/>
              </a:rPr>
              <a:t>Invoice</a:t>
            </a:r>
          </a:p>
          <a:p>
            <a:r>
              <a:rPr lang="en-US">
                <a:latin typeface="Tahoma" pitchFamily="34" charset="0"/>
              </a:rPr>
              <a:t>diterima</a:t>
            </a:r>
          </a:p>
        </p:txBody>
      </p:sp>
      <p:sp>
        <p:nvSpPr>
          <p:cNvPr id="22535" name="Text Box 7"/>
          <p:cNvSpPr txBox="1">
            <a:spLocks noChangeArrowheads="1"/>
          </p:cNvSpPr>
          <p:nvPr/>
        </p:nvSpPr>
        <p:spPr bwMode="auto">
          <a:xfrm>
            <a:off x="3549650" y="1981200"/>
            <a:ext cx="471488" cy="366713"/>
          </a:xfrm>
          <a:prstGeom prst="rect">
            <a:avLst/>
          </a:prstGeom>
          <a:noFill/>
          <a:ln w="9525">
            <a:noFill/>
            <a:miter lim="800000"/>
            <a:headEnd/>
            <a:tailEnd/>
          </a:ln>
        </p:spPr>
        <p:txBody>
          <a:bodyPr wrap="none">
            <a:spAutoFit/>
          </a:bodyPr>
          <a:lstStyle/>
          <a:p>
            <a:r>
              <a:rPr lang="en-US">
                <a:latin typeface="Tahoma" pitchFamily="34" charset="0"/>
              </a:rPr>
              <a:t>30</a:t>
            </a:r>
          </a:p>
        </p:txBody>
      </p:sp>
      <p:sp>
        <p:nvSpPr>
          <p:cNvPr id="22536" name="Text Box 8"/>
          <p:cNvSpPr txBox="1">
            <a:spLocks noChangeArrowheads="1"/>
          </p:cNvSpPr>
          <p:nvPr/>
        </p:nvSpPr>
        <p:spPr bwMode="auto">
          <a:xfrm>
            <a:off x="3549650" y="2514600"/>
            <a:ext cx="1163638" cy="1190625"/>
          </a:xfrm>
          <a:prstGeom prst="rect">
            <a:avLst/>
          </a:prstGeom>
          <a:noFill/>
          <a:ln w="9525">
            <a:noFill/>
            <a:miter lim="800000"/>
            <a:headEnd/>
            <a:tailEnd/>
          </a:ln>
        </p:spPr>
        <p:txBody>
          <a:bodyPr wrap="none">
            <a:spAutoFit/>
          </a:bodyPr>
          <a:lstStyle/>
          <a:p>
            <a:r>
              <a:rPr lang="en-US">
                <a:latin typeface="Tahoma" pitchFamily="34" charset="0"/>
              </a:rPr>
              <a:t>Jatuh</a:t>
            </a:r>
          </a:p>
          <a:p>
            <a:r>
              <a:rPr lang="en-US">
                <a:latin typeface="Tahoma" pitchFamily="34" charset="0"/>
              </a:rPr>
              <a:t>Tempo</a:t>
            </a:r>
          </a:p>
          <a:p>
            <a:r>
              <a:rPr lang="en-US">
                <a:latin typeface="Tahoma" pitchFamily="34" charset="0"/>
              </a:rPr>
              <a:t>Berdasar</a:t>
            </a:r>
          </a:p>
          <a:p>
            <a:r>
              <a:rPr lang="en-US">
                <a:latin typeface="Tahoma" pitchFamily="34" charset="0"/>
              </a:rPr>
              <a:t>delivery</a:t>
            </a:r>
          </a:p>
        </p:txBody>
      </p:sp>
      <p:sp>
        <p:nvSpPr>
          <p:cNvPr id="22537" name="Text Box 9"/>
          <p:cNvSpPr txBox="1">
            <a:spLocks noChangeArrowheads="1"/>
          </p:cNvSpPr>
          <p:nvPr/>
        </p:nvSpPr>
        <p:spPr bwMode="auto">
          <a:xfrm>
            <a:off x="4953000" y="1981200"/>
            <a:ext cx="334963" cy="366713"/>
          </a:xfrm>
          <a:prstGeom prst="rect">
            <a:avLst/>
          </a:prstGeom>
          <a:noFill/>
          <a:ln w="9525">
            <a:noFill/>
            <a:miter lim="800000"/>
            <a:headEnd/>
            <a:tailEnd/>
          </a:ln>
        </p:spPr>
        <p:txBody>
          <a:bodyPr wrap="none">
            <a:spAutoFit/>
          </a:bodyPr>
          <a:lstStyle/>
          <a:p>
            <a:r>
              <a:rPr lang="en-US">
                <a:latin typeface="Tahoma" pitchFamily="34" charset="0"/>
              </a:rPr>
              <a:t>5</a:t>
            </a:r>
          </a:p>
        </p:txBody>
      </p:sp>
      <p:sp>
        <p:nvSpPr>
          <p:cNvPr id="22538" name="Text Box 10"/>
          <p:cNvSpPr txBox="1">
            <a:spLocks noChangeArrowheads="1"/>
          </p:cNvSpPr>
          <p:nvPr/>
        </p:nvSpPr>
        <p:spPr bwMode="auto">
          <a:xfrm>
            <a:off x="5035550" y="2514600"/>
            <a:ext cx="1163638" cy="1465263"/>
          </a:xfrm>
          <a:prstGeom prst="rect">
            <a:avLst/>
          </a:prstGeom>
          <a:noFill/>
          <a:ln w="9525">
            <a:noFill/>
            <a:miter lim="800000"/>
            <a:headEnd/>
            <a:tailEnd/>
          </a:ln>
        </p:spPr>
        <p:txBody>
          <a:bodyPr wrap="none">
            <a:spAutoFit/>
          </a:bodyPr>
          <a:lstStyle/>
          <a:p>
            <a:r>
              <a:rPr lang="en-US">
                <a:latin typeface="Tahoma" pitchFamily="34" charset="0"/>
              </a:rPr>
              <a:t>Jatuh</a:t>
            </a:r>
          </a:p>
          <a:p>
            <a:r>
              <a:rPr lang="en-US">
                <a:latin typeface="Tahoma" pitchFamily="34" charset="0"/>
              </a:rPr>
              <a:t>Tempo</a:t>
            </a:r>
          </a:p>
          <a:p>
            <a:r>
              <a:rPr lang="en-US">
                <a:latin typeface="Tahoma" pitchFamily="34" charset="0"/>
              </a:rPr>
              <a:t>Berdasar</a:t>
            </a:r>
          </a:p>
          <a:p>
            <a:r>
              <a:rPr lang="en-US">
                <a:latin typeface="Tahoma" pitchFamily="34" charset="0"/>
              </a:rPr>
              <a:t>Terima</a:t>
            </a:r>
          </a:p>
          <a:p>
            <a:r>
              <a:rPr lang="en-US">
                <a:latin typeface="Tahoma" pitchFamily="34" charset="0"/>
              </a:rPr>
              <a:t>invoice</a:t>
            </a:r>
          </a:p>
        </p:txBody>
      </p:sp>
      <p:sp>
        <p:nvSpPr>
          <p:cNvPr id="22539" name="Line 11"/>
          <p:cNvSpPr>
            <a:spLocks noChangeShapeType="1"/>
          </p:cNvSpPr>
          <p:nvPr/>
        </p:nvSpPr>
        <p:spPr bwMode="auto">
          <a:xfrm>
            <a:off x="412750" y="1752600"/>
            <a:ext cx="3467100" cy="0"/>
          </a:xfrm>
          <a:prstGeom prst="line">
            <a:avLst/>
          </a:prstGeom>
          <a:noFill/>
          <a:ln w="9525">
            <a:solidFill>
              <a:schemeClr val="tx1"/>
            </a:solidFill>
            <a:round/>
            <a:headEnd/>
            <a:tailEnd/>
          </a:ln>
        </p:spPr>
        <p:txBody>
          <a:bodyPr/>
          <a:lstStyle/>
          <a:p>
            <a:endParaRPr lang="en-US"/>
          </a:p>
        </p:txBody>
      </p:sp>
      <p:sp>
        <p:nvSpPr>
          <p:cNvPr id="22540" name="Text Box 12"/>
          <p:cNvSpPr txBox="1">
            <a:spLocks noChangeArrowheads="1"/>
          </p:cNvSpPr>
          <p:nvPr/>
        </p:nvSpPr>
        <p:spPr bwMode="auto">
          <a:xfrm>
            <a:off x="1403350" y="1295400"/>
            <a:ext cx="687388" cy="366713"/>
          </a:xfrm>
          <a:prstGeom prst="rect">
            <a:avLst/>
          </a:prstGeom>
          <a:noFill/>
          <a:ln w="9525">
            <a:noFill/>
            <a:miter lim="800000"/>
            <a:headEnd/>
            <a:tailEnd/>
          </a:ln>
        </p:spPr>
        <p:txBody>
          <a:bodyPr wrap="none">
            <a:spAutoFit/>
          </a:bodyPr>
          <a:lstStyle/>
          <a:p>
            <a:r>
              <a:rPr lang="en-US">
                <a:latin typeface="Tahoma" pitchFamily="34" charset="0"/>
              </a:rPr>
              <a:t>April</a:t>
            </a:r>
          </a:p>
        </p:txBody>
      </p:sp>
      <p:sp>
        <p:nvSpPr>
          <p:cNvPr id="22541" name="Text Box 13"/>
          <p:cNvSpPr txBox="1">
            <a:spLocks noChangeArrowheads="1"/>
          </p:cNvSpPr>
          <p:nvPr/>
        </p:nvSpPr>
        <p:spPr bwMode="auto">
          <a:xfrm>
            <a:off x="6438900" y="1981200"/>
            <a:ext cx="471488" cy="366713"/>
          </a:xfrm>
          <a:prstGeom prst="rect">
            <a:avLst/>
          </a:prstGeom>
          <a:noFill/>
          <a:ln w="9525">
            <a:noFill/>
            <a:miter lim="800000"/>
            <a:headEnd/>
            <a:tailEnd/>
          </a:ln>
        </p:spPr>
        <p:txBody>
          <a:bodyPr wrap="none">
            <a:spAutoFit/>
          </a:bodyPr>
          <a:lstStyle/>
          <a:p>
            <a:r>
              <a:rPr lang="en-US">
                <a:latin typeface="Tahoma" pitchFamily="34" charset="0"/>
              </a:rPr>
              <a:t>11</a:t>
            </a:r>
          </a:p>
        </p:txBody>
      </p:sp>
      <p:sp>
        <p:nvSpPr>
          <p:cNvPr id="22542" name="Text Box 14"/>
          <p:cNvSpPr txBox="1">
            <a:spLocks noChangeArrowheads="1"/>
          </p:cNvSpPr>
          <p:nvPr/>
        </p:nvSpPr>
        <p:spPr bwMode="auto">
          <a:xfrm>
            <a:off x="6356350" y="2514600"/>
            <a:ext cx="1651000" cy="1681163"/>
          </a:xfrm>
          <a:prstGeom prst="rect">
            <a:avLst/>
          </a:prstGeom>
          <a:noFill/>
          <a:ln w="9525">
            <a:noFill/>
            <a:miter lim="800000"/>
            <a:headEnd/>
            <a:tailEnd/>
          </a:ln>
        </p:spPr>
        <p:txBody>
          <a:bodyPr>
            <a:spAutoFit/>
          </a:bodyPr>
          <a:lstStyle/>
          <a:p>
            <a:pPr>
              <a:spcBef>
                <a:spcPct val="50000"/>
              </a:spcBef>
            </a:pPr>
            <a:r>
              <a:rPr lang="en-US" sz="1600">
                <a:latin typeface="Tahoma" pitchFamily="34" charset="0"/>
              </a:rPr>
              <a:t>Pembayaran di minggu kedua</a:t>
            </a:r>
          </a:p>
          <a:p>
            <a:pPr>
              <a:spcBef>
                <a:spcPct val="50000"/>
              </a:spcBef>
            </a:pPr>
            <a:r>
              <a:rPr lang="en-US" sz="1600">
                <a:latin typeface="Tahoma" pitchFamily="34" charset="0"/>
              </a:rPr>
              <a:t>(sebualan 2 x pembayaran : minggu kedua dan kelima</a:t>
            </a:r>
          </a:p>
        </p:txBody>
      </p:sp>
      <p:sp>
        <p:nvSpPr>
          <p:cNvPr id="22543" name="Line 15"/>
          <p:cNvSpPr>
            <a:spLocks noChangeShapeType="1"/>
          </p:cNvSpPr>
          <p:nvPr/>
        </p:nvSpPr>
        <p:spPr bwMode="auto">
          <a:xfrm>
            <a:off x="495300" y="4648200"/>
            <a:ext cx="6356350" cy="0"/>
          </a:xfrm>
          <a:prstGeom prst="line">
            <a:avLst/>
          </a:prstGeom>
          <a:noFill/>
          <a:ln w="28575">
            <a:solidFill>
              <a:srgbClr val="000000"/>
            </a:solidFill>
            <a:round/>
            <a:headEnd/>
            <a:tailEnd type="triangle" w="med" len="med"/>
          </a:ln>
        </p:spPr>
        <p:txBody>
          <a:bodyPr/>
          <a:lstStyle/>
          <a:p>
            <a:endParaRPr lang="en-US"/>
          </a:p>
        </p:txBody>
      </p:sp>
      <p:sp>
        <p:nvSpPr>
          <p:cNvPr id="22544" name="Line 16"/>
          <p:cNvSpPr>
            <a:spLocks noChangeShapeType="1"/>
          </p:cNvSpPr>
          <p:nvPr/>
        </p:nvSpPr>
        <p:spPr bwMode="auto">
          <a:xfrm>
            <a:off x="495300" y="5410200"/>
            <a:ext cx="3797300" cy="0"/>
          </a:xfrm>
          <a:prstGeom prst="line">
            <a:avLst/>
          </a:prstGeom>
          <a:noFill/>
          <a:ln w="28575">
            <a:solidFill>
              <a:srgbClr val="080808"/>
            </a:solidFill>
            <a:round/>
            <a:headEnd/>
            <a:tailEnd type="triangle" w="med" len="med"/>
          </a:ln>
        </p:spPr>
        <p:txBody>
          <a:bodyPr/>
          <a:lstStyle/>
          <a:p>
            <a:endParaRPr lang="en-US"/>
          </a:p>
        </p:txBody>
      </p:sp>
      <p:sp>
        <p:nvSpPr>
          <p:cNvPr id="22545" name="Line 17"/>
          <p:cNvSpPr>
            <a:spLocks noChangeShapeType="1"/>
          </p:cNvSpPr>
          <p:nvPr/>
        </p:nvSpPr>
        <p:spPr bwMode="auto">
          <a:xfrm>
            <a:off x="495300" y="6096000"/>
            <a:ext cx="4870450" cy="0"/>
          </a:xfrm>
          <a:prstGeom prst="line">
            <a:avLst/>
          </a:prstGeom>
          <a:noFill/>
          <a:ln w="28575">
            <a:solidFill>
              <a:srgbClr val="080808"/>
            </a:solidFill>
            <a:round/>
            <a:headEnd/>
            <a:tailEnd type="triangle" w="med" len="med"/>
          </a:ln>
        </p:spPr>
        <p:txBody>
          <a:bodyPr/>
          <a:lstStyle/>
          <a:p>
            <a:endParaRPr lang="en-US"/>
          </a:p>
        </p:txBody>
      </p:sp>
      <p:sp>
        <p:nvSpPr>
          <p:cNvPr id="22546" name="Line 18"/>
          <p:cNvSpPr>
            <a:spLocks noChangeShapeType="1"/>
          </p:cNvSpPr>
          <p:nvPr/>
        </p:nvSpPr>
        <p:spPr bwMode="auto">
          <a:xfrm>
            <a:off x="4210050" y="1752600"/>
            <a:ext cx="4787900" cy="0"/>
          </a:xfrm>
          <a:prstGeom prst="line">
            <a:avLst/>
          </a:prstGeom>
          <a:noFill/>
          <a:ln w="9525">
            <a:solidFill>
              <a:schemeClr val="tx1"/>
            </a:solidFill>
            <a:round/>
            <a:headEnd/>
            <a:tailEnd/>
          </a:ln>
        </p:spPr>
        <p:txBody>
          <a:bodyPr/>
          <a:lstStyle/>
          <a:p>
            <a:endParaRPr lang="en-US"/>
          </a:p>
        </p:txBody>
      </p:sp>
      <p:sp>
        <p:nvSpPr>
          <p:cNvPr id="22547" name="Text Box 19"/>
          <p:cNvSpPr txBox="1">
            <a:spLocks noChangeArrowheads="1"/>
          </p:cNvSpPr>
          <p:nvPr/>
        </p:nvSpPr>
        <p:spPr bwMode="auto">
          <a:xfrm>
            <a:off x="6173788" y="1327150"/>
            <a:ext cx="577850" cy="366713"/>
          </a:xfrm>
          <a:prstGeom prst="rect">
            <a:avLst/>
          </a:prstGeom>
          <a:noFill/>
          <a:ln w="9525">
            <a:noFill/>
            <a:miter lim="800000"/>
            <a:headEnd/>
            <a:tailEnd/>
          </a:ln>
        </p:spPr>
        <p:txBody>
          <a:bodyPr wrap="none">
            <a:spAutoFit/>
          </a:bodyPr>
          <a:lstStyle/>
          <a:p>
            <a:r>
              <a:rPr lang="en-US">
                <a:latin typeface="Tahoma" pitchFamily="34" charset="0"/>
              </a:rPr>
              <a:t>Mei</a:t>
            </a:r>
          </a:p>
        </p:txBody>
      </p:sp>
      <p:sp>
        <p:nvSpPr>
          <p:cNvPr id="22548" name="Text Box 20"/>
          <p:cNvSpPr txBox="1">
            <a:spLocks noChangeArrowheads="1"/>
          </p:cNvSpPr>
          <p:nvPr/>
        </p:nvSpPr>
        <p:spPr bwMode="auto">
          <a:xfrm>
            <a:off x="495300" y="4241800"/>
            <a:ext cx="6413500" cy="304800"/>
          </a:xfrm>
          <a:prstGeom prst="rect">
            <a:avLst/>
          </a:prstGeom>
          <a:noFill/>
          <a:ln w="9525">
            <a:noFill/>
            <a:miter lim="800000"/>
            <a:headEnd/>
            <a:tailEnd/>
          </a:ln>
        </p:spPr>
        <p:txBody>
          <a:bodyPr wrap="none">
            <a:spAutoFit/>
          </a:bodyPr>
          <a:lstStyle/>
          <a:p>
            <a:r>
              <a:rPr lang="en-US" sz="1400">
                <a:solidFill>
                  <a:srgbClr val="000000"/>
                </a:solidFill>
                <a:latin typeface="Tahoma" pitchFamily="34" charset="0"/>
              </a:rPr>
              <a:t>Real TOP 41 hari (akan semakin lama jika penyerahan invoice terlambat)</a:t>
            </a:r>
          </a:p>
        </p:txBody>
      </p:sp>
      <p:sp>
        <p:nvSpPr>
          <p:cNvPr id="22549" name="Text Box 21"/>
          <p:cNvSpPr txBox="1">
            <a:spLocks noChangeArrowheads="1"/>
          </p:cNvSpPr>
          <p:nvPr/>
        </p:nvSpPr>
        <p:spPr bwMode="auto">
          <a:xfrm>
            <a:off x="495300" y="5029200"/>
            <a:ext cx="3552825" cy="366713"/>
          </a:xfrm>
          <a:prstGeom prst="rect">
            <a:avLst/>
          </a:prstGeom>
          <a:noFill/>
          <a:ln w="9525">
            <a:noFill/>
            <a:miter lim="800000"/>
            <a:headEnd/>
            <a:tailEnd/>
          </a:ln>
        </p:spPr>
        <p:txBody>
          <a:bodyPr wrap="none">
            <a:spAutoFit/>
          </a:bodyPr>
          <a:lstStyle/>
          <a:p>
            <a:r>
              <a:rPr lang="en-US">
                <a:latin typeface="Tahoma" pitchFamily="34" charset="0"/>
              </a:rPr>
              <a:t>TOP berdasarkan delivery 30 hari</a:t>
            </a:r>
          </a:p>
        </p:txBody>
      </p:sp>
      <p:sp>
        <p:nvSpPr>
          <p:cNvPr id="22550" name="Text Box 22"/>
          <p:cNvSpPr txBox="1">
            <a:spLocks noChangeArrowheads="1"/>
          </p:cNvSpPr>
          <p:nvPr/>
        </p:nvSpPr>
        <p:spPr bwMode="auto">
          <a:xfrm>
            <a:off x="495300" y="5638800"/>
            <a:ext cx="4179888" cy="366713"/>
          </a:xfrm>
          <a:prstGeom prst="rect">
            <a:avLst/>
          </a:prstGeom>
          <a:noFill/>
          <a:ln w="9525">
            <a:noFill/>
            <a:miter lim="800000"/>
            <a:headEnd/>
            <a:tailEnd/>
          </a:ln>
        </p:spPr>
        <p:txBody>
          <a:bodyPr wrap="none">
            <a:spAutoFit/>
          </a:bodyPr>
          <a:lstStyle/>
          <a:p>
            <a:r>
              <a:rPr lang="en-US">
                <a:latin typeface="Tahoma" pitchFamily="34" charset="0"/>
              </a:rPr>
              <a:t>TOP berdasarkan terima invoice 35 hari</a:t>
            </a:r>
          </a:p>
        </p:txBody>
      </p:sp>
      <p:sp>
        <p:nvSpPr>
          <p:cNvPr id="356375" name="Text Box 23"/>
          <p:cNvSpPr txBox="1">
            <a:spLocks noChangeArrowheads="1"/>
          </p:cNvSpPr>
          <p:nvPr/>
        </p:nvSpPr>
        <p:spPr bwMode="auto">
          <a:xfrm>
            <a:off x="477838" y="515938"/>
            <a:ext cx="2430462" cy="701675"/>
          </a:xfrm>
          <a:prstGeom prst="rect">
            <a:avLst/>
          </a:prstGeom>
          <a:noFill/>
          <a:ln w="9525">
            <a:noFill/>
            <a:miter lim="800000"/>
            <a:headEnd/>
            <a:tailEnd/>
          </a:ln>
          <a:effectLst/>
        </p:spPr>
        <p:txBody>
          <a:bodyPr wrap="none">
            <a:spAutoFit/>
          </a:bodyPr>
          <a:lstStyle/>
          <a:p>
            <a:pPr>
              <a:defRPr/>
            </a:pPr>
            <a:r>
              <a:rPr lang="en-US" sz="4000">
                <a:effectLst>
                  <a:outerShdw blurRad="38100" dist="38100" dir="2700000" algn="tl">
                    <a:srgbClr val="C0C0C0"/>
                  </a:outerShdw>
                </a:effectLst>
                <a:latin typeface="Tahoma" pitchFamily="34" charset="0"/>
              </a:rPr>
              <a:t>Real TOP</a:t>
            </a:r>
          </a:p>
        </p:txBody>
      </p:sp>
      <p:grpSp>
        <p:nvGrpSpPr>
          <p:cNvPr id="22552" name="Group 24"/>
          <p:cNvGrpSpPr>
            <a:grpSpLocks/>
          </p:cNvGrpSpPr>
          <p:nvPr/>
        </p:nvGrpSpPr>
        <p:grpSpPr bwMode="auto">
          <a:xfrm>
            <a:off x="6438900" y="4876800"/>
            <a:ext cx="2476500" cy="1600200"/>
            <a:chOff x="1824" y="1138"/>
            <a:chExt cx="989" cy="580"/>
          </a:xfrm>
        </p:grpSpPr>
        <p:sp>
          <p:nvSpPr>
            <p:cNvPr id="356377" name="Oval 25"/>
            <p:cNvSpPr>
              <a:spLocks noChangeArrowheads="1"/>
            </p:cNvSpPr>
            <p:nvPr/>
          </p:nvSpPr>
          <p:spPr bwMode="auto">
            <a:xfrm>
              <a:off x="1824" y="1138"/>
              <a:ext cx="989" cy="576"/>
            </a:xfrm>
            <a:prstGeom prst="ellipse">
              <a:avLst/>
            </a:prstGeom>
            <a:solidFill>
              <a:srgbClr val="A0ECFC"/>
            </a:solidFill>
            <a:ln w="12700">
              <a:noFill/>
              <a:round/>
              <a:headEnd/>
              <a:tailEnd/>
            </a:ln>
            <a:effectLst>
              <a:outerShdw dist="35921" dir="2700000" algn="ctr" rotWithShape="0">
                <a:srgbClr val="081D58"/>
              </a:outerShdw>
            </a:effectLst>
          </p:spPr>
          <p:txBody>
            <a:bodyPr wrap="none" anchor="ctr"/>
            <a:lstStyle/>
            <a:p>
              <a:pPr>
                <a:defRPr/>
              </a:pPr>
              <a:endParaRPr lang="en-US"/>
            </a:p>
          </p:txBody>
        </p:sp>
        <p:grpSp>
          <p:nvGrpSpPr>
            <p:cNvPr id="22555" name="Group 26"/>
            <p:cNvGrpSpPr>
              <a:grpSpLocks/>
            </p:cNvGrpSpPr>
            <p:nvPr/>
          </p:nvGrpSpPr>
          <p:grpSpPr bwMode="auto">
            <a:xfrm>
              <a:off x="2107" y="1195"/>
              <a:ext cx="324" cy="305"/>
              <a:chOff x="2107" y="1195"/>
              <a:chExt cx="324" cy="305"/>
            </a:xfrm>
          </p:grpSpPr>
          <p:grpSp>
            <p:nvGrpSpPr>
              <p:cNvPr id="22573" name="Group 27"/>
              <p:cNvGrpSpPr>
                <a:grpSpLocks/>
              </p:cNvGrpSpPr>
              <p:nvPr/>
            </p:nvGrpSpPr>
            <p:grpSpPr bwMode="auto">
              <a:xfrm>
                <a:off x="2205" y="1232"/>
                <a:ext cx="226" cy="268"/>
                <a:chOff x="2205" y="1232"/>
                <a:chExt cx="226" cy="268"/>
              </a:xfrm>
            </p:grpSpPr>
            <p:sp>
              <p:nvSpPr>
                <p:cNvPr id="22578" name="Freeform 28"/>
                <p:cNvSpPr>
                  <a:spLocks/>
                </p:cNvSpPr>
                <p:nvPr/>
              </p:nvSpPr>
              <p:spPr bwMode="auto">
                <a:xfrm>
                  <a:off x="2205" y="1232"/>
                  <a:ext cx="226" cy="268"/>
                </a:xfrm>
                <a:custGeom>
                  <a:avLst/>
                  <a:gdLst>
                    <a:gd name="T0" fmla="*/ 81 w 226"/>
                    <a:gd name="T1" fmla="*/ 146 h 268"/>
                    <a:gd name="T2" fmla="*/ 61 w 226"/>
                    <a:gd name="T3" fmla="*/ 152 h 268"/>
                    <a:gd name="T4" fmla="*/ 60 w 226"/>
                    <a:gd name="T5" fmla="*/ 160 h 268"/>
                    <a:gd name="T6" fmla="*/ 85 w 226"/>
                    <a:gd name="T7" fmla="*/ 155 h 268"/>
                    <a:gd name="T8" fmla="*/ 100 w 226"/>
                    <a:gd name="T9" fmla="*/ 154 h 268"/>
                    <a:gd name="T10" fmla="*/ 59 w 226"/>
                    <a:gd name="T11" fmla="*/ 194 h 268"/>
                    <a:gd name="T12" fmla="*/ 15 w 226"/>
                    <a:gd name="T13" fmla="*/ 214 h 268"/>
                    <a:gd name="T14" fmla="*/ 8 w 226"/>
                    <a:gd name="T15" fmla="*/ 243 h 268"/>
                    <a:gd name="T16" fmla="*/ 70 w 226"/>
                    <a:gd name="T17" fmla="*/ 253 h 268"/>
                    <a:gd name="T18" fmla="*/ 121 w 226"/>
                    <a:gd name="T19" fmla="*/ 259 h 268"/>
                    <a:gd name="T20" fmla="*/ 161 w 226"/>
                    <a:gd name="T21" fmla="*/ 245 h 268"/>
                    <a:gd name="T22" fmla="*/ 190 w 226"/>
                    <a:gd name="T23" fmla="*/ 209 h 268"/>
                    <a:gd name="T24" fmla="*/ 219 w 226"/>
                    <a:gd name="T25" fmla="*/ 194 h 268"/>
                    <a:gd name="T26" fmla="*/ 225 w 226"/>
                    <a:gd name="T27" fmla="*/ 176 h 268"/>
                    <a:gd name="T28" fmla="*/ 220 w 226"/>
                    <a:gd name="T29" fmla="*/ 160 h 268"/>
                    <a:gd name="T30" fmla="*/ 211 w 226"/>
                    <a:gd name="T31" fmla="*/ 151 h 268"/>
                    <a:gd name="T32" fmla="*/ 213 w 226"/>
                    <a:gd name="T33" fmla="*/ 142 h 268"/>
                    <a:gd name="T34" fmla="*/ 206 w 226"/>
                    <a:gd name="T35" fmla="*/ 135 h 268"/>
                    <a:gd name="T36" fmla="*/ 203 w 226"/>
                    <a:gd name="T37" fmla="*/ 122 h 268"/>
                    <a:gd name="T38" fmla="*/ 196 w 226"/>
                    <a:gd name="T39" fmla="*/ 112 h 268"/>
                    <a:gd name="T40" fmla="*/ 207 w 226"/>
                    <a:gd name="T41" fmla="*/ 105 h 268"/>
                    <a:gd name="T42" fmla="*/ 215 w 226"/>
                    <a:gd name="T43" fmla="*/ 98 h 268"/>
                    <a:gd name="T44" fmla="*/ 213 w 226"/>
                    <a:gd name="T45" fmla="*/ 89 h 268"/>
                    <a:gd name="T46" fmla="*/ 197 w 226"/>
                    <a:gd name="T47" fmla="*/ 76 h 268"/>
                    <a:gd name="T48" fmla="*/ 176 w 226"/>
                    <a:gd name="T49" fmla="*/ 64 h 268"/>
                    <a:gd name="T50" fmla="*/ 166 w 226"/>
                    <a:gd name="T51" fmla="*/ 62 h 268"/>
                    <a:gd name="T52" fmla="*/ 163 w 226"/>
                    <a:gd name="T53" fmla="*/ 52 h 268"/>
                    <a:gd name="T54" fmla="*/ 161 w 226"/>
                    <a:gd name="T55" fmla="*/ 43 h 268"/>
                    <a:gd name="T56" fmla="*/ 155 w 226"/>
                    <a:gd name="T57" fmla="*/ 36 h 268"/>
                    <a:gd name="T58" fmla="*/ 131 w 226"/>
                    <a:gd name="T59" fmla="*/ 14 h 268"/>
                    <a:gd name="T60" fmla="*/ 117 w 226"/>
                    <a:gd name="T61" fmla="*/ 0 h 268"/>
                    <a:gd name="T62" fmla="*/ 105 w 226"/>
                    <a:gd name="T63" fmla="*/ 23 h 268"/>
                    <a:gd name="T64" fmla="*/ 74 w 226"/>
                    <a:gd name="T65" fmla="*/ 34 h 268"/>
                    <a:gd name="T66" fmla="*/ 86 w 226"/>
                    <a:gd name="T67" fmla="*/ 53 h 268"/>
                    <a:gd name="T68" fmla="*/ 101 w 226"/>
                    <a:gd name="T69" fmla="*/ 78 h 268"/>
                    <a:gd name="T70" fmla="*/ 101 w 226"/>
                    <a:gd name="T71" fmla="*/ 94 h 268"/>
                    <a:gd name="T72" fmla="*/ 105 w 226"/>
                    <a:gd name="T73" fmla="*/ 117 h 268"/>
                    <a:gd name="T74" fmla="*/ 94 w 226"/>
                    <a:gd name="T75" fmla="*/ 142 h 268"/>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26"/>
                    <a:gd name="T115" fmla="*/ 0 h 268"/>
                    <a:gd name="T116" fmla="*/ 226 w 226"/>
                    <a:gd name="T117" fmla="*/ 268 h 268"/>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26" h="268">
                      <a:moveTo>
                        <a:pt x="94" y="142"/>
                      </a:moveTo>
                      <a:lnTo>
                        <a:pt x="81" y="146"/>
                      </a:lnTo>
                      <a:lnTo>
                        <a:pt x="68" y="150"/>
                      </a:lnTo>
                      <a:lnTo>
                        <a:pt x="61" y="152"/>
                      </a:lnTo>
                      <a:lnTo>
                        <a:pt x="57" y="156"/>
                      </a:lnTo>
                      <a:lnTo>
                        <a:pt x="60" y="160"/>
                      </a:lnTo>
                      <a:lnTo>
                        <a:pt x="69" y="155"/>
                      </a:lnTo>
                      <a:lnTo>
                        <a:pt x="85" y="155"/>
                      </a:lnTo>
                      <a:lnTo>
                        <a:pt x="93" y="155"/>
                      </a:lnTo>
                      <a:lnTo>
                        <a:pt x="100" y="154"/>
                      </a:lnTo>
                      <a:lnTo>
                        <a:pt x="62" y="178"/>
                      </a:lnTo>
                      <a:lnTo>
                        <a:pt x="59" y="194"/>
                      </a:lnTo>
                      <a:lnTo>
                        <a:pt x="22" y="199"/>
                      </a:lnTo>
                      <a:lnTo>
                        <a:pt x="15" y="214"/>
                      </a:lnTo>
                      <a:lnTo>
                        <a:pt x="8" y="226"/>
                      </a:lnTo>
                      <a:lnTo>
                        <a:pt x="8" y="243"/>
                      </a:lnTo>
                      <a:lnTo>
                        <a:pt x="0" y="250"/>
                      </a:lnTo>
                      <a:lnTo>
                        <a:pt x="70" y="253"/>
                      </a:lnTo>
                      <a:lnTo>
                        <a:pt x="98" y="255"/>
                      </a:lnTo>
                      <a:lnTo>
                        <a:pt x="121" y="259"/>
                      </a:lnTo>
                      <a:lnTo>
                        <a:pt x="157" y="267"/>
                      </a:lnTo>
                      <a:lnTo>
                        <a:pt x="161" y="245"/>
                      </a:lnTo>
                      <a:lnTo>
                        <a:pt x="166" y="218"/>
                      </a:lnTo>
                      <a:lnTo>
                        <a:pt x="190" y="209"/>
                      </a:lnTo>
                      <a:lnTo>
                        <a:pt x="212" y="199"/>
                      </a:lnTo>
                      <a:lnTo>
                        <a:pt x="219" y="194"/>
                      </a:lnTo>
                      <a:lnTo>
                        <a:pt x="225" y="185"/>
                      </a:lnTo>
                      <a:lnTo>
                        <a:pt x="225" y="176"/>
                      </a:lnTo>
                      <a:lnTo>
                        <a:pt x="223" y="166"/>
                      </a:lnTo>
                      <a:lnTo>
                        <a:pt x="220" y="160"/>
                      </a:lnTo>
                      <a:lnTo>
                        <a:pt x="213" y="156"/>
                      </a:lnTo>
                      <a:lnTo>
                        <a:pt x="211" y="151"/>
                      </a:lnTo>
                      <a:lnTo>
                        <a:pt x="211" y="145"/>
                      </a:lnTo>
                      <a:lnTo>
                        <a:pt x="213" y="142"/>
                      </a:lnTo>
                      <a:lnTo>
                        <a:pt x="211" y="136"/>
                      </a:lnTo>
                      <a:lnTo>
                        <a:pt x="206" y="135"/>
                      </a:lnTo>
                      <a:lnTo>
                        <a:pt x="207" y="126"/>
                      </a:lnTo>
                      <a:lnTo>
                        <a:pt x="203" y="122"/>
                      </a:lnTo>
                      <a:lnTo>
                        <a:pt x="198" y="117"/>
                      </a:lnTo>
                      <a:lnTo>
                        <a:pt x="196" y="112"/>
                      </a:lnTo>
                      <a:lnTo>
                        <a:pt x="200" y="107"/>
                      </a:lnTo>
                      <a:lnTo>
                        <a:pt x="207" y="105"/>
                      </a:lnTo>
                      <a:lnTo>
                        <a:pt x="212" y="101"/>
                      </a:lnTo>
                      <a:lnTo>
                        <a:pt x="215" y="98"/>
                      </a:lnTo>
                      <a:lnTo>
                        <a:pt x="215" y="93"/>
                      </a:lnTo>
                      <a:lnTo>
                        <a:pt x="213" y="89"/>
                      </a:lnTo>
                      <a:lnTo>
                        <a:pt x="207" y="84"/>
                      </a:lnTo>
                      <a:lnTo>
                        <a:pt x="197" y="76"/>
                      </a:lnTo>
                      <a:lnTo>
                        <a:pt x="186" y="69"/>
                      </a:lnTo>
                      <a:lnTo>
                        <a:pt x="176" y="64"/>
                      </a:lnTo>
                      <a:lnTo>
                        <a:pt x="170" y="62"/>
                      </a:lnTo>
                      <a:lnTo>
                        <a:pt x="166" y="62"/>
                      </a:lnTo>
                      <a:lnTo>
                        <a:pt x="164" y="58"/>
                      </a:lnTo>
                      <a:lnTo>
                        <a:pt x="163" y="52"/>
                      </a:lnTo>
                      <a:lnTo>
                        <a:pt x="162" y="48"/>
                      </a:lnTo>
                      <a:lnTo>
                        <a:pt x="161" y="43"/>
                      </a:lnTo>
                      <a:lnTo>
                        <a:pt x="158" y="40"/>
                      </a:lnTo>
                      <a:lnTo>
                        <a:pt x="155" y="36"/>
                      </a:lnTo>
                      <a:lnTo>
                        <a:pt x="151" y="34"/>
                      </a:lnTo>
                      <a:lnTo>
                        <a:pt x="131" y="14"/>
                      </a:lnTo>
                      <a:lnTo>
                        <a:pt x="122" y="6"/>
                      </a:lnTo>
                      <a:lnTo>
                        <a:pt x="117" y="0"/>
                      </a:lnTo>
                      <a:lnTo>
                        <a:pt x="114" y="13"/>
                      </a:lnTo>
                      <a:lnTo>
                        <a:pt x="105" y="23"/>
                      </a:lnTo>
                      <a:lnTo>
                        <a:pt x="94" y="33"/>
                      </a:lnTo>
                      <a:lnTo>
                        <a:pt x="74" y="34"/>
                      </a:lnTo>
                      <a:lnTo>
                        <a:pt x="67" y="42"/>
                      </a:lnTo>
                      <a:lnTo>
                        <a:pt x="86" y="53"/>
                      </a:lnTo>
                      <a:lnTo>
                        <a:pt x="99" y="72"/>
                      </a:lnTo>
                      <a:lnTo>
                        <a:pt x="101" y="78"/>
                      </a:lnTo>
                      <a:lnTo>
                        <a:pt x="102" y="85"/>
                      </a:lnTo>
                      <a:lnTo>
                        <a:pt x="101" y="94"/>
                      </a:lnTo>
                      <a:lnTo>
                        <a:pt x="101" y="110"/>
                      </a:lnTo>
                      <a:lnTo>
                        <a:pt x="105" y="117"/>
                      </a:lnTo>
                      <a:lnTo>
                        <a:pt x="104" y="130"/>
                      </a:lnTo>
                      <a:lnTo>
                        <a:pt x="94" y="142"/>
                      </a:lnTo>
                    </a:path>
                  </a:pathLst>
                </a:custGeom>
                <a:solidFill>
                  <a:srgbClr val="FFC080"/>
                </a:solidFill>
                <a:ln w="12700" cap="rnd">
                  <a:noFill/>
                  <a:round/>
                  <a:headEnd/>
                  <a:tailEnd/>
                </a:ln>
              </p:spPr>
              <p:txBody>
                <a:bodyPr/>
                <a:lstStyle/>
                <a:p>
                  <a:endParaRPr lang="en-US"/>
                </a:p>
              </p:txBody>
            </p:sp>
            <p:sp>
              <p:nvSpPr>
                <p:cNvPr id="22579" name="Freeform 29"/>
                <p:cNvSpPr>
                  <a:spLocks/>
                </p:cNvSpPr>
                <p:nvPr/>
              </p:nvSpPr>
              <p:spPr bwMode="auto">
                <a:xfrm>
                  <a:off x="2213" y="1244"/>
                  <a:ext cx="196" cy="251"/>
                </a:xfrm>
                <a:custGeom>
                  <a:avLst/>
                  <a:gdLst>
                    <a:gd name="T0" fmla="*/ 106 w 196"/>
                    <a:gd name="T1" fmla="*/ 0 h 251"/>
                    <a:gd name="T2" fmla="*/ 101 w 196"/>
                    <a:gd name="T3" fmla="*/ 16 h 251"/>
                    <a:gd name="T4" fmla="*/ 101 w 196"/>
                    <a:gd name="T5" fmla="*/ 21 h 251"/>
                    <a:gd name="T6" fmla="*/ 107 w 196"/>
                    <a:gd name="T7" fmla="*/ 25 h 251"/>
                    <a:gd name="T8" fmla="*/ 121 w 196"/>
                    <a:gd name="T9" fmla="*/ 24 h 251"/>
                    <a:gd name="T10" fmla="*/ 129 w 196"/>
                    <a:gd name="T11" fmla="*/ 27 h 251"/>
                    <a:gd name="T12" fmla="*/ 118 w 196"/>
                    <a:gd name="T13" fmla="*/ 37 h 251"/>
                    <a:gd name="T14" fmla="*/ 111 w 196"/>
                    <a:gd name="T15" fmla="*/ 44 h 251"/>
                    <a:gd name="T16" fmla="*/ 107 w 196"/>
                    <a:gd name="T17" fmla="*/ 52 h 251"/>
                    <a:gd name="T18" fmla="*/ 107 w 196"/>
                    <a:gd name="T19" fmla="*/ 59 h 251"/>
                    <a:gd name="T20" fmla="*/ 113 w 196"/>
                    <a:gd name="T21" fmla="*/ 69 h 251"/>
                    <a:gd name="T22" fmla="*/ 108 w 196"/>
                    <a:gd name="T23" fmla="*/ 81 h 251"/>
                    <a:gd name="T24" fmla="*/ 112 w 196"/>
                    <a:gd name="T25" fmla="*/ 100 h 251"/>
                    <a:gd name="T26" fmla="*/ 131 w 196"/>
                    <a:gd name="T27" fmla="*/ 84 h 251"/>
                    <a:gd name="T28" fmla="*/ 139 w 196"/>
                    <a:gd name="T29" fmla="*/ 73 h 251"/>
                    <a:gd name="T30" fmla="*/ 144 w 196"/>
                    <a:gd name="T31" fmla="*/ 52 h 251"/>
                    <a:gd name="T32" fmla="*/ 149 w 196"/>
                    <a:gd name="T33" fmla="*/ 54 h 251"/>
                    <a:gd name="T34" fmla="*/ 142 w 196"/>
                    <a:gd name="T35" fmla="*/ 72 h 251"/>
                    <a:gd name="T36" fmla="*/ 141 w 196"/>
                    <a:gd name="T37" fmla="*/ 81 h 251"/>
                    <a:gd name="T38" fmla="*/ 141 w 196"/>
                    <a:gd name="T39" fmla="*/ 88 h 251"/>
                    <a:gd name="T40" fmla="*/ 150 w 196"/>
                    <a:gd name="T41" fmla="*/ 85 h 251"/>
                    <a:gd name="T42" fmla="*/ 154 w 196"/>
                    <a:gd name="T43" fmla="*/ 85 h 251"/>
                    <a:gd name="T44" fmla="*/ 157 w 196"/>
                    <a:gd name="T45" fmla="*/ 84 h 251"/>
                    <a:gd name="T46" fmla="*/ 151 w 196"/>
                    <a:gd name="T47" fmla="*/ 90 h 251"/>
                    <a:gd name="T48" fmla="*/ 147 w 196"/>
                    <a:gd name="T49" fmla="*/ 92 h 251"/>
                    <a:gd name="T50" fmla="*/ 142 w 196"/>
                    <a:gd name="T51" fmla="*/ 94 h 251"/>
                    <a:gd name="T52" fmla="*/ 139 w 196"/>
                    <a:gd name="T53" fmla="*/ 105 h 251"/>
                    <a:gd name="T54" fmla="*/ 142 w 196"/>
                    <a:gd name="T55" fmla="*/ 112 h 251"/>
                    <a:gd name="T56" fmla="*/ 150 w 196"/>
                    <a:gd name="T57" fmla="*/ 115 h 251"/>
                    <a:gd name="T58" fmla="*/ 157 w 196"/>
                    <a:gd name="T59" fmla="*/ 113 h 251"/>
                    <a:gd name="T60" fmla="*/ 167 w 196"/>
                    <a:gd name="T61" fmla="*/ 109 h 251"/>
                    <a:gd name="T62" fmla="*/ 165 w 196"/>
                    <a:gd name="T63" fmla="*/ 113 h 251"/>
                    <a:gd name="T64" fmla="*/ 164 w 196"/>
                    <a:gd name="T65" fmla="*/ 119 h 251"/>
                    <a:gd name="T66" fmla="*/ 162 w 196"/>
                    <a:gd name="T67" fmla="*/ 125 h 251"/>
                    <a:gd name="T68" fmla="*/ 161 w 196"/>
                    <a:gd name="T69" fmla="*/ 131 h 251"/>
                    <a:gd name="T70" fmla="*/ 162 w 196"/>
                    <a:gd name="T71" fmla="*/ 146 h 251"/>
                    <a:gd name="T72" fmla="*/ 163 w 196"/>
                    <a:gd name="T73" fmla="*/ 156 h 251"/>
                    <a:gd name="T74" fmla="*/ 167 w 196"/>
                    <a:gd name="T75" fmla="*/ 163 h 251"/>
                    <a:gd name="T76" fmla="*/ 179 w 196"/>
                    <a:gd name="T77" fmla="*/ 176 h 251"/>
                    <a:gd name="T78" fmla="*/ 195 w 196"/>
                    <a:gd name="T79" fmla="*/ 187 h 251"/>
                    <a:gd name="T80" fmla="*/ 178 w 196"/>
                    <a:gd name="T81" fmla="*/ 195 h 251"/>
                    <a:gd name="T82" fmla="*/ 157 w 196"/>
                    <a:gd name="T83" fmla="*/ 203 h 251"/>
                    <a:gd name="T84" fmla="*/ 148 w 196"/>
                    <a:gd name="T85" fmla="*/ 250 h 251"/>
                    <a:gd name="T86" fmla="*/ 89 w 196"/>
                    <a:gd name="T87" fmla="*/ 241 h 251"/>
                    <a:gd name="T88" fmla="*/ 0 w 196"/>
                    <a:gd name="T89" fmla="*/ 235 h 251"/>
                    <a:gd name="T90" fmla="*/ 2 w 196"/>
                    <a:gd name="T91" fmla="*/ 194 h 251"/>
                    <a:gd name="T92" fmla="*/ 49 w 196"/>
                    <a:gd name="T93" fmla="*/ 106 h 251"/>
                    <a:gd name="T94" fmla="*/ 83 w 196"/>
                    <a:gd name="T95" fmla="*/ 107 h 251"/>
                    <a:gd name="T96" fmla="*/ 96 w 196"/>
                    <a:gd name="T97" fmla="*/ 115 h 251"/>
                    <a:gd name="T98" fmla="*/ 96 w 196"/>
                    <a:gd name="T99" fmla="*/ 103 h 251"/>
                    <a:gd name="T100" fmla="*/ 92 w 196"/>
                    <a:gd name="T101" fmla="*/ 95 h 251"/>
                    <a:gd name="T102" fmla="*/ 92 w 196"/>
                    <a:gd name="T103" fmla="*/ 82 h 251"/>
                    <a:gd name="T104" fmla="*/ 93 w 196"/>
                    <a:gd name="T105" fmla="*/ 73 h 251"/>
                    <a:gd name="T106" fmla="*/ 90 w 196"/>
                    <a:gd name="T107" fmla="*/ 54 h 251"/>
                    <a:gd name="T108" fmla="*/ 82 w 196"/>
                    <a:gd name="T109" fmla="*/ 45 h 251"/>
                    <a:gd name="T110" fmla="*/ 74 w 196"/>
                    <a:gd name="T111" fmla="*/ 36 h 251"/>
                    <a:gd name="T112" fmla="*/ 69 w 196"/>
                    <a:gd name="T113" fmla="*/ 34 h 251"/>
                    <a:gd name="T114" fmla="*/ 60 w 196"/>
                    <a:gd name="T115" fmla="*/ 28 h 251"/>
                    <a:gd name="T116" fmla="*/ 68 w 196"/>
                    <a:gd name="T117" fmla="*/ 22 h 251"/>
                    <a:gd name="T118" fmla="*/ 86 w 196"/>
                    <a:gd name="T119" fmla="*/ 22 h 251"/>
                    <a:gd name="T120" fmla="*/ 94 w 196"/>
                    <a:gd name="T121" fmla="*/ 13 h 251"/>
                    <a:gd name="T122" fmla="*/ 100 w 196"/>
                    <a:gd name="T123" fmla="*/ 9 h 251"/>
                    <a:gd name="T124" fmla="*/ 106 w 196"/>
                    <a:gd name="T125" fmla="*/ 0 h 251"/>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196"/>
                    <a:gd name="T190" fmla="*/ 0 h 251"/>
                    <a:gd name="T191" fmla="*/ 196 w 196"/>
                    <a:gd name="T192" fmla="*/ 251 h 251"/>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196" h="251">
                      <a:moveTo>
                        <a:pt x="106" y="0"/>
                      </a:moveTo>
                      <a:lnTo>
                        <a:pt x="101" y="16"/>
                      </a:lnTo>
                      <a:lnTo>
                        <a:pt x="101" y="21"/>
                      </a:lnTo>
                      <a:lnTo>
                        <a:pt x="107" y="25"/>
                      </a:lnTo>
                      <a:lnTo>
                        <a:pt x="121" y="24"/>
                      </a:lnTo>
                      <a:lnTo>
                        <a:pt x="129" y="27"/>
                      </a:lnTo>
                      <a:lnTo>
                        <a:pt x="118" y="37"/>
                      </a:lnTo>
                      <a:lnTo>
                        <a:pt x="111" y="44"/>
                      </a:lnTo>
                      <a:lnTo>
                        <a:pt x="107" y="52"/>
                      </a:lnTo>
                      <a:lnTo>
                        <a:pt x="107" y="59"/>
                      </a:lnTo>
                      <a:lnTo>
                        <a:pt x="113" y="69"/>
                      </a:lnTo>
                      <a:lnTo>
                        <a:pt x="108" y="81"/>
                      </a:lnTo>
                      <a:lnTo>
                        <a:pt x="112" y="100"/>
                      </a:lnTo>
                      <a:lnTo>
                        <a:pt x="131" y="84"/>
                      </a:lnTo>
                      <a:lnTo>
                        <a:pt x="139" y="73"/>
                      </a:lnTo>
                      <a:lnTo>
                        <a:pt x="144" y="52"/>
                      </a:lnTo>
                      <a:lnTo>
                        <a:pt x="149" y="54"/>
                      </a:lnTo>
                      <a:lnTo>
                        <a:pt x="142" y="72"/>
                      </a:lnTo>
                      <a:lnTo>
                        <a:pt x="141" y="81"/>
                      </a:lnTo>
                      <a:lnTo>
                        <a:pt x="141" y="88"/>
                      </a:lnTo>
                      <a:lnTo>
                        <a:pt x="150" y="85"/>
                      </a:lnTo>
                      <a:lnTo>
                        <a:pt x="154" y="85"/>
                      </a:lnTo>
                      <a:lnTo>
                        <a:pt x="157" y="84"/>
                      </a:lnTo>
                      <a:lnTo>
                        <a:pt x="151" y="90"/>
                      </a:lnTo>
                      <a:lnTo>
                        <a:pt x="147" y="92"/>
                      </a:lnTo>
                      <a:lnTo>
                        <a:pt x="142" y="94"/>
                      </a:lnTo>
                      <a:lnTo>
                        <a:pt x="139" y="105"/>
                      </a:lnTo>
                      <a:lnTo>
                        <a:pt x="142" y="112"/>
                      </a:lnTo>
                      <a:lnTo>
                        <a:pt x="150" y="115"/>
                      </a:lnTo>
                      <a:lnTo>
                        <a:pt x="157" y="113"/>
                      </a:lnTo>
                      <a:lnTo>
                        <a:pt x="167" y="109"/>
                      </a:lnTo>
                      <a:lnTo>
                        <a:pt x="165" y="113"/>
                      </a:lnTo>
                      <a:lnTo>
                        <a:pt x="164" y="119"/>
                      </a:lnTo>
                      <a:lnTo>
                        <a:pt x="162" y="125"/>
                      </a:lnTo>
                      <a:lnTo>
                        <a:pt x="161" y="131"/>
                      </a:lnTo>
                      <a:lnTo>
                        <a:pt x="162" y="146"/>
                      </a:lnTo>
                      <a:lnTo>
                        <a:pt x="163" y="156"/>
                      </a:lnTo>
                      <a:lnTo>
                        <a:pt x="167" y="163"/>
                      </a:lnTo>
                      <a:lnTo>
                        <a:pt x="179" y="176"/>
                      </a:lnTo>
                      <a:lnTo>
                        <a:pt x="195" y="187"/>
                      </a:lnTo>
                      <a:lnTo>
                        <a:pt x="178" y="195"/>
                      </a:lnTo>
                      <a:lnTo>
                        <a:pt x="157" y="203"/>
                      </a:lnTo>
                      <a:lnTo>
                        <a:pt x="148" y="250"/>
                      </a:lnTo>
                      <a:lnTo>
                        <a:pt x="89" y="241"/>
                      </a:lnTo>
                      <a:lnTo>
                        <a:pt x="0" y="235"/>
                      </a:lnTo>
                      <a:lnTo>
                        <a:pt x="2" y="194"/>
                      </a:lnTo>
                      <a:lnTo>
                        <a:pt x="49" y="106"/>
                      </a:lnTo>
                      <a:lnTo>
                        <a:pt x="83" y="107"/>
                      </a:lnTo>
                      <a:lnTo>
                        <a:pt x="96" y="115"/>
                      </a:lnTo>
                      <a:lnTo>
                        <a:pt x="96" y="103"/>
                      </a:lnTo>
                      <a:lnTo>
                        <a:pt x="92" y="95"/>
                      </a:lnTo>
                      <a:lnTo>
                        <a:pt x="92" y="82"/>
                      </a:lnTo>
                      <a:lnTo>
                        <a:pt x="93" y="73"/>
                      </a:lnTo>
                      <a:lnTo>
                        <a:pt x="90" y="54"/>
                      </a:lnTo>
                      <a:lnTo>
                        <a:pt x="82" y="45"/>
                      </a:lnTo>
                      <a:lnTo>
                        <a:pt x="74" y="36"/>
                      </a:lnTo>
                      <a:lnTo>
                        <a:pt x="69" y="34"/>
                      </a:lnTo>
                      <a:lnTo>
                        <a:pt x="60" y="28"/>
                      </a:lnTo>
                      <a:lnTo>
                        <a:pt x="68" y="22"/>
                      </a:lnTo>
                      <a:lnTo>
                        <a:pt x="86" y="22"/>
                      </a:lnTo>
                      <a:lnTo>
                        <a:pt x="94" y="13"/>
                      </a:lnTo>
                      <a:lnTo>
                        <a:pt x="100" y="9"/>
                      </a:lnTo>
                      <a:lnTo>
                        <a:pt x="106" y="0"/>
                      </a:lnTo>
                    </a:path>
                  </a:pathLst>
                </a:custGeom>
                <a:solidFill>
                  <a:srgbClr val="603000"/>
                </a:solidFill>
                <a:ln w="12700" cap="rnd">
                  <a:noFill/>
                  <a:round/>
                  <a:headEnd/>
                  <a:tailEnd/>
                </a:ln>
              </p:spPr>
              <p:txBody>
                <a:bodyPr/>
                <a:lstStyle/>
                <a:p>
                  <a:endParaRPr lang="en-US"/>
                </a:p>
              </p:txBody>
            </p:sp>
            <p:sp>
              <p:nvSpPr>
                <p:cNvPr id="22580" name="Freeform 30"/>
                <p:cNvSpPr>
                  <a:spLocks/>
                </p:cNvSpPr>
                <p:nvPr/>
              </p:nvSpPr>
              <p:spPr bwMode="auto">
                <a:xfrm>
                  <a:off x="2366" y="1298"/>
                  <a:ext cx="30" cy="45"/>
                </a:xfrm>
                <a:custGeom>
                  <a:avLst/>
                  <a:gdLst>
                    <a:gd name="T0" fmla="*/ 1 w 30"/>
                    <a:gd name="T1" fmla="*/ 0 h 45"/>
                    <a:gd name="T2" fmla="*/ 11 w 30"/>
                    <a:gd name="T3" fmla="*/ 14 h 45"/>
                    <a:gd name="T4" fmla="*/ 25 w 30"/>
                    <a:gd name="T5" fmla="*/ 14 h 45"/>
                    <a:gd name="T6" fmla="*/ 22 w 30"/>
                    <a:gd name="T7" fmla="*/ 18 h 45"/>
                    <a:gd name="T8" fmla="*/ 26 w 30"/>
                    <a:gd name="T9" fmla="*/ 18 h 45"/>
                    <a:gd name="T10" fmla="*/ 24 w 30"/>
                    <a:gd name="T11" fmla="*/ 22 h 45"/>
                    <a:gd name="T12" fmla="*/ 19 w 30"/>
                    <a:gd name="T13" fmla="*/ 27 h 45"/>
                    <a:gd name="T14" fmla="*/ 18 w 30"/>
                    <a:gd name="T15" fmla="*/ 35 h 45"/>
                    <a:gd name="T16" fmla="*/ 20 w 30"/>
                    <a:gd name="T17" fmla="*/ 39 h 45"/>
                    <a:gd name="T18" fmla="*/ 24 w 30"/>
                    <a:gd name="T19" fmla="*/ 40 h 45"/>
                    <a:gd name="T20" fmla="*/ 29 w 30"/>
                    <a:gd name="T21" fmla="*/ 42 h 45"/>
                    <a:gd name="T22" fmla="*/ 22 w 30"/>
                    <a:gd name="T23" fmla="*/ 44 h 45"/>
                    <a:gd name="T24" fmla="*/ 15 w 30"/>
                    <a:gd name="T25" fmla="*/ 40 h 45"/>
                    <a:gd name="T26" fmla="*/ 13 w 30"/>
                    <a:gd name="T27" fmla="*/ 38 h 45"/>
                    <a:gd name="T28" fmla="*/ 15 w 30"/>
                    <a:gd name="T29" fmla="*/ 27 h 45"/>
                    <a:gd name="T30" fmla="*/ 9 w 30"/>
                    <a:gd name="T31" fmla="*/ 27 h 45"/>
                    <a:gd name="T32" fmla="*/ 7 w 30"/>
                    <a:gd name="T33" fmla="*/ 24 h 45"/>
                    <a:gd name="T34" fmla="*/ 4 w 30"/>
                    <a:gd name="T35" fmla="*/ 24 h 45"/>
                    <a:gd name="T36" fmla="*/ 4 w 30"/>
                    <a:gd name="T37" fmla="*/ 16 h 45"/>
                    <a:gd name="T38" fmla="*/ 0 w 30"/>
                    <a:gd name="T39" fmla="*/ 12 h 45"/>
                    <a:gd name="T40" fmla="*/ 1 w 30"/>
                    <a:gd name="T41" fmla="*/ 0 h 4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30"/>
                    <a:gd name="T64" fmla="*/ 0 h 45"/>
                    <a:gd name="T65" fmla="*/ 30 w 30"/>
                    <a:gd name="T66" fmla="*/ 45 h 45"/>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30" h="45">
                      <a:moveTo>
                        <a:pt x="1" y="0"/>
                      </a:moveTo>
                      <a:lnTo>
                        <a:pt x="11" y="14"/>
                      </a:lnTo>
                      <a:lnTo>
                        <a:pt x="25" y="14"/>
                      </a:lnTo>
                      <a:lnTo>
                        <a:pt x="22" y="18"/>
                      </a:lnTo>
                      <a:lnTo>
                        <a:pt x="26" y="18"/>
                      </a:lnTo>
                      <a:lnTo>
                        <a:pt x="24" y="22"/>
                      </a:lnTo>
                      <a:lnTo>
                        <a:pt x="19" y="27"/>
                      </a:lnTo>
                      <a:lnTo>
                        <a:pt x="18" y="35"/>
                      </a:lnTo>
                      <a:lnTo>
                        <a:pt x="20" y="39"/>
                      </a:lnTo>
                      <a:lnTo>
                        <a:pt x="24" y="40"/>
                      </a:lnTo>
                      <a:lnTo>
                        <a:pt x="29" y="42"/>
                      </a:lnTo>
                      <a:lnTo>
                        <a:pt x="22" y="44"/>
                      </a:lnTo>
                      <a:lnTo>
                        <a:pt x="15" y="40"/>
                      </a:lnTo>
                      <a:lnTo>
                        <a:pt x="13" y="38"/>
                      </a:lnTo>
                      <a:lnTo>
                        <a:pt x="15" y="27"/>
                      </a:lnTo>
                      <a:lnTo>
                        <a:pt x="9" y="27"/>
                      </a:lnTo>
                      <a:lnTo>
                        <a:pt x="7" y="24"/>
                      </a:lnTo>
                      <a:lnTo>
                        <a:pt x="4" y="24"/>
                      </a:lnTo>
                      <a:lnTo>
                        <a:pt x="4" y="16"/>
                      </a:lnTo>
                      <a:lnTo>
                        <a:pt x="0" y="12"/>
                      </a:lnTo>
                      <a:lnTo>
                        <a:pt x="1" y="0"/>
                      </a:lnTo>
                    </a:path>
                  </a:pathLst>
                </a:custGeom>
                <a:solidFill>
                  <a:srgbClr val="603000"/>
                </a:solidFill>
                <a:ln w="12700" cap="rnd">
                  <a:noFill/>
                  <a:round/>
                  <a:headEnd/>
                  <a:tailEnd/>
                </a:ln>
              </p:spPr>
              <p:txBody>
                <a:bodyPr/>
                <a:lstStyle/>
                <a:p>
                  <a:endParaRPr lang="en-US"/>
                </a:p>
              </p:txBody>
            </p:sp>
            <p:sp>
              <p:nvSpPr>
                <p:cNvPr id="22581" name="Freeform 31"/>
                <p:cNvSpPr>
                  <a:spLocks/>
                </p:cNvSpPr>
                <p:nvPr/>
              </p:nvSpPr>
              <p:spPr bwMode="auto">
                <a:xfrm>
                  <a:off x="2336" y="1281"/>
                  <a:ext cx="22" cy="29"/>
                </a:xfrm>
                <a:custGeom>
                  <a:avLst/>
                  <a:gdLst>
                    <a:gd name="T0" fmla="*/ 20 w 22"/>
                    <a:gd name="T1" fmla="*/ 0 h 29"/>
                    <a:gd name="T2" fmla="*/ 21 w 22"/>
                    <a:gd name="T3" fmla="*/ 9 h 29"/>
                    <a:gd name="T4" fmla="*/ 12 w 22"/>
                    <a:gd name="T5" fmla="*/ 14 h 29"/>
                    <a:gd name="T6" fmla="*/ 5 w 22"/>
                    <a:gd name="T7" fmla="*/ 20 h 29"/>
                    <a:gd name="T8" fmla="*/ 0 w 22"/>
                    <a:gd name="T9" fmla="*/ 28 h 29"/>
                    <a:gd name="T10" fmla="*/ 3 w 22"/>
                    <a:gd name="T11" fmla="*/ 16 h 29"/>
                    <a:gd name="T12" fmla="*/ 9 w 22"/>
                    <a:gd name="T13" fmla="*/ 10 h 29"/>
                    <a:gd name="T14" fmla="*/ 5 w 22"/>
                    <a:gd name="T15" fmla="*/ 12 h 29"/>
                    <a:gd name="T16" fmla="*/ 9 w 22"/>
                    <a:gd name="T17" fmla="*/ 7 h 29"/>
                    <a:gd name="T18" fmla="*/ 15 w 22"/>
                    <a:gd name="T19" fmla="*/ 5 h 29"/>
                    <a:gd name="T20" fmla="*/ 10 w 22"/>
                    <a:gd name="T21" fmla="*/ 4 h 29"/>
                    <a:gd name="T22" fmla="*/ 20 w 22"/>
                    <a:gd name="T23" fmla="*/ 0 h 2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29"/>
                    <a:gd name="T38" fmla="*/ 22 w 22"/>
                    <a:gd name="T39" fmla="*/ 29 h 2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29">
                      <a:moveTo>
                        <a:pt x="20" y="0"/>
                      </a:moveTo>
                      <a:lnTo>
                        <a:pt x="21" y="9"/>
                      </a:lnTo>
                      <a:lnTo>
                        <a:pt x="12" y="14"/>
                      </a:lnTo>
                      <a:lnTo>
                        <a:pt x="5" y="20"/>
                      </a:lnTo>
                      <a:lnTo>
                        <a:pt x="0" y="28"/>
                      </a:lnTo>
                      <a:lnTo>
                        <a:pt x="3" y="16"/>
                      </a:lnTo>
                      <a:lnTo>
                        <a:pt x="9" y="10"/>
                      </a:lnTo>
                      <a:lnTo>
                        <a:pt x="5" y="12"/>
                      </a:lnTo>
                      <a:lnTo>
                        <a:pt x="9" y="7"/>
                      </a:lnTo>
                      <a:lnTo>
                        <a:pt x="15" y="5"/>
                      </a:lnTo>
                      <a:lnTo>
                        <a:pt x="10" y="4"/>
                      </a:lnTo>
                      <a:lnTo>
                        <a:pt x="20" y="0"/>
                      </a:lnTo>
                    </a:path>
                  </a:pathLst>
                </a:custGeom>
                <a:solidFill>
                  <a:srgbClr val="402000"/>
                </a:solidFill>
                <a:ln w="12700" cap="rnd">
                  <a:noFill/>
                  <a:round/>
                  <a:headEnd/>
                  <a:tailEnd/>
                </a:ln>
              </p:spPr>
              <p:txBody>
                <a:bodyPr/>
                <a:lstStyle/>
                <a:p>
                  <a:endParaRPr lang="en-US"/>
                </a:p>
              </p:txBody>
            </p:sp>
            <p:sp>
              <p:nvSpPr>
                <p:cNvPr id="22582" name="Freeform 32"/>
                <p:cNvSpPr>
                  <a:spLocks/>
                </p:cNvSpPr>
                <p:nvPr/>
              </p:nvSpPr>
              <p:spPr bwMode="auto">
                <a:xfrm>
                  <a:off x="2358" y="1304"/>
                  <a:ext cx="5" cy="16"/>
                </a:xfrm>
                <a:custGeom>
                  <a:avLst/>
                  <a:gdLst>
                    <a:gd name="T0" fmla="*/ 4 w 5"/>
                    <a:gd name="T1" fmla="*/ 0 h 16"/>
                    <a:gd name="T2" fmla="*/ 1 w 5"/>
                    <a:gd name="T3" fmla="*/ 6 h 16"/>
                    <a:gd name="T4" fmla="*/ 1 w 5"/>
                    <a:gd name="T5" fmla="*/ 13 h 16"/>
                    <a:gd name="T6" fmla="*/ 0 w 5"/>
                    <a:gd name="T7" fmla="*/ 15 h 16"/>
                    <a:gd name="T8" fmla="*/ 4 w 5"/>
                    <a:gd name="T9" fmla="*/ 11 h 16"/>
                    <a:gd name="T10" fmla="*/ 4 w 5"/>
                    <a:gd name="T11" fmla="*/ 0 h 16"/>
                    <a:gd name="T12" fmla="*/ 0 60000 65536"/>
                    <a:gd name="T13" fmla="*/ 0 60000 65536"/>
                    <a:gd name="T14" fmla="*/ 0 60000 65536"/>
                    <a:gd name="T15" fmla="*/ 0 60000 65536"/>
                    <a:gd name="T16" fmla="*/ 0 60000 65536"/>
                    <a:gd name="T17" fmla="*/ 0 60000 65536"/>
                    <a:gd name="T18" fmla="*/ 0 w 5"/>
                    <a:gd name="T19" fmla="*/ 0 h 16"/>
                    <a:gd name="T20" fmla="*/ 5 w 5"/>
                    <a:gd name="T21" fmla="*/ 16 h 16"/>
                  </a:gdLst>
                  <a:ahLst/>
                  <a:cxnLst>
                    <a:cxn ang="T12">
                      <a:pos x="T0" y="T1"/>
                    </a:cxn>
                    <a:cxn ang="T13">
                      <a:pos x="T2" y="T3"/>
                    </a:cxn>
                    <a:cxn ang="T14">
                      <a:pos x="T4" y="T5"/>
                    </a:cxn>
                    <a:cxn ang="T15">
                      <a:pos x="T6" y="T7"/>
                    </a:cxn>
                    <a:cxn ang="T16">
                      <a:pos x="T8" y="T9"/>
                    </a:cxn>
                    <a:cxn ang="T17">
                      <a:pos x="T10" y="T11"/>
                    </a:cxn>
                  </a:cxnLst>
                  <a:rect l="T18" t="T19" r="T20" b="T21"/>
                  <a:pathLst>
                    <a:path w="5" h="16">
                      <a:moveTo>
                        <a:pt x="4" y="0"/>
                      </a:moveTo>
                      <a:lnTo>
                        <a:pt x="1" y="6"/>
                      </a:lnTo>
                      <a:lnTo>
                        <a:pt x="1" y="13"/>
                      </a:lnTo>
                      <a:lnTo>
                        <a:pt x="0" y="15"/>
                      </a:lnTo>
                      <a:lnTo>
                        <a:pt x="4" y="11"/>
                      </a:lnTo>
                      <a:lnTo>
                        <a:pt x="4" y="0"/>
                      </a:lnTo>
                    </a:path>
                  </a:pathLst>
                </a:custGeom>
                <a:solidFill>
                  <a:srgbClr val="603000"/>
                </a:solidFill>
                <a:ln w="12700" cap="rnd">
                  <a:noFill/>
                  <a:round/>
                  <a:headEnd/>
                  <a:tailEnd/>
                </a:ln>
              </p:spPr>
              <p:txBody>
                <a:bodyPr/>
                <a:lstStyle/>
                <a:p>
                  <a:endParaRPr lang="en-US"/>
                </a:p>
              </p:txBody>
            </p:sp>
            <p:sp>
              <p:nvSpPr>
                <p:cNvPr id="22583" name="Freeform 33"/>
                <p:cNvSpPr>
                  <a:spLocks/>
                </p:cNvSpPr>
                <p:nvPr/>
              </p:nvSpPr>
              <p:spPr bwMode="auto">
                <a:xfrm>
                  <a:off x="2398" y="1333"/>
                  <a:ext cx="10" cy="6"/>
                </a:xfrm>
                <a:custGeom>
                  <a:avLst/>
                  <a:gdLst>
                    <a:gd name="T0" fmla="*/ 9 w 10"/>
                    <a:gd name="T1" fmla="*/ 0 h 6"/>
                    <a:gd name="T2" fmla="*/ 2 w 10"/>
                    <a:gd name="T3" fmla="*/ 1 h 6"/>
                    <a:gd name="T4" fmla="*/ 0 w 10"/>
                    <a:gd name="T5" fmla="*/ 5 h 6"/>
                    <a:gd name="T6" fmla="*/ 9 w 10"/>
                    <a:gd name="T7" fmla="*/ 0 h 6"/>
                    <a:gd name="T8" fmla="*/ 0 60000 65536"/>
                    <a:gd name="T9" fmla="*/ 0 60000 65536"/>
                    <a:gd name="T10" fmla="*/ 0 60000 65536"/>
                    <a:gd name="T11" fmla="*/ 0 60000 65536"/>
                    <a:gd name="T12" fmla="*/ 0 w 10"/>
                    <a:gd name="T13" fmla="*/ 0 h 6"/>
                    <a:gd name="T14" fmla="*/ 10 w 10"/>
                    <a:gd name="T15" fmla="*/ 6 h 6"/>
                  </a:gdLst>
                  <a:ahLst/>
                  <a:cxnLst>
                    <a:cxn ang="T8">
                      <a:pos x="T0" y="T1"/>
                    </a:cxn>
                    <a:cxn ang="T9">
                      <a:pos x="T2" y="T3"/>
                    </a:cxn>
                    <a:cxn ang="T10">
                      <a:pos x="T4" y="T5"/>
                    </a:cxn>
                    <a:cxn ang="T11">
                      <a:pos x="T6" y="T7"/>
                    </a:cxn>
                  </a:cxnLst>
                  <a:rect l="T12" t="T13" r="T14" b="T15"/>
                  <a:pathLst>
                    <a:path w="10" h="6">
                      <a:moveTo>
                        <a:pt x="9" y="0"/>
                      </a:moveTo>
                      <a:lnTo>
                        <a:pt x="2" y="1"/>
                      </a:lnTo>
                      <a:lnTo>
                        <a:pt x="0" y="5"/>
                      </a:lnTo>
                      <a:lnTo>
                        <a:pt x="9" y="0"/>
                      </a:lnTo>
                    </a:path>
                  </a:pathLst>
                </a:custGeom>
                <a:solidFill>
                  <a:srgbClr val="603000"/>
                </a:solidFill>
                <a:ln w="12700" cap="rnd">
                  <a:noFill/>
                  <a:round/>
                  <a:headEnd/>
                  <a:tailEnd/>
                </a:ln>
              </p:spPr>
              <p:txBody>
                <a:bodyPr/>
                <a:lstStyle/>
                <a:p>
                  <a:endParaRPr lang="en-US"/>
                </a:p>
              </p:txBody>
            </p:sp>
            <p:sp>
              <p:nvSpPr>
                <p:cNvPr id="22584" name="Freeform 34"/>
                <p:cNvSpPr>
                  <a:spLocks/>
                </p:cNvSpPr>
                <p:nvPr/>
              </p:nvSpPr>
              <p:spPr bwMode="auto">
                <a:xfrm>
                  <a:off x="2258" y="1365"/>
                  <a:ext cx="27" cy="53"/>
                </a:xfrm>
                <a:custGeom>
                  <a:avLst/>
                  <a:gdLst>
                    <a:gd name="T0" fmla="*/ 21 w 27"/>
                    <a:gd name="T1" fmla="*/ 9 h 53"/>
                    <a:gd name="T2" fmla="*/ 20 w 27"/>
                    <a:gd name="T3" fmla="*/ 1 h 53"/>
                    <a:gd name="T4" fmla="*/ 15 w 27"/>
                    <a:gd name="T5" fmla="*/ 0 h 53"/>
                    <a:gd name="T6" fmla="*/ 7 w 27"/>
                    <a:gd name="T7" fmla="*/ 4 h 53"/>
                    <a:gd name="T8" fmla="*/ 0 w 27"/>
                    <a:gd name="T9" fmla="*/ 16 h 53"/>
                    <a:gd name="T10" fmla="*/ 1 w 27"/>
                    <a:gd name="T11" fmla="*/ 25 h 53"/>
                    <a:gd name="T12" fmla="*/ 7 w 27"/>
                    <a:gd name="T13" fmla="*/ 39 h 53"/>
                    <a:gd name="T14" fmla="*/ 16 w 27"/>
                    <a:gd name="T15" fmla="*/ 49 h 53"/>
                    <a:gd name="T16" fmla="*/ 26 w 27"/>
                    <a:gd name="T17" fmla="*/ 52 h 53"/>
                    <a:gd name="T18" fmla="*/ 11 w 27"/>
                    <a:gd name="T19" fmla="*/ 36 h 53"/>
                    <a:gd name="T20" fmla="*/ 7 w 27"/>
                    <a:gd name="T21" fmla="*/ 17 h 53"/>
                    <a:gd name="T22" fmla="*/ 21 w 27"/>
                    <a:gd name="T23" fmla="*/ 9 h 5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7"/>
                    <a:gd name="T37" fmla="*/ 0 h 53"/>
                    <a:gd name="T38" fmla="*/ 27 w 27"/>
                    <a:gd name="T39" fmla="*/ 53 h 5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7" h="53">
                      <a:moveTo>
                        <a:pt x="21" y="9"/>
                      </a:moveTo>
                      <a:lnTo>
                        <a:pt x="20" y="1"/>
                      </a:lnTo>
                      <a:lnTo>
                        <a:pt x="15" y="0"/>
                      </a:lnTo>
                      <a:lnTo>
                        <a:pt x="7" y="4"/>
                      </a:lnTo>
                      <a:lnTo>
                        <a:pt x="0" y="16"/>
                      </a:lnTo>
                      <a:lnTo>
                        <a:pt x="1" y="25"/>
                      </a:lnTo>
                      <a:lnTo>
                        <a:pt x="7" y="39"/>
                      </a:lnTo>
                      <a:lnTo>
                        <a:pt x="16" y="49"/>
                      </a:lnTo>
                      <a:lnTo>
                        <a:pt x="26" y="52"/>
                      </a:lnTo>
                      <a:lnTo>
                        <a:pt x="11" y="36"/>
                      </a:lnTo>
                      <a:lnTo>
                        <a:pt x="7" y="17"/>
                      </a:lnTo>
                      <a:lnTo>
                        <a:pt x="21" y="9"/>
                      </a:lnTo>
                    </a:path>
                  </a:pathLst>
                </a:custGeom>
                <a:solidFill>
                  <a:srgbClr val="FFC080"/>
                </a:solidFill>
                <a:ln w="12700" cap="rnd">
                  <a:noFill/>
                  <a:round/>
                  <a:headEnd/>
                  <a:tailEnd/>
                </a:ln>
              </p:spPr>
              <p:txBody>
                <a:bodyPr/>
                <a:lstStyle/>
                <a:p>
                  <a:endParaRPr lang="en-US"/>
                </a:p>
              </p:txBody>
            </p:sp>
            <p:sp>
              <p:nvSpPr>
                <p:cNvPr id="22585" name="Freeform 35"/>
                <p:cNvSpPr>
                  <a:spLocks/>
                </p:cNvSpPr>
                <p:nvPr/>
              </p:nvSpPr>
              <p:spPr bwMode="auto">
                <a:xfrm>
                  <a:off x="2281" y="1386"/>
                  <a:ext cx="11" cy="12"/>
                </a:xfrm>
                <a:custGeom>
                  <a:avLst/>
                  <a:gdLst>
                    <a:gd name="T0" fmla="*/ 1 w 11"/>
                    <a:gd name="T1" fmla="*/ 0 h 12"/>
                    <a:gd name="T2" fmla="*/ 0 w 11"/>
                    <a:gd name="T3" fmla="*/ 9 h 12"/>
                    <a:gd name="T4" fmla="*/ 10 w 11"/>
                    <a:gd name="T5" fmla="*/ 11 h 12"/>
                    <a:gd name="T6" fmla="*/ 1 w 11"/>
                    <a:gd name="T7" fmla="*/ 0 h 12"/>
                    <a:gd name="T8" fmla="*/ 0 60000 65536"/>
                    <a:gd name="T9" fmla="*/ 0 60000 65536"/>
                    <a:gd name="T10" fmla="*/ 0 60000 65536"/>
                    <a:gd name="T11" fmla="*/ 0 60000 65536"/>
                    <a:gd name="T12" fmla="*/ 0 w 11"/>
                    <a:gd name="T13" fmla="*/ 0 h 12"/>
                    <a:gd name="T14" fmla="*/ 11 w 11"/>
                    <a:gd name="T15" fmla="*/ 12 h 12"/>
                  </a:gdLst>
                  <a:ahLst/>
                  <a:cxnLst>
                    <a:cxn ang="T8">
                      <a:pos x="T0" y="T1"/>
                    </a:cxn>
                    <a:cxn ang="T9">
                      <a:pos x="T2" y="T3"/>
                    </a:cxn>
                    <a:cxn ang="T10">
                      <a:pos x="T4" y="T5"/>
                    </a:cxn>
                    <a:cxn ang="T11">
                      <a:pos x="T6" y="T7"/>
                    </a:cxn>
                  </a:cxnLst>
                  <a:rect l="T12" t="T13" r="T14" b="T15"/>
                  <a:pathLst>
                    <a:path w="11" h="12">
                      <a:moveTo>
                        <a:pt x="1" y="0"/>
                      </a:moveTo>
                      <a:lnTo>
                        <a:pt x="0" y="9"/>
                      </a:lnTo>
                      <a:lnTo>
                        <a:pt x="10" y="11"/>
                      </a:lnTo>
                      <a:lnTo>
                        <a:pt x="1" y="0"/>
                      </a:lnTo>
                    </a:path>
                  </a:pathLst>
                </a:custGeom>
                <a:solidFill>
                  <a:srgbClr val="FFC080"/>
                </a:solidFill>
                <a:ln w="12700" cap="rnd">
                  <a:noFill/>
                  <a:round/>
                  <a:headEnd/>
                  <a:tailEnd/>
                </a:ln>
              </p:spPr>
              <p:txBody>
                <a:bodyPr/>
                <a:lstStyle/>
                <a:p>
                  <a:endParaRPr lang="en-US"/>
                </a:p>
              </p:txBody>
            </p:sp>
            <p:sp>
              <p:nvSpPr>
                <p:cNvPr id="22586" name="Freeform 36"/>
                <p:cNvSpPr>
                  <a:spLocks/>
                </p:cNvSpPr>
                <p:nvPr/>
              </p:nvSpPr>
              <p:spPr bwMode="auto">
                <a:xfrm>
                  <a:off x="2294" y="1399"/>
                  <a:ext cx="16" cy="16"/>
                </a:xfrm>
                <a:custGeom>
                  <a:avLst/>
                  <a:gdLst>
                    <a:gd name="T0" fmla="*/ 0 w 16"/>
                    <a:gd name="T1" fmla="*/ 14 h 16"/>
                    <a:gd name="T2" fmla="*/ 6 w 16"/>
                    <a:gd name="T3" fmla="*/ 7 h 16"/>
                    <a:gd name="T4" fmla="*/ 8 w 16"/>
                    <a:gd name="T5" fmla="*/ 0 h 16"/>
                    <a:gd name="T6" fmla="*/ 15 w 16"/>
                    <a:gd name="T7" fmla="*/ 6 h 16"/>
                    <a:gd name="T8" fmla="*/ 13 w 16"/>
                    <a:gd name="T9" fmla="*/ 15 h 16"/>
                    <a:gd name="T10" fmla="*/ 0 w 16"/>
                    <a:gd name="T11" fmla="*/ 14 h 16"/>
                    <a:gd name="T12" fmla="*/ 0 60000 65536"/>
                    <a:gd name="T13" fmla="*/ 0 60000 65536"/>
                    <a:gd name="T14" fmla="*/ 0 60000 65536"/>
                    <a:gd name="T15" fmla="*/ 0 60000 65536"/>
                    <a:gd name="T16" fmla="*/ 0 60000 65536"/>
                    <a:gd name="T17" fmla="*/ 0 60000 65536"/>
                    <a:gd name="T18" fmla="*/ 0 w 16"/>
                    <a:gd name="T19" fmla="*/ 0 h 16"/>
                    <a:gd name="T20" fmla="*/ 16 w 16"/>
                    <a:gd name="T21" fmla="*/ 16 h 16"/>
                  </a:gdLst>
                  <a:ahLst/>
                  <a:cxnLst>
                    <a:cxn ang="T12">
                      <a:pos x="T0" y="T1"/>
                    </a:cxn>
                    <a:cxn ang="T13">
                      <a:pos x="T2" y="T3"/>
                    </a:cxn>
                    <a:cxn ang="T14">
                      <a:pos x="T4" y="T5"/>
                    </a:cxn>
                    <a:cxn ang="T15">
                      <a:pos x="T6" y="T7"/>
                    </a:cxn>
                    <a:cxn ang="T16">
                      <a:pos x="T8" y="T9"/>
                    </a:cxn>
                    <a:cxn ang="T17">
                      <a:pos x="T10" y="T11"/>
                    </a:cxn>
                  </a:cxnLst>
                  <a:rect l="T18" t="T19" r="T20" b="T21"/>
                  <a:pathLst>
                    <a:path w="16" h="16">
                      <a:moveTo>
                        <a:pt x="0" y="14"/>
                      </a:moveTo>
                      <a:lnTo>
                        <a:pt x="6" y="7"/>
                      </a:lnTo>
                      <a:lnTo>
                        <a:pt x="8" y="0"/>
                      </a:lnTo>
                      <a:lnTo>
                        <a:pt x="15" y="6"/>
                      </a:lnTo>
                      <a:lnTo>
                        <a:pt x="13" y="15"/>
                      </a:lnTo>
                      <a:lnTo>
                        <a:pt x="0" y="14"/>
                      </a:lnTo>
                    </a:path>
                  </a:pathLst>
                </a:custGeom>
                <a:solidFill>
                  <a:srgbClr val="FFC080"/>
                </a:solidFill>
                <a:ln w="12700" cap="rnd">
                  <a:noFill/>
                  <a:round/>
                  <a:headEnd/>
                  <a:tailEnd/>
                </a:ln>
              </p:spPr>
              <p:txBody>
                <a:bodyPr/>
                <a:lstStyle/>
                <a:p>
                  <a:endParaRPr lang="en-US"/>
                </a:p>
              </p:txBody>
            </p:sp>
            <p:sp>
              <p:nvSpPr>
                <p:cNvPr id="22587" name="Freeform 37"/>
                <p:cNvSpPr>
                  <a:spLocks/>
                </p:cNvSpPr>
                <p:nvPr/>
              </p:nvSpPr>
              <p:spPr bwMode="auto">
                <a:xfrm>
                  <a:off x="2322" y="1434"/>
                  <a:ext cx="67" cy="10"/>
                </a:xfrm>
                <a:custGeom>
                  <a:avLst/>
                  <a:gdLst>
                    <a:gd name="T0" fmla="*/ 23 w 67"/>
                    <a:gd name="T1" fmla="*/ 0 h 10"/>
                    <a:gd name="T2" fmla="*/ 40 w 67"/>
                    <a:gd name="T3" fmla="*/ 2 h 10"/>
                    <a:gd name="T4" fmla="*/ 66 w 67"/>
                    <a:gd name="T5" fmla="*/ 1 h 10"/>
                    <a:gd name="T6" fmla="*/ 48 w 67"/>
                    <a:gd name="T7" fmla="*/ 6 h 10"/>
                    <a:gd name="T8" fmla="*/ 20 w 67"/>
                    <a:gd name="T9" fmla="*/ 9 h 10"/>
                    <a:gd name="T10" fmla="*/ 7 w 67"/>
                    <a:gd name="T11" fmla="*/ 6 h 10"/>
                    <a:gd name="T12" fmla="*/ 0 w 67"/>
                    <a:gd name="T13" fmla="*/ 0 h 10"/>
                    <a:gd name="T14" fmla="*/ 23 w 67"/>
                    <a:gd name="T15" fmla="*/ 0 h 10"/>
                    <a:gd name="T16" fmla="*/ 0 60000 65536"/>
                    <a:gd name="T17" fmla="*/ 0 60000 65536"/>
                    <a:gd name="T18" fmla="*/ 0 60000 65536"/>
                    <a:gd name="T19" fmla="*/ 0 60000 65536"/>
                    <a:gd name="T20" fmla="*/ 0 60000 65536"/>
                    <a:gd name="T21" fmla="*/ 0 60000 65536"/>
                    <a:gd name="T22" fmla="*/ 0 60000 65536"/>
                    <a:gd name="T23" fmla="*/ 0 60000 65536"/>
                    <a:gd name="T24" fmla="*/ 0 w 67"/>
                    <a:gd name="T25" fmla="*/ 0 h 10"/>
                    <a:gd name="T26" fmla="*/ 67 w 67"/>
                    <a:gd name="T27" fmla="*/ 10 h 1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67" h="10">
                      <a:moveTo>
                        <a:pt x="23" y="0"/>
                      </a:moveTo>
                      <a:lnTo>
                        <a:pt x="40" y="2"/>
                      </a:lnTo>
                      <a:lnTo>
                        <a:pt x="66" y="1"/>
                      </a:lnTo>
                      <a:lnTo>
                        <a:pt x="48" y="6"/>
                      </a:lnTo>
                      <a:lnTo>
                        <a:pt x="20" y="9"/>
                      </a:lnTo>
                      <a:lnTo>
                        <a:pt x="7" y="6"/>
                      </a:lnTo>
                      <a:lnTo>
                        <a:pt x="0" y="0"/>
                      </a:lnTo>
                      <a:lnTo>
                        <a:pt x="23" y="0"/>
                      </a:lnTo>
                    </a:path>
                  </a:pathLst>
                </a:custGeom>
                <a:solidFill>
                  <a:srgbClr val="FFC080"/>
                </a:solidFill>
                <a:ln w="12700" cap="rnd">
                  <a:noFill/>
                  <a:round/>
                  <a:headEnd/>
                  <a:tailEnd/>
                </a:ln>
              </p:spPr>
              <p:txBody>
                <a:bodyPr/>
                <a:lstStyle/>
                <a:p>
                  <a:endParaRPr lang="en-US"/>
                </a:p>
              </p:txBody>
            </p:sp>
            <p:sp>
              <p:nvSpPr>
                <p:cNvPr id="22588" name="Freeform 38"/>
                <p:cNvSpPr>
                  <a:spLocks/>
                </p:cNvSpPr>
                <p:nvPr/>
              </p:nvSpPr>
              <p:spPr bwMode="auto">
                <a:xfrm>
                  <a:off x="2399" y="1364"/>
                  <a:ext cx="14" cy="19"/>
                </a:xfrm>
                <a:custGeom>
                  <a:avLst/>
                  <a:gdLst>
                    <a:gd name="T0" fmla="*/ 10 w 14"/>
                    <a:gd name="T1" fmla="*/ 0 h 19"/>
                    <a:gd name="T2" fmla="*/ 8 w 14"/>
                    <a:gd name="T3" fmla="*/ 6 h 19"/>
                    <a:gd name="T4" fmla="*/ 3 w 14"/>
                    <a:gd name="T5" fmla="*/ 10 h 19"/>
                    <a:gd name="T6" fmla="*/ 0 w 14"/>
                    <a:gd name="T7" fmla="*/ 11 h 19"/>
                    <a:gd name="T8" fmla="*/ 1 w 14"/>
                    <a:gd name="T9" fmla="*/ 18 h 19"/>
                    <a:gd name="T10" fmla="*/ 3 w 14"/>
                    <a:gd name="T11" fmla="*/ 13 h 19"/>
                    <a:gd name="T12" fmla="*/ 9 w 14"/>
                    <a:gd name="T13" fmla="*/ 9 h 19"/>
                    <a:gd name="T14" fmla="*/ 13 w 14"/>
                    <a:gd name="T15" fmla="*/ 4 h 19"/>
                    <a:gd name="T16" fmla="*/ 10 w 14"/>
                    <a:gd name="T17" fmla="*/ 0 h 1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
                    <a:gd name="T28" fmla="*/ 0 h 19"/>
                    <a:gd name="T29" fmla="*/ 14 w 14"/>
                    <a:gd name="T30" fmla="*/ 19 h 1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 h="19">
                      <a:moveTo>
                        <a:pt x="10" y="0"/>
                      </a:moveTo>
                      <a:lnTo>
                        <a:pt x="8" y="6"/>
                      </a:lnTo>
                      <a:lnTo>
                        <a:pt x="3" y="10"/>
                      </a:lnTo>
                      <a:lnTo>
                        <a:pt x="0" y="11"/>
                      </a:lnTo>
                      <a:lnTo>
                        <a:pt x="1" y="18"/>
                      </a:lnTo>
                      <a:lnTo>
                        <a:pt x="3" y="13"/>
                      </a:lnTo>
                      <a:lnTo>
                        <a:pt x="9" y="9"/>
                      </a:lnTo>
                      <a:lnTo>
                        <a:pt x="13" y="4"/>
                      </a:lnTo>
                      <a:lnTo>
                        <a:pt x="10" y="0"/>
                      </a:lnTo>
                    </a:path>
                  </a:pathLst>
                </a:custGeom>
                <a:solidFill>
                  <a:srgbClr val="603000"/>
                </a:solidFill>
                <a:ln w="12700" cap="rnd">
                  <a:noFill/>
                  <a:round/>
                  <a:headEnd/>
                  <a:tailEnd/>
                </a:ln>
              </p:spPr>
              <p:txBody>
                <a:bodyPr/>
                <a:lstStyle/>
                <a:p>
                  <a:endParaRPr lang="en-US"/>
                </a:p>
              </p:txBody>
            </p:sp>
            <p:sp>
              <p:nvSpPr>
                <p:cNvPr id="22589" name="Freeform 39"/>
                <p:cNvSpPr>
                  <a:spLocks/>
                </p:cNvSpPr>
                <p:nvPr/>
              </p:nvSpPr>
              <p:spPr bwMode="auto">
                <a:xfrm>
                  <a:off x="2356" y="1371"/>
                  <a:ext cx="17" cy="43"/>
                </a:xfrm>
                <a:custGeom>
                  <a:avLst/>
                  <a:gdLst>
                    <a:gd name="T0" fmla="*/ 3 w 17"/>
                    <a:gd name="T1" fmla="*/ 0 h 43"/>
                    <a:gd name="T2" fmla="*/ 3 w 17"/>
                    <a:gd name="T3" fmla="*/ 14 h 43"/>
                    <a:gd name="T4" fmla="*/ 8 w 17"/>
                    <a:gd name="T5" fmla="*/ 29 h 43"/>
                    <a:gd name="T6" fmla="*/ 16 w 17"/>
                    <a:gd name="T7" fmla="*/ 42 h 43"/>
                    <a:gd name="T8" fmla="*/ 5 w 17"/>
                    <a:gd name="T9" fmla="*/ 29 h 43"/>
                    <a:gd name="T10" fmla="*/ 0 w 17"/>
                    <a:gd name="T11" fmla="*/ 20 h 43"/>
                    <a:gd name="T12" fmla="*/ 3 w 17"/>
                    <a:gd name="T13" fmla="*/ 0 h 43"/>
                    <a:gd name="T14" fmla="*/ 0 60000 65536"/>
                    <a:gd name="T15" fmla="*/ 0 60000 65536"/>
                    <a:gd name="T16" fmla="*/ 0 60000 65536"/>
                    <a:gd name="T17" fmla="*/ 0 60000 65536"/>
                    <a:gd name="T18" fmla="*/ 0 60000 65536"/>
                    <a:gd name="T19" fmla="*/ 0 60000 65536"/>
                    <a:gd name="T20" fmla="*/ 0 60000 65536"/>
                    <a:gd name="T21" fmla="*/ 0 w 17"/>
                    <a:gd name="T22" fmla="*/ 0 h 43"/>
                    <a:gd name="T23" fmla="*/ 17 w 17"/>
                    <a:gd name="T24" fmla="*/ 43 h 4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 h="43">
                      <a:moveTo>
                        <a:pt x="3" y="0"/>
                      </a:moveTo>
                      <a:lnTo>
                        <a:pt x="3" y="14"/>
                      </a:lnTo>
                      <a:lnTo>
                        <a:pt x="8" y="29"/>
                      </a:lnTo>
                      <a:lnTo>
                        <a:pt x="16" y="42"/>
                      </a:lnTo>
                      <a:lnTo>
                        <a:pt x="5" y="29"/>
                      </a:lnTo>
                      <a:lnTo>
                        <a:pt x="0" y="20"/>
                      </a:lnTo>
                      <a:lnTo>
                        <a:pt x="3" y="0"/>
                      </a:lnTo>
                    </a:path>
                  </a:pathLst>
                </a:custGeom>
                <a:solidFill>
                  <a:srgbClr val="FFC080"/>
                </a:solidFill>
                <a:ln w="12700" cap="rnd">
                  <a:noFill/>
                  <a:round/>
                  <a:headEnd/>
                  <a:tailEnd/>
                </a:ln>
              </p:spPr>
              <p:txBody>
                <a:bodyPr/>
                <a:lstStyle/>
                <a:p>
                  <a:endParaRPr lang="en-US"/>
                </a:p>
              </p:txBody>
            </p:sp>
          </p:grpSp>
          <p:grpSp>
            <p:nvGrpSpPr>
              <p:cNvPr id="22574" name="Group 40"/>
              <p:cNvGrpSpPr>
                <a:grpSpLocks/>
              </p:cNvGrpSpPr>
              <p:nvPr/>
            </p:nvGrpSpPr>
            <p:grpSpPr bwMode="auto">
              <a:xfrm>
                <a:off x="2107" y="1195"/>
                <a:ext cx="217" cy="291"/>
                <a:chOff x="2107" y="1195"/>
                <a:chExt cx="217" cy="291"/>
              </a:xfrm>
            </p:grpSpPr>
            <p:sp>
              <p:nvSpPr>
                <p:cNvPr id="22575" name="Freeform 41"/>
                <p:cNvSpPr>
                  <a:spLocks/>
                </p:cNvSpPr>
                <p:nvPr/>
              </p:nvSpPr>
              <p:spPr bwMode="auto">
                <a:xfrm>
                  <a:off x="2107" y="1195"/>
                  <a:ext cx="217" cy="291"/>
                </a:xfrm>
                <a:custGeom>
                  <a:avLst/>
                  <a:gdLst>
                    <a:gd name="T0" fmla="*/ 170 w 217"/>
                    <a:gd name="T1" fmla="*/ 70 h 291"/>
                    <a:gd name="T2" fmla="*/ 207 w 217"/>
                    <a:gd name="T3" fmla="*/ 57 h 291"/>
                    <a:gd name="T4" fmla="*/ 213 w 217"/>
                    <a:gd name="T5" fmla="*/ 26 h 291"/>
                    <a:gd name="T6" fmla="*/ 203 w 217"/>
                    <a:gd name="T7" fmla="*/ 10 h 291"/>
                    <a:gd name="T8" fmla="*/ 180 w 217"/>
                    <a:gd name="T9" fmla="*/ 6 h 291"/>
                    <a:gd name="T10" fmla="*/ 165 w 217"/>
                    <a:gd name="T11" fmla="*/ 0 h 291"/>
                    <a:gd name="T12" fmla="*/ 148 w 217"/>
                    <a:gd name="T13" fmla="*/ 3 h 291"/>
                    <a:gd name="T14" fmla="*/ 136 w 217"/>
                    <a:gd name="T15" fmla="*/ 8 h 291"/>
                    <a:gd name="T16" fmla="*/ 121 w 217"/>
                    <a:gd name="T17" fmla="*/ 16 h 291"/>
                    <a:gd name="T18" fmla="*/ 104 w 217"/>
                    <a:gd name="T19" fmla="*/ 23 h 291"/>
                    <a:gd name="T20" fmla="*/ 93 w 217"/>
                    <a:gd name="T21" fmla="*/ 28 h 291"/>
                    <a:gd name="T22" fmla="*/ 74 w 217"/>
                    <a:gd name="T23" fmla="*/ 42 h 291"/>
                    <a:gd name="T24" fmla="*/ 50 w 217"/>
                    <a:gd name="T25" fmla="*/ 56 h 291"/>
                    <a:gd name="T26" fmla="*/ 22 w 217"/>
                    <a:gd name="T27" fmla="*/ 93 h 291"/>
                    <a:gd name="T28" fmla="*/ 4 w 217"/>
                    <a:gd name="T29" fmla="*/ 120 h 291"/>
                    <a:gd name="T30" fmla="*/ 0 w 217"/>
                    <a:gd name="T31" fmla="*/ 135 h 291"/>
                    <a:gd name="T32" fmla="*/ 9 w 217"/>
                    <a:gd name="T33" fmla="*/ 155 h 291"/>
                    <a:gd name="T34" fmla="*/ 7 w 217"/>
                    <a:gd name="T35" fmla="*/ 177 h 291"/>
                    <a:gd name="T36" fmla="*/ 9 w 217"/>
                    <a:gd name="T37" fmla="*/ 195 h 291"/>
                    <a:gd name="T38" fmla="*/ 13 w 217"/>
                    <a:gd name="T39" fmla="*/ 217 h 291"/>
                    <a:gd name="T40" fmla="*/ 25 w 217"/>
                    <a:gd name="T41" fmla="*/ 228 h 291"/>
                    <a:gd name="T42" fmla="*/ 42 w 217"/>
                    <a:gd name="T43" fmla="*/ 267 h 291"/>
                    <a:gd name="T44" fmla="*/ 53 w 217"/>
                    <a:gd name="T45" fmla="*/ 273 h 291"/>
                    <a:gd name="T46" fmla="*/ 62 w 217"/>
                    <a:gd name="T47" fmla="*/ 280 h 291"/>
                    <a:gd name="T48" fmla="*/ 76 w 217"/>
                    <a:gd name="T49" fmla="*/ 290 h 291"/>
                    <a:gd name="T50" fmla="*/ 97 w 217"/>
                    <a:gd name="T51" fmla="*/ 285 h 291"/>
                    <a:gd name="T52" fmla="*/ 107 w 217"/>
                    <a:gd name="T53" fmla="*/ 271 h 291"/>
                    <a:gd name="T54" fmla="*/ 121 w 217"/>
                    <a:gd name="T55" fmla="*/ 247 h 291"/>
                    <a:gd name="T56" fmla="*/ 152 w 217"/>
                    <a:gd name="T57" fmla="*/ 219 h 291"/>
                    <a:gd name="T58" fmla="*/ 144 w 217"/>
                    <a:gd name="T59" fmla="*/ 186 h 291"/>
                    <a:gd name="T60" fmla="*/ 162 w 217"/>
                    <a:gd name="T61" fmla="*/ 164 h 291"/>
                    <a:gd name="T62" fmla="*/ 193 w 217"/>
                    <a:gd name="T63" fmla="*/ 180 h 291"/>
                    <a:gd name="T64" fmla="*/ 201 w 217"/>
                    <a:gd name="T65" fmla="*/ 164 h 291"/>
                    <a:gd name="T66" fmla="*/ 199 w 217"/>
                    <a:gd name="T67" fmla="*/ 149 h 291"/>
                    <a:gd name="T68" fmla="*/ 199 w 217"/>
                    <a:gd name="T69" fmla="*/ 125 h 291"/>
                    <a:gd name="T70" fmla="*/ 196 w 217"/>
                    <a:gd name="T71" fmla="*/ 111 h 291"/>
                    <a:gd name="T72" fmla="*/ 178 w 217"/>
                    <a:gd name="T73" fmla="*/ 86 h 291"/>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217"/>
                    <a:gd name="T112" fmla="*/ 0 h 291"/>
                    <a:gd name="T113" fmla="*/ 217 w 217"/>
                    <a:gd name="T114" fmla="*/ 291 h 291"/>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217" h="291">
                      <a:moveTo>
                        <a:pt x="166" y="78"/>
                      </a:moveTo>
                      <a:lnTo>
                        <a:pt x="170" y="70"/>
                      </a:lnTo>
                      <a:lnTo>
                        <a:pt x="192" y="70"/>
                      </a:lnTo>
                      <a:lnTo>
                        <a:pt x="207" y="57"/>
                      </a:lnTo>
                      <a:lnTo>
                        <a:pt x="216" y="34"/>
                      </a:lnTo>
                      <a:lnTo>
                        <a:pt x="213" y="26"/>
                      </a:lnTo>
                      <a:lnTo>
                        <a:pt x="207" y="15"/>
                      </a:lnTo>
                      <a:lnTo>
                        <a:pt x="203" y="10"/>
                      </a:lnTo>
                      <a:lnTo>
                        <a:pt x="194" y="9"/>
                      </a:lnTo>
                      <a:lnTo>
                        <a:pt x="180" y="6"/>
                      </a:lnTo>
                      <a:lnTo>
                        <a:pt x="171" y="2"/>
                      </a:lnTo>
                      <a:lnTo>
                        <a:pt x="165" y="0"/>
                      </a:lnTo>
                      <a:lnTo>
                        <a:pt x="157" y="0"/>
                      </a:lnTo>
                      <a:lnTo>
                        <a:pt x="148" y="3"/>
                      </a:lnTo>
                      <a:lnTo>
                        <a:pt x="142" y="6"/>
                      </a:lnTo>
                      <a:lnTo>
                        <a:pt x="136" y="8"/>
                      </a:lnTo>
                      <a:lnTo>
                        <a:pt x="131" y="14"/>
                      </a:lnTo>
                      <a:lnTo>
                        <a:pt x="121" y="16"/>
                      </a:lnTo>
                      <a:lnTo>
                        <a:pt x="114" y="19"/>
                      </a:lnTo>
                      <a:lnTo>
                        <a:pt x="104" y="23"/>
                      </a:lnTo>
                      <a:lnTo>
                        <a:pt x="98" y="24"/>
                      </a:lnTo>
                      <a:lnTo>
                        <a:pt x="93" y="28"/>
                      </a:lnTo>
                      <a:lnTo>
                        <a:pt x="86" y="31"/>
                      </a:lnTo>
                      <a:lnTo>
                        <a:pt x="74" y="42"/>
                      </a:lnTo>
                      <a:lnTo>
                        <a:pt x="62" y="47"/>
                      </a:lnTo>
                      <a:lnTo>
                        <a:pt x="50" y="56"/>
                      </a:lnTo>
                      <a:lnTo>
                        <a:pt x="39" y="74"/>
                      </a:lnTo>
                      <a:lnTo>
                        <a:pt x="22" y="93"/>
                      </a:lnTo>
                      <a:lnTo>
                        <a:pt x="13" y="106"/>
                      </a:lnTo>
                      <a:lnTo>
                        <a:pt x="4" y="120"/>
                      </a:lnTo>
                      <a:lnTo>
                        <a:pt x="0" y="128"/>
                      </a:lnTo>
                      <a:lnTo>
                        <a:pt x="0" y="135"/>
                      </a:lnTo>
                      <a:lnTo>
                        <a:pt x="7" y="147"/>
                      </a:lnTo>
                      <a:lnTo>
                        <a:pt x="9" y="155"/>
                      </a:lnTo>
                      <a:lnTo>
                        <a:pt x="9" y="172"/>
                      </a:lnTo>
                      <a:lnTo>
                        <a:pt x="7" y="177"/>
                      </a:lnTo>
                      <a:lnTo>
                        <a:pt x="9" y="185"/>
                      </a:lnTo>
                      <a:lnTo>
                        <a:pt x="9" y="195"/>
                      </a:lnTo>
                      <a:lnTo>
                        <a:pt x="11" y="207"/>
                      </a:lnTo>
                      <a:lnTo>
                        <a:pt x="13" y="217"/>
                      </a:lnTo>
                      <a:lnTo>
                        <a:pt x="21" y="222"/>
                      </a:lnTo>
                      <a:lnTo>
                        <a:pt x="25" y="228"/>
                      </a:lnTo>
                      <a:lnTo>
                        <a:pt x="35" y="249"/>
                      </a:lnTo>
                      <a:lnTo>
                        <a:pt x="42" y="267"/>
                      </a:lnTo>
                      <a:lnTo>
                        <a:pt x="46" y="271"/>
                      </a:lnTo>
                      <a:lnTo>
                        <a:pt x="53" y="273"/>
                      </a:lnTo>
                      <a:lnTo>
                        <a:pt x="58" y="274"/>
                      </a:lnTo>
                      <a:lnTo>
                        <a:pt x="62" y="280"/>
                      </a:lnTo>
                      <a:lnTo>
                        <a:pt x="68" y="287"/>
                      </a:lnTo>
                      <a:lnTo>
                        <a:pt x="76" y="290"/>
                      </a:lnTo>
                      <a:lnTo>
                        <a:pt x="92" y="289"/>
                      </a:lnTo>
                      <a:lnTo>
                        <a:pt x="97" y="285"/>
                      </a:lnTo>
                      <a:lnTo>
                        <a:pt x="105" y="277"/>
                      </a:lnTo>
                      <a:lnTo>
                        <a:pt x="107" y="271"/>
                      </a:lnTo>
                      <a:lnTo>
                        <a:pt x="111" y="264"/>
                      </a:lnTo>
                      <a:lnTo>
                        <a:pt x="121" y="247"/>
                      </a:lnTo>
                      <a:lnTo>
                        <a:pt x="130" y="233"/>
                      </a:lnTo>
                      <a:lnTo>
                        <a:pt x="152" y="219"/>
                      </a:lnTo>
                      <a:lnTo>
                        <a:pt x="143" y="199"/>
                      </a:lnTo>
                      <a:lnTo>
                        <a:pt x="144" y="186"/>
                      </a:lnTo>
                      <a:lnTo>
                        <a:pt x="152" y="172"/>
                      </a:lnTo>
                      <a:lnTo>
                        <a:pt x="162" y="164"/>
                      </a:lnTo>
                      <a:lnTo>
                        <a:pt x="174" y="164"/>
                      </a:lnTo>
                      <a:lnTo>
                        <a:pt x="193" y="180"/>
                      </a:lnTo>
                      <a:lnTo>
                        <a:pt x="200" y="171"/>
                      </a:lnTo>
                      <a:lnTo>
                        <a:pt x="201" y="164"/>
                      </a:lnTo>
                      <a:lnTo>
                        <a:pt x="201" y="156"/>
                      </a:lnTo>
                      <a:lnTo>
                        <a:pt x="199" y="149"/>
                      </a:lnTo>
                      <a:lnTo>
                        <a:pt x="199" y="142"/>
                      </a:lnTo>
                      <a:lnTo>
                        <a:pt x="199" y="125"/>
                      </a:lnTo>
                      <a:lnTo>
                        <a:pt x="198" y="119"/>
                      </a:lnTo>
                      <a:lnTo>
                        <a:pt x="196" y="111"/>
                      </a:lnTo>
                      <a:lnTo>
                        <a:pt x="188" y="98"/>
                      </a:lnTo>
                      <a:lnTo>
                        <a:pt x="178" y="86"/>
                      </a:lnTo>
                      <a:lnTo>
                        <a:pt x="166" y="78"/>
                      </a:lnTo>
                    </a:path>
                  </a:pathLst>
                </a:custGeom>
                <a:solidFill>
                  <a:srgbClr val="201000"/>
                </a:solidFill>
                <a:ln w="12700" cap="rnd">
                  <a:noFill/>
                  <a:round/>
                  <a:headEnd/>
                  <a:tailEnd/>
                </a:ln>
              </p:spPr>
              <p:txBody>
                <a:bodyPr/>
                <a:lstStyle/>
                <a:p>
                  <a:endParaRPr lang="en-US"/>
                </a:p>
              </p:txBody>
            </p:sp>
            <p:sp>
              <p:nvSpPr>
                <p:cNvPr id="22576" name="Freeform 42"/>
                <p:cNvSpPr>
                  <a:spLocks/>
                </p:cNvSpPr>
                <p:nvPr/>
              </p:nvSpPr>
              <p:spPr bwMode="auto">
                <a:xfrm>
                  <a:off x="2190" y="1278"/>
                  <a:ext cx="111" cy="103"/>
                </a:xfrm>
                <a:custGeom>
                  <a:avLst/>
                  <a:gdLst>
                    <a:gd name="T0" fmla="*/ 65 w 111"/>
                    <a:gd name="T1" fmla="*/ 38 h 103"/>
                    <a:gd name="T2" fmla="*/ 57 w 111"/>
                    <a:gd name="T3" fmla="*/ 48 h 103"/>
                    <a:gd name="T4" fmla="*/ 51 w 111"/>
                    <a:gd name="T5" fmla="*/ 47 h 103"/>
                    <a:gd name="T6" fmla="*/ 47 w 111"/>
                    <a:gd name="T7" fmla="*/ 34 h 103"/>
                    <a:gd name="T8" fmla="*/ 50 w 111"/>
                    <a:gd name="T9" fmla="*/ 16 h 103"/>
                    <a:gd name="T10" fmla="*/ 63 w 111"/>
                    <a:gd name="T11" fmla="*/ 7 h 103"/>
                    <a:gd name="T12" fmla="*/ 76 w 111"/>
                    <a:gd name="T13" fmla="*/ 0 h 103"/>
                    <a:gd name="T14" fmla="*/ 92 w 111"/>
                    <a:gd name="T15" fmla="*/ 10 h 103"/>
                    <a:gd name="T16" fmla="*/ 102 w 111"/>
                    <a:gd name="T17" fmla="*/ 24 h 103"/>
                    <a:gd name="T18" fmla="*/ 107 w 111"/>
                    <a:gd name="T19" fmla="*/ 35 h 103"/>
                    <a:gd name="T20" fmla="*/ 110 w 111"/>
                    <a:gd name="T21" fmla="*/ 45 h 103"/>
                    <a:gd name="T22" fmla="*/ 96 w 111"/>
                    <a:gd name="T23" fmla="*/ 52 h 103"/>
                    <a:gd name="T24" fmla="*/ 101 w 111"/>
                    <a:gd name="T25" fmla="*/ 60 h 103"/>
                    <a:gd name="T26" fmla="*/ 97 w 111"/>
                    <a:gd name="T27" fmla="*/ 71 h 103"/>
                    <a:gd name="T28" fmla="*/ 83 w 111"/>
                    <a:gd name="T29" fmla="*/ 71 h 103"/>
                    <a:gd name="T30" fmla="*/ 75 w 111"/>
                    <a:gd name="T31" fmla="*/ 75 h 103"/>
                    <a:gd name="T32" fmla="*/ 63 w 111"/>
                    <a:gd name="T33" fmla="*/ 90 h 103"/>
                    <a:gd name="T34" fmla="*/ 41 w 111"/>
                    <a:gd name="T35" fmla="*/ 101 h 103"/>
                    <a:gd name="T36" fmla="*/ 16 w 111"/>
                    <a:gd name="T37" fmla="*/ 102 h 103"/>
                    <a:gd name="T38" fmla="*/ 0 w 111"/>
                    <a:gd name="T39" fmla="*/ 92 h 103"/>
                    <a:gd name="T40" fmla="*/ 14 w 111"/>
                    <a:gd name="T41" fmla="*/ 92 h 103"/>
                    <a:gd name="T42" fmla="*/ 38 w 111"/>
                    <a:gd name="T43" fmla="*/ 90 h 103"/>
                    <a:gd name="T44" fmla="*/ 49 w 111"/>
                    <a:gd name="T45" fmla="*/ 85 h 103"/>
                    <a:gd name="T46" fmla="*/ 27 w 111"/>
                    <a:gd name="T47" fmla="*/ 88 h 103"/>
                    <a:gd name="T48" fmla="*/ 11 w 111"/>
                    <a:gd name="T49" fmla="*/ 86 h 103"/>
                    <a:gd name="T50" fmla="*/ 2 w 111"/>
                    <a:gd name="T51" fmla="*/ 76 h 103"/>
                    <a:gd name="T52" fmla="*/ 23 w 111"/>
                    <a:gd name="T53" fmla="*/ 78 h 103"/>
                    <a:gd name="T54" fmla="*/ 43 w 111"/>
                    <a:gd name="T55" fmla="*/ 75 h 103"/>
                    <a:gd name="T56" fmla="*/ 56 w 111"/>
                    <a:gd name="T57" fmla="*/ 70 h 103"/>
                    <a:gd name="T58" fmla="*/ 22 w 111"/>
                    <a:gd name="T59" fmla="*/ 70 h 103"/>
                    <a:gd name="T60" fmla="*/ 62 w 111"/>
                    <a:gd name="T61" fmla="*/ 66 h 103"/>
                    <a:gd name="T62" fmla="*/ 69 w 111"/>
                    <a:gd name="T63" fmla="*/ 56 h 103"/>
                    <a:gd name="T64" fmla="*/ 65 w 111"/>
                    <a:gd name="T65" fmla="*/ 38 h 10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11"/>
                    <a:gd name="T100" fmla="*/ 0 h 103"/>
                    <a:gd name="T101" fmla="*/ 111 w 111"/>
                    <a:gd name="T102" fmla="*/ 103 h 103"/>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11" h="103">
                      <a:moveTo>
                        <a:pt x="65" y="38"/>
                      </a:moveTo>
                      <a:lnTo>
                        <a:pt x="57" y="48"/>
                      </a:lnTo>
                      <a:lnTo>
                        <a:pt x="51" y="47"/>
                      </a:lnTo>
                      <a:lnTo>
                        <a:pt x="47" y="34"/>
                      </a:lnTo>
                      <a:lnTo>
                        <a:pt x="50" y="16"/>
                      </a:lnTo>
                      <a:lnTo>
                        <a:pt x="63" y="7"/>
                      </a:lnTo>
                      <a:lnTo>
                        <a:pt x="76" y="0"/>
                      </a:lnTo>
                      <a:lnTo>
                        <a:pt x="92" y="10"/>
                      </a:lnTo>
                      <a:lnTo>
                        <a:pt x="102" y="24"/>
                      </a:lnTo>
                      <a:lnTo>
                        <a:pt x="107" y="35"/>
                      </a:lnTo>
                      <a:lnTo>
                        <a:pt x="110" y="45"/>
                      </a:lnTo>
                      <a:lnTo>
                        <a:pt x="96" y="52"/>
                      </a:lnTo>
                      <a:lnTo>
                        <a:pt x="101" y="60"/>
                      </a:lnTo>
                      <a:lnTo>
                        <a:pt x="97" y="71"/>
                      </a:lnTo>
                      <a:lnTo>
                        <a:pt x="83" y="71"/>
                      </a:lnTo>
                      <a:lnTo>
                        <a:pt x="75" y="75"/>
                      </a:lnTo>
                      <a:lnTo>
                        <a:pt x="63" y="90"/>
                      </a:lnTo>
                      <a:lnTo>
                        <a:pt x="41" y="101"/>
                      </a:lnTo>
                      <a:lnTo>
                        <a:pt x="16" y="102"/>
                      </a:lnTo>
                      <a:lnTo>
                        <a:pt x="0" y="92"/>
                      </a:lnTo>
                      <a:lnTo>
                        <a:pt x="14" y="92"/>
                      </a:lnTo>
                      <a:lnTo>
                        <a:pt x="38" y="90"/>
                      </a:lnTo>
                      <a:lnTo>
                        <a:pt x="49" y="85"/>
                      </a:lnTo>
                      <a:lnTo>
                        <a:pt x="27" y="88"/>
                      </a:lnTo>
                      <a:lnTo>
                        <a:pt x="11" y="86"/>
                      </a:lnTo>
                      <a:lnTo>
                        <a:pt x="2" y="76"/>
                      </a:lnTo>
                      <a:lnTo>
                        <a:pt x="23" y="78"/>
                      </a:lnTo>
                      <a:lnTo>
                        <a:pt x="43" y="75"/>
                      </a:lnTo>
                      <a:lnTo>
                        <a:pt x="56" y="70"/>
                      </a:lnTo>
                      <a:lnTo>
                        <a:pt x="22" y="70"/>
                      </a:lnTo>
                      <a:lnTo>
                        <a:pt x="62" y="66"/>
                      </a:lnTo>
                      <a:lnTo>
                        <a:pt x="69" y="56"/>
                      </a:lnTo>
                      <a:lnTo>
                        <a:pt x="65" y="38"/>
                      </a:lnTo>
                    </a:path>
                  </a:pathLst>
                </a:custGeom>
                <a:solidFill>
                  <a:srgbClr val="402000"/>
                </a:solidFill>
                <a:ln w="12700" cap="rnd">
                  <a:noFill/>
                  <a:round/>
                  <a:headEnd/>
                  <a:tailEnd/>
                </a:ln>
              </p:spPr>
              <p:txBody>
                <a:bodyPr/>
                <a:lstStyle/>
                <a:p>
                  <a:endParaRPr lang="en-US"/>
                </a:p>
              </p:txBody>
            </p:sp>
            <p:sp>
              <p:nvSpPr>
                <p:cNvPr id="22577" name="Freeform 43"/>
                <p:cNvSpPr>
                  <a:spLocks/>
                </p:cNvSpPr>
                <p:nvPr/>
              </p:nvSpPr>
              <p:spPr bwMode="auto">
                <a:xfrm>
                  <a:off x="2139" y="1199"/>
                  <a:ext cx="167" cy="140"/>
                </a:xfrm>
                <a:custGeom>
                  <a:avLst/>
                  <a:gdLst>
                    <a:gd name="T0" fmla="*/ 166 w 167"/>
                    <a:gd name="T1" fmla="*/ 26 h 140"/>
                    <a:gd name="T2" fmla="*/ 164 w 167"/>
                    <a:gd name="T3" fmla="*/ 45 h 140"/>
                    <a:gd name="T4" fmla="*/ 159 w 167"/>
                    <a:gd name="T5" fmla="*/ 57 h 140"/>
                    <a:gd name="T6" fmla="*/ 140 w 167"/>
                    <a:gd name="T7" fmla="*/ 59 h 140"/>
                    <a:gd name="T8" fmla="*/ 114 w 167"/>
                    <a:gd name="T9" fmla="*/ 71 h 140"/>
                    <a:gd name="T10" fmla="*/ 91 w 167"/>
                    <a:gd name="T11" fmla="*/ 83 h 140"/>
                    <a:gd name="T12" fmla="*/ 77 w 167"/>
                    <a:gd name="T13" fmla="*/ 101 h 140"/>
                    <a:gd name="T14" fmla="*/ 57 w 167"/>
                    <a:gd name="T15" fmla="*/ 139 h 140"/>
                    <a:gd name="T16" fmla="*/ 65 w 167"/>
                    <a:gd name="T17" fmla="*/ 103 h 140"/>
                    <a:gd name="T18" fmla="*/ 72 w 167"/>
                    <a:gd name="T19" fmla="*/ 87 h 140"/>
                    <a:gd name="T20" fmla="*/ 86 w 167"/>
                    <a:gd name="T21" fmla="*/ 74 h 140"/>
                    <a:gd name="T22" fmla="*/ 56 w 167"/>
                    <a:gd name="T23" fmla="*/ 83 h 140"/>
                    <a:gd name="T24" fmla="*/ 44 w 167"/>
                    <a:gd name="T25" fmla="*/ 102 h 140"/>
                    <a:gd name="T26" fmla="*/ 34 w 167"/>
                    <a:gd name="T27" fmla="*/ 135 h 140"/>
                    <a:gd name="T28" fmla="*/ 39 w 167"/>
                    <a:gd name="T29" fmla="*/ 95 h 140"/>
                    <a:gd name="T30" fmla="*/ 50 w 167"/>
                    <a:gd name="T31" fmla="*/ 72 h 140"/>
                    <a:gd name="T32" fmla="*/ 64 w 167"/>
                    <a:gd name="T33" fmla="*/ 55 h 140"/>
                    <a:gd name="T34" fmla="*/ 48 w 167"/>
                    <a:gd name="T35" fmla="*/ 60 h 140"/>
                    <a:gd name="T36" fmla="*/ 30 w 167"/>
                    <a:gd name="T37" fmla="*/ 74 h 140"/>
                    <a:gd name="T38" fmla="*/ 12 w 167"/>
                    <a:gd name="T39" fmla="*/ 96 h 140"/>
                    <a:gd name="T40" fmla="*/ 5 w 167"/>
                    <a:gd name="T41" fmla="*/ 119 h 140"/>
                    <a:gd name="T42" fmla="*/ 9 w 167"/>
                    <a:gd name="T43" fmla="*/ 85 h 140"/>
                    <a:gd name="T44" fmla="*/ 20 w 167"/>
                    <a:gd name="T45" fmla="*/ 63 h 140"/>
                    <a:gd name="T46" fmla="*/ 0 w 167"/>
                    <a:gd name="T47" fmla="*/ 80 h 140"/>
                    <a:gd name="T48" fmla="*/ 20 w 167"/>
                    <a:gd name="T49" fmla="*/ 54 h 140"/>
                    <a:gd name="T50" fmla="*/ 36 w 167"/>
                    <a:gd name="T51" fmla="*/ 45 h 140"/>
                    <a:gd name="T52" fmla="*/ 59 w 167"/>
                    <a:gd name="T53" fmla="*/ 35 h 140"/>
                    <a:gd name="T54" fmla="*/ 69 w 167"/>
                    <a:gd name="T55" fmla="*/ 24 h 140"/>
                    <a:gd name="T56" fmla="*/ 87 w 167"/>
                    <a:gd name="T57" fmla="*/ 19 h 140"/>
                    <a:gd name="T58" fmla="*/ 94 w 167"/>
                    <a:gd name="T59" fmla="*/ 26 h 140"/>
                    <a:gd name="T60" fmla="*/ 95 w 167"/>
                    <a:gd name="T61" fmla="*/ 16 h 140"/>
                    <a:gd name="T62" fmla="*/ 104 w 167"/>
                    <a:gd name="T63" fmla="*/ 4 h 140"/>
                    <a:gd name="T64" fmla="*/ 131 w 167"/>
                    <a:gd name="T65" fmla="*/ 0 h 140"/>
                    <a:gd name="T66" fmla="*/ 144 w 167"/>
                    <a:gd name="T67" fmla="*/ 1 h 140"/>
                    <a:gd name="T68" fmla="*/ 131 w 167"/>
                    <a:gd name="T69" fmla="*/ 9 h 140"/>
                    <a:gd name="T70" fmla="*/ 121 w 167"/>
                    <a:gd name="T71" fmla="*/ 23 h 140"/>
                    <a:gd name="T72" fmla="*/ 136 w 167"/>
                    <a:gd name="T73" fmla="*/ 18 h 140"/>
                    <a:gd name="T74" fmla="*/ 153 w 167"/>
                    <a:gd name="T75" fmla="*/ 6 h 140"/>
                    <a:gd name="T76" fmla="*/ 162 w 167"/>
                    <a:gd name="T77" fmla="*/ 12 h 140"/>
                    <a:gd name="T78" fmla="*/ 166 w 167"/>
                    <a:gd name="T79" fmla="*/ 26 h 140"/>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167"/>
                    <a:gd name="T121" fmla="*/ 0 h 140"/>
                    <a:gd name="T122" fmla="*/ 167 w 167"/>
                    <a:gd name="T123" fmla="*/ 140 h 140"/>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167" h="140">
                      <a:moveTo>
                        <a:pt x="166" y="26"/>
                      </a:moveTo>
                      <a:lnTo>
                        <a:pt x="164" y="45"/>
                      </a:lnTo>
                      <a:lnTo>
                        <a:pt x="159" y="57"/>
                      </a:lnTo>
                      <a:lnTo>
                        <a:pt x="140" y="59"/>
                      </a:lnTo>
                      <a:lnTo>
                        <a:pt x="114" y="71"/>
                      </a:lnTo>
                      <a:lnTo>
                        <a:pt x="91" y="83"/>
                      </a:lnTo>
                      <a:lnTo>
                        <a:pt x="77" y="101"/>
                      </a:lnTo>
                      <a:lnTo>
                        <a:pt x="57" y="139"/>
                      </a:lnTo>
                      <a:lnTo>
                        <a:pt x="65" y="103"/>
                      </a:lnTo>
                      <a:lnTo>
                        <a:pt x="72" y="87"/>
                      </a:lnTo>
                      <a:lnTo>
                        <a:pt x="86" y="74"/>
                      </a:lnTo>
                      <a:lnTo>
                        <a:pt x="56" y="83"/>
                      </a:lnTo>
                      <a:lnTo>
                        <a:pt x="44" y="102"/>
                      </a:lnTo>
                      <a:lnTo>
                        <a:pt x="34" y="135"/>
                      </a:lnTo>
                      <a:lnTo>
                        <a:pt x="39" y="95"/>
                      </a:lnTo>
                      <a:lnTo>
                        <a:pt x="50" y="72"/>
                      </a:lnTo>
                      <a:lnTo>
                        <a:pt x="64" y="55"/>
                      </a:lnTo>
                      <a:lnTo>
                        <a:pt x="48" y="60"/>
                      </a:lnTo>
                      <a:lnTo>
                        <a:pt x="30" y="74"/>
                      </a:lnTo>
                      <a:lnTo>
                        <a:pt x="12" y="96"/>
                      </a:lnTo>
                      <a:lnTo>
                        <a:pt x="5" y="119"/>
                      </a:lnTo>
                      <a:lnTo>
                        <a:pt x="9" y="85"/>
                      </a:lnTo>
                      <a:lnTo>
                        <a:pt x="20" y="63"/>
                      </a:lnTo>
                      <a:lnTo>
                        <a:pt x="0" y="80"/>
                      </a:lnTo>
                      <a:lnTo>
                        <a:pt x="20" y="54"/>
                      </a:lnTo>
                      <a:lnTo>
                        <a:pt x="36" y="45"/>
                      </a:lnTo>
                      <a:lnTo>
                        <a:pt x="59" y="35"/>
                      </a:lnTo>
                      <a:lnTo>
                        <a:pt x="69" y="24"/>
                      </a:lnTo>
                      <a:lnTo>
                        <a:pt x="87" y="19"/>
                      </a:lnTo>
                      <a:lnTo>
                        <a:pt x="94" y="26"/>
                      </a:lnTo>
                      <a:lnTo>
                        <a:pt x="95" y="16"/>
                      </a:lnTo>
                      <a:lnTo>
                        <a:pt x="104" y="4"/>
                      </a:lnTo>
                      <a:lnTo>
                        <a:pt x="131" y="0"/>
                      </a:lnTo>
                      <a:lnTo>
                        <a:pt x="144" y="1"/>
                      </a:lnTo>
                      <a:lnTo>
                        <a:pt x="131" y="9"/>
                      </a:lnTo>
                      <a:lnTo>
                        <a:pt x="121" y="23"/>
                      </a:lnTo>
                      <a:lnTo>
                        <a:pt x="136" y="18"/>
                      </a:lnTo>
                      <a:lnTo>
                        <a:pt x="153" y="6"/>
                      </a:lnTo>
                      <a:lnTo>
                        <a:pt x="162" y="12"/>
                      </a:lnTo>
                      <a:lnTo>
                        <a:pt x="166" y="26"/>
                      </a:lnTo>
                    </a:path>
                  </a:pathLst>
                </a:custGeom>
                <a:solidFill>
                  <a:srgbClr val="402000"/>
                </a:solidFill>
                <a:ln w="12700" cap="rnd">
                  <a:noFill/>
                  <a:round/>
                  <a:headEnd/>
                  <a:tailEnd/>
                </a:ln>
              </p:spPr>
              <p:txBody>
                <a:bodyPr/>
                <a:lstStyle/>
                <a:p>
                  <a:endParaRPr lang="en-US"/>
                </a:p>
              </p:txBody>
            </p:sp>
          </p:grpSp>
        </p:grpSp>
        <p:grpSp>
          <p:nvGrpSpPr>
            <p:cNvPr id="22556" name="Group 44"/>
            <p:cNvGrpSpPr>
              <a:grpSpLocks/>
            </p:cNvGrpSpPr>
            <p:nvPr/>
          </p:nvGrpSpPr>
          <p:grpSpPr bwMode="auto">
            <a:xfrm>
              <a:off x="2243" y="1346"/>
              <a:ext cx="248" cy="123"/>
              <a:chOff x="2243" y="1346"/>
              <a:chExt cx="248" cy="123"/>
            </a:xfrm>
          </p:grpSpPr>
          <p:sp>
            <p:nvSpPr>
              <p:cNvPr id="22569" name="Freeform 45"/>
              <p:cNvSpPr>
                <a:spLocks/>
              </p:cNvSpPr>
              <p:nvPr/>
            </p:nvSpPr>
            <p:spPr bwMode="auto">
              <a:xfrm>
                <a:off x="2243" y="1346"/>
                <a:ext cx="248" cy="123"/>
              </a:xfrm>
              <a:custGeom>
                <a:avLst/>
                <a:gdLst>
                  <a:gd name="T0" fmla="*/ 156 w 248"/>
                  <a:gd name="T1" fmla="*/ 44 h 123"/>
                  <a:gd name="T2" fmla="*/ 180 w 248"/>
                  <a:gd name="T3" fmla="*/ 34 h 123"/>
                  <a:gd name="T4" fmla="*/ 179 w 248"/>
                  <a:gd name="T5" fmla="*/ 22 h 123"/>
                  <a:gd name="T6" fmla="*/ 185 w 248"/>
                  <a:gd name="T7" fmla="*/ 12 h 123"/>
                  <a:gd name="T8" fmla="*/ 199 w 248"/>
                  <a:gd name="T9" fmla="*/ 3 h 123"/>
                  <a:gd name="T10" fmla="*/ 213 w 248"/>
                  <a:gd name="T11" fmla="*/ 0 h 123"/>
                  <a:gd name="T12" fmla="*/ 231 w 248"/>
                  <a:gd name="T13" fmla="*/ 4 h 123"/>
                  <a:gd name="T14" fmla="*/ 243 w 248"/>
                  <a:gd name="T15" fmla="*/ 13 h 123"/>
                  <a:gd name="T16" fmla="*/ 247 w 248"/>
                  <a:gd name="T17" fmla="*/ 32 h 123"/>
                  <a:gd name="T18" fmla="*/ 247 w 248"/>
                  <a:gd name="T19" fmla="*/ 58 h 123"/>
                  <a:gd name="T20" fmla="*/ 235 w 248"/>
                  <a:gd name="T21" fmla="*/ 71 h 123"/>
                  <a:gd name="T22" fmla="*/ 179 w 248"/>
                  <a:gd name="T23" fmla="*/ 96 h 123"/>
                  <a:gd name="T24" fmla="*/ 110 w 248"/>
                  <a:gd name="T25" fmla="*/ 115 h 123"/>
                  <a:gd name="T26" fmla="*/ 57 w 248"/>
                  <a:gd name="T27" fmla="*/ 122 h 123"/>
                  <a:gd name="T28" fmla="*/ 32 w 248"/>
                  <a:gd name="T29" fmla="*/ 117 h 123"/>
                  <a:gd name="T30" fmla="*/ 16 w 248"/>
                  <a:gd name="T31" fmla="*/ 108 h 123"/>
                  <a:gd name="T32" fmla="*/ 5 w 248"/>
                  <a:gd name="T33" fmla="*/ 90 h 123"/>
                  <a:gd name="T34" fmla="*/ 0 w 248"/>
                  <a:gd name="T35" fmla="*/ 77 h 123"/>
                  <a:gd name="T36" fmla="*/ 5 w 248"/>
                  <a:gd name="T37" fmla="*/ 63 h 123"/>
                  <a:gd name="T38" fmla="*/ 16 w 248"/>
                  <a:gd name="T39" fmla="*/ 48 h 123"/>
                  <a:gd name="T40" fmla="*/ 25 w 248"/>
                  <a:gd name="T41" fmla="*/ 37 h 123"/>
                  <a:gd name="T42" fmla="*/ 38 w 248"/>
                  <a:gd name="T43" fmla="*/ 35 h 123"/>
                  <a:gd name="T44" fmla="*/ 51 w 248"/>
                  <a:gd name="T45" fmla="*/ 36 h 123"/>
                  <a:gd name="T46" fmla="*/ 60 w 248"/>
                  <a:gd name="T47" fmla="*/ 41 h 123"/>
                  <a:gd name="T48" fmla="*/ 68 w 248"/>
                  <a:gd name="T49" fmla="*/ 56 h 123"/>
                  <a:gd name="T50" fmla="*/ 79 w 248"/>
                  <a:gd name="T51" fmla="*/ 64 h 123"/>
                  <a:gd name="T52" fmla="*/ 100 w 248"/>
                  <a:gd name="T53" fmla="*/ 61 h 123"/>
                  <a:gd name="T54" fmla="*/ 138 w 248"/>
                  <a:gd name="T55" fmla="*/ 53 h 123"/>
                  <a:gd name="T56" fmla="*/ 156 w 248"/>
                  <a:gd name="T57" fmla="*/ 44 h 123"/>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248"/>
                  <a:gd name="T88" fmla="*/ 0 h 123"/>
                  <a:gd name="T89" fmla="*/ 248 w 248"/>
                  <a:gd name="T90" fmla="*/ 123 h 123"/>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248" h="123">
                    <a:moveTo>
                      <a:pt x="156" y="44"/>
                    </a:moveTo>
                    <a:lnTo>
                      <a:pt x="180" y="34"/>
                    </a:lnTo>
                    <a:lnTo>
                      <a:pt x="179" y="22"/>
                    </a:lnTo>
                    <a:lnTo>
                      <a:pt x="185" y="12"/>
                    </a:lnTo>
                    <a:lnTo>
                      <a:pt x="199" y="3"/>
                    </a:lnTo>
                    <a:lnTo>
                      <a:pt x="213" y="0"/>
                    </a:lnTo>
                    <a:lnTo>
                      <a:pt x="231" y="4"/>
                    </a:lnTo>
                    <a:lnTo>
                      <a:pt x="243" y="13"/>
                    </a:lnTo>
                    <a:lnTo>
                      <a:pt x="247" y="32"/>
                    </a:lnTo>
                    <a:lnTo>
                      <a:pt x="247" y="58"/>
                    </a:lnTo>
                    <a:lnTo>
                      <a:pt x="235" y="71"/>
                    </a:lnTo>
                    <a:lnTo>
                      <a:pt x="179" y="96"/>
                    </a:lnTo>
                    <a:lnTo>
                      <a:pt x="110" y="115"/>
                    </a:lnTo>
                    <a:lnTo>
                      <a:pt x="57" y="122"/>
                    </a:lnTo>
                    <a:lnTo>
                      <a:pt x="32" y="117"/>
                    </a:lnTo>
                    <a:lnTo>
                      <a:pt x="16" y="108"/>
                    </a:lnTo>
                    <a:lnTo>
                      <a:pt x="5" y="90"/>
                    </a:lnTo>
                    <a:lnTo>
                      <a:pt x="0" y="77"/>
                    </a:lnTo>
                    <a:lnTo>
                      <a:pt x="5" y="63"/>
                    </a:lnTo>
                    <a:lnTo>
                      <a:pt x="16" y="48"/>
                    </a:lnTo>
                    <a:lnTo>
                      <a:pt x="25" y="37"/>
                    </a:lnTo>
                    <a:lnTo>
                      <a:pt x="38" y="35"/>
                    </a:lnTo>
                    <a:lnTo>
                      <a:pt x="51" y="36"/>
                    </a:lnTo>
                    <a:lnTo>
                      <a:pt x="60" y="41"/>
                    </a:lnTo>
                    <a:lnTo>
                      <a:pt x="68" y="56"/>
                    </a:lnTo>
                    <a:lnTo>
                      <a:pt x="79" y="64"/>
                    </a:lnTo>
                    <a:lnTo>
                      <a:pt x="100" y="61"/>
                    </a:lnTo>
                    <a:lnTo>
                      <a:pt x="138" y="53"/>
                    </a:lnTo>
                    <a:lnTo>
                      <a:pt x="156" y="44"/>
                    </a:lnTo>
                  </a:path>
                </a:pathLst>
              </a:custGeom>
              <a:solidFill>
                <a:srgbClr val="808080"/>
              </a:solidFill>
              <a:ln w="12700" cap="rnd">
                <a:noFill/>
                <a:round/>
                <a:headEnd/>
                <a:tailEnd/>
              </a:ln>
            </p:spPr>
            <p:txBody>
              <a:bodyPr/>
              <a:lstStyle/>
              <a:p>
                <a:endParaRPr lang="en-US"/>
              </a:p>
            </p:txBody>
          </p:sp>
          <p:sp>
            <p:nvSpPr>
              <p:cNvPr id="22570" name="Freeform 46"/>
              <p:cNvSpPr>
                <a:spLocks/>
              </p:cNvSpPr>
              <p:nvPr/>
            </p:nvSpPr>
            <p:spPr bwMode="auto">
              <a:xfrm>
                <a:off x="2249" y="1386"/>
                <a:ext cx="52" cy="60"/>
              </a:xfrm>
              <a:custGeom>
                <a:avLst/>
                <a:gdLst>
                  <a:gd name="T0" fmla="*/ 49 w 52"/>
                  <a:gd name="T1" fmla="*/ 12 h 60"/>
                  <a:gd name="T2" fmla="*/ 51 w 52"/>
                  <a:gd name="T3" fmla="*/ 7 h 60"/>
                  <a:gd name="T4" fmla="*/ 40 w 52"/>
                  <a:gd name="T5" fmla="*/ 0 h 60"/>
                  <a:gd name="T6" fmla="*/ 25 w 52"/>
                  <a:gd name="T7" fmla="*/ 2 h 60"/>
                  <a:gd name="T8" fmla="*/ 13 w 52"/>
                  <a:gd name="T9" fmla="*/ 9 h 60"/>
                  <a:gd name="T10" fmla="*/ 4 w 52"/>
                  <a:gd name="T11" fmla="*/ 23 h 60"/>
                  <a:gd name="T12" fmla="*/ 0 w 52"/>
                  <a:gd name="T13" fmla="*/ 35 h 60"/>
                  <a:gd name="T14" fmla="*/ 2 w 52"/>
                  <a:gd name="T15" fmla="*/ 48 h 60"/>
                  <a:gd name="T16" fmla="*/ 9 w 52"/>
                  <a:gd name="T17" fmla="*/ 59 h 60"/>
                  <a:gd name="T18" fmla="*/ 13 w 52"/>
                  <a:gd name="T19" fmla="*/ 36 h 60"/>
                  <a:gd name="T20" fmla="*/ 22 w 52"/>
                  <a:gd name="T21" fmla="*/ 21 h 60"/>
                  <a:gd name="T22" fmla="*/ 32 w 52"/>
                  <a:gd name="T23" fmla="*/ 13 h 60"/>
                  <a:gd name="T24" fmla="*/ 49 w 52"/>
                  <a:gd name="T25" fmla="*/ 12 h 6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2"/>
                  <a:gd name="T40" fmla="*/ 0 h 60"/>
                  <a:gd name="T41" fmla="*/ 52 w 52"/>
                  <a:gd name="T42" fmla="*/ 60 h 6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2" h="60">
                    <a:moveTo>
                      <a:pt x="49" y="12"/>
                    </a:moveTo>
                    <a:lnTo>
                      <a:pt x="51" y="7"/>
                    </a:lnTo>
                    <a:lnTo>
                      <a:pt x="40" y="0"/>
                    </a:lnTo>
                    <a:lnTo>
                      <a:pt x="25" y="2"/>
                    </a:lnTo>
                    <a:lnTo>
                      <a:pt x="13" y="9"/>
                    </a:lnTo>
                    <a:lnTo>
                      <a:pt x="4" y="23"/>
                    </a:lnTo>
                    <a:lnTo>
                      <a:pt x="0" y="35"/>
                    </a:lnTo>
                    <a:lnTo>
                      <a:pt x="2" y="48"/>
                    </a:lnTo>
                    <a:lnTo>
                      <a:pt x="9" y="59"/>
                    </a:lnTo>
                    <a:lnTo>
                      <a:pt x="13" y="36"/>
                    </a:lnTo>
                    <a:lnTo>
                      <a:pt x="22" y="21"/>
                    </a:lnTo>
                    <a:lnTo>
                      <a:pt x="32" y="13"/>
                    </a:lnTo>
                    <a:lnTo>
                      <a:pt x="49" y="12"/>
                    </a:lnTo>
                  </a:path>
                </a:pathLst>
              </a:custGeom>
              <a:solidFill>
                <a:srgbClr val="000000"/>
              </a:solidFill>
              <a:ln w="12700" cap="rnd">
                <a:noFill/>
                <a:round/>
                <a:headEnd/>
                <a:tailEnd/>
              </a:ln>
            </p:spPr>
            <p:txBody>
              <a:bodyPr/>
              <a:lstStyle/>
              <a:p>
                <a:endParaRPr lang="en-US"/>
              </a:p>
            </p:txBody>
          </p:sp>
          <p:sp>
            <p:nvSpPr>
              <p:cNvPr id="22571" name="Freeform 47"/>
              <p:cNvSpPr>
                <a:spLocks/>
              </p:cNvSpPr>
              <p:nvPr/>
            </p:nvSpPr>
            <p:spPr bwMode="auto">
              <a:xfrm>
                <a:off x="2262" y="1365"/>
                <a:ext cx="223" cy="96"/>
              </a:xfrm>
              <a:custGeom>
                <a:avLst/>
                <a:gdLst>
                  <a:gd name="T0" fmla="*/ 0 w 223"/>
                  <a:gd name="T1" fmla="*/ 84 h 96"/>
                  <a:gd name="T2" fmla="*/ 0 w 223"/>
                  <a:gd name="T3" fmla="*/ 68 h 96"/>
                  <a:gd name="T4" fmla="*/ 5 w 223"/>
                  <a:gd name="T5" fmla="*/ 53 h 96"/>
                  <a:gd name="T6" fmla="*/ 12 w 223"/>
                  <a:gd name="T7" fmla="*/ 46 h 96"/>
                  <a:gd name="T8" fmla="*/ 20 w 223"/>
                  <a:gd name="T9" fmla="*/ 37 h 96"/>
                  <a:gd name="T10" fmla="*/ 31 w 223"/>
                  <a:gd name="T11" fmla="*/ 35 h 96"/>
                  <a:gd name="T12" fmla="*/ 39 w 223"/>
                  <a:gd name="T13" fmla="*/ 36 h 96"/>
                  <a:gd name="T14" fmla="*/ 58 w 223"/>
                  <a:gd name="T15" fmla="*/ 48 h 96"/>
                  <a:gd name="T16" fmla="*/ 85 w 223"/>
                  <a:gd name="T17" fmla="*/ 47 h 96"/>
                  <a:gd name="T18" fmla="*/ 114 w 223"/>
                  <a:gd name="T19" fmla="*/ 39 h 96"/>
                  <a:gd name="T20" fmla="*/ 164 w 223"/>
                  <a:gd name="T21" fmla="*/ 17 h 96"/>
                  <a:gd name="T22" fmla="*/ 177 w 223"/>
                  <a:gd name="T23" fmla="*/ 3 h 96"/>
                  <a:gd name="T24" fmla="*/ 194 w 223"/>
                  <a:gd name="T25" fmla="*/ 0 h 96"/>
                  <a:gd name="T26" fmla="*/ 210 w 223"/>
                  <a:gd name="T27" fmla="*/ 3 h 96"/>
                  <a:gd name="T28" fmla="*/ 222 w 223"/>
                  <a:gd name="T29" fmla="*/ 13 h 96"/>
                  <a:gd name="T30" fmla="*/ 221 w 223"/>
                  <a:gd name="T31" fmla="*/ 34 h 96"/>
                  <a:gd name="T32" fmla="*/ 209 w 223"/>
                  <a:gd name="T33" fmla="*/ 47 h 96"/>
                  <a:gd name="T34" fmla="*/ 156 w 223"/>
                  <a:gd name="T35" fmla="*/ 71 h 96"/>
                  <a:gd name="T36" fmla="*/ 69 w 223"/>
                  <a:gd name="T37" fmla="*/ 91 h 96"/>
                  <a:gd name="T38" fmla="*/ 41 w 223"/>
                  <a:gd name="T39" fmla="*/ 95 h 96"/>
                  <a:gd name="T40" fmla="*/ 15 w 223"/>
                  <a:gd name="T41" fmla="*/ 92 h 96"/>
                  <a:gd name="T42" fmla="*/ 0 w 223"/>
                  <a:gd name="T43" fmla="*/ 84 h 9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223"/>
                  <a:gd name="T67" fmla="*/ 0 h 96"/>
                  <a:gd name="T68" fmla="*/ 223 w 223"/>
                  <a:gd name="T69" fmla="*/ 96 h 9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223" h="96">
                    <a:moveTo>
                      <a:pt x="0" y="84"/>
                    </a:moveTo>
                    <a:lnTo>
                      <a:pt x="0" y="68"/>
                    </a:lnTo>
                    <a:lnTo>
                      <a:pt x="5" y="53"/>
                    </a:lnTo>
                    <a:lnTo>
                      <a:pt x="12" y="46"/>
                    </a:lnTo>
                    <a:lnTo>
                      <a:pt x="20" y="37"/>
                    </a:lnTo>
                    <a:lnTo>
                      <a:pt x="31" y="35"/>
                    </a:lnTo>
                    <a:lnTo>
                      <a:pt x="39" y="36"/>
                    </a:lnTo>
                    <a:lnTo>
                      <a:pt x="58" y="48"/>
                    </a:lnTo>
                    <a:lnTo>
                      <a:pt x="85" y="47"/>
                    </a:lnTo>
                    <a:lnTo>
                      <a:pt x="114" y="39"/>
                    </a:lnTo>
                    <a:lnTo>
                      <a:pt x="164" y="17"/>
                    </a:lnTo>
                    <a:lnTo>
                      <a:pt x="177" y="3"/>
                    </a:lnTo>
                    <a:lnTo>
                      <a:pt x="194" y="0"/>
                    </a:lnTo>
                    <a:lnTo>
                      <a:pt x="210" y="3"/>
                    </a:lnTo>
                    <a:lnTo>
                      <a:pt x="222" y="13"/>
                    </a:lnTo>
                    <a:lnTo>
                      <a:pt x="221" y="34"/>
                    </a:lnTo>
                    <a:lnTo>
                      <a:pt x="209" y="47"/>
                    </a:lnTo>
                    <a:lnTo>
                      <a:pt x="156" y="71"/>
                    </a:lnTo>
                    <a:lnTo>
                      <a:pt x="69" y="91"/>
                    </a:lnTo>
                    <a:lnTo>
                      <a:pt x="41" y="95"/>
                    </a:lnTo>
                    <a:lnTo>
                      <a:pt x="15" y="92"/>
                    </a:lnTo>
                    <a:lnTo>
                      <a:pt x="0" y="84"/>
                    </a:lnTo>
                  </a:path>
                </a:pathLst>
              </a:custGeom>
              <a:solidFill>
                <a:srgbClr val="000000"/>
              </a:solidFill>
              <a:ln w="12700" cap="rnd">
                <a:noFill/>
                <a:round/>
                <a:headEnd/>
                <a:tailEnd/>
              </a:ln>
            </p:spPr>
            <p:txBody>
              <a:bodyPr/>
              <a:lstStyle/>
              <a:p>
                <a:endParaRPr lang="en-US"/>
              </a:p>
            </p:txBody>
          </p:sp>
          <p:sp>
            <p:nvSpPr>
              <p:cNvPr id="22572" name="Freeform 48"/>
              <p:cNvSpPr>
                <a:spLocks/>
              </p:cNvSpPr>
              <p:nvPr/>
            </p:nvSpPr>
            <p:spPr bwMode="auto">
              <a:xfrm>
                <a:off x="2426" y="1351"/>
                <a:ext cx="60" cy="28"/>
              </a:xfrm>
              <a:custGeom>
                <a:avLst/>
                <a:gdLst>
                  <a:gd name="T0" fmla="*/ 1 w 60"/>
                  <a:gd name="T1" fmla="*/ 27 h 28"/>
                  <a:gd name="T2" fmla="*/ 0 w 60"/>
                  <a:gd name="T3" fmla="*/ 18 h 28"/>
                  <a:gd name="T4" fmla="*/ 5 w 60"/>
                  <a:gd name="T5" fmla="*/ 10 h 28"/>
                  <a:gd name="T6" fmla="*/ 15 w 60"/>
                  <a:gd name="T7" fmla="*/ 5 h 28"/>
                  <a:gd name="T8" fmla="*/ 25 w 60"/>
                  <a:gd name="T9" fmla="*/ 0 h 28"/>
                  <a:gd name="T10" fmla="*/ 41 w 60"/>
                  <a:gd name="T11" fmla="*/ 1 h 28"/>
                  <a:gd name="T12" fmla="*/ 49 w 60"/>
                  <a:gd name="T13" fmla="*/ 6 h 28"/>
                  <a:gd name="T14" fmla="*/ 55 w 60"/>
                  <a:gd name="T15" fmla="*/ 11 h 28"/>
                  <a:gd name="T16" fmla="*/ 59 w 60"/>
                  <a:gd name="T17" fmla="*/ 25 h 28"/>
                  <a:gd name="T18" fmla="*/ 45 w 60"/>
                  <a:gd name="T19" fmla="*/ 13 h 28"/>
                  <a:gd name="T20" fmla="*/ 32 w 60"/>
                  <a:gd name="T21" fmla="*/ 11 h 28"/>
                  <a:gd name="T22" fmla="*/ 17 w 60"/>
                  <a:gd name="T23" fmla="*/ 12 h 28"/>
                  <a:gd name="T24" fmla="*/ 10 w 60"/>
                  <a:gd name="T25" fmla="*/ 15 h 28"/>
                  <a:gd name="T26" fmla="*/ 1 w 60"/>
                  <a:gd name="T27" fmla="*/ 27 h 2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0"/>
                  <a:gd name="T43" fmla="*/ 0 h 28"/>
                  <a:gd name="T44" fmla="*/ 60 w 60"/>
                  <a:gd name="T45" fmla="*/ 28 h 2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0" h="28">
                    <a:moveTo>
                      <a:pt x="1" y="27"/>
                    </a:moveTo>
                    <a:lnTo>
                      <a:pt x="0" y="18"/>
                    </a:lnTo>
                    <a:lnTo>
                      <a:pt x="5" y="10"/>
                    </a:lnTo>
                    <a:lnTo>
                      <a:pt x="15" y="5"/>
                    </a:lnTo>
                    <a:lnTo>
                      <a:pt x="25" y="0"/>
                    </a:lnTo>
                    <a:lnTo>
                      <a:pt x="41" y="1"/>
                    </a:lnTo>
                    <a:lnTo>
                      <a:pt x="49" y="6"/>
                    </a:lnTo>
                    <a:lnTo>
                      <a:pt x="55" y="11"/>
                    </a:lnTo>
                    <a:lnTo>
                      <a:pt x="59" y="25"/>
                    </a:lnTo>
                    <a:lnTo>
                      <a:pt x="45" y="13"/>
                    </a:lnTo>
                    <a:lnTo>
                      <a:pt x="32" y="11"/>
                    </a:lnTo>
                    <a:lnTo>
                      <a:pt x="17" y="12"/>
                    </a:lnTo>
                    <a:lnTo>
                      <a:pt x="10" y="15"/>
                    </a:lnTo>
                    <a:lnTo>
                      <a:pt x="1" y="27"/>
                    </a:lnTo>
                  </a:path>
                </a:pathLst>
              </a:custGeom>
              <a:solidFill>
                <a:srgbClr val="000000"/>
              </a:solidFill>
              <a:ln w="12700" cap="rnd">
                <a:noFill/>
                <a:round/>
                <a:headEnd/>
                <a:tailEnd/>
              </a:ln>
            </p:spPr>
            <p:txBody>
              <a:bodyPr/>
              <a:lstStyle/>
              <a:p>
                <a:endParaRPr lang="en-US"/>
              </a:p>
            </p:txBody>
          </p:sp>
        </p:grpSp>
        <p:grpSp>
          <p:nvGrpSpPr>
            <p:cNvPr id="22557" name="Group 49"/>
            <p:cNvGrpSpPr>
              <a:grpSpLocks/>
            </p:cNvGrpSpPr>
            <p:nvPr/>
          </p:nvGrpSpPr>
          <p:grpSpPr bwMode="auto">
            <a:xfrm>
              <a:off x="2241" y="1345"/>
              <a:ext cx="283" cy="150"/>
              <a:chOff x="2241" y="1345"/>
              <a:chExt cx="283" cy="150"/>
            </a:xfrm>
          </p:grpSpPr>
          <p:sp>
            <p:nvSpPr>
              <p:cNvPr id="22566" name="Freeform 50"/>
              <p:cNvSpPr>
                <a:spLocks/>
              </p:cNvSpPr>
              <p:nvPr/>
            </p:nvSpPr>
            <p:spPr bwMode="auto">
              <a:xfrm>
                <a:off x="2241" y="1345"/>
                <a:ext cx="283" cy="150"/>
              </a:xfrm>
              <a:custGeom>
                <a:avLst/>
                <a:gdLst>
                  <a:gd name="T0" fmla="*/ 0 w 283"/>
                  <a:gd name="T1" fmla="*/ 83 h 150"/>
                  <a:gd name="T2" fmla="*/ 5 w 283"/>
                  <a:gd name="T3" fmla="*/ 78 h 150"/>
                  <a:gd name="T4" fmla="*/ 15 w 283"/>
                  <a:gd name="T5" fmla="*/ 77 h 150"/>
                  <a:gd name="T6" fmla="*/ 24 w 283"/>
                  <a:gd name="T7" fmla="*/ 79 h 150"/>
                  <a:gd name="T8" fmla="*/ 29 w 283"/>
                  <a:gd name="T9" fmla="*/ 82 h 150"/>
                  <a:gd name="T10" fmla="*/ 33 w 283"/>
                  <a:gd name="T11" fmla="*/ 85 h 150"/>
                  <a:gd name="T12" fmla="*/ 53 w 283"/>
                  <a:gd name="T13" fmla="*/ 87 h 150"/>
                  <a:gd name="T14" fmla="*/ 75 w 283"/>
                  <a:gd name="T15" fmla="*/ 91 h 150"/>
                  <a:gd name="T16" fmla="*/ 88 w 283"/>
                  <a:gd name="T17" fmla="*/ 86 h 150"/>
                  <a:gd name="T18" fmla="*/ 85 w 283"/>
                  <a:gd name="T19" fmla="*/ 76 h 150"/>
                  <a:gd name="T20" fmla="*/ 79 w 283"/>
                  <a:gd name="T21" fmla="*/ 67 h 150"/>
                  <a:gd name="T22" fmla="*/ 65 w 283"/>
                  <a:gd name="T23" fmla="*/ 53 h 150"/>
                  <a:gd name="T24" fmla="*/ 67 w 283"/>
                  <a:gd name="T25" fmla="*/ 43 h 150"/>
                  <a:gd name="T26" fmla="*/ 71 w 283"/>
                  <a:gd name="T27" fmla="*/ 40 h 150"/>
                  <a:gd name="T28" fmla="*/ 83 w 283"/>
                  <a:gd name="T29" fmla="*/ 27 h 150"/>
                  <a:gd name="T30" fmla="*/ 96 w 283"/>
                  <a:gd name="T31" fmla="*/ 29 h 150"/>
                  <a:gd name="T32" fmla="*/ 98 w 283"/>
                  <a:gd name="T33" fmla="*/ 33 h 150"/>
                  <a:gd name="T34" fmla="*/ 95 w 283"/>
                  <a:gd name="T35" fmla="*/ 42 h 150"/>
                  <a:gd name="T36" fmla="*/ 116 w 283"/>
                  <a:gd name="T37" fmla="*/ 60 h 150"/>
                  <a:gd name="T38" fmla="*/ 100 w 283"/>
                  <a:gd name="T39" fmla="*/ 31 h 150"/>
                  <a:gd name="T40" fmla="*/ 101 w 283"/>
                  <a:gd name="T41" fmla="*/ 27 h 150"/>
                  <a:gd name="T42" fmla="*/ 103 w 283"/>
                  <a:gd name="T43" fmla="*/ 19 h 150"/>
                  <a:gd name="T44" fmla="*/ 113 w 283"/>
                  <a:gd name="T45" fmla="*/ 13 h 150"/>
                  <a:gd name="T46" fmla="*/ 120 w 283"/>
                  <a:gd name="T47" fmla="*/ 18 h 150"/>
                  <a:gd name="T48" fmla="*/ 137 w 283"/>
                  <a:gd name="T49" fmla="*/ 31 h 150"/>
                  <a:gd name="T50" fmla="*/ 141 w 283"/>
                  <a:gd name="T51" fmla="*/ 28 h 150"/>
                  <a:gd name="T52" fmla="*/ 141 w 283"/>
                  <a:gd name="T53" fmla="*/ 18 h 150"/>
                  <a:gd name="T54" fmla="*/ 143 w 283"/>
                  <a:gd name="T55" fmla="*/ 12 h 150"/>
                  <a:gd name="T56" fmla="*/ 146 w 283"/>
                  <a:gd name="T57" fmla="*/ 0 h 150"/>
                  <a:gd name="T58" fmla="*/ 156 w 283"/>
                  <a:gd name="T59" fmla="*/ 0 h 150"/>
                  <a:gd name="T60" fmla="*/ 167 w 283"/>
                  <a:gd name="T61" fmla="*/ 3 h 150"/>
                  <a:gd name="T62" fmla="*/ 171 w 283"/>
                  <a:gd name="T63" fmla="*/ 14 h 150"/>
                  <a:gd name="T64" fmla="*/ 168 w 283"/>
                  <a:gd name="T65" fmla="*/ 20 h 150"/>
                  <a:gd name="T66" fmla="*/ 171 w 283"/>
                  <a:gd name="T67" fmla="*/ 25 h 150"/>
                  <a:gd name="T68" fmla="*/ 185 w 283"/>
                  <a:gd name="T69" fmla="*/ 34 h 150"/>
                  <a:gd name="T70" fmla="*/ 207 w 283"/>
                  <a:gd name="T71" fmla="*/ 43 h 150"/>
                  <a:gd name="T72" fmla="*/ 239 w 283"/>
                  <a:gd name="T73" fmla="*/ 64 h 150"/>
                  <a:gd name="T74" fmla="*/ 255 w 283"/>
                  <a:gd name="T75" fmla="*/ 78 h 150"/>
                  <a:gd name="T76" fmla="*/ 270 w 283"/>
                  <a:gd name="T77" fmla="*/ 103 h 150"/>
                  <a:gd name="T78" fmla="*/ 282 w 283"/>
                  <a:gd name="T79" fmla="*/ 119 h 150"/>
                  <a:gd name="T80" fmla="*/ 253 w 283"/>
                  <a:gd name="T81" fmla="*/ 119 h 150"/>
                  <a:gd name="T82" fmla="*/ 226 w 283"/>
                  <a:gd name="T83" fmla="*/ 137 h 150"/>
                  <a:gd name="T84" fmla="*/ 215 w 283"/>
                  <a:gd name="T85" fmla="*/ 149 h 150"/>
                  <a:gd name="T86" fmla="*/ 187 w 283"/>
                  <a:gd name="T87" fmla="*/ 140 h 150"/>
                  <a:gd name="T88" fmla="*/ 153 w 283"/>
                  <a:gd name="T89" fmla="*/ 140 h 150"/>
                  <a:gd name="T90" fmla="*/ 127 w 283"/>
                  <a:gd name="T91" fmla="*/ 131 h 150"/>
                  <a:gd name="T92" fmla="*/ 98 w 283"/>
                  <a:gd name="T93" fmla="*/ 128 h 150"/>
                  <a:gd name="T94" fmla="*/ 78 w 283"/>
                  <a:gd name="T95" fmla="*/ 127 h 150"/>
                  <a:gd name="T96" fmla="*/ 73 w 283"/>
                  <a:gd name="T97" fmla="*/ 129 h 150"/>
                  <a:gd name="T98" fmla="*/ 61 w 283"/>
                  <a:gd name="T99" fmla="*/ 122 h 150"/>
                  <a:gd name="T100" fmla="*/ 35 w 283"/>
                  <a:gd name="T101" fmla="*/ 109 h 150"/>
                  <a:gd name="T102" fmla="*/ 19 w 283"/>
                  <a:gd name="T103" fmla="*/ 105 h 150"/>
                  <a:gd name="T104" fmla="*/ 13 w 283"/>
                  <a:gd name="T105" fmla="*/ 101 h 150"/>
                  <a:gd name="T106" fmla="*/ 0 w 283"/>
                  <a:gd name="T107" fmla="*/ 83 h 150"/>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283"/>
                  <a:gd name="T163" fmla="*/ 0 h 150"/>
                  <a:gd name="T164" fmla="*/ 283 w 283"/>
                  <a:gd name="T165" fmla="*/ 150 h 150"/>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283" h="150">
                    <a:moveTo>
                      <a:pt x="0" y="83"/>
                    </a:moveTo>
                    <a:lnTo>
                      <a:pt x="5" y="78"/>
                    </a:lnTo>
                    <a:lnTo>
                      <a:pt x="15" y="77"/>
                    </a:lnTo>
                    <a:lnTo>
                      <a:pt x="24" y="79"/>
                    </a:lnTo>
                    <a:lnTo>
                      <a:pt x="29" y="82"/>
                    </a:lnTo>
                    <a:lnTo>
                      <a:pt x="33" y="85"/>
                    </a:lnTo>
                    <a:lnTo>
                      <a:pt x="53" y="87"/>
                    </a:lnTo>
                    <a:lnTo>
                      <a:pt x="75" y="91"/>
                    </a:lnTo>
                    <a:lnTo>
                      <a:pt x="88" y="86"/>
                    </a:lnTo>
                    <a:lnTo>
                      <a:pt x="85" y="76"/>
                    </a:lnTo>
                    <a:lnTo>
                      <a:pt x="79" y="67"/>
                    </a:lnTo>
                    <a:lnTo>
                      <a:pt x="65" y="53"/>
                    </a:lnTo>
                    <a:lnTo>
                      <a:pt x="67" y="43"/>
                    </a:lnTo>
                    <a:lnTo>
                      <a:pt x="71" y="40"/>
                    </a:lnTo>
                    <a:lnTo>
                      <a:pt x="83" y="27"/>
                    </a:lnTo>
                    <a:lnTo>
                      <a:pt x="96" y="29"/>
                    </a:lnTo>
                    <a:lnTo>
                      <a:pt x="98" y="33"/>
                    </a:lnTo>
                    <a:lnTo>
                      <a:pt x="95" y="42"/>
                    </a:lnTo>
                    <a:lnTo>
                      <a:pt x="116" y="60"/>
                    </a:lnTo>
                    <a:lnTo>
                      <a:pt x="100" y="31"/>
                    </a:lnTo>
                    <a:lnTo>
                      <a:pt x="101" y="27"/>
                    </a:lnTo>
                    <a:lnTo>
                      <a:pt x="103" y="19"/>
                    </a:lnTo>
                    <a:lnTo>
                      <a:pt x="113" y="13"/>
                    </a:lnTo>
                    <a:lnTo>
                      <a:pt x="120" y="18"/>
                    </a:lnTo>
                    <a:lnTo>
                      <a:pt x="137" y="31"/>
                    </a:lnTo>
                    <a:lnTo>
                      <a:pt x="141" y="28"/>
                    </a:lnTo>
                    <a:lnTo>
                      <a:pt x="141" y="18"/>
                    </a:lnTo>
                    <a:lnTo>
                      <a:pt x="143" y="12"/>
                    </a:lnTo>
                    <a:lnTo>
                      <a:pt x="146" y="0"/>
                    </a:lnTo>
                    <a:lnTo>
                      <a:pt x="156" y="0"/>
                    </a:lnTo>
                    <a:lnTo>
                      <a:pt x="167" y="3"/>
                    </a:lnTo>
                    <a:lnTo>
                      <a:pt x="171" y="14"/>
                    </a:lnTo>
                    <a:lnTo>
                      <a:pt x="168" y="20"/>
                    </a:lnTo>
                    <a:lnTo>
                      <a:pt x="171" y="25"/>
                    </a:lnTo>
                    <a:lnTo>
                      <a:pt x="185" y="34"/>
                    </a:lnTo>
                    <a:lnTo>
                      <a:pt x="207" y="43"/>
                    </a:lnTo>
                    <a:lnTo>
                      <a:pt x="239" y="64"/>
                    </a:lnTo>
                    <a:lnTo>
                      <a:pt x="255" y="78"/>
                    </a:lnTo>
                    <a:lnTo>
                      <a:pt x="270" y="103"/>
                    </a:lnTo>
                    <a:lnTo>
                      <a:pt x="282" y="119"/>
                    </a:lnTo>
                    <a:lnTo>
                      <a:pt x="253" y="119"/>
                    </a:lnTo>
                    <a:lnTo>
                      <a:pt x="226" y="137"/>
                    </a:lnTo>
                    <a:lnTo>
                      <a:pt x="215" y="149"/>
                    </a:lnTo>
                    <a:lnTo>
                      <a:pt x="187" y="140"/>
                    </a:lnTo>
                    <a:lnTo>
                      <a:pt x="153" y="140"/>
                    </a:lnTo>
                    <a:lnTo>
                      <a:pt x="127" y="131"/>
                    </a:lnTo>
                    <a:lnTo>
                      <a:pt x="98" y="128"/>
                    </a:lnTo>
                    <a:lnTo>
                      <a:pt x="78" y="127"/>
                    </a:lnTo>
                    <a:lnTo>
                      <a:pt x="73" y="129"/>
                    </a:lnTo>
                    <a:lnTo>
                      <a:pt x="61" y="122"/>
                    </a:lnTo>
                    <a:lnTo>
                      <a:pt x="35" y="109"/>
                    </a:lnTo>
                    <a:lnTo>
                      <a:pt x="19" y="105"/>
                    </a:lnTo>
                    <a:lnTo>
                      <a:pt x="13" y="101"/>
                    </a:lnTo>
                    <a:lnTo>
                      <a:pt x="0" y="83"/>
                    </a:lnTo>
                  </a:path>
                </a:pathLst>
              </a:custGeom>
              <a:solidFill>
                <a:srgbClr val="FFC080"/>
              </a:solidFill>
              <a:ln w="12700" cap="rnd">
                <a:noFill/>
                <a:round/>
                <a:headEnd/>
                <a:tailEnd/>
              </a:ln>
            </p:spPr>
            <p:txBody>
              <a:bodyPr/>
              <a:lstStyle/>
              <a:p>
                <a:endParaRPr lang="en-US"/>
              </a:p>
            </p:txBody>
          </p:sp>
          <p:sp>
            <p:nvSpPr>
              <p:cNvPr id="22567" name="Freeform 51"/>
              <p:cNvSpPr>
                <a:spLocks/>
              </p:cNvSpPr>
              <p:nvPr/>
            </p:nvSpPr>
            <p:spPr bwMode="auto">
              <a:xfrm>
                <a:off x="2247" y="1392"/>
                <a:ext cx="229" cy="98"/>
              </a:xfrm>
              <a:custGeom>
                <a:avLst/>
                <a:gdLst>
                  <a:gd name="T0" fmla="*/ 0 w 229"/>
                  <a:gd name="T1" fmla="*/ 36 h 98"/>
                  <a:gd name="T2" fmla="*/ 9 w 229"/>
                  <a:gd name="T3" fmla="*/ 51 h 98"/>
                  <a:gd name="T4" fmla="*/ 42 w 229"/>
                  <a:gd name="T5" fmla="*/ 64 h 98"/>
                  <a:gd name="T6" fmla="*/ 66 w 229"/>
                  <a:gd name="T7" fmla="*/ 77 h 98"/>
                  <a:gd name="T8" fmla="*/ 127 w 229"/>
                  <a:gd name="T9" fmla="*/ 80 h 98"/>
                  <a:gd name="T10" fmla="*/ 160 w 229"/>
                  <a:gd name="T11" fmla="*/ 87 h 98"/>
                  <a:gd name="T12" fmla="*/ 195 w 229"/>
                  <a:gd name="T13" fmla="*/ 91 h 98"/>
                  <a:gd name="T14" fmla="*/ 228 w 229"/>
                  <a:gd name="T15" fmla="*/ 81 h 98"/>
                  <a:gd name="T16" fmla="*/ 224 w 229"/>
                  <a:gd name="T17" fmla="*/ 51 h 98"/>
                  <a:gd name="T18" fmla="*/ 226 w 229"/>
                  <a:gd name="T19" fmla="*/ 43 h 98"/>
                  <a:gd name="T20" fmla="*/ 213 w 229"/>
                  <a:gd name="T21" fmla="*/ 39 h 98"/>
                  <a:gd name="T22" fmla="*/ 207 w 229"/>
                  <a:gd name="T23" fmla="*/ 27 h 98"/>
                  <a:gd name="T24" fmla="*/ 207 w 229"/>
                  <a:gd name="T25" fmla="*/ 20 h 98"/>
                  <a:gd name="T26" fmla="*/ 193 w 229"/>
                  <a:gd name="T27" fmla="*/ 15 h 98"/>
                  <a:gd name="T28" fmla="*/ 187 w 229"/>
                  <a:gd name="T29" fmla="*/ 18 h 98"/>
                  <a:gd name="T30" fmla="*/ 176 w 229"/>
                  <a:gd name="T31" fmla="*/ 18 h 98"/>
                  <a:gd name="T32" fmla="*/ 159 w 229"/>
                  <a:gd name="T33" fmla="*/ 9 h 98"/>
                  <a:gd name="T34" fmla="*/ 148 w 229"/>
                  <a:gd name="T35" fmla="*/ 0 h 98"/>
                  <a:gd name="T36" fmla="*/ 143 w 229"/>
                  <a:gd name="T37" fmla="*/ 2 h 98"/>
                  <a:gd name="T38" fmla="*/ 151 w 229"/>
                  <a:gd name="T39" fmla="*/ 18 h 98"/>
                  <a:gd name="T40" fmla="*/ 169 w 229"/>
                  <a:gd name="T41" fmla="*/ 32 h 98"/>
                  <a:gd name="T42" fmla="*/ 165 w 229"/>
                  <a:gd name="T43" fmla="*/ 37 h 98"/>
                  <a:gd name="T44" fmla="*/ 151 w 229"/>
                  <a:gd name="T45" fmla="*/ 23 h 98"/>
                  <a:gd name="T46" fmla="*/ 138 w 229"/>
                  <a:gd name="T47" fmla="*/ 20 h 98"/>
                  <a:gd name="T48" fmla="*/ 124 w 229"/>
                  <a:gd name="T49" fmla="*/ 13 h 98"/>
                  <a:gd name="T50" fmla="*/ 116 w 229"/>
                  <a:gd name="T51" fmla="*/ 8 h 98"/>
                  <a:gd name="T52" fmla="*/ 105 w 229"/>
                  <a:gd name="T53" fmla="*/ 22 h 98"/>
                  <a:gd name="T54" fmla="*/ 107 w 229"/>
                  <a:gd name="T55" fmla="*/ 29 h 98"/>
                  <a:gd name="T56" fmla="*/ 120 w 229"/>
                  <a:gd name="T57" fmla="*/ 39 h 98"/>
                  <a:gd name="T58" fmla="*/ 112 w 229"/>
                  <a:gd name="T59" fmla="*/ 42 h 98"/>
                  <a:gd name="T60" fmla="*/ 99 w 229"/>
                  <a:gd name="T61" fmla="*/ 23 h 98"/>
                  <a:gd name="T62" fmla="*/ 91 w 229"/>
                  <a:gd name="T63" fmla="*/ 14 h 98"/>
                  <a:gd name="T64" fmla="*/ 74 w 229"/>
                  <a:gd name="T65" fmla="*/ 1 h 98"/>
                  <a:gd name="T66" fmla="*/ 62 w 229"/>
                  <a:gd name="T67" fmla="*/ 1 h 98"/>
                  <a:gd name="T68" fmla="*/ 68 w 229"/>
                  <a:gd name="T69" fmla="*/ 11 h 98"/>
                  <a:gd name="T70" fmla="*/ 83 w 229"/>
                  <a:gd name="T71" fmla="*/ 28 h 98"/>
                  <a:gd name="T72" fmla="*/ 87 w 229"/>
                  <a:gd name="T73" fmla="*/ 43 h 98"/>
                  <a:gd name="T74" fmla="*/ 65 w 229"/>
                  <a:gd name="T75" fmla="*/ 48 h 98"/>
                  <a:gd name="T76" fmla="*/ 47 w 229"/>
                  <a:gd name="T77" fmla="*/ 42 h 98"/>
                  <a:gd name="T78" fmla="*/ 55 w 229"/>
                  <a:gd name="T79" fmla="*/ 51 h 98"/>
                  <a:gd name="T80" fmla="*/ 63 w 229"/>
                  <a:gd name="T81" fmla="*/ 65 h 98"/>
                  <a:gd name="T82" fmla="*/ 36 w 229"/>
                  <a:gd name="T83" fmla="*/ 52 h 98"/>
                  <a:gd name="T84" fmla="*/ 16 w 229"/>
                  <a:gd name="T85" fmla="*/ 45 h 98"/>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229"/>
                  <a:gd name="T130" fmla="*/ 0 h 98"/>
                  <a:gd name="T131" fmla="*/ 229 w 229"/>
                  <a:gd name="T132" fmla="*/ 98 h 98"/>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229" h="98">
                    <a:moveTo>
                      <a:pt x="4" y="34"/>
                    </a:moveTo>
                    <a:lnTo>
                      <a:pt x="0" y="36"/>
                    </a:lnTo>
                    <a:lnTo>
                      <a:pt x="0" y="38"/>
                    </a:lnTo>
                    <a:lnTo>
                      <a:pt x="9" y="51"/>
                    </a:lnTo>
                    <a:lnTo>
                      <a:pt x="23" y="57"/>
                    </a:lnTo>
                    <a:lnTo>
                      <a:pt x="42" y="64"/>
                    </a:lnTo>
                    <a:lnTo>
                      <a:pt x="58" y="72"/>
                    </a:lnTo>
                    <a:lnTo>
                      <a:pt x="66" y="77"/>
                    </a:lnTo>
                    <a:lnTo>
                      <a:pt x="77" y="76"/>
                    </a:lnTo>
                    <a:lnTo>
                      <a:pt x="127" y="80"/>
                    </a:lnTo>
                    <a:lnTo>
                      <a:pt x="145" y="88"/>
                    </a:lnTo>
                    <a:lnTo>
                      <a:pt x="160" y="87"/>
                    </a:lnTo>
                    <a:lnTo>
                      <a:pt x="179" y="87"/>
                    </a:lnTo>
                    <a:lnTo>
                      <a:pt x="195" y="91"/>
                    </a:lnTo>
                    <a:lnTo>
                      <a:pt x="210" y="97"/>
                    </a:lnTo>
                    <a:lnTo>
                      <a:pt x="228" y="81"/>
                    </a:lnTo>
                    <a:lnTo>
                      <a:pt x="224" y="58"/>
                    </a:lnTo>
                    <a:lnTo>
                      <a:pt x="224" y="51"/>
                    </a:lnTo>
                    <a:lnTo>
                      <a:pt x="226" y="46"/>
                    </a:lnTo>
                    <a:lnTo>
                      <a:pt x="226" y="43"/>
                    </a:lnTo>
                    <a:lnTo>
                      <a:pt x="218" y="43"/>
                    </a:lnTo>
                    <a:lnTo>
                      <a:pt x="213" y="39"/>
                    </a:lnTo>
                    <a:lnTo>
                      <a:pt x="210" y="33"/>
                    </a:lnTo>
                    <a:lnTo>
                      <a:pt x="207" y="27"/>
                    </a:lnTo>
                    <a:lnTo>
                      <a:pt x="205" y="22"/>
                    </a:lnTo>
                    <a:lnTo>
                      <a:pt x="207" y="20"/>
                    </a:lnTo>
                    <a:lnTo>
                      <a:pt x="201" y="16"/>
                    </a:lnTo>
                    <a:lnTo>
                      <a:pt x="193" y="15"/>
                    </a:lnTo>
                    <a:lnTo>
                      <a:pt x="191" y="15"/>
                    </a:lnTo>
                    <a:lnTo>
                      <a:pt x="187" y="18"/>
                    </a:lnTo>
                    <a:lnTo>
                      <a:pt x="183" y="19"/>
                    </a:lnTo>
                    <a:lnTo>
                      <a:pt x="176" y="18"/>
                    </a:lnTo>
                    <a:lnTo>
                      <a:pt x="170" y="11"/>
                    </a:lnTo>
                    <a:lnTo>
                      <a:pt x="159" y="9"/>
                    </a:lnTo>
                    <a:lnTo>
                      <a:pt x="151" y="2"/>
                    </a:lnTo>
                    <a:lnTo>
                      <a:pt x="148" y="0"/>
                    </a:lnTo>
                    <a:lnTo>
                      <a:pt x="145" y="0"/>
                    </a:lnTo>
                    <a:lnTo>
                      <a:pt x="143" y="2"/>
                    </a:lnTo>
                    <a:lnTo>
                      <a:pt x="144" y="6"/>
                    </a:lnTo>
                    <a:lnTo>
                      <a:pt x="151" y="18"/>
                    </a:lnTo>
                    <a:lnTo>
                      <a:pt x="160" y="27"/>
                    </a:lnTo>
                    <a:lnTo>
                      <a:pt x="169" y="32"/>
                    </a:lnTo>
                    <a:lnTo>
                      <a:pt x="179" y="45"/>
                    </a:lnTo>
                    <a:lnTo>
                      <a:pt x="165" y="37"/>
                    </a:lnTo>
                    <a:lnTo>
                      <a:pt x="160" y="28"/>
                    </a:lnTo>
                    <a:lnTo>
                      <a:pt x="151" y="23"/>
                    </a:lnTo>
                    <a:lnTo>
                      <a:pt x="144" y="21"/>
                    </a:lnTo>
                    <a:lnTo>
                      <a:pt x="138" y="20"/>
                    </a:lnTo>
                    <a:lnTo>
                      <a:pt x="131" y="16"/>
                    </a:lnTo>
                    <a:lnTo>
                      <a:pt x="124" y="13"/>
                    </a:lnTo>
                    <a:lnTo>
                      <a:pt x="123" y="9"/>
                    </a:lnTo>
                    <a:lnTo>
                      <a:pt x="116" y="8"/>
                    </a:lnTo>
                    <a:lnTo>
                      <a:pt x="112" y="15"/>
                    </a:lnTo>
                    <a:lnTo>
                      <a:pt x="105" y="22"/>
                    </a:lnTo>
                    <a:lnTo>
                      <a:pt x="104" y="26"/>
                    </a:lnTo>
                    <a:lnTo>
                      <a:pt x="107" y="29"/>
                    </a:lnTo>
                    <a:lnTo>
                      <a:pt x="117" y="36"/>
                    </a:lnTo>
                    <a:lnTo>
                      <a:pt x="120" y="39"/>
                    </a:lnTo>
                    <a:lnTo>
                      <a:pt x="120" y="43"/>
                    </a:lnTo>
                    <a:lnTo>
                      <a:pt x="112" y="42"/>
                    </a:lnTo>
                    <a:lnTo>
                      <a:pt x="106" y="37"/>
                    </a:lnTo>
                    <a:lnTo>
                      <a:pt x="99" y="23"/>
                    </a:lnTo>
                    <a:lnTo>
                      <a:pt x="100" y="23"/>
                    </a:lnTo>
                    <a:lnTo>
                      <a:pt x="91" y="14"/>
                    </a:lnTo>
                    <a:lnTo>
                      <a:pt x="79" y="2"/>
                    </a:lnTo>
                    <a:lnTo>
                      <a:pt x="74" y="1"/>
                    </a:lnTo>
                    <a:lnTo>
                      <a:pt x="67" y="0"/>
                    </a:lnTo>
                    <a:lnTo>
                      <a:pt x="62" y="1"/>
                    </a:lnTo>
                    <a:lnTo>
                      <a:pt x="61" y="5"/>
                    </a:lnTo>
                    <a:lnTo>
                      <a:pt x="68" y="11"/>
                    </a:lnTo>
                    <a:lnTo>
                      <a:pt x="76" y="19"/>
                    </a:lnTo>
                    <a:lnTo>
                      <a:pt x="83" y="28"/>
                    </a:lnTo>
                    <a:lnTo>
                      <a:pt x="84" y="38"/>
                    </a:lnTo>
                    <a:lnTo>
                      <a:pt x="87" y="43"/>
                    </a:lnTo>
                    <a:lnTo>
                      <a:pt x="75" y="46"/>
                    </a:lnTo>
                    <a:lnTo>
                      <a:pt x="65" y="48"/>
                    </a:lnTo>
                    <a:lnTo>
                      <a:pt x="55" y="46"/>
                    </a:lnTo>
                    <a:lnTo>
                      <a:pt x="47" y="42"/>
                    </a:lnTo>
                    <a:lnTo>
                      <a:pt x="51" y="47"/>
                    </a:lnTo>
                    <a:lnTo>
                      <a:pt x="55" y="51"/>
                    </a:lnTo>
                    <a:lnTo>
                      <a:pt x="57" y="56"/>
                    </a:lnTo>
                    <a:lnTo>
                      <a:pt x="63" y="65"/>
                    </a:lnTo>
                    <a:lnTo>
                      <a:pt x="52" y="57"/>
                    </a:lnTo>
                    <a:lnTo>
                      <a:pt x="36" y="52"/>
                    </a:lnTo>
                    <a:lnTo>
                      <a:pt x="22" y="49"/>
                    </a:lnTo>
                    <a:lnTo>
                      <a:pt x="16" y="45"/>
                    </a:lnTo>
                    <a:lnTo>
                      <a:pt x="4" y="34"/>
                    </a:lnTo>
                  </a:path>
                </a:pathLst>
              </a:custGeom>
              <a:solidFill>
                <a:srgbClr val="603000"/>
              </a:solidFill>
              <a:ln w="12700" cap="rnd">
                <a:noFill/>
                <a:round/>
                <a:headEnd/>
                <a:tailEnd/>
              </a:ln>
            </p:spPr>
            <p:txBody>
              <a:bodyPr/>
              <a:lstStyle/>
              <a:p>
                <a:endParaRPr lang="en-US"/>
              </a:p>
            </p:txBody>
          </p:sp>
          <p:sp>
            <p:nvSpPr>
              <p:cNvPr id="22568" name="Freeform 52"/>
              <p:cNvSpPr>
                <a:spLocks/>
              </p:cNvSpPr>
              <p:nvPr/>
            </p:nvSpPr>
            <p:spPr bwMode="auto">
              <a:xfrm>
                <a:off x="2344" y="1366"/>
                <a:ext cx="25" cy="35"/>
              </a:xfrm>
              <a:custGeom>
                <a:avLst/>
                <a:gdLst>
                  <a:gd name="T0" fmla="*/ 12 w 25"/>
                  <a:gd name="T1" fmla="*/ 28 h 35"/>
                  <a:gd name="T2" fmla="*/ 16 w 25"/>
                  <a:gd name="T3" fmla="*/ 34 h 35"/>
                  <a:gd name="T4" fmla="*/ 20 w 25"/>
                  <a:gd name="T5" fmla="*/ 25 h 35"/>
                  <a:gd name="T6" fmla="*/ 24 w 25"/>
                  <a:gd name="T7" fmla="*/ 21 h 35"/>
                  <a:gd name="T8" fmla="*/ 13 w 25"/>
                  <a:gd name="T9" fmla="*/ 10 h 35"/>
                  <a:gd name="T10" fmla="*/ 9 w 25"/>
                  <a:gd name="T11" fmla="*/ 3 h 35"/>
                  <a:gd name="T12" fmla="*/ 8 w 25"/>
                  <a:gd name="T13" fmla="*/ 1 h 35"/>
                  <a:gd name="T14" fmla="*/ 3 w 25"/>
                  <a:gd name="T15" fmla="*/ 0 h 35"/>
                  <a:gd name="T16" fmla="*/ 0 w 25"/>
                  <a:gd name="T17" fmla="*/ 9 h 35"/>
                  <a:gd name="T18" fmla="*/ 3 w 25"/>
                  <a:gd name="T19" fmla="*/ 14 h 35"/>
                  <a:gd name="T20" fmla="*/ 12 w 25"/>
                  <a:gd name="T21" fmla="*/ 28 h 3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5"/>
                  <a:gd name="T34" fmla="*/ 0 h 35"/>
                  <a:gd name="T35" fmla="*/ 25 w 25"/>
                  <a:gd name="T36" fmla="*/ 35 h 3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5" h="35">
                    <a:moveTo>
                      <a:pt x="12" y="28"/>
                    </a:moveTo>
                    <a:lnTo>
                      <a:pt x="16" y="34"/>
                    </a:lnTo>
                    <a:lnTo>
                      <a:pt x="20" y="25"/>
                    </a:lnTo>
                    <a:lnTo>
                      <a:pt x="24" y="21"/>
                    </a:lnTo>
                    <a:lnTo>
                      <a:pt x="13" y="10"/>
                    </a:lnTo>
                    <a:lnTo>
                      <a:pt x="9" y="3"/>
                    </a:lnTo>
                    <a:lnTo>
                      <a:pt x="8" y="1"/>
                    </a:lnTo>
                    <a:lnTo>
                      <a:pt x="3" y="0"/>
                    </a:lnTo>
                    <a:lnTo>
                      <a:pt x="0" y="9"/>
                    </a:lnTo>
                    <a:lnTo>
                      <a:pt x="3" y="14"/>
                    </a:lnTo>
                    <a:lnTo>
                      <a:pt x="12" y="28"/>
                    </a:lnTo>
                  </a:path>
                </a:pathLst>
              </a:custGeom>
              <a:solidFill>
                <a:srgbClr val="603000"/>
              </a:solidFill>
              <a:ln w="12700" cap="rnd">
                <a:noFill/>
                <a:round/>
                <a:headEnd/>
                <a:tailEnd/>
              </a:ln>
            </p:spPr>
            <p:txBody>
              <a:bodyPr/>
              <a:lstStyle/>
              <a:p>
                <a:endParaRPr lang="en-US"/>
              </a:p>
            </p:txBody>
          </p:sp>
        </p:grpSp>
        <p:sp>
          <p:nvSpPr>
            <p:cNvPr id="22558" name="Freeform 53"/>
            <p:cNvSpPr>
              <a:spLocks/>
            </p:cNvSpPr>
            <p:nvPr/>
          </p:nvSpPr>
          <p:spPr bwMode="auto">
            <a:xfrm>
              <a:off x="2358" y="1501"/>
              <a:ext cx="132" cy="151"/>
            </a:xfrm>
            <a:custGeom>
              <a:avLst/>
              <a:gdLst>
                <a:gd name="T0" fmla="*/ 6 w 132"/>
                <a:gd name="T1" fmla="*/ 0 h 151"/>
                <a:gd name="T2" fmla="*/ 31 w 132"/>
                <a:gd name="T3" fmla="*/ 7 h 151"/>
                <a:gd name="T4" fmla="*/ 46 w 132"/>
                <a:gd name="T5" fmla="*/ 21 h 151"/>
                <a:gd name="T6" fmla="*/ 52 w 132"/>
                <a:gd name="T7" fmla="*/ 45 h 151"/>
                <a:gd name="T8" fmla="*/ 72 w 132"/>
                <a:gd name="T9" fmla="*/ 58 h 151"/>
                <a:gd name="T10" fmla="*/ 101 w 132"/>
                <a:gd name="T11" fmla="*/ 81 h 151"/>
                <a:gd name="T12" fmla="*/ 131 w 132"/>
                <a:gd name="T13" fmla="*/ 117 h 151"/>
                <a:gd name="T14" fmla="*/ 106 w 132"/>
                <a:gd name="T15" fmla="*/ 150 h 151"/>
                <a:gd name="T16" fmla="*/ 11 w 132"/>
                <a:gd name="T17" fmla="*/ 70 h 151"/>
                <a:gd name="T18" fmla="*/ 0 w 132"/>
                <a:gd name="T19" fmla="*/ 26 h 151"/>
                <a:gd name="T20" fmla="*/ 6 w 132"/>
                <a:gd name="T21" fmla="*/ 0 h 15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32"/>
                <a:gd name="T34" fmla="*/ 0 h 151"/>
                <a:gd name="T35" fmla="*/ 132 w 132"/>
                <a:gd name="T36" fmla="*/ 151 h 15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32" h="151">
                  <a:moveTo>
                    <a:pt x="6" y="0"/>
                  </a:moveTo>
                  <a:lnTo>
                    <a:pt x="31" y="7"/>
                  </a:lnTo>
                  <a:lnTo>
                    <a:pt x="46" y="21"/>
                  </a:lnTo>
                  <a:lnTo>
                    <a:pt x="52" y="45"/>
                  </a:lnTo>
                  <a:lnTo>
                    <a:pt x="72" y="58"/>
                  </a:lnTo>
                  <a:lnTo>
                    <a:pt x="101" y="81"/>
                  </a:lnTo>
                  <a:lnTo>
                    <a:pt x="131" y="117"/>
                  </a:lnTo>
                  <a:lnTo>
                    <a:pt x="106" y="150"/>
                  </a:lnTo>
                  <a:lnTo>
                    <a:pt x="11" y="70"/>
                  </a:lnTo>
                  <a:lnTo>
                    <a:pt x="0" y="26"/>
                  </a:lnTo>
                  <a:lnTo>
                    <a:pt x="6" y="0"/>
                  </a:lnTo>
                </a:path>
              </a:pathLst>
            </a:custGeom>
            <a:solidFill>
              <a:srgbClr val="800000"/>
            </a:solidFill>
            <a:ln w="12700" cap="rnd">
              <a:noFill/>
              <a:round/>
              <a:headEnd/>
              <a:tailEnd/>
            </a:ln>
          </p:spPr>
          <p:txBody>
            <a:bodyPr/>
            <a:lstStyle/>
            <a:p>
              <a:endParaRPr lang="en-US"/>
            </a:p>
          </p:txBody>
        </p:sp>
        <p:sp>
          <p:nvSpPr>
            <p:cNvPr id="22559" name="Freeform 54"/>
            <p:cNvSpPr>
              <a:spLocks/>
            </p:cNvSpPr>
            <p:nvPr/>
          </p:nvSpPr>
          <p:spPr bwMode="auto">
            <a:xfrm>
              <a:off x="2166" y="1466"/>
              <a:ext cx="423" cy="252"/>
            </a:xfrm>
            <a:custGeom>
              <a:avLst/>
              <a:gdLst>
                <a:gd name="T0" fmla="*/ 26 w 423"/>
                <a:gd name="T1" fmla="*/ 61 h 252"/>
                <a:gd name="T2" fmla="*/ 22 w 423"/>
                <a:gd name="T3" fmla="*/ 58 h 252"/>
                <a:gd name="T4" fmla="*/ 21 w 423"/>
                <a:gd name="T5" fmla="*/ 46 h 252"/>
                <a:gd name="T6" fmla="*/ 40 w 423"/>
                <a:gd name="T7" fmla="*/ 25 h 252"/>
                <a:gd name="T8" fmla="*/ 41 w 423"/>
                <a:gd name="T9" fmla="*/ 15 h 252"/>
                <a:gd name="T10" fmla="*/ 53 w 423"/>
                <a:gd name="T11" fmla="*/ 16 h 252"/>
                <a:gd name="T12" fmla="*/ 95 w 423"/>
                <a:gd name="T13" fmla="*/ 18 h 252"/>
                <a:gd name="T14" fmla="*/ 147 w 423"/>
                <a:gd name="T15" fmla="*/ 22 h 252"/>
                <a:gd name="T16" fmla="*/ 186 w 423"/>
                <a:gd name="T17" fmla="*/ 28 h 252"/>
                <a:gd name="T18" fmla="*/ 198 w 423"/>
                <a:gd name="T19" fmla="*/ 31 h 252"/>
                <a:gd name="T20" fmla="*/ 200 w 423"/>
                <a:gd name="T21" fmla="*/ 51 h 252"/>
                <a:gd name="T22" fmla="*/ 204 w 423"/>
                <a:gd name="T23" fmla="*/ 65 h 252"/>
                <a:gd name="T24" fmla="*/ 206 w 423"/>
                <a:gd name="T25" fmla="*/ 78 h 252"/>
                <a:gd name="T26" fmla="*/ 219 w 423"/>
                <a:gd name="T27" fmla="*/ 86 h 252"/>
                <a:gd name="T28" fmla="*/ 230 w 423"/>
                <a:gd name="T29" fmla="*/ 100 h 252"/>
                <a:gd name="T30" fmla="*/ 242 w 423"/>
                <a:gd name="T31" fmla="*/ 115 h 252"/>
                <a:gd name="T32" fmla="*/ 254 w 423"/>
                <a:gd name="T33" fmla="*/ 123 h 252"/>
                <a:gd name="T34" fmla="*/ 266 w 423"/>
                <a:gd name="T35" fmla="*/ 132 h 252"/>
                <a:gd name="T36" fmla="*/ 269 w 423"/>
                <a:gd name="T37" fmla="*/ 136 h 252"/>
                <a:gd name="T38" fmla="*/ 269 w 423"/>
                <a:gd name="T39" fmla="*/ 147 h 252"/>
                <a:gd name="T40" fmla="*/ 278 w 423"/>
                <a:gd name="T41" fmla="*/ 152 h 252"/>
                <a:gd name="T42" fmla="*/ 294 w 423"/>
                <a:gd name="T43" fmla="*/ 165 h 252"/>
                <a:gd name="T44" fmla="*/ 301 w 423"/>
                <a:gd name="T45" fmla="*/ 159 h 252"/>
                <a:gd name="T46" fmla="*/ 302 w 423"/>
                <a:gd name="T47" fmla="*/ 151 h 252"/>
                <a:gd name="T48" fmla="*/ 301 w 423"/>
                <a:gd name="T49" fmla="*/ 149 h 252"/>
                <a:gd name="T50" fmla="*/ 301 w 423"/>
                <a:gd name="T51" fmla="*/ 133 h 252"/>
                <a:gd name="T52" fmla="*/ 304 w 423"/>
                <a:gd name="T53" fmla="*/ 128 h 252"/>
                <a:gd name="T54" fmla="*/ 293 w 423"/>
                <a:gd name="T55" fmla="*/ 109 h 252"/>
                <a:gd name="T56" fmla="*/ 293 w 423"/>
                <a:gd name="T57" fmla="*/ 98 h 252"/>
                <a:gd name="T58" fmla="*/ 296 w 423"/>
                <a:gd name="T59" fmla="*/ 85 h 252"/>
                <a:gd name="T60" fmla="*/ 294 w 423"/>
                <a:gd name="T61" fmla="*/ 76 h 252"/>
                <a:gd name="T62" fmla="*/ 295 w 423"/>
                <a:gd name="T63" fmla="*/ 68 h 252"/>
                <a:gd name="T64" fmla="*/ 291 w 423"/>
                <a:gd name="T65" fmla="*/ 60 h 252"/>
                <a:gd name="T66" fmla="*/ 289 w 423"/>
                <a:gd name="T67" fmla="*/ 49 h 252"/>
                <a:gd name="T68" fmla="*/ 287 w 423"/>
                <a:gd name="T69" fmla="*/ 32 h 252"/>
                <a:gd name="T70" fmla="*/ 305 w 423"/>
                <a:gd name="T71" fmla="*/ 14 h 252"/>
                <a:gd name="T72" fmla="*/ 327 w 423"/>
                <a:gd name="T73" fmla="*/ 0 h 252"/>
                <a:gd name="T74" fmla="*/ 362 w 423"/>
                <a:gd name="T75" fmla="*/ 0 h 252"/>
                <a:gd name="T76" fmla="*/ 382 w 423"/>
                <a:gd name="T77" fmla="*/ 53 h 252"/>
                <a:gd name="T78" fmla="*/ 382 w 423"/>
                <a:gd name="T79" fmla="*/ 62 h 252"/>
                <a:gd name="T80" fmla="*/ 388 w 423"/>
                <a:gd name="T81" fmla="*/ 72 h 252"/>
                <a:gd name="T82" fmla="*/ 390 w 423"/>
                <a:gd name="T83" fmla="*/ 89 h 252"/>
                <a:gd name="T84" fmla="*/ 390 w 423"/>
                <a:gd name="T85" fmla="*/ 97 h 252"/>
                <a:gd name="T86" fmla="*/ 394 w 423"/>
                <a:gd name="T87" fmla="*/ 105 h 252"/>
                <a:gd name="T88" fmla="*/ 408 w 423"/>
                <a:gd name="T89" fmla="*/ 154 h 252"/>
                <a:gd name="T90" fmla="*/ 417 w 423"/>
                <a:gd name="T91" fmla="*/ 180 h 252"/>
                <a:gd name="T92" fmla="*/ 422 w 423"/>
                <a:gd name="T93" fmla="*/ 202 h 252"/>
                <a:gd name="T94" fmla="*/ 378 w 423"/>
                <a:gd name="T95" fmla="*/ 222 h 252"/>
                <a:gd name="T96" fmla="*/ 290 w 423"/>
                <a:gd name="T97" fmla="*/ 241 h 252"/>
                <a:gd name="T98" fmla="*/ 197 w 423"/>
                <a:gd name="T99" fmla="*/ 249 h 252"/>
                <a:gd name="T100" fmla="*/ 122 w 423"/>
                <a:gd name="T101" fmla="*/ 251 h 252"/>
                <a:gd name="T102" fmla="*/ 56 w 423"/>
                <a:gd name="T103" fmla="*/ 245 h 252"/>
                <a:gd name="T104" fmla="*/ 0 w 423"/>
                <a:gd name="T105" fmla="*/ 238 h 252"/>
                <a:gd name="T106" fmla="*/ 9 w 423"/>
                <a:gd name="T107" fmla="*/ 202 h 252"/>
                <a:gd name="T108" fmla="*/ 11 w 423"/>
                <a:gd name="T109" fmla="*/ 162 h 252"/>
                <a:gd name="T110" fmla="*/ 2 w 423"/>
                <a:gd name="T111" fmla="*/ 130 h 252"/>
                <a:gd name="T112" fmla="*/ 0 w 423"/>
                <a:gd name="T113" fmla="*/ 108 h 252"/>
                <a:gd name="T114" fmla="*/ 5 w 423"/>
                <a:gd name="T115" fmla="*/ 90 h 252"/>
                <a:gd name="T116" fmla="*/ 11 w 423"/>
                <a:gd name="T117" fmla="*/ 73 h 252"/>
                <a:gd name="T118" fmla="*/ 26 w 423"/>
                <a:gd name="T119" fmla="*/ 61 h 252"/>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423"/>
                <a:gd name="T181" fmla="*/ 0 h 252"/>
                <a:gd name="T182" fmla="*/ 423 w 423"/>
                <a:gd name="T183" fmla="*/ 252 h 252"/>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423" h="252">
                  <a:moveTo>
                    <a:pt x="26" y="61"/>
                  </a:moveTo>
                  <a:lnTo>
                    <a:pt x="22" y="58"/>
                  </a:lnTo>
                  <a:lnTo>
                    <a:pt x="21" y="46"/>
                  </a:lnTo>
                  <a:lnTo>
                    <a:pt x="40" y="25"/>
                  </a:lnTo>
                  <a:lnTo>
                    <a:pt x="41" y="15"/>
                  </a:lnTo>
                  <a:lnTo>
                    <a:pt x="53" y="16"/>
                  </a:lnTo>
                  <a:lnTo>
                    <a:pt x="95" y="18"/>
                  </a:lnTo>
                  <a:lnTo>
                    <a:pt x="147" y="22"/>
                  </a:lnTo>
                  <a:lnTo>
                    <a:pt x="186" y="28"/>
                  </a:lnTo>
                  <a:lnTo>
                    <a:pt x="198" y="31"/>
                  </a:lnTo>
                  <a:lnTo>
                    <a:pt x="200" y="51"/>
                  </a:lnTo>
                  <a:lnTo>
                    <a:pt x="204" y="65"/>
                  </a:lnTo>
                  <a:lnTo>
                    <a:pt x="206" y="78"/>
                  </a:lnTo>
                  <a:lnTo>
                    <a:pt x="219" y="86"/>
                  </a:lnTo>
                  <a:lnTo>
                    <a:pt x="230" y="100"/>
                  </a:lnTo>
                  <a:lnTo>
                    <a:pt x="242" y="115"/>
                  </a:lnTo>
                  <a:lnTo>
                    <a:pt x="254" y="123"/>
                  </a:lnTo>
                  <a:lnTo>
                    <a:pt x="266" y="132"/>
                  </a:lnTo>
                  <a:lnTo>
                    <a:pt x="269" y="136"/>
                  </a:lnTo>
                  <a:lnTo>
                    <a:pt x="269" y="147"/>
                  </a:lnTo>
                  <a:lnTo>
                    <a:pt x="278" y="152"/>
                  </a:lnTo>
                  <a:lnTo>
                    <a:pt x="294" y="165"/>
                  </a:lnTo>
                  <a:lnTo>
                    <a:pt x="301" y="159"/>
                  </a:lnTo>
                  <a:lnTo>
                    <a:pt x="302" y="151"/>
                  </a:lnTo>
                  <a:lnTo>
                    <a:pt x="301" y="149"/>
                  </a:lnTo>
                  <a:lnTo>
                    <a:pt x="301" y="133"/>
                  </a:lnTo>
                  <a:lnTo>
                    <a:pt x="304" y="128"/>
                  </a:lnTo>
                  <a:lnTo>
                    <a:pt x="293" y="109"/>
                  </a:lnTo>
                  <a:lnTo>
                    <a:pt x="293" y="98"/>
                  </a:lnTo>
                  <a:lnTo>
                    <a:pt x="296" y="85"/>
                  </a:lnTo>
                  <a:lnTo>
                    <a:pt x="294" y="76"/>
                  </a:lnTo>
                  <a:lnTo>
                    <a:pt x="295" y="68"/>
                  </a:lnTo>
                  <a:lnTo>
                    <a:pt x="291" y="60"/>
                  </a:lnTo>
                  <a:lnTo>
                    <a:pt x="289" y="49"/>
                  </a:lnTo>
                  <a:lnTo>
                    <a:pt x="287" y="32"/>
                  </a:lnTo>
                  <a:lnTo>
                    <a:pt x="305" y="14"/>
                  </a:lnTo>
                  <a:lnTo>
                    <a:pt x="327" y="0"/>
                  </a:lnTo>
                  <a:lnTo>
                    <a:pt x="362" y="0"/>
                  </a:lnTo>
                  <a:lnTo>
                    <a:pt x="382" y="53"/>
                  </a:lnTo>
                  <a:lnTo>
                    <a:pt x="382" y="62"/>
                  </a:lnTo>
                  <a:lnTo>
                    <a:pt x="388" y="72"/>
                  </a:lnTo>
                  <a:lnTo>
                    <a:pt x="390" y="89"/>
                  </a:lnTo>
                  <a:lnTo>
                    <a:pt x="390" y="97"/>
                  </a:lnTo>
                  <a:lnTo>
                    <a:pt x="394" y="105"/>
                  </a:lnTo>
                  <a:lnTo>
                    <a:pt x="408" y="154"/>
                  </a:lnTo>
                  <a:lnTo>
                    <a:pt x="417" y="180"/>
                  </a:lnTo>
                  <a:lnTo>
                    <a:pt x="422" y="202"/>
                  </a:lnTo>
                  <a:lnTo>
                    <a:pt x="378" y="222"/>
                  </a:lnTo>
                  <a:lnTo>
                    <a:pt x="290" y="241"/>
                  </a:lnTo>
                  <a:lnTo>
                    <a:pt x="197" y="249"/>
                  </a:lnTo>
                  <a:lnTo>
                    <a:pt x="122" y="251"/>
                  </a:lnTo>
                  <a:lnTo>
                    <a:pt x="56" y="245"/>
                  </a:lnTo>
                  <a:lnTo>
                    <a:pt x="0" y="238"/>
                  </a:lnTo>
                  <a:lnTo>
                    <a:pt x="9" y="202"/>
                  </a:lnTo>
                  <a:lnTo>
                    <a:pt x="11" y="162"/>
                  </a:lnTo>
                  <a:lnTo>
                    <a:pt x="2" y="130"/>
                  </a:lnTo>
                  <a:lnTo>
                    <a:pt x="0" y="108"/>
                  </a:lnTo>
                  <a:lnTo>
                    <a:pt x="5" y="90"/>
                  </a:lnTo>
                  <a:lnTo>
                    <a:pt x="11" y="73"/>
                  </a:lnTo>
                  <a:lnTo>
                    <a:pt x="26" y="61"/>
                  </a:lnTo>
                </a:path>
              </a:pathLst>
            </a:custGeom>
            <a:solidFill>
              <a:srgbClr val="C0C0C0"/>
            </a:solidFill>
            <a:ln w="12700" cap="rnd">
              <a:noFill/>
              <a:round/>
              <a:headEnd/>
              <a:tailEnd/>
            </a:ln>
          </p:spPr>
          <p:txBody>
            <a:bodyPr/>
            <a:lstStyle/>
            <a:p>
              <a:endParaRPr lang="en-US"/>
            </a:p>
          </p:txBody>
        </p:sp>
        <p:sp>
          <p:nvSpPr>
            <p:cNvPr id="22560" name="Freeform 55"/>
            <p:cNvSpPr>
              <a:spLocks/>
            </p:cNvSpPr>
            <p:nvPr/>
          </p:nvSpPr>
          <p:spPr bwMode="auto">
            <a:xfrm>
              <a:off x="2187" y="1521"/>
              <a:ext cx="279" cy="175"/>
            </a:xfrm>
            <a:custGeom>
              <a:avLst/>
              <a:gdLst>
                <a:gd name="T0" fmla="*/ 33 w 279"/>
                <a:gd name="T1" fmla="*/ 0 h 175"/>
                <a:gd name="T2" fmla="*/ 115 w 279"/>
                <a:gd name="T3" fmla="*/ 24 h 175"/>
                <a:gd name="T4" fmla="*/ 171 w 279"/>
                <a:gd name="T5" fmla="*/ 44 h 175"/>
                <a:gd name="T6" fmla="*/ 195 w 279"/>
                <a:gd name="T7" fmla="*/ 41 h 175"/>
                <a:gd name="T8" fmla="*/ 237 w 279"/>
                <a:gd name="T9" fmla="*/ 80 h 175"/>
                <a:gd name="T10" fmla="*/ 181 w 279"/>
                <a:gd name="T11" fmla="*/ 65 h 175"/>
                <a:gd name="T12" fmla="*/ 116 w 279"/>
                <a:gd name="T13" fmla="*/ 43 h 175"/>
                <a:gd name="T14" fmla="*/ 158 w 279"/>
                <a:gd name="T15" fmla="*/ 63 h 175"/>
                <a:gd name="T16" fmla="*/ 172 w 279"/>
                <a:gd name="T17" fmla="*/ 94 h 175"/>
                <a:gd name="T18" fmla="*/ 171 w 279"/>
                <a:gd name="T19" fmla="*/ 65 h 175"/>
                <a:gd name="T20" fmla="*/ 226 w 279"/>
                <a:gd name="T21" fmla="*/ 91 h 175"/>
                <a:gd name="T22" fmla="*/ 255 w 279"/>
                <a:gd name="T23" fmla="*/ 100 h 175"/>
                <a:gd name="T24" fmla="*/ 269 w 279"/>
                <a:gd name="T25" fmla="*/ 112 h 175"/>
                <a:gd name="T26" fmla="*/ 278 w 279"/>
                <a:gd name="T27" fmla="*/ 141 h 175"/>
                <a:gd name="T28" fmla="*/ 264 w 279"/>
                <a:gd name="T29" fmla="*/ 129 h 175"/>
                <a:gd name="T30" fmla="*/ 261 w 279"/>
                <a:gd name="T31" fmla="*/ 158 h 175"/>
                <a:gd name="T32" fmla="*/ 146 w 279"/>
                <a:gd name="T33" fmla="*/ 127 h 175"/>
                <a:gd name="T34" fmla="*/ 132 w 279"/>
                <a:gd name="T35" fmla="*/ 99 h 175"/>
                <a:gd name="T36" fmla="*/ 133 w 279"/>
                <a:gd name="T37" fmla="*/ 128 h 175"/>
                <a:gd name="T38" fmla="*/ 138 w 279"/>
                <a:gd name="T39" fmla="*/ 167 h 175"/>
                <a:gd name="T40" fmla="*/ 123 w 279"/>
                <a:gd name="T41" fmla="*/ 129 h 175"/>
                <a:gd name="T42" fmla="*/ 101 w 279"/>
                <a:gd name="T43" fmla="*/ 116 h 175"/>
                <a:gd name="T44" fmla="*/ 82 w 279"/>
                <a:gd name="T45" fmla="*/ 84 h 175"/>
                <a:gd name="T46" fmla="*/ 68 w 279"/>
                <a:gd name="T47" fmla="*/ 82 h 175"/>
                <a:gd name="T48" fmla="*/ 76 w 279"/>
                <a:gd name="T49" fmla="*/ 106 h 175"/>
                <a:gd name="T50" fmla="*/ 72 w 279"/>
                <a:gd name="T51" fmla="*/ 170 h 175"/>
                <a:gd name="T52" fmla="*/ 55 w 279"/>
                <a:gd name="T53" fmla="*/ 86 h 175"/>
                <a:gd name="T54" fmla="*/ 39 w 279"/>
                <a:gd name="T55" fmla="*/ 50 h 175"/>
                <a:gd name="T56" fmla="*/ 49 w 279"/>
                <a:gd name="T57" fmla="*/ 36 h 175"/>
                <a:gd name="T58" fmla="*/ 50 w 279"/>
                <a:gd name="T59" fmla="*/ 32 h 175"/>
                <a:gd name="T60" fmla="*/ 27 w 279"/>
                <a:gd name="T61" fmla="*/ 56 h 175"/>
                <a:gd name="T62" fmla="*/ 13 w 279"/>
                <a:gd name="T63" fmla="*/ 126 h 175"/>
                <a:gd name="T64" fmla="*/ 0 w 279"/>
                <a:gd name="T65" fmla="*/ 42 h 175"/>
                <a:gd name="T66" fmla="*/ 22 w 279"/>
                <a:gd name="T67" fmla="*/ 18 h 175"/>
                <a:gd name="T68" fmla="*/ 11 w 279"/>
                <a:gd name="T69" fmla="*/ 2 h 175"/>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279"/>
                <a:gd name="T106" fmla="*/ 0 h 175"/>
                <a:gd name="T107" fmla="*/ 279 w 279"/>
                <a:gd name="T108" fmla="*/ 175 h 175"/>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279" h="175">
                  <a:moveTo>
                    <a:pt x="11" y="2"/>
                  </a:moveTo>
                  <a:lnTo>
                    <a:pt x="33" y="0"/>
                  </a:lnTo>
                  <a:lnTo>
                    <a:pt x="81" y="5"/>
                  </a:lnTo>
                  <a:lnTo>
                    <a:pt x="115" y="24"/>
                  </a:lnTo>
                  <a:lnTo>
                    <a:pt x="141" y="40"/>
                  </a:lnTo>
                  <a:lnTo>
                    <a:pt x="171" y="44"/>
                  </a:lnTo>
                  <a:lnTo>
                    <a:pt x="182" y="46"/>
                  </a:lnTo>
                  <a:lnTo>
                    <a:pt x="195" y="41"/>
                  </a:lnTo>
                  <a:lnTo>
                    <a:pt x="205" y="56"/>
                  </a:lnTo>
                  <a:lnTo>
                    <a:pt x="237" y="80"/>
                  </a:lnTo>
                  <a:lnTo>
                    <a:pt x="239" y="91"/>
                  </a:lnTo>
                  <a:lnTo>
                    <a:pt x="181" y="65"/>
                  </a:lnTo>
                  <a:lnTo>
                    <a:pt x="140" y="47"/>
                  </a:lnTo>
                  <a:lnTo>
                    <a:pt x="116" y="43"/>
                  </a:lnTo>
                  <a:lnTo>
                    <a:pt x="137" y="54"/>
                  </a:lnTo>
                  <a:lnTo>
                    <a:pt x="158" y="63"/>
                  </a:lnTo>
                  <a:lnTo>
                    <a:pt x="169" y="75"/>
                  </a:lnTo>
                  <a:lnTo>
                    <a:pt x="172" y="94"/>
                  </a:lnTo>
                  <a:lnTo>
                    <a:pt x="173" y="72"/>
                  </a:lnTo>
                  <a:lnTo>
                    <a:pt x="171" y="65"/>
                  </a:lnTo>
                  <a:lnTo>
                    <a:pt x="198" y="79"/>
                  </a:lnTo>
                  <a:lnTo>
                    <a:pt x="226" y="91"/>
                  </a:lnTo>
                  <a:lnTo>
                    <a:pt x="240" y="98"/>
                  </a:lnTo>
                  <a:lnTo>
                    <a:pt x="255" y="100"/>
                  </a:lnTo>
                  <a:lnTo>
                    <a:pt x="262" y="106"/>
                  </a:lnTo>
                  <a:lnTo>
                    <a:pt x="269" y="112"/>
                  </a:lnTo>
                  <a:lnTo>
                    <a:pt x="268" y="131"/>
                  </a:lnTo>
                  <a:lnTo>
                    <a:pt x="278" y="141"/>
                  </a:lnTo>
                  <a:lnTo>
                    <a:pt x="268" y="140"/>
                  </a:lnTo>
                  <a:lnTo>
                    <a:pt x="264" y="129"/>
                  </a:lnTo>
                  <a:lnTo>
                    <a:pt x="246" y="112"/>
                  </a:lnTo>
                  <a:lnTo>
                    <a:pt x="261" y="158"/>
                  </a:lnTo>
                  <a:lnTo>
                    <a:pt x="155" y="174"/>
                  </a:lnTo>
                  <a:lnTo>
                    <a:pt x="146" y="127"/>
                  </a:lnTo>
                  <a:lnTo>
                    <a:pt x="139" y="117"/>
                  </a:lnTo>
                  <a:lnTo>
                    <a:pt x="132" y="99"/>
                  </a:lnTo>
                  <a:lnTo>
                    <a:pt x="129" y="109"/>
                  </a:lnTo>
                  <a:lnTo>
                    <a:pt x="133" y="128"/>
                  </a:lnTo>
                  <a:lnTo>
                    <a:pt x="136" y="135"/>
                  </a:lnTo>
                  <a:lnTo>
                    <a:pt x="138" y="167"/>
                  </a:lnTo>
                  <a:lnTo>
                    <a:pt x="125" y="174"/>
                  </a:lnTo>
                  <a:lnTo>
                    <a:pt x="123" y="129"/>
                  </a:lnTo>
                  <a:lnTo>
                    <a:pt x="113" y="125"/>
                  </a:lnTo>
                  <a:lnTo>
                    <a:pt x="101" y="116"/>
                  </a:lnTo>
                  <a:lnTo>
                    <a:pt x="89" y="97"/>
                  </a:lnTo>
                  <a:lnTo>
                    <a:pt x="82" y="84"/>
                  </a:lnTo>
                  <a:lnTo>
                    <a:pt x="69" y="68"/>
                  </a:lnTo>
                  <a:lnTo>
                    <a:pt x="68" y="82"/>
                  </a:lnTo>
                  <a:lnTo>
                    <a:pt x="79" y="97"/>
                  </a:lnTo>
                  <a:lnTo>
                    <a:pt x="76" y="106"/>
                  </a:lnTo>
                  <a:lnTo>
                    <a:pt x="86" y="161"/>
                  </a:lnTo>
                  <a:lnTo>
                    <a:pt x="72" y="170"/>
                  </a:lnTo>
                  <a:lnTo>
                    <a:pt x="65" y="95"/>
                  </a:lnTo>
                  <a:lnTo>
                    <a:pt x="55" y="86"/>
                  </a:lnTo>
                  <a:lnTo>
                    <a:pt x="45" y="75"/>
                  </a:lnTo>
                  <a:lnTo>
                    <a:pt x="39" y="50"/>
                  </a:lnTo>
                  <a:lnTo>
                    <a:pt x="41" y="42"/>
                  </a:lnTo>
                  <a:lnTo>
                    <a:pt x="49" y="36"/>
                  </a:lnTo>
                  <a:lnTo>
                    <a:pt x="61" y="34"/>
                  </a:lnTo>
                  <a:lnTo>
                    <a:pt x="50" y="32"/>
                  </a:lnTo>
                  <a:lnTo>
                    <a:pt x="32" y="40"/>
                  </a:lnTo>
                  <a:lnTo>
                    <a:pt x="27" y="56"/>
                  </a:lnTo>
                  <a:lnTo>
                    <a:pt x="24" y="94"/>
                  </a:lnTo>
                  <a:lnTo>
                    <a:pt x="13" y="126"/>
                  </a:lnTo>
                  <a:lnTo>
                    <a:pt x="6" y="61"/>
                  </a:lnTo>
                  <a:lnTo>
                    <a:pt x="0" y="42"/>
                  </a:lnTo>
                  <a:lnTo>
                    <a:pt x="5" y="23"/>
                  </a:lnTo>
                  <a:lnTo>
                    <a:pt x="22" y="18"/>
                  </a:lnTo>
                  <a:lnTo>
                    <a:pt x="43" y="14"/>
                  </a:lnTo>
                  <a:lnTo>
                    <a:pt x="11" y="2"/>
                  </a:lnTo>
                </a:path>
              </a:pathLst>
            </a:custGeom>
            <a:solidFill>
              <a:srgbClr val="E0E0E0"/>
            </a:solidFill>
            <a:ln w="12700" cap="rnd">
              <a:noFill/>
              <a:round/>
              <a:headEnd/>
              <a:tailEnd/>
            </a:ln>
          </p:spPr>
          <p:txBody>
            <a:bodyPr/>
            <a:lstStyle/>
            <a:p>
              <a:endParaRPr lang="en-US"/>
            </a:p>
          </p:txBody>
        </p:sp>
        <p:sp>
          <p:nvSpPr>
            <p:cNvPr id="22561" name="Freeform 56"/>
            <p:cNvSpPr>
              <a:spLocks/>
            </p:cNvSpPr>
            <p:nvPr/>
          </p:nvSpPr>
          <p:spPr bwMode="auto">
            <a:xfrm>
              <a:off x="2190" y="1485"/>
              <a:ext cx="175" cy="72"/>
            </a:xfrm>
            <a:custGeom>
              <a:avLst/>
              <a:gdLst>
                <a:gd name="T0" fmla="*/ 0 w 175"/>
                <a:gd name="T1" fmla="*/ 32 h 72"/>
                <a:gd name="T2" fmla="*/ 24 w 175"/>
                <a:gd name="T3" fmla="*/ 33 h 72"/>
                <a:gd name="T4" fmla="*/ 62 w 175"/>
                <a:gd name="T5" fmla="*/ 34 h 72"/>
                <a:gd name="T6" fmla="*/ 89 w 175"/>
                <a:gd name="T7" fmla="*/ 41 h 72"/>
                <a:gd name="T8" fmla="*/ 113 w 175"/>
                <a:gd name="T9" fmla="*/ 55 h 72"/>
                <a:gd name="T10" fmla="*/ 139 w 175"/>
                <a:gd name="T11" fmla="*/ 62 h 72"/>
                <a:gd name="T12" fmla="*/ 174 w 175"/>
                <a:gd name="T13" fmla="*/ 71 h 72"/>
                <a:gd name="T14" fmla="*/ 174 w 175"/>
                <a:gd name="T15" fmla="*/ 55 h 72"/>
                <a:gd name="T16" fmla="*/ 168 w 175"/>
                <a:gd name="T17" fmla="*/ 33 h 72"/>
                <a:gd name="T18" fmla="*/ 168 w 175"/>
                <a:gd name="T19" fmla="*/ 15 h 72"/>
                <a:gd name="T20" fmla="*/ 89 w 175"/>
                <a:gd name="T21" fmla="*/ 5 h 72"/>
                <a:gd name="T22" fmla="*/ 54 w 175"/>
                <a:gd name="T23" fmla="*/ 3 h 72"/>
                <a:gd name="T24" fmla="*/ 22 w 175"/>
                <a:gd name="T25" fmla="*/ 0 h 72"/>
                <a:gd name="T26" fmla="*/ 20 w 175"/>
                <a:gd name="T27" fmla="*/ 5 h 72"/>
                <a:gd name="T28" fmla="*/ 32 w 175"/>
                <a:gd name="T29" fmla="*/ 9 h 72"/>
                <a:gd name="T30" fmla="*/ 18 w 175"/>
                <a:gd name="T31" fmla="*/ 11 h 72"/>
                <a:gd name="T32" fmla="*/ 0 w 175"/>
                <a:gd name="T33" fmla="*/ 32 h 7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75"/>
                <a:gd name="T52" fmla="*/ 0 h 72"/>
                <a:gd name="T53" fmla="*/ 175 w 175"/>
                <a:gd name="T54" fmla="*/ 72 h 7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75" h="72">
                  <a:moveTo>
                    <a:pt x="0" y="32"/>
                  </a:moveTo>
                  <a:lnTo>
                    <a:pt x="24" y="33"/>
                  </a:lnTo>
                  <a:lnTo>
                    <a:pt x="62" y="34"/>
                  </a:lnTo>
                  <a:lnTo>
                    <a:pt x="89" y="41"/>
                  </a:lnTo>
                  <a:lnTo>
                    <a:pt x="113" y="55"/>
                  </a:lnTo>
                  <a:lnTo>
                    <a:pt x="139" y="62"/>
                  </a:lnTo>
                  <a:lnTo>
                    <a:pt x="174" y="71"/>
                  </a:lnTo>
                  <a:lnTo>
                    <a:pt x="174" y="55"/>
                  </a:lnTo>
                  <a:lnTo>
                    <a:pt x="168" y="33"/>
                  </a:lnTo>
                  <a:lnTo>
                    <a:pt x="168" y="15"/>
                  </a:lnTo>
                  <a:lnTo>
                    <a:pt x="89" y="5"/>
                  </a:lnTo>
                  <a:lnTo>
                    <a:pt x="54" y="3"/>
                  </a:lnTo>
                  <a:lnTo>
                    <a:pt x="22" y="0"/>
                  </a:lnTo>
                  <a:lnTo>
                    <a:pt x="20" y="5"/>
                  </a:lnTo>
                  <a:lnTo>
                    <a:pt x="32" y="9"/>
                  </a:lnTo>
                  <a:lnTo>
                    <a:pt x="18" y="11"/>
                  </a:lnTo>
                  <a:lnTo>
                    <a:pt x="0" y="32"/>
                  </a:lnTo>
                </a:path>
              </a:pathLst>
            </a:custGeom>
            <a:solidFill>
              <a:srgbClr val="E0E0E0"/>
            </a:solidFill>
            <a:ln w="12700" cap="rnd">
              <a:noFill/>
              <a:round/>
              <a:headEnd/>
              <a:tailEnd/>
            </a:ln>
          </p:spPr>
          <p:txBody>
            <a:bodyPr/>
            <a:lstStyle/>
            <a:p>
              <a:endParaRPr lang="en-US"/>
            </a:p>
          </p:txBody>
        </p:sp>
        <p:sp>
          <p:nvSpPr>
            <p:cNvPr id="22562" name="Freeform 57"/>
            <p:cNvSpPr>
              <a:spLocks/>
            </p:cNvSpPr>
            <p:nvPr/>
          </p:nvSpPr>
          <p:spPr bwMode="auto">
            <a:xfrm>
              <a:off x="2463" y="1472"/>
              <a:ext cx="116" cy="216"/>
            </a:xfrm>
            <a:custGeom>
              <a:avLst/>
              <a:gdLst>
                <a:gd name="T0" fmla="*/ 25 w 116"/>
                <a:gd name="T1" fmla="*/ 215 h 216"/>
                <a:gd name="T2" fmla="*/ 23 w 116"/>
                <a:gd name="T3" fmla="*/ 177 h 216"/>
                <a:gd name="T4" fmla="*/ 10 w 116"/>
                <a:gd name="T5" fmla="*/ 175 h 216"/>
                <a:gd name="T6" fmla="*/ 10 w 116"/>
                <a:gd name="T7" fmla="*/ 167 h 216"/>
                <a:gd name="T8" fmla="*/ 14 w 116"/>
                <a:gd name="T9" fmla="*/ 159 h 216"/>
                <a:gd name="T10" fmla="*/ 47 w 116"/>
                <a:gd name="T11" fmla="*/ 165 h 216"/>
                <a:gd name="T12" fmla="*/ 79 w 116"/>
                <a:gd name="T13" fmla="*/ 185 h 216"/>
                <a:gd name="T14" fmla="*/ 57 w 116"/>
                <a:gd name="T15" fmla="*/ 164 h 216"/>
                <a:gd name="T16" fmla="*/ 36 w 116"/>
                <a:gd name="T17" fmla="*/ 154 h 216"/>
                <a:gd name="T18" fmla="*/ 13 w 116"/>
                <a:gd name="T19" fmla="*/ 151 h 216"/>
                <a:gd name="T20" fmla="*/ 13 w 116"/>
                <a:gd name="T21" fmla="*/ 141 h 216"/>
                <a:gd name="T22" fmla="*/ 29 w 116"/>
                <a:gd name="T23" fmla="*/ 136 h 216"/>
                <a:gd name="T24" fmla="*/ 41 w 116"/>
                <a:gd name="T25" fmla="*/ 127 h 216"/>
                <a:gd name="T26" fmla="*/ 23 w 116"/>
                <a:gd name="T27" fmla="*/ 128 h 216"/>
                <a:gd name="T28" fmla="*/ 12 w 116"/>
                <a:gd name="T29" fmla="*/ 133 h 216"/>
                <a:gd name="T30" fmla="*/ 19 w 116"/>
                <a:gd name="T31" fmla="*/ 121 h 216"/>
                <a:gd name="T32" fmla="*/ 33 w 116"/>
                <a:gd name="T33" fmla="*/ 113 h 216"/>
                <a:gd name="T34" fmla="*/ 20 w 116"/>
                <a:gd name="T35" fmla="*/ 112 h 216"/>
                <a:gd name="T36" fmla="*/ 9 w 116"/>
                <a:gd name="T37" fmla="*/ 115 h 216"/>
                <a:gd name="T38" fmla="*/ 20 w 116"/>
                <a:gd name="T39" fmla="*/ 101 h 216"/>
                <a:gd name="T40" fmla="*/ 42 w 116"/>
                <a:gd name="T41" fmla="*/ 100 h 216"/>
                <a:gd name="T42" fmla="*/ 57 w 116"/>
                <a:gd name="T43" fmla="*/ 105 h 216"/>
                <a:gd name="T44" fmla="*/ 61 w 116"/>
                <a:gd name="T45" fmla="*/ 110 h 216"/>
                <a:gd name="T46" fmla="*/ 78 w 116"/>
                <a:gd name="T47" fmla="*/ 115 h 216"/>
                <a:gd name="T48" fmla="*/ 84 w 116"/>
                <a:gd name="T49" fmla="*/ 113 h 216"/>
                <a:gd name="T50" fmla="*/ 72 w 116"/>
                <a:gd name="T51" fmla="*/ 103 h 216"/>
                <a:gd name="T52" fmla="*/ 68 w 116"/>
                <a:gd name="T53" fmla="*/ 95 h 216"/>
                <a:gd name="T54" fmla="*/ 54 w 116"/>
                <a:gd name="T55" fmla="*/ 87 h 216"/>
                <a:gd name="T56" fmla="*/ 40 w 116"/>
                <a:gd name="T57" fmla="*/ 84 h 216"/>
                <a:gd name="T58" fmla="*/ 23 w 116"/>
                <a:gd name="T59" fmla="*/ 86 h 216"/>
                <a:gd name="T60" fmla="*/ 12 w 116"/>
                <a:gd name="T61" fmla="*/ 91 h 216"/>
                <a:gd name="T62" fmla="*/ 7 w 116"/>
                <a:gd name="T63" fmla="*/ 97 h 216"/>
                <a:gd name="T64" fmla="*/ 0 w 116"/>
                <a:gd name="T65" fmla="*/ 95 h 216"/>
                <a:gd name="T66" fmla="*/ 4 w 116"/>
                <a:gd name="T67" fmla="*/ 84 h 216"/>
                <a:gd name="T68" fmla="*/ 9 w 116"/>
                <a:gd name="T69" fmla="*/ 68 h 216"/>
                <a:gd name="T70" fmla="*/ 30 w 116"/>
                <a:gd name="T71" fmla="*/ 57 h 216"/>
                <a:gd name="T72" fmla="*/ 16 w 116"/>
                <a:gd name="T73" fmla="*/ 54 h 216"/>
                <a:gd name="T74" fmla="*/ 5 w 116"/>
                <a:gd name="T75" fmla="*/ 61 h 216"/>
                <a:gd name="T76" fmla="*/ 25 w 116"/>
                <a:gd name="T77" fmla="*/ 46 h 216"/>
                <a:gd name="T78" fmla="*/ 12 w 116"/>
                <a:gd name="T79" fmla="*/ 44 h 216"/>
                <a:gd name="T80" fmla="*/ 16 w 116"/>
                <a:gd name="T81" fmla="*/ 30 h 216"/>
                <a:gd name="T82" fmla="*/ 14 w 116"/>
                <a:gd name="T83" fmla="*/ 22 h 216"/>
                <a:gd name="T84" fmla="*/ 9 w 116"/>
                <a:gd name="T85" fmla="*/ 14 h 216"/>
                <a:gd name="T86" fmla="*/ 25 w 116"/>
                <a:gd name="T87" fmla="*/ 4 h 216"/>
                <a:gd name="T88" fmla="*/ 30 w 116"/>
                <a:gd name="T89" fmla="*/ 0 h 216"/>
                <a:gd name="T90" fmla="*/ 48 w 116"/>
                <a:gd name="T91" fmla="*/ 0 h 216"/>
                <a:gd name="T92" fmla="*/ 61 w 116"/>
                <a:gd name="T93" fmla="*/ 0 h 216"/>
                <a:gd name="T94" fmla="*/ 68 w 116"/>
                <a:gd name="T95" fmla="*/ 25 h 216"/>
                <a:gd name="T96" fmla="*/ 78 w 116"/>
                <a:gd name="T97" fmla="*/ 45 h 216"/>
                <a:gd name="T98" fmla="*/ 75 w 116"/>
                <a:gd name="T99" fmla="*/ 54 h 216"/>
                <a:gd name="T100" fmla="*/ 83 w 116"/>
                <a:gd name="T101" fmla="*/ 65 h 216"/>
                <a:gd name="T102" fmla="*/ 85 w 116"/>
                <a:gd name="T103" fmla="*/ 76 h 216"/>
                <a:gd name="T104" fmla="*/ 84 w 116"/>
                <a:gd name="T105" fmla="*/ 87 h 216"/>
                <a:gd name="T106" fmla="*/ 85 w 116"/>
                <a:gd name="T107" fmla="*/ 92 h 216"/>
                <a:gd name="T108" fmla="*/ 89 w 116"/>
                <a:gd name="T109" fmla="*/ 99 h 216"/>
                <a:gd name="T110" fmla="*/ 92 w 116"/>
                <a:gd name="T111" fmla="*/ 110 h 216"/>
                <a:gd name="T112" fmla="*/ 100 w 116"/>
                <a:gd name="T113" fmla="*/ 129 h 216"/>
                <a:gd name="T114" fmla="*/ 104 w 116"/>
                <a:gd name="T115" fmla="*/ 152 h 216"/>
                <a:gd name="T116" fmla="*/ 113 w 116"/>
                <a:gd name="T117" fmla="*/ 175 h 216"/>
                <a:gd name="T118" fmla="*/ 115 w 116"/>
                <a:gd name="T119" fmla="*/ 192 h 216"/>
                <a:gd name="T120" fmla="*/ 82 w 116"/>
                <a:gd name="T121" fmla="*/ 203 h 216"/>
                <a:gd name="T122" fmla="*/ 25 w 116"/>
                <a:gd name="T123" fmla="*/ 215 h 21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116"/>
                <a:gd name="T187" fmla="*/ 0 h 216"/>
                <a:gd name="T188" fmla="*/ 116 w 116"/>
                <a:gd name="T189" fmla="*/ 216 h 21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116" h="216">
                  <a:moveTo>
                    <a:pt x="25" y="215"/>
                  </a:moveTo>
                  <a:lnTo>
                    <a:pt x="23" y="177"/>
                  </a:lnTo>
                  <a:lnTo>
                    <a:pt x="10" y="175"/>
                  </a:lnTo>
                  <a:lnTo>
                    <a:pt x="10" y="167"/>
                  </a:lnTo>
                  <a:lnTo>
                    <a:pt x="14" y="159"/>
                  </a:lnTo>
                  <a:lnTo>
                    <a:pt x="47" y="165"/>
                  </a:lnTo>
                  <a:lnTo>
                    <a:pt x="79" y="185"/>
                  </a:lnTo>
                  <a:lnTo>
                    <a:pt x="57" y="164"/>
                  </a:lnTo>
                  <a:lnTo>
                    <a:pt x="36" y="154"/>
                  </a:lnTo>
                  <a:lnTo>
                    <a:pt x="13" y="151"/>
                  </a:lnTo>
                  <a:lnTo>
                    <a:pt x="13" y="141"/>
                  </a:lnTo>
                  <a:lnTo>
                    <a:pt x="29" y="136"/>
                  </a:lnTo>
                  <a:lnTo>
                    <a:pt x="41" y="127"/>
                  </a:lnTo>
                  <a:lnTo>
                    <a:pt x="23" y="128"/>
                  </a:lnTo>
                  <a:lnTo>
                    <a:pt x="12" y="133"/>
                  </a:lnTo>
                  <a:lnTo>
                    <a:pt x="19" y="121"/>
                  </a:lnTo>
                  <a:lnTo>
                    <a:pt x="33" y="113"/>
                  </a:lnTo>
                  <a:lnTo>
                    <a:pt x="20" y="112"/>
                  </a:lnTo>
                  <a:lnTo>
                    <a:pt x="9" y="115"/>
                  </a:lnTo>
                  <a:lnTo>
                    <a:pt x="20" y="101"/>
                  </a:lnTo>
                  <a:lnTo>
                    <a:pt x="42" y="100"/>
                  </a:lnTo>
                  <a:lnTo>
                    <a:pt x="57" y="105"/>
                  </a:lnTo>
                  <a:lnTo>
                    <a:pt x="61" y="110"/>
                  </a:lnTo>
                  <a:lnTo>
                    <a:pt x="78" y="115"/>
                  </a:lnTo>
                  <a:lnTo>
                    <a:pt x="84" y="113"/>
                  </a:lnTo>
                  <a:lnTo>
                    <a:pt x="72" y="103"/>
                  </a:lnTo>
                  <a:lnTo>
                    <a:pt x="68" y="95"/>
                  </a:lnTo>
                  <a:lnTo>
                    <a:pt x="54" y="87"/>
                  </a:lnTo>
                  <a:lnTo>
                    <a:pt x="40" y="84"/>
                  </a:lnTo>
                  <a:lnTo>
                    <a:pt x="23" y="86"/>
                  </a:lnTo>
                  <a:lnTo>
                    <a:pt x="12" y="91"/>
                  </a:lnTo>
                  <a:lnTo>
                    <a:pt x="7" y="97"/>
                  </a:lnTo>
                  <a:lnTo>
                    <a:pt x="0" y="95"/>
                  </a:lnTo>
                  <a:lnTo>
                    <a:pt x="4" y="84"/>
                  </a:lnTo>
                  <a:lnTo>
                    <a:pt x="9" y="68"/>
                  </a:lnTo>
                  <a:lnTo>
                    <a:pt x="30" y="57"/>
                  </a:lnTo>
                  <a:lnTo>
                    <a:pt x="16" y="54"/>
                  </a:lnTo>
                  <a:lnTo>
                    <a:pt x="5" y="61"/>
                  </a:lnTo>
                  <a:lnTo>
                    <a:pt x="25" y="46"/>
                  </a:lnTo>
                  <a:lnTo>
                    <a:pt x="12" y="44"/>
                  </a:lnTo>
                  <a:lnTo>
                    <a:pt x="16" y="30"/>
                  </a:lnTo>
                  <a:lnTo>
                    <a:pt x="14" y="22"/>
                  </a:lnTo>
                  <a:lnTo>
                    <a:pt x="9" y="14"/>
                  </a:lnTo>
                  <a:lnTo>
                    <a:pt x="25" y="4"/>
                  </a:lnTo>
                  <a:lnTo>
                    <a:pt x="30" y="0"/>
                  </a:lnTo>
                  <a:lnTo>
                    <a:pt x="48" y="0"/>
                  </a:lnTo>
                  <a:lnTo>
                    <a:pt x="61" y="0"/>
                  </a:lnTo>
                  <a:lnTo>
                    <a:pt x="68" y="25"/>
                  </a:lnTo>
                  <a:lnTo>
                    <a:pt x="78" y="45"/>
                  </a:lnTo>
                  <a:lnTo>
                    <a:pt x="75" y="54"/>
                  </a:lnTo>
                  <a:lnTo>
                    <a:pt x="83" y="65"/>
                  </a:lnTo>
                  <a:lnTo>
                    <a:pt x="85" y="76"/>
                  </a:lnTo>
                  <a:lnTo>
                    <a:pt x="84" y="87"/>
                  </a:lnTo>
                  <a:lnTo>
                    <a:pt x="85" y="92"/>
                  </a:lnTo>
                  <a:lnTo>
                    <a:pt x="89" y="99"/>
                  </a:lnTo>
                  <a:lnTo>
                    <a:pt x="92" y="110"/>
                  </a:lnTo>
                  <a:lnTo>
                    <a:pt x="100" y="129"/>
                  </a:lnTo>
                  <a:lnTo>
                    <a:pt x="104" y="152"/>
                  </a:lnTo>
                  <a:lnTo>
                    <a:pt x="113" y="175"/>
                  </a:lnTo>
                  <a:lnTo>
                    <a:pt x="115" y="192"/>
                  </a:lnTo>
                  <a:lnTo>
                    <a:pt x="82" y="203"/>
                  </a:lnTo>
                  <a:lnTo>
                    <a:pt x="25" y="215"/>
                  </a:lnTo>
                </a:path>
              </a:pathLst>
            </a:custGeom>
            <a:solidFill>
              <a:srgbClr val="E0E0E0"/>
            </a:solidFill>
            <a:ln w="12700" cap="rnd">
              <a:noFill/>
              <a:round/>
              <a:headEnd/>
              <a:tailEnd/>
            </a:ln>
          </p:spPr>
          <p:txBody>
            <a:bodyPr/>
            <a:lstStyle/>
            <a:p>
              <a:endParaRPr lang="en-US"/>
            </a:p>
          </p:txBody>
        </p:sp>
        <p:sp>
          <p:nvSpPr>
            <p:cNvPr id="22563" name="Freeform 58"/>
            <p:cNvSpPr>
              <a:spLocks/>
            </p:cNvSpPr>
            <p:nvPr/>
          </p:nvSpPr>
          <p:spPr bwMode="auto">
            <a:xfrm>
              <a:off x="2051" y="1493"/>
              <a:ext cx="113" cy="206"/>
            </a:xfrm>
            <a:custGeom>
              <a:avLst/>
              <a:gdLst>
                <a:gd name="T0" fmla="*/ 0 w 113"/>
                <a:gd name="T1" fmla="*/ 181 h 206"/>
                <a:gd name="T2" fmla="*/ 52 w 113"/>
                <a:gd name="T3" fmla="*/ 193 h 206"/>
                <a:gd name="T4" fmla="*/ 98 w 113"/>
                <a:gd name="T5" fmla="*/ 205 h 206"/>
                <a:gd name="T6" fmla="*/ 112 w 113"/>
                <a:gd name="T7" fmla="*/ 177 h 206"/>
                <a:gd name="T8" fmla="*/ 111 w 113"/>
                <a:gd name="T9" fmla="*/ 137 h 206"/>
                <a:gd name="T10" fmla="*/ 106 w 113"/>
                <a:gd name="T11" fmla="*/ 97 h 206"/>
                <a:gd name="T12" fmla="*/ 98 w 113"/>
                <a:gd name="T13" fmla="*/ 66 h 206"/>
                <a:gd name="T14" fmla="*/ 88 w 113"/>
                <a:gd name="T15" fmla="*/ 45 h 206"/>
                <a:gd name="T16" fmla="*/ 69 w 113"/>
                <a:gd name="T17" fmla="*/ 23 h 206"/>
                <a:gd name="T18" fmla="*/ 55 w 113"/>
                <a:gd name="T19" fmla="*/ 6 h 206"/>
                <a:gd name="T20" fmla="*/ 48 w 113"/>
                <a:gd name="T21" fmla="*/ 2 h 206"/>
                <a:gd name="T22" fmla="*/ 38 w 113"/>
                <a:gd name="T23" fmla="*/ 0 h 206"/>
                <a:gd name="T24" fmla="*/ 28 w 113"/>
                <a:gd name="T25" fmla="*/ 0 h 206"/>
                <a:gd name="T26" fmla="*/ 18 w 113"/>
                <a:gd name="T27" fmla="*/ 3 h 206"/>
                <a:gd name="T28" fmla="*/ 14 w 113"/>
                <a:gd name="T29" fmla="*/ 8 h 206"/>
                <a:gd name="T30" fmla="*/ 13 w 113"/>
                <a:gd name="T31" fmla="*/ 18 h 206"/>
                <a:gd name="T32" fmla="*/ 0 w 113"/>
                <a:gd name="T33" fmla="*/ 181 h 20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13"/>
                <a:gd name="T52" fmla="*/ 0 h 206"/>
                <a:gd name="T53" fmla="*/ 113 w 113"/>
                <a:gd name="T54" fmla="*/ 206 h 20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13" h="206">
                  <a:moveTo>
                    <a:pt x="0" y="181"/>
                  </a:moveTo>
                  <a:lnTo>
                    <a:pt x="52" y="193"/>
                  </a:lnTo>
                  <a:lnTo>
                    <a:pt x="98" y="205"/>
                  </a:lnTo>
                  <a:lnTo>
                    <a:pt x="112" y="177"/>
                  </a:lnTo>
                  <a:lnTo>
                    <a:pt x="111" y="137"/>
                  </a:lnTo>
                  <a:lnTo>
                    <a:pt x="106" y="97"/>
                  </a:lnTo>
                  <a:lnTo>
                    <a:pt x="98" y="66"/>
                  </a:lnTo>
                  <a:lnTo>
                    <a:pt x="88" y="45"/>
                  </a:lnTo>
                  <a:lnTo>
                    <a:pt x="69" y="23"/>
                  </a:lnTo>
                  <a:lnTo>
                    <a:pt x="55" y="6"/>
                  </a:lnTo>
                  <a:lnTo>
                    <a:pt x="48" y="2"/>
                  </a:lnTo>
                  <a:lnTo>
                    <a:pt x="38" y="0"/>
                  </a:lnTo>
                  <a:lnTo>
                    <a:pt x="28" y="0"/>
                  </a:lnTo>
                  <a:lnTo>
                    <a:pt x="18" y="3"/>
                  </a:lnTo>
                  <a:lnTo>
                    <a:pt x="14" y="8"/>
                  </a:lnTo>
                  <a:lnTo>
                    <a:pt x="13" y="18"/>
                  </a:lnTo>
                  <a:lnTo>
                    <a:pt x="0" y="181"/>
                  </a:lnTo>
                </a:path>
              </a:pathLst>
            </a:custGeom>
            <a:solidFill>
              <a:srgbClr val="606060"/>
            </a:solidFill>
            <a:ln w="12700" cap="rnd">
              <a:noFill/>
              <a:round/>
              <a:headEnd/>
              <a:tailEnd/>
            </a:ln>
          </p:spPr>
          <p:txBody>
            <a:bodyPr/>
            <a:lstStyle/>
            <a:p>
              <a:endParaRPr lang="en-US"/>
            </a:p>
          </p:txBody>
        </p:sp>
        <p:sp>
          <p:nvSpPr>
            <p:cNvPr id="22564" name="Freeform 59"/>
            <p:cNvSpPr>
              <a:spLocks/>
            </p:cNvSpPr>
            <p:nvPr/>
          </p:nvSpPr>
          <p:spPr bwMode="auto">
            <a:xfrm>
              <a:off x="2069" y="1501"/>
              <a:ext cx="86" cy="185"/>
            </a:xfrm>
            <a:custGeom>
              <a:avLst/>
              <a:gdLst>
                <a:gd name="T0" fmla="*/ 0 w 86"/>
                <a:gd name="T1" fmla="*/ 163 h 185"/>
                <a:gd name="T2" fmla="*/ 10 w 86"/>
                <a:gd name="T3" fmla="*/ 84 h 185"/>
                <a:gd name="T4" fmla="*/ 9 w 86"/>
                <a:gd name="T5" fmla="*/ 3 h 185"/>
                <a:gd name="T6" fmla="*/ 16 w 86"/>
                <a:gd name="T7" fmla="*/ 0 h 185"/>
                <a:gd name="T8" fmla="*/ 30 w 86"/>
                <a:gd name="T9" fmla="*/ 5 h 185"/>
                <a:gd name="T10" fmla="*/ 49 w 86"/>
                <a:gd name="T11" fmla="*/ 28 h 185"/>
                <a:gd name="T12" fmla="*/ 63 w 86"/>
                <a:gd name="T13" fmla="*/ 52 h 185"/>
                <a:gd name="T14" fmla="*/ 75 w 86"/>
                <a:gd name="T15" fmla="*/ 79 h 185"/>
                <a:gd name="T16" fmla="*/ 82 w 86"/>
                <a:gd name="T17" fmla="*/ 115 h 185"/>
                <a:gd name="T18" fmla="*/ 85 w 86"/>
                <a:gd name="T19" fmla="*/ 163 h 185"/>
                <a:gd name="T20" fmla="*/ 67 w 86"/>
                <a:gd name="T21" fmla="*/ 184 h 185"/>
                <a:gd name="T22" fmla="*/ 30 w 86"/>
                <a:gd name="T23" fmla="*/ 176 h 185"/>
                <a:gd name="T24" fmla="*/ 0 w 86"/>
                <a:gd name="T25" fmla="*/ 163 h 18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6"/>
                <a:gd name="T40" fmla="*/ 0 h 185"/>
                <a:gd name="T41" fmla="*/ 86 w 86"/>
                <a:gd name="T42" fmla="*/ 185 h 18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6" h="185">
                  <a:moveTo>
                    <a:pt x="0" y="163"/>
                  </a:moveTo>
                  <a:lnTo>
                    <a:pt x="10" y="84"/>
                  </a:lnTo>
                  <a:lnTo>
                    <a:pt x="9" y="3"/>
                  </a:lnTo>
                  <a:lnTo>
                    <a:pt x="16" y="0"/>
                  </a:lnTo>
                  <a:lnTo>
                    <a:pt x="30" y="5"/>
                  </a:lnTo>
                  <a:lnTo>
                    <a:pt x="49" y="28"/>
                  </a:lnTo>
                  <a:lnTo>
                    <a:pt x="63" y="52"/>
                  </a:lnTo>
                  <a:lnTo>
                    <a:pt x="75" y="79"/>
                  </a:lnTo>
                  <a:lnTo>
                    <a:pt x="82" y="115"/>
                  </a:lnTo>
                  <a:lnTo>
                    <a:pt x="85" y="163"/>
                  </a:lnTo>
                  <a:lnTo>
                    <a:pt x="67" y="184"/>
                  </a:lnTo>
                  <a:lnTo>
                    <a:pt x="30" y="176"/>
                  </a:lnTo>
                  <a:lnTo>
                    <a:pt x="0" y="163"/>
                  </a:lnTo>
                </a:path>
              </a:pathLst>
            </a:custGeom>
            <a:solidFill>
              <a:srgbClr val="A0A0A0"/>
            </a:solidFill>
            <a:ln w="12700" cap="rnd">
              <a:noFill/>
              <a:round/>
              <a:headEnd/>
              <a:tailEnd/>
            </a:ln>
          </p:spPr>
          <p:txBody>
            <a:bodyPr/>
            <a:lstStyle/>
            <a:p>
              <a:endParaRPr lang="en-US"/>
            </a:p>
          </p:txBody>
        </p:sp>
        <p:sp>
          <p:nvSpPr>
            <p:cNvPr id="22565" name="Freeform 60"/>
            <p:cNvSpPr>
              <a:spLocks/>
            </p:cNvSpPr>
            <p:nvPr/>
          </p:nvSpPr>
          <p:spPr bwMode="auto">
            <a:xfrm>
              <a:off x="2491" y="1391"/>
              <a:ext cx="122" cy="277"/>
            </a:xfrm>
            <a:custGeom>
              <a:avLst/>
              <a:gdLst>
                <a:gd name="T0" fmla="*/ 0 w 122"/>
                <a:gd name="T1" fmla="*/ 0 h 277"/>
                <a:gd name="T2" fmla="*/ 18 w 122"/>
                <a:gd name="T3" fmla="*/ 19 h 277"/>
                <a:gd name="T4" fmla="*/ 37 w 122"/>
                <a:gd name="T5" fmla="*/ 19 h 277"/>
                <a:gd name="T6" fmla="*/ 18 w 122"/>
                <a:gd name="T7" fmla="*/ 33 h 277"/>
                <a:gd name="T8" fmla="*/ 47 w 122"/>
                <a:gd name="T9" fmla="*/ 33 h 277"/>
                <a:gd name="T10" fmla="*/ 31 w 122"/>
                <a:gd name="T11" fmla="*/ 48 h 277"/>
                <a:gd name="T12" fmla="*/ 55 w 122"/>
                <a:gd name="T13" fmla="*/ 48 h 277"/>
                <a:gd name="T14" fmla="*/ 37 w 122"/>
                <a:gd name="T15" fmla="*/ 64 h 277"/>
                <a:gd name="T16" fmla="*/ 62 w 122"/>
                <a:gd name="T17" fmla="*/ 64 h 277"/>
                <a:gd name="T18" fmla="*/ 41 w 122"/>
                <a:gd name="T19" fmla="*/ 78 h 277"/>
                <a:gd name="T20" fmla="*/ 76 w 122"/>
                <a:gd name="T21" fmla="*/ 81 h 277"/>
                <a:gd name="T22" fmla="*/ 51 w 122"/>
                <a:gd name="T23" fmla="*/ 95 h 277"/>
                <a:gd name="T24" fmla="*/ 80 w 122"/>
                <a:gd name="T25" fmla="*/ 101 h 277"/>
                <a:gd name="T26" fmla="*/ 61 w 122"/>
                <a:gd name="T27" fmla="*/ 114 h 277"/>
                <a:gd name="T28" fmla="*/ 86 w 122"/>
                <a:gd name="T29" fmla="*/ 120 h 277"/>
                <a:gd name="T30" fmla="*/ 64 w 122"/>
                <a:gd name="T31" fmla="*/ 130 h 277"/>
                <a:gd name="T32" fmla="*/ 92 w 122"/>
                <a:gd name="T33" fmla="*/ 138 h 277"/>
                <a:gd name="T34" fmla="*/ 72 w 122"/>
                <a:gd name="T35" fmla="*/ 151 h 277"/>
                <a:gd name="T36" fmla="*/ 96 w 122"/>
                <a:gd name="T37" fmla="*/ 153 h 277"/>
                <a:gd name="T38" fmla="*/ 74 w 122"/>
                <a:gd name="T39" fmla="*/ 171 h 277"/>
                <a:gd name="T40" fmla="*/ 100 w 122"/>
                <a:gd name="T41" fmla="*/ 175 h 277"/>
                <a:gd name="T42" fmla="*/ 78 w 122"/>
                <a:gd name="T43" fmla="*/ 188 h 277"/>
                <a:gd name="T44" fmla="*/ 103 w 122"/>
                <a:gd name="T45" fmla="*/ 196 h 277"/>
                <a:gd name="T46" fmla="*/ 82 w 122"/>
                <a:gd name="T47" fmla="*/ 207 h 277"/>
                <a:gd name="T48" fmla="*/ 107 w 122"/>
                <a:gd name="T49" fmla="*/ 213 h 277"/>
                <a:gd name="T50" fmla="*/ 88 w 122"/>
                <a:gd name="T51" fmla="*/ 227 h 277"/>
                <a:gd name="T52" fmla="*/ 115 w 122"/>
                <a:gd name="T53" fmla="*/ 233 h 277"/>
                <a:gd name="T54" fmla="*/ 94 w 122"/>
                <a:gd name="T55" fmla="*/ 244 h 277"/>
                <a:gd name="T56" fmla="*/ 121 w 122"/>
                <a:gd name="T57" fmla="*/ 248 h 277"/>
                <a:gd name="T58" fmla="*/ 100 w 122"/>
                <a:gd name="T59" fmla="*/ 262 h 277"/>
                <a:gd name="T60" fmla="*/ 121 w 122"/>
                <a:gd name="T61" fmla="*/ 264 h 277"/>
                <a:gd name="T62" fmla="*/ 98 w 122"/>
                <a:gd name="T63" fmla="*/ 276 h 277"/>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22"/>
                <a:gd name="T97" fmla="*/ 0 h 277"/>
                <a:gd name="T98" fmla="*/ 122 w 122"/>
                <a:gd name="T99" fmla="*/ 277 h 277"/>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22" h="277">
                  <a:moveTo>
                    <a:pt x="0" y="0"/>
                  </a:moveTo>
                  <a:lnTo>
                    <a:pt x="18" y="19"/>
                  </a:lnTo>
                  <a:lnTo>
                    <a:pt x="37" y="19"/>
                  </a:lnTo>
                  <a:lnTo>
                    <a:pt x="18" y="33"/>
                  </a:lnTo>
                  <a:lnTo>
                    <a:pt x="47" y="33"/>
                  </a:lnTo>
                  <a:lnTo>
                    <a:pt x="31" y="48"/>
                  </a:lnTo>
                  <a:lnTo>
                    <a:pt x="55" y="48"/>
                  </a:lnTo>
                  <a:lnTo>
                    <a:pt x="37" y="64"/>
                  </a:lnTo>
                  <a:lnTo>
                    <a:pt x="62" y="64"/>
                  </a:lnTo>
                  <a:lnTo>
                    <a:pt x="41" y="78"/>
                  </a:lnTo>
                  <a:lnTo>
                    <a:pt x="76" y="81"/>
                  </a:lnTo>
                  <a:lnTo>
                    <a:pt x="51" y="95"/>
                  </a:lnTo>
                  <a:lnTo>
                    <a:pt x="80" y="101"/>
                  </a:lnTo>
                  <a:lnTo>
                    <a:pt x="61" y="114"/>
                  </a:lnTo>
                  <a:lnTo>
                    <a:pt x="86" y="120"/>
                  </a:lnTo>
                  <a:lnTo>
                    <a:pt x="64" y="130"/>
                  </a:lnTo>
                  <a:lnTo>
                    <a:pt x="92" y="138"/>
                  </a:lnTo>
                  <a:lnTo>
                    <a:pt x="72" y="151"/>
                  </a:lnTo>
                  <a:lnTo>
                    <a:pt x="96" y="153"/>
                  </a:lnTo>
                  <a:lnTo>
                    <a:pt x="74" y="171"/>
                  </a:lnTo>
                  <a:lnTo>
                    <a:pt x="100" y="175"/>
                  </a:lnTo>
                  <a:lnTo>
                    <a:pt x="78" y="188"/>
                  </a:lnTo>
                  <a:lnTo>
                    <a:pt x="103" y="196"/>
                  </a:lnTo>
                  <a:lnTo>
                    <a:pt x="82" y="207"/>
                  </a:lnTo>
                  <a:lnTo>
                    <a:pt x="107" y="213"/>
                  </a:lnTo>
                  <a:lnTo>
                    <a:pt x="88" y="227"/>
                  </a:lnTo>
                  <a:lnTo>
                    <a:pt x="115" y="233"/>
                  </a:lnTo>
                  <a:lnTo>
                    <a:pt x="94" y="244"/>
                  </a:lnTo>
                  <a:lnTo>
                    <a:pt x="121" y="248"/>
                  </a:lnTo>
                  <a:lnTo>
                    <a:pt x="100" y="262"/>
                  </a:lnTo>
                  <a:lnTo>
                    <a:pt x="121" y="264"/>
                  </a:lnTo>
                  <a:lnTo>
                    <a:pt x="98" y="276"/>
                  </a:lnTo>
                </a:path>
              </a:pathLst>
            </a:custGeom>
            <a:noFill/>
            <a:ln w="25400" cap="rnd">
              <a:noFill/>
              <a:round/>
              <a:headEnd/>
              <a:tailEnd/>
            </a:ln>
          </p:spPr>
          <p:txBody>
            <a:bodyPr/>
            <a:lstStyle/>
            <a:p>
              <a:endParaRPr lang="en-US"/>
            </a:p>
          </p:txBody>
        </p:sp>
      </p:grpSp>
      <p:sp>
        <p:nvSpPr>
          <p:cNvPr id="22553" name="AutoShape 61"/>
          <p:cNvSpPr>
            <a:spLocks noChangeArrowheads="1"/>
          </p:cNvSpPr>
          <p:nvPr/>
        </p:nvSpPr>
        <p:spPr bwMode="auto">
          <a:xfrm>
            <a:off x="7594600" y="3962400"/>
            <a:ext cx="2063750" cy="762000"/>
          </a:xfrm>
          <a:prstGeom prst="wedgeEllipseCallout">
            <a:avLst>
              <a:gd name="adj1" fmla="val -51083"/>
              <a:gd name="adj2" fmla="val 76458"/>
            </a:avLst>
          </a:prstGeom>
          <a:solidFill>
            <a:schemeClr val="bg1"/>
          </a:solidFill>
          <a:ln w="9525">
            <a:solidFill>
              <a:srgbClr val="080808"/>
            </a:solidFill>
            <a:miter lim="800000"/>
            <a:headEnd/>
            <a:tailEnd/>
          </a:ln>
        </p:spPr>
        <p:txBody>
          <a:bodyPr/>
          <a:lstStyle/>
          <a:p>
            <a:pPr algn="ctr"/>
            <a:r>
              <a:rPr lang="en-US" sz="1600">
                <a:solidFill>
                  <a:srgbClr val="000000"/>
                </a:solidFill>
                <a:latin typeface="Tahoma" pitchFamily="34" charset="0"/>
              </a:rPr>
              <a:t>Bayarnya kapan pak ?</a:t>
            </a:r>
          </a:p>
        </p:txBody>
      </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Oval 2"/>
          <p:cNvSpPr>
            <a:spLocks noChangeArrowheads="1"/>
          </p:cNvSpPr>
          <p:nvPr/>
        </p:nvSpPr>
        <p:spPr bwMode="auto">
          <a:xfrm>
            <a:off x="8089900" y="3048000"/>
            <a:ext cx="1568450" cy="609600"/>
          </a:xfrm>
          <a:prstGeom prst="ellipse">
            <a:avLst/>
          </a:prstGeom>
          <a:solidFill>
            <a:srgbClr val="FBFDA1"/>
          </a:solidFill>
          <a:ln w="9525">
            <a:solidFill>
              <a:schemeClr val="tx1"/>
            </a:solidFill>
            <a:round/>
            <a:headEnd/>
            <a:tailEnd/>
          </a:ln>
        </p:spPr>
        <p:txBody>
          <a:bodyPr wrap="none" anchor="ctr"/>
          <a:lstStyle/>
          <a:p>
            <a:endParaRPr lang="en-US"/>
          </a:p>
        </p:txBody>
      </p:sp>
      <p:sp>
        <p:nvSpPr>
          <p:cNvPr id="32771" name="Rectangle 3"/>
          <p:cNvSpPr>
            <a:spLocks noGrp="1" noChangeArrowheads="1"/>
          </p:cNvSpPr>
          <p:nvPr>
            <p:ph type="title"/>
          </p:nvPr>
        </p:nvSpPr>
        <p:spPr>
          <a:xfrm>
            <a:off x="495300" y="457200"/>
            <a:ext cx="8915400" cy="990600"/>
          </a:xfrm>
        </p:spPr>
        <p:txBody>
          <a:bodyPr/>
          <a:lstStyle/>
          <a:p>
            <a:pPr eaLnBrk="1" hangingPunct="1"/>
            <a:r>
              <a:rPr lang="en-US" smtClean="0"/>
              <a:t>Jurnal-jurnal</a:t>
            </a:r>
          </a:p>
        </p:txBody>
      </p:sp>
      <p:sp>
        <p:nvSpPr>
          <p:cNvPr id="32772" name="Rectangle 4"/>
          <p:cNvSpPr>
            <a:spLocks noGrp="1" noChangeArrowheads="1"/>
          </p:cNvSpPr>
          <p:nvPr>
            <p:ph type="body" idx="4294967295"/>
          </p:nvPr>
        </p:nvSpPr>
        <p:spPr>
          <a:xfrm>
            <a:off x="0" y="1447800"/>
            <a:ext cx="9410700" cy="4648200"/>
          </a:xfrm>
        </p:spPr>
        <p:txBody>
          <a:bodyPr/>
          <a:lstStyle/>
          <a:p>
            <a:pPr eaLnBrk="1" hangingPunct="1">
              <a:buClr>
                <a:schemeClr val="tx1"/>
              </a:buClr>
            </a:pPr>
            <a:r>
              <a:rPr lang="en-US" smtClean="0"/>
              <a:t>PR, PO = Tidak ada jurnal</a:t>
            </a:r>
          </a:p>
          <a:p>
            <a:pPr eaLnBrk="1" hangingPunct="1">
              <a:buClr>
                <a:schemeClr val="tx1"/>
              </a:buClr>
            </a:pPr>
            <a:r>
              <a:rPr lang="en-US" smtClean="0"/>
              <a:t>Goods Receipt (GR) :</a:t>
            </a:r>
          </a:p>
        </p:txBody>
      </p:sp>
      <p:graphicFrame>
        <p:nvGraphicFramePr>
          <p:cNvPr id="378885" name="Group 5"/>
          <p:cNvGraphicFramePr>
            <a:graphicFrameLocks noGrp="1"/>
          </p:cNvGraphicFramePr>
          <p:nvPr>
            <p:ph type="tbl" idx="1"/>
          </p:nvPr>
        </p:nvGraphicFramePr>
        <p:xfrm>
          <a:off x="330200" y="2590800"/>
          <a:ext cx="9328150" cy="2183702"/>
        </p:xfrm>
        <a:graphic>
          <a:graphicData uri="http://schemas.openxmlformats.org/drawingml/2006/table">
            <a:tbl>
              <a:tblPr/>
              <a:tblGrid>
                <a:gridCol w="1243013"/>
                <a:gridCol w="3297237"/>
                <a:gridCol w="1568450"/>
                <a:gridCol w="1403350"/>
                <a:gridCol w="1816100"/>
              </a:tblGrid>
              <a:tr h="457200">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800" b="0" i="0" u="none" strike="noStrike" cap="none" normalizeH="0" baseline="0" smtClean="0">
                          <a:ln>
                            <a:noFill/>
                          </a:ln>
                          <a:solidFill>
                            <a:srgbClr val="000000"/>
                          </a:solidFill>
                          <a:effectLst/>
                          <a:latin typeface="Arial" charset="0"/>
                          <a:cs typeface="Arial" charset="0"/>
                        </a:rPr>
                        <a:t>Date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800" b="0" i="0" u="none" strike="noStrike" cap="none" normalizeH="0" baseline="0" smtClean="0">
                          <a:ln>
                            <a:noFill/>
                          </a:ln>
                          <a:solidFill>
                            <a:srgbClr val="000000"/>
                          </a:solidFill>
                          <a:effectLst/>
                          <a:latin typeface="Arial" charset="0"/>
                          <a:cs typeface="Arial" charset="0"/>
                        </a:rPr>
                        <a:t>Account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800" b="0" i="0" u="none" strike="noStrike" cap="none" normalizeH="0" baseline="0" smtClean="0">
                          <a:ln>
                            <a:noFill/>
                          </a:ln>
                          <a:solidFill>
                            <a:srgbClr val="000000"/>
                          </a:solidFill>
                          <a:effectLst/>
                          <a:latin typeface="Arial" charset="0"/>
                          <a:cs typeface="Arial" charset="0"/>
                        </a:rPr>
                        <a:t>Amount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800" b="0" i="0" u="none" strike="noStrike" cap="none" normalizeH="0" baseline="0" smtClean="0">
                          <a:ln>
                            <a:noFill/>
                          </a:ln>
                          <a:solidFill>
                            <a:srgbClr val="000000"/>
                          </a:solidFill>
                          <a:effectLst/>
                          <a:latin typeface="Arial" charset="0"/>
                          <a:cs typeface="Arial" charset="0"/>
                        </a:rPr>
                        <a:t>Vendor</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800" b="0" i="0" u="none" strike="noStrike" cap="none" normalizeH="0" baseline="0" smtClean="0">
                          <a:ln>
                            <a:noFill/>
                          </a:ln>
                          <a:solidFill>
                            <a:srgbClr val="000000"/>
                          </a:solidFill>
                          <a:effectLst/>
                          <a:latin typeface="Arial" charset="0"/>
                          <a:cs typeface="Arial" charset="0"/>
                        </a:rPr>
                        <a:t>Reff (No GR)</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533400">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0" i="0" u="none" strike="noStrike" cap="none" normalizeH="0" baseline="0" smtClean="0">
                          <a:ln>
                            <a:noFill/>
                          </a:ln>
                          <a:solidFill>
                            <a:schemeClr val="tx1"/>
                          </a:solidFill>
                          <a:effectLst/>
                          <a:latin typeface="Arial" charset="0"/>
                          <a:cs typeface="Arial" charset="0"/>
                        </a:rPr>
                        <a:t>01.04.2007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0" i="0" u="none" strike="noStrike" cap="none" normalizeH="0" baseline="0" smtClean="0">
                          <a:ln>
                            <a:noFill/>
                          </a:ln>
                          <a:solidFill>
                            <a:schemeClr val="tx1"/>
                          </a:solidFill>
                          <a:effectLst/>
                          <a:latin typeface="Arial" charset="0"/>
                          <a:cs typeface="Arial" charset="0"/>
                        </a:rPr>
                        <a:t>Dr. Iventory Raw. Material</a:t>
                      </a:r>
                    </a:p>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0" i="0" u="none" strike="noStrike" cap="none" normalizeH="0" baseline="0" smtClean="0">
                          <a:ln>
                            <a:noFill/>
                          </a:ln>
                          <a:solidFill>
                            <a:schemeClr val="tx1"/>
                          </a:solidFill>
                          <a:effectLst/>
                          <a:latin typeface="Arial" charset="0"/>
                          <a:cs typeface="Arial" charset="0"/>
                        </a:rPr>
                        <a:t>   Cr. Clear. GR/IR</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0" i="0" u="none" strike="noStrike" cap="none" normalizeH="0" baseline="0" smtClean="0">
                          <a:ln>
                            <a:noFill/>
                          </a:ln>
                          <a:solidFill>
                            <a:schemeClr val="tx1"/>
                          </a:solidFill>
                          <a:effectLst/>
                          <a:latin typeface="Arial" charset="0"/>
                          <a:cs typeface="Arial" charset="0"/>
                        </a:rPr>
                        <a:t>127.450.000</a:t>
                      </a:r>
                    </a:p>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0" i="0" u="none" strike="noStrike" cap="none" normalizeH="0" baseline="0" smtClean="0">
                          <a:ln>
                            <a:noFill/>
                          </a:ln>
                          <a:solidFill>
                            <a:schemeClr val="tx1"/>
                          </a:solidFill>
                          <a:effectLst/>
                          <a:latin typeface="Arial" charset="0"/>
                          <a:cs typeface="Arial" charset="0"/>
                        </a:rPr>
                        <a:t>127.450.000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0" i="0" u="none" strike="noStrike" cap="none" normalizeH="0" baseline="0" smtClean="0">
                          <a:ln>
                            <a:noFill/>
                          </a:ln>
                          <a:solidFill>
                            <a:schemeClr val="tx1"/>
                          </a:solidFill>
                          <a:effectLst/>
                          <a:latin typeface="Arial" charset="0"/>
                          <a:cs typeface="Arial" charset="0"/>
                        </a:rPr>
                        <a:t>V-010</a:t>
                      </a:r>
                    </a:p>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0" i="0" u="none" strike="noStrike" cap="none" normalizeH="0" baseline="0" smtClean="0">
                          <a:ln>
                            <a:noFill/>
                          </a:ln>
                          <a:solidFill>
                            <a:schemeClr val="tx1"/>
                          </a:solidFill>
                          <a:effectLst/>
                          <a:latin typeface="Arial" charset="0"/>
                          <a:cs typeface="Arial" charset="0"/>
                        </a:rPr>
                        <a:t>V-010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0" i="0" u="none" strike="noStrike" cap="none" normalizeH="0" baseline="0" smtClean="0">
                          <a:ln>
                            <a:noFill/>
                          </a:ln>
                          <a:solidFill>
                            <a:schemeClr val="tx1"/>
                          </a:solidFill>
                          <a:effectLst/>
                          <a:latin typeface="Arial" charset="0"/>
                          <a:cs typeface="Arial" charset="0"/>
                        </a:rPr>
                        <a:t>5900120</a:t>
                      </a:r>
                    </a:p>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0" i="0" u="none" strike="noStrike" cap="none" normalizeH="0" baseline="0" smtClean="0">
                          <a:ln>
                            <a:noFill/>
                          </a:ln>
                          <a:solidFill>
                            <a:schemeClr val="tx1"/>
                          </a:solidFill>
                          <a:effectLst/>
                          <a:latin typeface="Arial" charset="0"/>
                          <a:cs typeface="Arial" charset="0"/>
                        </a:rPr>
                        <a:t>5900120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54038">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0" i="0" u="none" strike="noStrike" cap="none" normalizeH="0" baseline="0" smtClean="0">
                          <a:ln>
                            <a:noFill/>
                          </a:ln>
                          <a:solidFill>
                            <a:schemeClr val="tx1"/>
                          </a:solidFill>
                          <a:effectLst/>
                          <a:latin typeface="Arial" charset="0"/>
                          <a:cs typeface="Arial" charset="0"/>
                        </a:rPr>
                        <a:t>14.04.2007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0" i="0" u="none" strike="noStrike" cap="none" normalizeH="0" baseline="0" smtClean="0">
                          <a:ln>
                            <a:noFill/>
                          </a:ln>
                          <a:solidFill>
                            <a:schemeClr val="tx1"/>
                          </a:solidFill>
                          <a:effectLst/>
                          <a:latin typeface="Arial" charset="0"/>
                          <a:cs typeface="Arial" charset="0"/>
                        </a:rPr>
                        <a:t>Dr. Iventory Raw. Material</a:t>
                      </a:r>
                    </a:p>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0" i="0" u="none" strike="noStrike" cap="none" normalizeH="0" baseline="0" smtClean="0">
                          <a:ln>
                            <a:noFill/>
                          </a:ln>
                          <a:solidFill>
                            <a:schemeClr val="tx1"/>
                          </a:solidFill>
                          <a:effectLst/>
                          <a:latin typeface="Arial" charset="0"/>
                          <a:cs typeface="Arial" charset="0"/>
                        </a:rPr>
                        <a:t>   Cr. Clear. GR/IR</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0" i="0" u="none" strike="noStrike" cap="none" normalizeH="0" baseline="0" smtClean="0">
                          <a:ln>
                            <a:noFill/>
                          </a:ln>
                          <a:solidFill>
                            <a:schemeClr val="tx1"/>
                          </a:solidFill>
                          <a:effectLst/>
                          <a:latin typeface="Arial" charset="0"/>
                          <a:cs typeface="Arial" charset="0"/>
                        </a:rPr>
                        <a:t>70.825.000</a:t>
                      </a:r>
                    </a:p>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0" i="0" u="none" strike="noStrike" cap="none" normalizeH="0" baseline="0" smtClean="0">
                          <a:ln>
                            <a:noFill/>
                          </a:ln>
                          <a:solidFill>
                            <a:schemeClr val="tx1"/>
                          </a:solidFill>
                          <a:effectLst/>
                          <a:latin typeface="Arial" charset="0"/>
                          <a:cs typeface="Arial" charset="0"/>
                        </a:rPr>
                        <a:t>70.825.000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0" i="0" u="none" strike="noStrike" cap="none" normalizeH="0" baseline="0" smtClean="0">
                          <a:ln>
                            <a:noFill/>
                          </a:ln>
                          <a:solidFill>
                            <a:schemeClr val="tx1"/>
                          </a:solidFill>
                          <a:effectLst/>
                          <a:latin typeface="Arial" charset="0"/>
                          <a:cs typeface="Arial" charset="0"/>
                        </a:rPr>
                        <a:t>V-010</a:t>
                      </a:r>
                    </a:p>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0" i="0" u="none" strike="noStrike" cap="none" normalizeH="0" baseline="0" smtClean="0">
                          <a:ln>
                            <a:noFill/>
                          </a:ln>
                          <a:solidFill>
                            <a:schemeClr val="tx1"/>
                          </a:solidFill>
                          <a:effectLst/>
                          <a:latin typeface="Arial" charset="0"/>
                          <a:cs typeface="Arial" charset="0"/>
                        </a:rPr>
                        <a:t>V-010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0" i="0" u="none" strike="noStrike" cap="none" normalizeH="0" baseline="0" smtClean="0">
                          <a:ln>
                            <a:noFill/>
                          </a:ln>
                          <a:solidFill>
                            <a:schemeClr val="tx1"/>
                          </a:solidFill>
                          <a:effectLst/>
                          <a:latin typeface="Arial" charset="0"/>
                          <a:cs typeface="Arial" charset="0"/>
                        </a:rPr>
                        <a:t>5900125</a:t>
                      </a:r>
                    </a:p>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0" i="0" u="none" strike="noStrike" cap="none" normalizeH="0" baseline="0" smtClean="0">
                          <a:ln>
                            <a:noFill/>
                          </a:ln>
                          <a:solidFill>
                            <a:schemeClr val="tx1"/>
                          </a:solidFill>
                          <a:effectLst/>
                          <a:latin typeface="Arial" charset="0"/>
                          <a:cs typeface="Arial" charset="0"/>
                        </a:rPr>
                        <a:t>5900125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04838">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0" i="0" u="none" strike="noStrike" cap="none" normalizeH="0" baseline="0" smtClean="0">
                          <a:ln>
                            <a:noFill/>
                          </a:ln>
                          <a:solidFill>
                            <a:schemeClr val="tx1"/>
                          </a:solidFill>
                          <a:effectLst/>
                          <a:latin typeface="Arial" charset="0"/>
                          <a:cs typeface="Arial" charset="0"/>
                        </a:rPr>
                        <a:t>24.04.2007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0" i="0" u="none" strike="noStrike" cap="none" normalizeH="0" baseline="0" smtClean="0">
                          <a:ln>
                            <a:noFill/>
                          </a:ln>
                          <a:solidFill>
                            <a:schemeClr val="tx1"/>
                          </a:solidFill>
                          <a:effectLst/>
                          <a:latin typeface="Arial" charset="0"/>
                          <a:cs typeface="Arial" charset="0"/>
                        </a:rPr>
                        <a:t>Dr. Iventory Raw. Material</a:t>
                      </a:r>
                    </a:p>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0" i="0" u="none" strike="noStrike" cap="none" normalizeH="0" baseline="0" smtClean="0">
                          <a:ln>
                            <a:noFill/>
                          </a:ln>
                          <a:solidFill>
                            <a:schemeClr val="tx1"/>
                          </a:solidFill>
                          <a:effectLst/>
                          <a:latin typeface="Arial" charset="0"/>
                          <a:cs typeface="Arial" charset="0"/>
                        </a:rPr>
                        <a:t>   Cr. Clear. GR/IR</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0" i="0" u="none" strike="noStrike" cap="none" normalizeH="0" baseline="0" smtClean="0">
                          <a:ln>
                            <a:noFill/>
                          </a:ln>
                          <a:solidFill>
                            <a:schemeClr val="tx1"/>
                          </a:solidFill>
                          <a:effectLst/>
                          <a:latin typeface="Arial" charset="0"/>
                          <a:cs typeface="Arial" charset="0"/>
                        </a:rPr>
                        <a:t>40.725.000</a:t>
                      </a:r>
                    </a:p>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0" i="0" u="none" strike="noStrike" cap="none" normalizeH="0" baseline="0" smtClean="0">
                          <a:ln>
                            <a:noFill/>
                          </a:ln>
                          <a:solidFill>
                            <a:schemeClr val="tx1"/>
                          </a:solidFill>
                          <a:effectLst/>
                          <a:latin typeface="Arial" charset="0"/>
                          <a:cs typeface="Arial" charset="0"/>
                        </a:rPr>
                        <a:t>40.725.000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0" i="0" u="none" strike="noStrike" cap="none" normalizeH="0" baseline="0" smtClean="0">
                          <a:ln>
                            <a:noFill/>
                          </a:ln>
                          <a:solidFill>
                            <a:schemeClr val="tx1"/>
                          </a:solidFill>
                          <a:effectLst/>
                          <a:latin typeface="Arial" charset="0"/>
                          <a:cs typeface="Arial" charset="0"/>
                        </a:rPr>
                        <a:t>V-010</a:t>
                      </a:r>
                    </a:p>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0" i="0" u="none" strike="noStrike" cap="none" normalizeH="0" baseline="0" smtClean="0">
                          <a:ln>
                            <a:noFill/>
                          </a:ln>
                          <a:solidFill>
                            <a:schemeClr val="tx1"/>
                          </a:solidFill>
                          <a:effectLst/>
                          <a:latin typeface="Arial" charset="0"/>
                          <a:cs typeface="Arial" charset="0"/>
                        </a:rPr>
                        <a:t>V-010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0" i="0" u="none" strike="noStrike" cap="none" normalizeH="0" baseline="0" smtClean="0">
                          <a:ln>
                            <a:noFill/>
                          </a:ln>
                          <a:solidFill>
                            <a:schemeClr val="tx1"/>
                          </a:solidFill>
                          <a:effectLst/>
                          <a:latin typeface="Arial" charset="0"/>
                          <a:cs typeface="Arial" charset="0"/>
                        </a:rPr>
                        <a:t>5900129</a:t>
                      </a:r>
                    </a:p>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0" i="0" u="none" strike="noStrike" cap="none" normalizeH="0" baseline="0" smtClean="0">
                          <a:ln>
                            <a:noFill/>
                          </a:ln>
                          <a:solidFill>
                            <a:schemeClr val="tx1"/>
                          </a:solidFill>
                          <a:effectLst/>
                          <a:latin typeface="Arial" charset="0"/>
                          <a:cs typeface="Arial" charset="0"/>
                        </a:rPr>
                        <a:t>5900129</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32805" name="Line 37"/>
          <p:cNvSpPr>
            <a:spLocks noChangeShapeType="1"/>
          </p:cNvSpPr>
          <p:nvPr/>
        </p:nvSpPr>
        <p:spPr bwMode="auto">
          <a:xfrm flipV="1">
            <a:off x="7346950" y="3505200"/>
            <a:ext cx="1320800" cy="1524000"/>
          </a:xfrm>
          <a:prstGeom prst="line">
            <a:avLst/>
          </a:prstGeom>
          <a:noFill/>
          <a:ln w="38100">
            <a:solidFill>
              <a:srgbClr val="FF0000"/>
            </a:solidFill>
            <a:prstDash val="dash"/>
            <a:round/>
            <a:headEnd/>
            <a:tailEnd type="arrow" w="med" len="lg"/>
          </a:ln>
        </p:spPr>
        <p:txBody>
          <a:bodyPr/>
          <a:lstStyle/>
          <a:p>
            <a:endParaRPr lang="en-US"/>
          </a:p>
        </p:txBody>
      </p:sp>
      <p:sp>
        <p:nvSpPr>
          <p:cNvPr id="32806" name="Text Box 38"/>
          <p:cNvSpPr txBox="1">
            <a:spLocks noChangeArrowheads="1"/>
          </p:cNvSpPr>
          <p:nvPr/>
        </p:nvSpPr>
        <p:spPr bwMode="auto">
          <a:xfrm>
            <a:off x="6108700" y="5105400"/>
            <a:ext cx="2647950" cy="835025"/>
          </a:xfrm>
          <a:prstGeom prst="rect">
            <a:avLst/>
          </a:prstGeom>
          <a:solidFill>
            <a:schemeClr val="bg1"/>
          </a:solidFill>
          <a:ln w="9525">
            <a:solidFill>
              <a:srgbClr val="000000"/>
            </a:solidFill>
            <a:miter lim="800000"/>
            <a:headEnd/>
            <a:tailEnd/>
          </a:ln>
        </p:spPr>
        <p:txBody>
          <a:bodyPr wrap="none">
            <a:spAutoFit/>
          </a:bodyPr>
          <a:lstStyle/>
          <a:p>
            <a:r>
              <a:rPr lang="en-US" sz="1600">
                <a:solidFill>
                  <a:srgbClr val="000000"/>
                </a:solidFill>
                <a:latin typeface="Tahoma" pitchFamily="34" charset="0"/>
              </a:rPr>
              <a:t>Ref : No. GR</a:t>
            </a:r>
          </a:p>
          <a:p>
            <a:r>
              <a:rPr lang="en-US" sz="1600">
                <a:solidFill>
                  <a:srgbClr val="000000"/>
                </a:solidFill>
                <a:latin typeface="Tahoma" pitchFamily="34" charset="0"/>
              </a:rPr>
              <a:t>Kontrol bahwa No. GR itu </a:t>
            </a:r>
          </a:p>
          <a:p>
            <a:r>
              <a:rPr lang="en-US" sz="1600">
                <a:solidFill>
                  <a:srgbClr val="000000"/>
                </a:solidFill>
                <a:latin typeface="Tahoma" pitchFamily="34" charset="0"/>
              </a:rPr>
              <a:t>menghasilkan jurnal di atas</a:t>
            </a:r>
          </a:p>
        </p:txBody>
      </p:sp>
      <p:sp>
        <p:nvSpPr>
          <p:cNvPr id="32807" name="Text Box 39"/>
          <p:cNvSpPr txBox="1">
            <a:spLocks noChangeArrowheads="1"/>
          </p:cNvSpPr>
          <p:nvPr/>
        </p:nvSpPr>
        <p:spPr bwMode="auto">
          <a:xfrm>
            <a:off x="395288" y="4908550"/>
            <a:ext cx="2501900" cy="650875"/>
          </a:xfrm>
          <a:prstGeom prst="rect">
            <a:avLst/>
          </a:prstGeom>
          <a:solidFill>
            <a:schemeClr val="bg1"/>
          </a:solidFill>
          <a:ln w="9525">
            <a:solidFill>
              <a:srgbClr val="000000"/>
            </a:solidFill>
            <a:miter lim="800000"/>
            <a:headEnd/>
            <a:tailEnd/>
          </a:ln>
        </p:spPr>
        <p:txBody>
          <a:bodyPr wrap="none">
            <a:spAutoFit/>
          </a:bodyPr>
          <a:lstStyle/>
          <a:p>
            <a:r>
              <a:rPr lang="en-US">
                <a:solidFill>
                  <a:srgbClr val="000000"/>
                </a:solidFill>
                <a:latin typeface="Tahoma" pitchFamily="34" charset="0"/>
              </a:rPr>
              <a:t>Dokumen pendukung :</a:t>
            </a:r>
          </a:p>
          <a:p>
            <a:r>
              <a:rPr lang="en-US">
                <a:solidFill>
                  <a:srgbClr val="000000"/>
                </a:solidFill>
                <a:latin typeface="Tahoma" pitchFamily="34" charset="0"/>
              </a:rPr>
              <a:t>Surat jalan</a:t>
            </a:r>
          </a:p>
        </p:txBody>
      </p:sp>
      <p:sp>
        <p:nvSpPr>
          <p:cNvPr id="32808" name="Line 40"/>
          <p:cNvSpPr>
            <a:spLocks noChangeShapeType="1"/>
          </p:cNvSpPr>
          <p:nvPr/>
        </p:nvSpPr>
        <p:spPr bwMode="auto">
          <a:xfrm>
            <a:off x="3219450" y="4572000"/>
            <a:ext cx="660400" cy="1066800"/>
          </a:xfrm>
          <a:prstGeom prst="line">
            <a:avLst/>
          </a:prstGeom>
          <a:noFill/>
          <a:ln w="38100">
            <a:solidFill>
              <a:srgbClr val="FF0000"/>
            </a:solidFill>
            <a:round/>
            <a:headEnd/>
            <a:tailEnd type="triangle" w="med" len="med"/>
          </a:ln>
        </p:spPr>
        <p:txBody>
          <a:bodyPr/>
          <a:lstStyle/>
          <a:p>
            <a:endParaRPr lang="en-US"/>
          </a:p>
        </p:txBody>
      </p:sp>
      <p:sp>
        <p:nvSpPr>
          <p:cNvPr id="32809" name="Oval 41"/>
          <p:cNvSpPr>
            <a:spLocks noChangeArrowheads="1"/>
          </p:cNvSpPr>
          <p:nvPr/>
        </p:nvSpPr>
        <p:spPr bwMode="auto">
          <a:xfrm>
            <a:off x="2641600" y="5638800"/>
            <a:ext cx="2889250" cy="990600"/>
          </a:xfrm>
          <a:prstGeom prst="ellipse">
            <a:avLst/>
          </a:prstGeom>
          <a:solidFill>
            <a:schemeClr val="bg1"/>
          </a:solidFill>
          <a:ln w="9525">
            <a:solidFill>
              <a:schemeClr val="tx1"/>
            </a:solidFill>
            <a:round/>
            <a:headEnd/>
            <a:tailEnd/>
          </a:ln>
        </p:spPr>
        <p:txBody>
          <a:bodyPr wrap="none" anchor="ctr"/>
          <a:lstStyle/>
          <a:p>
            <a:pPr algn="ctr"/>
            <a:r>
              <a:rPr lang="en-US" sz="1600">
                <a:latin typeface="Tahoma" pitchFamily="34" charset="0"/>
              </a:rPr>
              <a:t>Account sementara</a:t>
            </a:r>
          </a:p>
          <a:p>
            <a:pPr algn="ctr"/>
            <a:r>
              <a:rPr lang="en-US" sz="1600">
                <a:latin typeface="Tahoma" pitchFamily="34" charset="0"/>
              </a:rPr>
              <a:t>Sblm pengakuan A/P </a:t>
            </a:r>
          </a:p>
          <a:p>
            <a:pPr algn="ctr"/>
            <a:r>
              <a:rPr lang="en-US" sz="1600">
                <a:latin typeface="Tahoma" pitchFamily="34" charset="0"/>
              </a:rPr>
              <a:t>saat invoice diterima</a:t>
            </a:r>
          </a:p>
        </p:txBody>
      </p:sp>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pPr eaLnBrk="1" hangingPunct="1"/>
            <a:r>
              <a:rPr lang="en-US" smtClean="0"/>
              <a:t>Jurnal-jurnal</a:t>
            </a:r>
          </a:p>
        </p:txBody>
      </p:sp>
      <p:sp>
        <p:nvSpPr>
          <p:cNvPr id="33795" name="Rectangle 3"/>
          <p:cNvSpPr>
            <a:spLocks noGrp="1" noChangeArrowheads="1"/>
          </p:cNvSpPr>
          <p:nvPr>
            <p:ph type="body" idx="4294967295"/>
          </p:nvPr>
        </p:nvSpPr>
        <p:spPr>
          <a:xfrm>
            <a:off x="0" y="1371600"/>
            <a:ext cx="8915400" cy="4724400"/>
          </a:xfrm>
        </p:spPr>
        <p:txBody>
          <a:bodyPr/>
          <a:lstStyle/>
          <a:p>
            <a:pPr eaLnBrk="1" hangingPunct="1"/>
            <a:r>
              <a:rPr lang="en-US" smtClean="0"/>
              <a:t>Invoice Receipt (IR) :</a:t>
            </a:r>
          </a:p>
        </p:txBody>
      </p:sp>
      <p:graphicFrame>
        <p:nvGraphicFramePr>
          <p:cNvPr id="380967" name="Group 39"/>
          <p:cNvGraphicFramePr>
            <a:graphicFrameLocks noGrp="1"/>
          </p:cNvGraphicFramePr>
          <p:nvPr>
            <p:ph type="tbl" idx="1"/>
          </p:nvPr>
        </p:nvGraphicFramePr>
        <p:xfrm>
          <a:off x="495300" y="1981200"/>
          <a:ext cx="8832850" cy="2263140"/>
        </p:xfrm>
        <a:graphic>
          <a:graphicData uri="http://schemas.openxmlformats.org/drawingml/2006/table">
            <a:tbl>
              <a:tblPr/>
              <a:tblGrid>
                <a:gridCol w="1155700"/>
                <a:gridCol w="3054350"/>
                <a:gridCol w="1568450"/>
                <a:gridCol w="1287463"/>
                <a:gridCol w="1766887"/>
              </a:tblGrid>
              <a:tr h="381000">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000" b="0" i="0" u="none" strike="noStrike" cap="none" normalizeH="0" baseline="0" smtClean="0">
                          <a:ln>
                            <a:noFill/>
                          </a:ln>
                          <a:solidFill>
                            <a:schemeClr val="tx1"/>
                          </a:solidFill>
                          <a:effectLst/>
                          <a:latin typeface="Arial" charset="0"/>
                          <a:cs typeface="Arial" charset="0"/>
                        </a:rPr>
                        <a:t>Date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000" b="0" i="0" u="none" strike="noStrike" cap="none" normalizeH="0" baseline="0" smtClean="0">
                          <a:ln>
                            <a:noFill/>
                          </a:ln>
                          <a:solidFill>
                            <a:schemeClr val="tx1"/>
                          </a:solidFill>
                          <a:effectLst/>
                          <a:latin typeface="Arial" charset="0"/>
                          <a:cs typeface="Arial" charset="0"/>
                        </a:rPr>
                        <a:t>Account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000" b="0" i="0" u="none" strike="noStrike" cap="none" normalizeH="0" baseline="0" smtClean="0">
                          <a:ln>
                            <a:noFill/>
                          </a:ln>
                          <a:solidFill>
                            <a:schemeClr val="tx1"/>
                          </a:solidFill>
                          <a:effectLst/>
                          <a:latin typeface="Arial" charset="0"/>
                          <a:cs typeface="Arial" charset="0"/>
                        </a:rPr>
                        <a:t>Amount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000" b="0" i="0" u="none" strike="noStrike" cap="none" normalizeH="0" baseline="0" smtClean="0">
                          <a:ln>
                            <a:noFill/>
                          </a:ln>
                          <a:solidFill>
                            <a:schemeClr val="tx1"/>
                          </a:solidFill>
                          <a:effectLst/>
                          <a:latin typeface="Arial" charset="0"/>
                          <a:cs typeface="Arial" charset="0"/>
                        </a:rPr>
                        <a:t>Vendor</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000" b="0" i="0" u="none" strike="noStrike" cap="none" normalizeH="0" baseline="0" smtClean="0">
                          <a:ln>
                            <a:noFill/>
                          </a:ln>
                          <a:solidFill>
                            <a:schemeClr val="tx1"/>
                          </a:solidFill>
                          <a:effectLst/>
                          <a:latin typeface="Arial" charset="0"/>
                          <a:cs typeface="Arial" charset="0"/>
                        </a:rPr>
                        <a:t>Reff</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838200">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0" i="0" u="none" strike="noStrike" cap="none" normalizeH="0" baseline="0" smtClean="0">
                          <a:ln>
                            <a:noFill/>
                          </a:ln>
                          <a:solidFill>
                            <a:schemeClr val="tx1"/>
                          </a:solidFill>
                          <a:effectLst/>
                          <a:latin typeface="Arial" charset="0"/>
                          <a:cs typeface="Arial" charset="0"/>
                        </a:rPr>
                        <a:t>05.04.2007</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0" i="0" u="none" strike="noStrike" cap="none" normalizeH="0" baseline="0" smtClean="0">
                          <a:ln>
                            <a:noFill/>
                          </a:ln>
                          <a:solidFill>
                            <a:schemeClr val="tx1"/>
                          </a:solidFill>
                          <a:effectLst/>
                          <a:latin typeface="Arial" charset="0"/>
                          <a:cs typeface="Arial" charset="0"/>
                        </a:rPr>
                        <a:t>Dr. Clear. GR/IR</a:t>
                      </a:r>
                    </a:p>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0" i="0" u="none" strike="noStrike" cap="none" normalizeH="0" baseline="0" smtClean="0">
                          <a:ln>
                            <a:noFill/>
                          </a:ln>
                          <a:solidFill>
                            <a:schemeClr val="tx1"/>
                          </a:solidFill>
                          <a:effectLst/>
                          <a:latin typeface="Arial" charset="0"/>
                          <a:cs typeface="Arial" charset="0"/>
                        </a:rPr>
                        <a:t>Dr. VAT in</a:t>
                      </a:r>
                    </a:p>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0" i="0" u="none" strike="noStrike" cap="none" normalizeH="0" baseline="0" smtClean="0">
                          <a:ln>
                            <a:noFill/>
                          </a:ln>
                          <a:solidFill>
                            <a:schemeClr val="tx1"/>
                          </a:solidFill>
                          <a:effectLst/>
                          <a:latin typeface="Arial" charset="0"/>
                          <a:cs typeface="Arial" charset="0"/>
                        </a:rPr>
                        <a:t>   Cr. Acct. Payable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0" i="0" u="none" strike="noStrike" cap="none" normalizeH="0" baseline="0" smtClean="0">
                          <a:ln>
                            <a:noFill/>
                          </a:ln>
                          <a:solidFill>
                            <a:schemeClr val="tx1"/>
                          </a:solidFill>
                          <a:effectLst/>
                          <a:latin typeface="Arial" charset="0"/>
                          <a:cs typeface="Arial" charset="0"/>
                        </a:rPr>
                        <a:t>127.450.000</a:t>
                      </a:r>
                    </a:p>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0" i="0" u="none" strike="noStrike" cap="none" normalizeH="0" baseline="0" smtClean="0">
                          <a:ln>
                            <a:noFill/>
                          </a:ln>
                          <a:solidFill>
                            <a:schemeClr val="tx1"/>
                          </a:solidFill>
                          <a:effectLst/>
                          <a:latin typeface="Arial" charset="0"/>
                          <a:cs typeface="Arial" charset="0"/>
                        </a:rPr>
                        <a:t> 12.745.000</a:t>
                      </a:r>
                    </a:p>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0" i="0" u="none" strike="noStrike" cap="none" normalizeH="0" baseline="0" smtClean="0">
                          <a:ln>
                            <a:noFill/>
                          </a:ln>
                          <a:solidFill>
                            <a:schemeClr val="tx1"/>
                          </a:solidFill>
                          <a:effectLst/>
                          <a:latin typeface="Arial" charset="0"/>
                          <a:cs typeface="Arial" charset="0"/>
                        </a:rPr>
                        <a:t>140.195.000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0" i="0" u="none" strike="noStrike" cap="none" normalizeH="0" baseline="0" smtClean="0">
                          <a:ln>
                            <a:noFill/>
                          </a:ln>
                          <a:solidFill>
                            <a:schemeClr val="tx1"/>
                          </a:solidFill>
                          <a:effectLst/>
                          <a:latin typeface="Arial" charset="0"/>
                          <a:cs typeface="Arial" charset="0"/>
                        </a:rPr>
                        <a:t>V-010</a:t>
                      </a:r>
                    </a:p>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0" i="0" u="none" strike="noStrike" cap="none" normalizeH="0" baseline="0" smtClean="0">
                          <a:ln>
                            <a:noFill/>
                          </a:ln>
                          <a:solidFill>
                            <a:schemeClr val="tx1"/>
                          </a:solidFill>
                          <a:effectLst/>
                          <a:latin typeface="Arial" charset="0"/>
                          <a:cs typeface="Arial" charset="0"/>
                        </a:rPr>
                        <a:t>V-010</a:t>
                      </a:r>
                    </a:p>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0" i="0" u="none" strike="noStrike" cap="none" normalizeH="0" baseline="0" smtClean="0">
                          <a:ln>
                            <a:noFill/>
                          </a:ln>
                          <a:solidFill>
                            <a:schemeClr val="tx1"/>
                          </a:solidFill>
                          <a:effectLst/>
                          <a:latin typeface="Arial" charset="0"/>
                          <a:cs typeface="Arial" charset="0"/>
                        </a:rPr>
                        <a:t>V-010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0" i="0" u="none" strike="noStrike" cap="none" normalizeH="0" baseline="0" smtClean="0">
                          <a:ln>
                            <a:noFill/>
                          </a:ln>
                          <a:solidFill>
                            <a:schemeClr val="tx1"/>
                          </a:solidFill>
                          <a:effectLst/>
                          <a:latin typeface="Arial" charset="0"/>
                          <a:cs typeface="Arial" charset="0"/>
                        </a:rPr>
                        <a:t>10002111</a:t>
                      </a:r>
                    </a:p>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0" i="0" u="none" strike="noStrike" cap="none" normalizeH="0" baseline="0" smtClean="0">
                          <a:ln>
                            <a:noFill/>
                          </a:ln>
                          <a:solidFill>
                            <a:schemeClr val="tx1"/>
                          </a:solidFill>
                          <a:effectLst/>
                          <a:latin typeface="Arial" charset="0"/>
                          <a:cs typeface="Arial" charset="0"/>
                        </a:rPr>
                        <a:t>10002111</a:t>
                      </a:r>
                    </a:p>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0" i="0" u="none" strike="noStrike" cap="none" normalizeH="0" baseline="0" smtClean="0">
                          <a:ln>
                            <a:noFill/>
                          </a:ln>
                          <a:solidFill>
                            <a:schemeClr val="tx1"/>
                          </a:solidFill>
                          <a:effectLst/>
                          <a:latin typeface="Arial" charset="0"/>
                          <a:cs typeface="Arial" charset="0"/>
                        </a:rPr>
                        <a:t>10002111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028700">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0" i="0" u="none" strike="noStrike" cap="none" normalizeH="0" baseline="0" smtClean="0">
                          <a:ln>
                            <a:noFill/>
                          </a:ln>
                          <a:solidFill>
                            <a:schemeClr val="tx1"/>
                          </a:solidFill>
                          <a:effectLst/>
                          <a:latin typeface="Arial" charset="0"/>
                          <a:cs typeface="Arial" charset="0"/>
                        </a:rPr>
                        <a:t>25.04.2007</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0" i="0" u="none" strike="noStrike" cap="none" normalizeH="0" baseline="0" smtClean="0">
                          <a:ln>
                            <a:noFill/>
                          </a:ln>
                          <a:solidFill>
                            <a:schemeClr val="tx1"/>
                          </a:solidFill>
                          <a:effectLst/>
                          <a:latin typeface="Arial" charset="0"/>
                          <a:cs typeface="Arial" charset="0"/>
                        </a:rPr>
                        <a:t>Dr. Clear. GR/IR</a:t>
                      </a:r>
                    </a:p>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0" i="0" u="none" strike="noStrike" cap="none" normalizeH="0" baseline="0" smtClean="0">
                          <a:ln>
                            <a:noFill/>
                          </a:ln>
                          <a:solidFill>
                            <a:schemeClr val="tx1"/>
                          </a:solidFill>
                          <a:effectLst/>
                          <a:latin typeface="Arial" charset="0"/>
                          <a:cs typeface="Arial" charset="0"/>
                        </a:rPr>
                        <a:t>Dr. VAT in</a:t>
                      </a:r>
                    </a:p>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0" i="0" u="none" strike="noStrike" cap="none" normalizeH="0" baseline="0" smtClean="0">
                          <a:ln>
                            <a:noFill/>
                          </a:ln>
                          <a:solidFill>
                            <a:schemeClr val="tx1"/>
                          </a:solidFill>
                          <a:effectLst/>
                          <a:latin typeface="Arial" charset="0"/>
                          <a:cs typeface="Arial" charset="0"/>
                        </a:rPr>
                        <a:t>   Cr. Acct. Payable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0" i="0" u="none" strike="noStrike" cap="none" normalizeH="0" baseline="0" smtClean="0">
                          <a:ln>
                            <a:noFill/>
                          </a:ln>
                          <a:solidFill>
                            <a:schemeClr val="tx1"/>
                          </a:solidFill>
                          <a:effectLst/>
                          <a:latin typeface="Arial" charset="0"/>
                          <a:cs typeface="Arial" charset="0"/>
                        </a:rPr>
                        <a:t>111.550.000</a:t>
                      </a:r>
                    </a:p>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0" i="0" u="none" strike="noStrike" cap="none" normalizeH="0" baseline="0" smtClean="0">
                          <a:ln>
                            <a:noFill/>
                          </a:ln>
                          <a:solidFill>
                            <a:schemeClr val="tx1"/>
                          </a:solidFill>
                          <a:effectLst/>
                          <a:latin typeface="Arial" charset="0"/>
                          <a:cs typeface="Arial" charset="0"/>
                        </a:rPr>
                        <a:t>11.155.000</a:t>
                      </a:r>
                    </a:p>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0" i="0" u="none" strike="noStrike" cap="none" normalizeH="0" baseline="0" smtClean="0">
                          <a:ln>
                            <a:noFill/>
                          </a:ln>
                          <a:solidFill>
                            <a:schemeClr val="tx1"/>
                          </a:solidFill>
                          <a:effectLst/>
                          <a:latin typeface="Arial" charset="0"/>
                          <a:cs typeface="Arial" charset="0"/>
                        </a:rPr>
                        <a:t>122.705.000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0" i="0" u="none" strike="noStrike" cap="none" normalizeH="0" baseline="0" smtClean="0">
                          <a:ln>
                            <a:noFill/>
                          </a:ln>
                          <a:solidFill>
                            <a:schemeClr val="tx1"/>
                          </a:solidFill>
                          <a:effectLst/>
                          <a:latin typeface="Arial" charset="0"/>
                          <a:cs typeface="Arial" charset="0"/>
                        </a:rPr>
                        <a:t>V-010</a:t>
                      </a:r>
                    </a:p>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0" i="0" u="none" strike="noStrike" cap="none" normalizeH="0" baseline="0" smtClean="0">
                          <a:ln>
                            <a:noFill/>
                          </a:ln>
                          <a:solidFill>
                            <a:schemeClr val="tx1"/>
                          </a:solidFill>
                          <a:effectLst/>
                          <a:latin typeface="Arial" charset="0"/>
                          <a:cs typeface="Arial" charset="0"/>
                        </a:rPr>
                        <a:t>V-010</a:t>
                      </a:r>
                    </a:p>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0" i="0" u="none" strike="noStrike" cap="none" normalizeH="0" baseline="0" smtClean="0">
                          <a:ln>
                            <a:noFill/>
                          </a:ln>
                          <a:solidFill>
                            <a:schemeClr val="tx1"/>
                          </a:solidFill>
                          <a:effectLst/>
                          <a:latin typeface="Arial" charset="0"/>
                          <a:cs typeface="Arial" charset="0"/>
                        </a:rPr>
                        <a:t>V-010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0" i="0" u="none" strike="noStrike" cap="none" normalizeH="0" baseline="0" smtClean="0">
                          <a:ln>
                            <a:noFill/>
                          </a:ln>
                          <a:solidFill>
                            <a:schemeClr val="tx1"/>
                          </a:solidFill>
                          <a:effectLst/>
                          <a:latin typeface="Arial" charset="0"/>
                          <a:cs typeface="Arial" charset="0"/>
                        </a:rPr>
                        <a:t>10002120</a:t>
                      </a:r>
                    </a:p>
                    <a:p>
                      <a:pPr marL="0" marR="0" lvl="0" indent="0" algn="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Arial" charset="0"/>
                          <a:cs typeface="Arial" charset="0"/>
                        </a:rPr>
                        <a:t>10002120</a:t>
                      </a:r>
                    </a:p>
                    <a:p>
                      <a:pPr marL="0" marR="0" lvl="0" indent="0" algn="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Arial" charset="0"/>
                          <a:cs typeface="Arial" charset="0"/>
                        </a:rPr>
                        <a:t>10002120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33822" name="Line 30"/>
          <p:cNvSpPr>
            <a:spLocks noChangeShapeType="1"/>
          </p:cNvSpPr>
          <p:nvPr/>
        </p:nvSpPr>
        <p:spPr bwMode="auto">
          <a:xfrm flipV="1">
            <a:off x="3054350" y="3048000"/>
            <a:ext cx="1981200" cy="1371600"/>
          </a:xfrm>
          <a:prstGeom prst="line">
            <a:avLst/>
          </a:prstGeom>
          <a:noFill/>
          <a:ln w="38100">
            <a:solidFill>
              <a:srgbClr val="080808"/>
            </a:solidFill>
            <a:round/>
            <a:headEnd/>
            <a:tailEnd type="stealth" w="lg" len="lg"/>
          </a:ln>
        </p:spPr>
        <p:txBody>
          <a:bodyPr/>
          <a:lstStyle/>
          <a:p>
            <a:endParaRPr lang="en-US"/>
          </a:p>
        </p:txBody>
      </p:sp>
      <p:sp>
        <p:nvSpPr>
          <p:cNvPr id="33823" name="Text Box 31"/>
          <p:cNvSpPr txBox="1">
            <a:spLocks noChangeArrowheads="1"/>
          </p:cNvSpPr>
          <p:nvPr/>
        </p:nvSpPr>
        <p:spPr bwMode="auto">
          <a:xfrm>
            <a:off x="2219325" y="4495800"/>
            <a:ext cx="1746250" cy="952500"/>
          </a:xfrm>
          <a:prstGeom prst="rect">
            <a:avLst/>
          </a:prstGeom>
          <a:solidFill>
            <a:schemeClr val="bg1"/>
          </a:solidFill>
          <a:ln w="9525">
            <a:solidFill>
              <a:srgbClr val="080808"/>
            </a:solidFill>
            <a:miter lim="800000"/>
            <a:headEnd/>
            <a:tailEnd/>
          </a:ln>
        </p:spPr>
        <p:txBody>
          <a:bodyPr wrap="none">
            <a:spAutoFit/>
          </a:bodyPr>
          <a:lstStyle/>
          <a:p>
            <a:pPr algn="ctr"/>
            <a:r>
              <a:rPr lang="en-US" sz="1400">
                <a:solidFill>
                  <a:srgbClr val="000000"/>
                </a:solidFill>
                <a:latin typeface="Tahoma" pitchFamily="34" charset="0"/>
              </a:rPr>
              <a:t>Nilai A/P juga </a:t>
            </a:r>
          </a:p>
          <a:p>
            <a:pPr algn="ctr"/>
            <a:r>
              <a:rPr lang="en-US" sz="1400">
                <a:solidFill>
                  <a:srgbClr val="000000"/>
                </a:solidFill>
                <a:latin typeface="Tahoma" pitchFamily="34" charset="0"/>
              </a:rPr>
              <a:t>mengandung nilai</a:t>
            </a:r>
          </a:p>
          <a:p>
            <a:pPr algn="ctr"/>
            <a:r>
              <a:rPr lang="en-US" sz="1400">
                <a:solidFill>
                  <a:srgbClr val="000000"/>
                </a:solidFill>
                <a:latin typeface="Tahoma" pitchFamily="34" charset="0"/>
              </a:rPr>
              <a:t> PPN (VAT in) 10% </a:t>
            </a:r>
          </a:p>
          <a:p>
            <a:pPr algn="ctr"/>
            <a:r>
              <a:rPr lang="en-US" sz="1400">
                <a:solidFill>
                  <a:srgbClr val="000000"/>
                </a:solidFill>
                <a:latin typeface="Tahoma" pitchFamily="34" charset="0"/>
              </a:rPr>
              <a:t>dari transaksi</a:t>
            </a:r>
          </a:p>
        </p:txBody>
      </p:sp>
      <p:sp>
        <p:nvSpPr>
          <p:cNvPr id="33824" name="Line 32"/>
          <p:cNvSpPr>
            <a:spLocks noChangeShapeType="1"/>
          </p:cNvSpPr>
          <p:nvPr/>
        </p:nvSpPr>
        <p:spPr bwMode="auto">
          <a:xfrm flipV="1">
            <a:off x="7924800" y="2819400"/>
            <a:ext cx="330200" cy="1752600"/>
          </a:xfrm>
          <a:prstGeom prst="line">
            <a:avLst/>
          </a:prstGeom>
          <a:noFill/>
          <a:ln w="38100">
            <a:solidFill>
              <a:srgbClr val="080808"/>
            </a:solidFill>
            <a:prstDash val="dash"/>
            <a:round/>
            <a:headEnd/>
            <a:tailEnd type="arrow" w="med" len="lg"/>
          </a:ln>
        </p:spPr>
        <p:txBody>
          <a:bodyPr/>
          <a:lstStyle/>
          <a:p>
            <a:endParaRPr lang="en-US"/>
          </a:p>
        </p:txBody>
      </p:sp>
      <p:sp>
        <p:nvSpPr>
          <p:cNvPr id="33825" name="Text Box 33"/>
          <p:cNvSpPr txBox="1">
            <a:spLocks noChangeArrowheads="1"/>
          </p:cNvSpPr>
          <p:nvPr/>
        </p:nvSpPr>
        <p:spPr bwMode="auto">
          <a:xfrm>
            <a:off x="7016750" y="4648200"/>
            <a:ext cx="2346325" cy="739775"/>
          </a:xfrm>
          <a:prstGeom prst="rect">
            <a:avLst/>
          </a:prstGeom>
          <a:solidFill>
            <a:schemeClr val="bg1"/>
          </a:solidFill>
          <a:ln w="9525">
            <a:solidFill>
              <a:srgbClr val="080808"/>
            </a:solidFill>
            <a:miter lim="800000"/>
            <a:headEnd/>
            <a:tailEnd/>
          </a:ln>
        </p:spPr>
        <p:txBody>
          <a:bodyPr wrap="none">
            <a:spAutoFit/>
          </a:bodyPr>
          <a:lstStyle/>
          <a:p>
            <a:r>
              <a:rPr lang="en-US" sz="1400">
                <a:solidFill>
                  <a:srgbClr val="000000"/>
                </a:solidFill>
                <a:latin typeface="Tahoma" pitchFamily="34" charset="0"/>
              </a:rPr>
              <a:t>Ref : No. IR</a:t>
            </a:r>
          </a:p>
          <a:p>
            <a:r>
              <a:rPr lang="en-US" sz="1400">
                <a:solidFill>
                  <a:srgbClr val="000000"/>
                </a:solidFill>
                <a:latin typeface="Tahoma" pitchFamily="34" charset="0"/>
              </a:rPr>
              <a:t>Kontrol bahwa No. IR itu </a:t>
            </a:r>
          </a:p>
          <a:p>
            <a:r>
              <a:rPr lang="en-US" sz="1400">
                <a:solidFill>
                  <a:srgbClr val="000000"/>
                </a:solidFill>
                <a:latin typeface="Tahoma" pitchFamily="34" charset="0"/>
              </a:rPr>
              <a:t>menghasilkan jurnal di atas</a:t>
            </a:r>
          </a:p>
        </p:txBody>
      </p:sp>
      <p:sp>
        <p:nvSpPr>
          <p:cNvPr id="33826" name="Line 34"/>
          <p:cNvSpPr>
            <a:spLocks noChangeShapeType="1"/>
          </p:cNvSpPr>
          <p:nvPr/>
        </p:nvSpPr>
        <p:spPr bwMode="auto">
          <a:xfrm flipV="1">
            <a:off x="5861050" y="3048000"/>
            <a:ext cx="1073150" cy="1371600"/>
          </a:xfrm>
          <a:prstGeom prst="line">
            <a:avLst/>
          </a:prstGeom>
          <a:noFill/>
          <a:ln w="38100">
            <a:solidFill>
              <a:srgbClr val="080808"/>
            </a:solidFill>
            <a:round/>
            <a:headEnd/>
            <a:tailEnd type="stealth" w="lg" len="lg"/>
          </a:ln>
        </p:spPr>
        <p:txBody>
          <a:bodyPr/>
          <a:lstStyle/>
          <a:p>
            <a:endParaRPr lang="en-US"/>
          </a:p>
        </p:txBody>
      </p:sp>
      <p:sp>
        <p:nvSpPr>
          <p:cNvPr id="33827" name="Text Box 35"/>
          <p:cNvSpPr txBox="1">
            <a:spLocks noChangeArrowheads="1"/>
          </p:cNvSpPr>
          <p:nvPr/>
        </p:nvSpPr>
        <p:spPr bwMode="auto">
          <a:xfrm>
            <a:off x="4435475" y="4495800"/>
            <a:ext cx="2235200" cy="952500"/>
          </a:xfrm>
          <a:prstGeom prst="rect">
            <a:avLst/>
          </a:prstGeom>
          <a:solidFill>
            <a:schemeClr val="bg1"/>
          </a:solidFill>
          <a:ln w="9525">
            <a:solidFill>
              <a:srgbClr val="080808"/>
            </a:solidFill>
            <a:miter lim="800000"/>
            <a:headEnd/>
            <a:tailEnd/>
          </a:ln>
        </p:spPr>
        <p:txBody>
          <a:bodyPr wrap="none">
            <a:spAutoFit/>
          </a:bodyPr>
          <a:lstStyle/>
          <a:p>
            <a:pPr algn="ctr"/>
            <a:r>
              <a:rPr lang="en-US" sz="1400">
                <a:solidFill>
                  <a:srgbClr val="000000"/>
                </a:solidFill>
                <a:latin typeface="Tahoma" pitchFamily="34" charset="0"/>
              </a:rPr>
              <a:t>Kode vendor berfungsi </a:t>
            </a:r>
          </a:p>
          <a:p>
            <a:pPr algn="ctr"/>
            <a:r>
              <a:rPr lang="en-US" sz="1400">
                <a:solidFill>
                  <a:srgbClr val="000000"/>
                </a:solidFill>
                <a:latin typeface="Tahoma" pitchFamily="34" charset="0"/>
              </a:rPr>
              <a:t>sebagai penanda utk </a:t>
            </a:r>
          </a:p>
          <a:p>
            <a:pPr algn="ctr"/>
            <a:r>
              <a:rPr lang="en-US" sz="1400">
                <a:solidFill>
                  <a:srgbClr val="000000"/>
                </a:solidFill>
                <a:latin typeface="Tahoma" pitchFamily="34" charset="0"/>
              </a:rPr>
              <a:t>klasifikasi buku </a:t>
            </a:r>
          </a:p>
          <a:p>
            <a:pPr algn="ctr"/>
            <a:r>
              <a:rPr lang="en-US" sz="1400">
                <a:solidFill>
                  <a:srgbClr val="000000"/>
                </a:solidFill>
                <a:latin typeface="Tahoma" pitchFamily="34" charset="0"/>
              </a:rPr>
              <a:t>pembantu A/P per Vendor</a:t>
            </a:r>
          </a:p>
        </p:txBody>
      </p:sp>
      <p:sp>
        <p:nvSpPr>
          <p:cNvPr id="33828" name="Text Box 36"/>
          <p:cNvSpPr txBox="1">
            <a:spLocks noChangeArrowheads="1"/>
          </p:cNvSpPr>
          <p:nvPr/>
        </p:nvSpPr>
        <p:spPr bwMode="auto">
          <a:xfrm>
            <a:off x="7512050" y="762000"/>
            <a:ext cx="1663700" cy="952500"/>
          </a:xfrm>
          <a:prstGeom prst="rect">
            <a:avLst/>
          </a:prstGeom>
          <a:solidFill>
            <a:schemeClr val="bg1"/>
          </a:solidFill>
          <a:ln w="9525">
            <a:solidFill>
              <a:srgbClr val="000000"/>
            </a:solidFill>
            <a:miter lim="800000"/>
            <a:headEnd/>
            <a:tailEnd/>
          </a:ln>
        </p:spPr>
        <p:txBody>
          <a:bodyPr wrap="none">
            <a:spAutoFit/>
          </a:bodyPr>
          <a:lstStyle/>
          <a:p>
            <a:r>
              <a:rPr lang="en-US" sz="1400">
                <a:solidFill>
                  <a:srgbClr val="000000"/>
                </a:solidFill>
                <a:latin typeface="Tahoma" pitchFamily="34" charset="0"/>
              </a:rPr>
              <a:t>Saldo Clear GR/IR </a:t>
            </a:r>
          </a:p>
          <a:p>
            <a:r>
              <a:rPr lang="en-US" sz="1400">
                <a:solidFill>
                  <a:srgbClr val="000000"/>
                </a:solidFill>
                <a:latin typeface="Tahoma" pitchFamily="34" charset="0"/>
              </a:rPr>
              <a:t>menjadi nol. </a:t>
            </a:r>
          </a:p>
          <a:p>
            <a:r>
              <a:rPr lang="en-US" sz="1400">
                <a:solidFill>
                  <a:srgbClr val="000000"/>
                </a:solidFill>
                <a:latin typeface="Tahoma" pitchFamily="34" charset="0"/>
              </a:rPr>
              <a:t>Membalik </a:t>
            </a:r>
          </a:p>
          <a:p>
            <a:r>
              <a:rPr lang="en-US" sz="1400">
                <a:solidFill>
                  <a:srgbClr val="000000"/>
                </a:solidFill>
                <a:latin typeface="Tahoma" pitchFamily="34" charset="0"/>
              </a:rPr>
              <a:t>jurnal saat GR</a:t>
            </a:r>
          </a:p>
        </p:txBody>
      </p:sp>
      <p:sp>
        <p:nvSpPr>
          <p:cNvPr id="33829" name="Line 37"/>
          <p:cNvSpPr>
            <a:spLocks noChangeShapeType="1"/>
          </p:cNvSpPr>
          <p:nvPr/>
        </p:nvSpPr>
        <p:spPr bwMode="auto">
          <a:xfrm flipH="1">
            <a:off x="5861050" y="1371600"/>
            <a:ext cx="1568450" cy="1066800"/>
          </a:xfrm>
          <a:prstGeom prst="line">
            <a:avLst/>
          </a:prstGeom>
          <a:noFill/>
          <a:ln w="38100">
            <a:solidFill>
              <a:srgbClr val="080808"/>
            </a:solidFill>
            <a:round/>
            <a:headEnd/>
            <a:tailEnd type="stealth" w="lg" len="lg"/>
          </a:ln>
        </p:spPr>
        <p:txBody>
          <a:bodyPr/>
          <a:lstStyle/>
          <a:p>
            <a:endParaRPr lang="en-US"/>
          </a:p>
        </p:txBody>
      </p:sp>
      <p:sp>
        <p:nvSpPr>
          <p:cNvPr id="33830" name="Text Box 38"/>
          <p:cNvSpPr txBox="1">
            <a:spLocks noChangeArrowheads="1"/>
          </p:cNvSpPr>
          <p:nvPr/>
        </p:nvSpPr>
        <p:spPr bwMode="auto">
          <a:xfrm>
            <a:off x="495300" y="5562600"/>
            <a:ext cx="4824413" cy="835025"/>
          </a:xfrm>
          <a:prstGeom prst="rect">
            <a:avLst/>
          </a:prstGeom>
          <a:solidFill>
            <a:schemeClr val="bg1"/>
          </a:solidFill>
          <a:ln w="9525">
            <a:solidFill>
              <a:srgbClr val="080808"/>
            </a:solidFill>
            <a:miter lim="800000"/>
            <a:headEnd/>
            <a:tailEnd/>
          </a:ln>
        </p:spPr>
        <p:txBody>
          <a:bodyPr wrap="none">
            <a:spAutoFit/>
          </a:bodyPr>
          <a:lstStyle/>
          <a:p>
            <a:r>
              <a:rPr lang="en-US" sz="1600" b="1" u="sng">
                <a:latin typeface="Tahoma" pitchFamily="34" charset="0"/>
              </a:rPr>
              <a:t>Dokumen Pendukung :</a:t>
            </a:r>
          </a:p>
          <a:p>
            <a:r>
              <a:rPr lang="en-US" sz="1600">
                <a:latin typeface="Tahoma" pitchFamily="34" charset="0"/>
              </a:rPr>
              <a:t>Invoice (1), GR asli, Faktur pajak asli (2), copy PO, </a:t>
            </a:r>
          </a:p>
          <a:p>
            <a:r>
              <a:rPr lang="en-US" sz="1600">
                <a:latin typeface="Tahoma" pitchFamily="34" charset="0"/>
              </a:rPr>
              <a:t>Kwitansi bermaterai, tanda terima invoice</a:t>
            </a:r>
          </a:p>
        </p:txBody>
      </p:sp>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495300" y="457200"/>
            <a:ext cx="8915400" cy="914400"/>
          </a:xfrm>
        </p:spPr>
        <p:txBody>
          <a:bodyPr/>
          <a:lstStyle/>
          <a:p>
            <a:pPr eaLnBrk="1" hangingPunct="1"/>
            <a:r>
              <a:rPr lang="en-US" smtClean="0"/>
              <a:t>Jurnal-jurnal</a:t>
            </a:r>
          </a:p>
        </p:txBody>
      </p:sp>
      <p:sp>
        <p:nvSpPr>
          <p:cNvPr id="34819" name="Rectangle 3"/>
          <p:cNvSpPr>
            <a:spLocks noGrp="1" noChangeArrowheads="1"/>
          </p:cNvSpPr>
          <p:nvPr>
            <p:ph type="body" sz="half" idx="1"/>
          </p:nvPr>
        </p:nvSpPr>
        <p:spPr>
          <a:xfrm>
            <a:off x="495300" y="1219200"/>
            <a:ext cx="9080500" cy="2209800"/>
          </a:xfrm>
        </p:spPr>
        <p:txBody>
          <a:bodyPr/>
          <a:lstStyle/>
          <a:p>
            <a:pPr eaLnBrk="1" hangingPunct="1">
              <a:buClr>
                <a:schemeClr val="tx1"/>
              </a:buClr>
              <a:buSzTx/>
            </a:pPr>
            <a:r>
              <a:rPr lang="en-US" sz="2800" smtClean="0"/>
              <a:t>Clearing A/P</a:t>
            </a:r>
          </a:p>
          <a:p>
            <a:pPr lvl="1" eaLnBrk="1" hangingPunct="1">
              <a:buClr>
                <a:schemeClr val="tx1"/>
              </a:buClr>
              <a:buSzTx/>
            </a:pPr>
            <a:r>
              <a:rPr lang="en-US" sz="2000" smtClean="0"/>
              <a:t>Tidak semua tagihan akan segera dibayar</a:t>
            </a:r>
          </a:p>
          <a:p>
            <a:pPr lvl="1" eaLnBrk="1" hangingPunct="1">
              <a:buClr>
                <a:schemeClr val="tx1"/>
              </a:buClr>
              <a:buSzTx/>
            </a:pPr>
            <a:r>
              <a:rPr lang="en-US" sz="2000" smtClean="0"/>
              <a:t>Ada pemilihan prioritas, walau sudah jatuh tempo</a:t>
            </a:r>
          </a:p>
          <a:p>
            <a:pPr lvl="1" eaLnBrk="1" hangingPunct="1">
              <a:buClr>
                <a:schemeClr val="tx1"/>
              </a:buClr>
              <a:buSzTx/>
            </a:pPr>
            <a:r>
              <a:rPr lang="en-US" sz="2000" smtClean="0"/>
              <a:t>Supplier yang kuat, akan lebih diutamakan</a:t>
            </a:r>
          </a:p>
          <a:p>
            <a:pPr lvl="1" eaLnBrk="1" hangingPunct="1">
              <a:buClr>
                <a:schemeClr val="tx1"/>
              </a:buClr>
              <a:buSzTx/>
            </a:pPr>
            <a:r>
              <a:rPr lang="en-US" sz="2000" smtClean="0"/>
              <a:t>Supplier A/P aging sudah lama biasanya juga akan diutamakan</a:t>
            </a:r>
          </a:p>
        </p:txBody>
      </p:sp>
      <p:graphicFrame>
        <p:nvGraphicFramePr>
          <p:cNvPr id="382980" name="Group 4"/>
          <p:cNvGraphicFramePr>
            <a:graphicFrameLocks noGrp="1"/>
          </p:cNvGraphicFramePr>
          <p:nvPr>
            <p:ph sz="half" idx="2"/>
          </p:nvPr>
        </p:nvGraphicFramePr>
        <p:xfrm>
          <a:off x="495300" y="3581400"/>
          <a:ext cx="8997950" cy="1606995"/>
        </p:xfrm>
        <a:graphic>
          <a:graphicData uri="http://schemas.openxmlformats.org/drawingml/2006/table">
            <a:tbl>
              <a:tblPr/>
              <a:tblGrid>
                <a:gridCol w="1390650"/>
                <a:gridCol w="2241550"/>
                <a:gridCol w="1568450"/>
                <a:gridCol w="1320800"/>
                <a:gridCol w="1271588"/>
                <a:gridCol w="1204912"/>
              </a:tblGrid>
              <a:tr h="457200">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000" b="0" i="0" u="none" strike="noStrike" cap="none" normalizeH="0" baseline="0" smtClean="0">
                          <a:ln>
                            <a:noFill/>
                          </a:ln>
                          <a:solidFill>
                            <a:schemeClr val="tx1"/>
                          </a:solidFill>
                          <a:effectLst/>
                          <a:latin typeface="Arial" charset="0"/>
                          <a:cs typeface="Arial" charset="0"/>
                        </a:rPr>
                        <a:t>Date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000" b="0" i="0" u="none" strike="noStrike" cap="none" normalizeH="0" baseline="0" smtClean="0">
                          <a:ln>
                            <a:noFill/>
                          </a:ln>
                          <a:solidFill>
                            <a:schemeClr val="tx1"/>
                          </a:solidFill>
                          <a:effectLst/>
                          <a:latin typeface="Arial" charset="0"/>
                          <a:cs typeface="Arial" charset="0"/>
                        </a:rPr>
                        <a:t>Account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000" b="0" i="0" u="none" strike="noStrike" cap="none" normalizeH="0" baseline="0" smtClean="0">
                          <a:ln>
                            <a:noFill/>
                          </a:ln>
                          <a:solidFill>
                            <a:schemeClr val="tx1"/>
                          </a:solidFill>
                          <a:effectLst/>
                          <a:latin typeface="Arial" charset="0"/>
                          <a:cs typeface="Arial" charset="0"/>
                        </a:rPr>
                        <a:t>Amount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000" b="0" i="0" u="none" strike="noStrike" cap="none" normalizeH="0" baseline="0" smtClean="0">
                          <a:ln>
                            <a:noFill/>
                          </a:ln>
                          <a:solidFill>
                            <a:schemeClr val="tx1"/>
                          </a:solidFill>
                          <a:effectLst/>
                          <a:latin typeface="Arial" charset="0"/>
                          <a:cs typeface="Arial" charset="0"/>
                        </a:rPr>
                        <a:t>Vendor</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000" b="0" i="0" u="none" strike="noStrike" cap="none" normalizeH="0" baseline="0" smtClean="0">
                          <a:ln>
                            <a:noFill/>
                          </a:ln>
                          <a:solidFill>
                            <a:schemeClr val="tx1"/>
                          </a:solidFill>
                          <a:effectLst/>
                          <a:latin typeface="Arial" charset="0"/>
                          <a:cs typeface="Arial" charset="0"/>
                        </a:rPr>
                        <a:t>No. Cek</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000" b="0" i="0" u="none" strike="noStrike" cap="none" normalizeH="0" baseline="0" smtClean="0">
                          <a:ln>
                            <a:noFill/>
                          </a:ln>
                          <a:solidFill>
                            <a:schemeClr val="tx1"/>
                          </a:solidFill>
                          <a:effectLst/>
                          <a:latin typeface="Arial" charset="0"/>
                          <a:cs typeface="Arial" charset="0"/>
                        </a:rPr>
                        <a:t>Reff</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588963">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0" i="0" u="none" strike="noStrike" cap="none" normalizeH="0" baseline="0" smtClean="0">
                          <a:ln>
                            <a:noFill/>
                          </a:ln>
                          <a:solidFill>
                            <a:schemeClr val="tx1"/>
                          </a:solidFill>
                          <a:effectLst/>
                          <a:latin typeface="Arial" charset="0"/>
                          <a:cs typeface="Arial" charset="0"/>
                        </a:rPr>
                        <a:t>11.05.2007</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0" i="0" u="none" strike="noStrike" cap="none" normalizeH="0" baseline="0" smtClean="0">
                          <a:ln>
                            <a:noFill/>
                          </a:ln>
                          <a:solidFill>
                            <a:schemeClr val="tx1"/>
                          </a:solidFill>
                          <a:effectLst/>
                          <a:latin typeface="Arial" charset="0"/>
                          <a:cs typeface="Arial" charset="0"/>
                        </a:rPr>
                        <a:t>Dr. Acct. Payable</a:t>
                      </a:r>
                    </a:p>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0" i="0" u="none" strike="noStrike" cap="none" normalizeH="0" baseline="0" smtClean="0">
                          <a:ln>
                            <a:noFill/>
                          </a:ln>
                          <a:solidFill>
                            <a:schemeClr val="tx1"/>
                          </a:solidFill>
                          <a:effectLst/>
                          <a:latin typeface="Arial" charset="0"/>
                          <a:cs typeface="Arial" charset="0"/>
                        </a:rPr>
                        <a:t>Cr. Bank</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0" i="0" u="none" strike="noStrike" cap="none" normalizeH="0" baseline="0" smtClean="0">
                          <a:ln>
                            <a:noFill/>
                          </a:ln>
                          <a:solidFill>
                            <a:schemeClr val="tx1"/>
                          </a:solidFill>
                          <a:effectLst/>
                          <a:latin typeface="Arial" charset="0"/>
                          <a:cs typeface="Arial" charset="0"/>
                        </a:rPr>
                        <a:t>140.195.000</a:t>
                      </a:r>
                    </a:p>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0" i="0" u="none" strike="noStrike" cap="none" normalizeH="0" baseline="0" smtClean="0">
                          <a:ln>
                            <a:noFill/>
                          </a:ln>
                          <a:solidFill>
                            <a:schemeClr val="tx1"/>
                          </a:solidFill>
                          <a:effectLst/>
                          <a:latin typeface="Arial" charset="0"/>
                          <a:cs typeface="Arial" charset="0"/>
                        </a:rPr>
                        <a:t>140.195.000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0" i="0" u="none" strike="noStrike" cap="none" normalizeH="0" baseline="0" smtClean="0">
                          <a:ln>
                            <a:noFill/>
                          </a:ln>
                          <a:solidFill>
                            <a:schemeClr val="tx1"/>
                          </a:solidFill>
                          <a:effectLst/>
                          <a:latin typeface="Arial" charset="0"/>
                          <a:cs typeface="Arial" charset="0"/>
                        </a:rPr>
                        <a:t>V-010</a:t>
                      </a:r>
                    </a:p>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0" i="0" u="none" strike="noStrike" cap="none" normalizeH="0" baseline="0" smtClean="0">
                          <a:ln>
                            <a:noFill/>
                          </a:ln>
                          <a:solidFill>
                            <a:schemeClr val="tx1"/>
                          </a:solidFill>
                          <a:effectLst/>
                          <a:latin typeface="Arial" charset="0"/>
                          <a:cs typeface="Arial" charset="0"/>
                        </a:rPr>
                        <a:t>V-010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0" i="0" u="none" strike="noStrike" cap="none" normalizeH="0" baseline="0" smtClean="0">
                          <a:ln>
                            <a:noFill/>
                          </a:ln>
                          <a:solidFill>
                            <a:schemeClr val="tx1"/>
                          </a:solidFill>
                          <a:effectLst/>
                          <a:latin typeface="Arial" charset="0"/>
                          <a:cs typeface="Arial" charset="0"/>
                        </a:rPr>
                        <a:t>PB12345</a:t>
                      </a:r>
                    </a:p>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0" i="0" u="none" strike="noStrike" cap="none" normalizeH="0" baseline="0" smtClean="0">
                          <a:ln>
                            <a:noFill/>
                          </a:ln>
                          <a:solidFill>
                            <a:schemeClr val="tx1"/>
                          </a:solidFill>
                          <a:effectLst/>
                          <a:latin typeface="Arial" charset="0"/>
                          <a:cs typeface="Arial" charset="0"/>
                        </a:rPr>
                        <a:t>PB12345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0" i="0" u="none" strike="noStrike" cap="none" normalizeH="0" baseline="0" smtClean="0">
                          <a:ln>
                            <a:noFill/>
                          </a:ln>
                          <a:solidFill>
                            <a:schemeClr val="tx1"/>
                          </a:solidFill>
                          <a:effectLst/>
                          <a:latin typeface="Arial" charset="0"/>
                          <a:cs typeface="Arial" charset="0"/>
                        </a:rPr>
                        <a:t>10002111</a:t>
                      </a:r>
                    </a:p>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0" i="0" u="none" strike="noStrike" cap="none" normalizeH="0" baseline="0" smtClean="0">
                          <a:ln>
                            <a:noFill/>
                          </a:ln>
                          <a:solidFill>
                            <a:schemeClr val="tx1"/>
                          </a:solidFill>
                          <a:effectLst/>
                          <a:latin typeface="Arial" charset="0"/>
                          <a:cs typeface="Arial" charset="0"/>
                        </a:rPr>
                        <a:t>10002111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6575">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0" i="0" u="none" strike="noStrike" cap="none" normalizeH="0" baseline="0" smtClean="0">
                          <a:ln>
                            <a:noFill/>
                          </a:ln>
                          <a:solidFill>
                            <a:schemeClr val="tx1"/>
                          </a:solidFill>
                          <a:effectLst/>
                          <a:latin typeface="Arial" charset="0"/>
                          <a:cs typeface="Arial" charset="0"/>
                        </a:rPr>
                        <a:t>25.05.2007</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0" i="0" u="none" strike="noStrike" cap="none" normalizeH="0" baseline="0" smtClean="0">
                          <a:ln>
                            <a:noFill/>
                          </a:ln>
                          <a:solidFill>
                            <a:schemeClr val="tx1"/>
                          </a:solidFill>
                          <a:effectLst/>
                          <a:latin typeface="Arial" charset="0"/>
                          <a:cs typeface="Arial" charset="0"/>
                        </a:rPr>
                        <a:t>Dr. Acct. Payable</a:t>
                      </a:r>
                    </a:p>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0" i="0" u="none" strike="noStrike" cap="none" normalizeH="0" baseline="0" smtClean="0">
                          <a:ln>
                            <a:noFill/>
                          </a:ln>
                          <a:solidFill>
                            <a:schemeClr val="tx1"/>
                          </a:solidFill>
                          <a:effectLst/>
                          <a:latin typeface="Arial" charset="0"/>
                          <a:cs typeface="Arial" charset="0"/>
                        </a:rPr>
                        <a:t>Cr. Bank</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Arial" charset="0"/>
                          <a:cs typeface="Arial" charset="0"/>
                        </a:rPr>
                        <a:t>122.705.000</a:t>
                      </a:r>
                    </a:p>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0" i="0" u="none" strike="noStrike" cap="none" normalizeH="0" baseline="0" smtClean="0">
                          <a:ln>
                            <a:noFill/>
                          </a:ln>
                          <a:solidFill>
                            <a:schemeClr val="tx1"/>
                          </a:solidFill>
                          <a:effectLst/>
                          <a:latin typeface="Arial" charset="0"/>
                          <a:cs typeface="Arial" charset="0"/>
                        </a:rPr>
                        <a:t>122.705.000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0" i="0" u="none" strike="noStrike" cap="none" normalizeH="0" baseline="0" smtClean="0">
                          <a:ln>
                            <a:noFill/>
                          </a:ln>
                          <a:solidFill>
                            <a:schemeClr val="tx1"/>
                          </a:solidFill>
                          <a:effectLst/>
                          <a:latin typeface="Arial" charset="0"/>
                          <a:cs typeface="Arial" charset="0"/>
                        </a:rPr>
                        <a:t>V-010</a:t>
                      </a:r>
                    </a:p>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0" i="0" u="none" strike="noStrike" cap="none" normalizeH="0" baseline="0" smtClean="0">
                          <a:ln>
                            <a:noFill/>
                          </a:ln>
                          <a:solidFill>
                            <a:schemeClr val="tx1"/>
                          </a:solidFill>
                          <a:effectLst/>
                          <a:latin typeface="Arial" charset="0"/>
                          <a:cs typeface="Arial" charset="0"/>
                        </a:rPr>
                        <a:t>V-010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0" i="0" u="none" strike="noStrike" cap="none" normalizeH="0" baseline="0" smtClean="0">
                          <a:ln>
                            <a:noFill/>
                          </a:ln>
                          <a:solidFill>
                            <a:schemeClr val="tx1"/>
                          </a:solidFill>
                          <a:effectLst/>
                          <a:latin typeface="Arial" charset="0"/>
                          <a:cs typeface="Arial" charset="0"/>
                        </a:rPr>
                        <a:t>PB12349</a:t>
                      </a:r>
                    </a:p>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0" i="0" u="none" strike="noStrike" cap="none" normalizeH="0" baseline="0" smtClean="0">
                          <a:ln>
                            <a:noFill/>
                          </a:ln>
                          <a:solidFill>
                            <a:schemeClr val="tx1"/>
                          </a:solidFill>
                          <a:effectLst/>
                          <a:latin typeface="Arial" charset="0"/>
                          <a:cs typeface="Arial" charset="0"/>
                        </a:rPr>
                        <a:t>PB12349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0" i="0" u="none" strike="noStrike" cap="none" normalizeH="0" baseline="0" smtClean="0">
                          <a:ln>
                            <a:noFill/>
                          </a:ln>
                          <a:solidFill>
                            <a:schemeClr val="tx1"/>
                          </a:solidFill>
                          <a:effectLst/>
                          <a:latin typeface="Arial" charset="0"/>
                          <a:cs typeface="Arial" charset="0"/>
                        </a:rPr>
                        <a:t>10002120</a:t>
                      </a:r>
                    </a:p>
                    <a:p>
                      <a:pPr marL="0" marR="0" lvl="0" indent="0" algn="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Arial" charset="0"/>
                          <a:cs typeface="Arial" charset="0"/>
                        </a:rPr>
                        <a:t>10002120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34850" name="Rectangle 34"/>
          <p:cNvSpPr>
            <a:spLocks noChangeArrowheads="1"/>
          </p:cNvSpPr>
          <p:nvPr/>
        </p:nvSpPr>
        <p:spPr bwMode="auto">
          <a:xfrm>
            <a:off x="495300" y="5410200"/>
            <a:ext cx="3549650" cy="838200"/>
          </a:xfrm>
          <a:prstGeom prst="rect">
            <a:avLst/>
          </a:prstGeom>
          <a:solidFill>
            <a:schemeClr val="bg1"/>
          </a:solidFill>
          <a:ln w="9525">
            <a:solidFill>
              <a:srgbClr val="080808"/>
            </a:solidFill>
            <a:miter lim="800000"/>
            <a:headEnd/>
            <a:tailEnd/>
          </a:ln>
        </p:spPr>
        <p:txBody>
          <a:bodyPr wrap="none" anchor="ctr"/>
          <a:lstStyle/>
          <a:p>
            <a:r>
              <a:rPr lang="en-US" sz="1400" b="1" u="sng">
                <a:latin typeface="Tahoma" pitchFamily="34" charset="0"/>
              </a:rPr>
              <a:t>Dokumen pendukung :</a:t>
            </a:r>
          </a:p>
          <a:p>
            <a:r>
              <a:rPr lang="en-US" sz="1400">
                <a:latin typeface="Tahoma" pitchFamily="34" charset="0"/>
              </a:rPr>
              <a:t>Voucher payment request, Cek/giro, </a:t>
            </a:r>
          </a:p>
          <a:p>
            <a:r>
              <a:rPr lang="en-US" sz="1400">
                <a:latin typeface="Tahoma" pitchFamily="34" charset="0"/>
              </a:rPr>
              <a:t>Surat permintaan pembayaran ke bank</a:t>
            </a:r>
          </a:p>
        </p:txBody>
      </p:sp>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87074" name="Group 2"/>
          <p:cNvGraphicFramePr>
            <a:graphicFrameLocks noGrp="1"/>
          </p:cNvGraphicFramePr>
          <p:nvPr>
            <p:ph type="tbl" idx="4294967295"/>
          </p:nvPr>
        </p:nvGraphicFramePr>
        <p:xfrm>
          <a:off x="330200" y="457200"/>
          <a:ext cx="2641600" cy="2193925"/>
        </p:xfrm>
        <a:graphic>
          <a:graphicData uri="http://schemas.openxmlformats.org/drawingml/2006/table">
            <a:tbl>
              <a:tblPr/>
              <a:tblGrid>
                <a:gridCol w="1403350"/>
                <a:gridCol w="1238250"/>
              </a:tblGrid>
              <a:tr h="36512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1" i="0" u="none" strike="noStrike" cap="none" normalizeH="0" baseline="0" smtClean="0">
                          <a:ln>
                            <a:noFill/>
                          </a:ln>
                          <a:solidFill>
                            <a:schemeClr val="tx1"/>
                          </a:solidFill>
                          <a:effectLst/>
                          <a:latin typeface="Arial" charset="0"/>
                          <a:cs typeface="Arial" charset="0"/>
                        </a:rPr>
                        <a:t>Item</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1" i="0" u="none" strike="noStrike" cap="none" normalizeH="0" baseline="0" smtClean="0">
                          <a:ln>
                            <a:noFill/>
                          </a:ln>
                          <a:solidFill>
                            <a:schemeClr val="tx1"/>
                          </a:solidFill>
                          <a:effectLst/>
                          <a:latin typeface="Arial" charset="0"/>
                          <a:cs typeface="Arial" charset="0"/>
                        </a:rPr>
                        <a:t>Value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44475">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0" i="0" u="none" strike="noStrike" cap="none" normalizeH="0" baseline="0" smtClean="0">
                          <a:ln>
                            <a:noFill/>
                          </a:ln>
                          <a:solidFill>
                            <a:schemeClr val="tx1"/>
                          </a:solidFill>
                          <a:effectLst/>
                          <a:latin typeface="Arial" charset="0"/>
                          <a:cs typeface="Arial" charset="0"/>
                        </a:rPr>
                        <a:t>Qty</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0" i="0" u="none" strike="noStrike" cap="none" normalizeH="0" baseline="0" smtClean="0">
                          <a:ln>
                            <a:noFill/>
                          </a:ln>
                          <a:solidFill>
                            <a:schemeClr val="tx1"/>
                          </a:solidFill>
                          <a:effectLst/>
                          <a:latin typeface="Arial" charset="0"/>
                          <a:cs typeface="Arial" charset="0"/>
                        </a:rPr>
                        <a:t>1.000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46063">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0" i="0" u="none" strike="noStrike" cap="none" normalizeH="0" baseline="0" smtClean="0">
                          <a:ln>
                            <a:noFill/>
                          </a:ln>
                          <a:solidFill>
                            <a:schemeClr val="tx1"/>
                          </a:solidFill>
                          <a:effectLst/>
                          <a:latin typeface="Arial" charset="0"/>
                          <a:cs typeface="Arial" charset="0"/>
                        </a:rPr>
                        <a:t>Price/u</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0" i="0" u="none" strike="noStrike" cap="none" normalizeH="0" baseline="0" smtClean="0">
                          <a:ln>
                            <a:noFill/>
                          </a:ln>
                          <a:solidFill>
                            <a:schemeClr val="tx1"/>
                          </a:solidFill>
                          <a:effectLst/>
                          <a:latin typeface="Arial" charset="0"/>
                          <a:cs typeface="Arial" charset="0"/>
                        </a:rPr>
                        <a:t>USD 1,5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47650">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0" i="0" u="none" strike="noStrike" cap="none" normalizeH="0" baseline="0" smtClean="0">
                          <a:ln>
                            <a:noFill/>
                          </a:ln>
                          <a:solidFill>
                            <a:schemeClr val="tx1"/>
                          </a:solidFill>
                          <a:effectLst/>
                          <a:latin typeface="Arial" charset="0"/>
                          <a:cs typeface="Arial" charset="0"/>
                        </a:rPr>
                        <a:t>Kurs GR</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0" i="0" u="none" strike="noStrike" cap="none" normalizeH="0" baseline="0" smtClean="0">
                          <a:ln>
                            <a:noFill/>
                          </a:ln>
                          <a:solidFill>
                            <a:schemeClr val="tx1"/>
                          </a:solidFill>
                          <a:effectLst/>
                          <a:latin typeface="Arial" charset="0"/>
                          <a:cs typeface="Arial" charset="0"/>
                        </a:rPr>
                        <a:t>Rp 9.300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80975">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0" i="0" u="none" strike="noStrike" cap="none" normalizeH="0" baseline="0" smtClean="0">
                          <a:ln>
                            <a:noFill/>
                          </a:ln>
                          <a:solidFill>
                            <a:schemeClr val="tx1"/>
                          </a:solidFill>
                          <a:effectLst/>
                          <a:latin typeface="Arial" charset="0"/>
                          <a:cs typeface="Arial" charset="0"/>
                        </a:rPr>
                        <a:t>Kurs Invoice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0" i="0" u="none" strike="noStrike" cap="none" normalizeH="0" baseline="0" smtClean="0">
                          <a:ln>
                            <a:noFill/>
                          </a:ln>
                          <a:solidFill>
                            <a:schemeClr val="tx1"/>
                          </a:solidFill>
                          <a:effectLst/>
                          <a:latin typeface="Arial" charset="0"/>
                          <a:cs typeface="Arial" charset="0"/>
                        </a:rPr>
                        <a:t>Rp 9.500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80975">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0" i="0" u="none" strike="noStrike" cap="none" normalizeH="0" baseline="0" smtClean="0">
                          <a:ln>
                            <a:noFill/>
                          </a:ln>
                          <a:solidFill>
                            <a:schemeClr val="tx1"/>
                          </a:solidFill>
                          <a:effectLst/>
                          <a:latin typeface="Arial" charset="0"/>
                          <a:cs typeface="Arial" charset="0"/>
                        </a:rPr>
                        <a:t>Kurs Closing</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0" i="0" u="none" strike="noStrike" cap="none" normalizeH="0" baseline="0" smtClean="0">
                          <a:ln>
                            <a:noFill/>
                          </a:ln>
                          <a:solidFill>
                            <a:schemeClr val="tx1"/>
                          </a:solidFill>
                          <a:effectLst/>
                          <a:latin typeface="Arial" charset="0"/>
                          <a:cs typeface="Arial" charset="0"/>
                        </a:rPr>
                        <a:t>Rp 9.400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80975">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0" i="0" u="none" strike="noStrike" cap="none" normalizeH="0" baseline="0" smtClean="0">
                          <a:ln>
                            <a:noFill/>
                          </a:ln>
                          <a:solidFill>
                            <a:schemeClr val="tx1"/>
                          </a:solidFill>
                          <a:effectLst/>
                          <a:latin typeface="Arial" charset="0"/>
                          <a:cs typeface="Arial" charset="0"/>
                        </a:rPr>
                        <a:t>Kurs Payment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0" i="0" u="none" strike="noStrike" cap="none" normalizeH="0" baseline="0" smtClean="0">
                          <a:ln>
                            <a:noFill/>
                          </a:ln>
                          <a:solidFill>
                            <a:schemeClr val="tx1"/>
                          </a:solidFill>
                          <a:effectLst/>
                          <a:latin typeface="Arial" charset="0"/>
                          <a:cs typeface="Arial" charset="0"/>
                        </a:rPr>
                        <a:t>Rp 9.600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387100" name="Group 28"/>
          <p:cNvGraphicFramePr>
            <a:graphicFrameLocks noGrp="1"/>
          </p:cNvGraphicFramePr>
          <p:nvPr/>
        </p:nvGraphicFramePr>
        <p:xfrm>
          <a:off x="3714750" y="1066800"/>
          <a:ext cx="5778500" cy="1584325"/>
        </p:xfrm>
        <a:graphic>
          <a:graphicData uri="http://schemas.openxmlformats.org/drawingml/2006/table">
            <a:tbl>
              <a:tblPr/>
              <a:tblGrid>
                <a:gridCol w="1733550"/>
                <a:gridCol w="1238250"/>
                <a:gridCol w="2806700"/>
              </a:tblGrid>
              <a:tr h="36512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1" i="0" u="none" strike="noStrike" cap="none" normalizeH="0" baseline="0" smtClean="0">
                          <a:ln>
                            <a:noFill/>
                          </a:ln>
                          <a:solidFill>
                            <a:schemeClr val="tx1"/>
                          </a:solidFill>
                          <a:effectLst/>
                          <a:latin typeface="Arial" charset="0"/>
                          <a:cs typeface="Arial" charset="0"/>
                        </a:rPr>
                        <a:t>Item</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1" i="0" u="none" strike="noStrike" cap="none" normalizeH="0" baseline="0" smtClean="0">
                          <a:ln>
                            <a:noFill/>
                          </a:ln>
                          <a:solidFill>
                            <a:schemeClr val="tx1"/>
                          </a:solidFill>
                          <a:effectLst/>
                          <a:latin typeface="Arial" charset="0"/>
                          <a:cs typeface="Arial" charset="0"/>
                        </a:rPr>
                        <a:t>Value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1" i="0" u="none" strike="noStrike" cap="none" normalizeH="0" baseline="0" smtClean="0">
                          <a:ln>
                            <a:noFill/>
                          </a:ln>
                          <a:solidFill>
                            <a:schemeClr val="tx1"/>
                          </a:solidFill>
                          <a:effectLst/>
                          <a:latin typeface="Arial" charset="0"/>
                          <a:cs typeface="Arial" charset="0"/>
                        </a:rPr>
                        <a:t>Remark</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180975">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0" i="0" u="none" strike="noStrike" cap="none" normalizeH="0" baseline="0" smtClean="0">
                          <a:ln>
                            <a:noFill/>
                          </a:ln>
                          <a:solidFill>
                            <a:schemeClr val="tx1"/>
                          </a:solidFill>
                          <a:effectLst/>
                          <a:latin typeface="Arial" charset="0"/>
                          <a:cs typeface="Arial" charset="0"/>
                        </a:rPr>
                        <a:t>Amount GR</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0" i="0" u="none" strike="noStrike" cap="none" normalizeH="0" baseline="0" smtClean="0">
                          <a:ln>
                            <a:noFill/>
                          </a:ln>
                          <a:solidFill>
                            <a:schemeClr val="tx1"/>
                          </a:solidFill>
                          <a:effectLst/>
                          <a:latin typeface="Arial" charset="0"/>
                          <a:cs typeface="Arial" charset="0"/>
                        </a:rPr>
                        <a:t>13.950.000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0" i="0" u="none" strike="noStrike" cap="none" normalizeH="0" baseline="0" smtClean="0">
                          <a:ln>
                            <a:noFill/>
                          </a:ln>
                          <a:solidFill>
                            <a:schemeClr val="tx1"/>
                          </a:solidFill>
                          <a:effectLst/>
                          <a:latin typeface="Arial" charset="0"/>
                          <a:cs typeface="Arial" charset="0"/>
                        </a:rPr>
                        <a:t>1000 x USD 1,5 x 9.300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80975">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0" i="0" u="none" strike="noStrike" cap="none" normalizeH="0" baseline="0" smtClean="0">
                          <a:ln>
                            <a:noFill/>
                          </a:ln>
                          <a:solidFill>
                            <a:schemeClr val="tx1"/>
                          </a:solidFill>
                          <a:effectLst/>
                          <a:latin typeface="Arial" charset="0"/>
                          <a:cs typeface="Arial" charset="0"/>
                        </a:rPr>
                        <a:t>Amount Invoice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0" i="0" u="none" strike="noStrike" cap="none" normalizeH="0" baseline="0" smtClean="0">
                          <a:ln>
                            <a:noFill/>
                          </a:ln>
                          <a:solidFill>
                            <a:schemeClr val="tx1"/>
                          </a:solidFill>
                          <a:effectLst/>
                          <a:latin typeface="Arial" charset="0"/>
                          <a:cs typeface="Arial" charset="0"/>
                        </a:rPr>
                        <a:t>14.250.000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0" i="0" u="none" strike="noStrike" cap="none" normalizeH="0" baseline="0" smtClean="0">
                          <a:ln>
                            <a:noFill/>
                          </a:ln>
                          <a:solidFill>
                            <a:schemeClr val="tx1"/>
                          </a:solidFill>
                          <a:effectLst/>
                          <a:latin typeface="Arial" charset="0"/>
                          <a:cs typeface="Arial" charset="0"/>
                        </a:rPr>
                        <a:t>1000 x USD 1,5 x 9.500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80975">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0" i="0" u="none" strike="noStrike" cap="none" normalizeH="0" baseline="0" smtClean="0">
                          <a:ln>
                            <a:noFill/>
                          </a:ln>
                          <a:solidFill>
                            <a:schemeClr val="tx1"/>
                          </a:solidFill>
                          <a:effectLst/>
                          <a:latin typeface="Arial" charset="0"/>
                          <a:cs typeface="Arial" charset="0"/>
                        </a:rPr>
                        <a:t>Amount Closing</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0" i="0" u="none" strike="noStrike" cap="none" normalizeH="0" baseline="0" smtClean="0">
                          <a:ln>
                            <a:noFill/>
                          </a:ln>
                          <a:solidFill>
                            <a:schemeClr val="tx1"/>
                          </a:solidFill>
                          <a:effectLst/>
                          <a:latin typeface="Arial" charset="0"/>
                          <a:cs typeface="Arial" charset="0"/>
                        </a:rPr>
                        <a:t>14.100.000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0" i="0" u="none" strike="noStrike" cap="none" normalizeH="0" baseline="0" smtClean="0">
                          <a:ln>
                            <a:noFill/>
                          </a:ln>
                          <a:solidFill>
                            <a:schemeClr val="tx1"/>
                          </a:solidFill>
                          <a:effectLst/>
                          <a:latin typeface="Arial" charset="0"/>
                          <a:cs typeface="Arial" charset="0"/>
                        </a:rPr>
                        <a:t>1000 x USD 1,5 x 9.400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80975">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0" i="0" u="none" strike="noStrike" cap="none" normalizeH="0" baseline="0" smtClean="0">
                          <a:ln>
                            <a:noFill/>
                          </a:ln>
                          <a:solidFill>
                            <a:schemeClr val="tx1"/>
                          </a:solidFill>
                          <a:effectLst/>
                          <a:latin typeface="Arial" charset="0"/>
                          <a:cs typeface="Arial" charset="0"/>
                        </a:rPr>
                        <a:t>Amount Paymnet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0" i="0" u="none" strike="noStrike" cap="none" normalizeH="0" baseline="0" smtClean="0">
                          <a:ln>
                            <a:noFill/>
                          </a:ln>
                          <a:solidFill>
                            <a:schemeClr val="tx1"/>
                          </a:solidFill>
                          <a:effectLst/>
                          <a:latin typeface="Arial" charset="0"/>
                          <a:cs typeface="Arial" charset="0"/>
                        </a:rPr>
                        <a:t>14.400.000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0" i="0" u="none" strike="noStrike" cap="none" normalizeH="0" baseline="0" smtClean="0">
                          <a:ln>
                            <a:noFill/>
                          </a:ln>
                          <a:solidFill>
                            <a:schemeClr val="tx1"/>
                          </a:solidFill>
                          <a:effectLst/>
                          <a:latin typeface="Arial" charset="0"/>
                          <a:cs typeface="Arial" charset="0"/>
                        </a:rPr>
                        <a:t>1000 x USD 1,5 x 9.600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35894" name="Text Box 54"/>
          <p:cNvSpPr txBox="1">
            <a:spLocks noChangeArrowheads="1"/>
          </p:cNvSpPr>
          <p:nvPr/>
        </p:nvSpPr>
        <p:spPr bwMode="auto">
          <a:xfrm>
            <a:off x="330200" y="3071813"/>
            <a:ext cx="4448175" cy="2536825"/>
          </a:xfrm>
          <a:prstGeom prst="rect">
            <a:avLst/>
          </a:prstGeom>
          <a:noFill/>
          <a:ln w="9525">
            <a:noFill/>
            <a:miter lim="800000"/>
            <a:headEnd/>
            <a:tailEnd/>
          </a:ln>
        </p:spPr>
        <p:txBody>
          <a:bodyPr wrap="none">
            <a:spAutoFit/>
          </a:bodyPr>
          <a:lstStyle/>
          <a:p>
            <a:r>
              <a:rPr lang="en-US" sz="1600" b="1" u="sng">
                <a:latin typeface="Tahoma" pitchFamily="34" charset="0"/>
              </a:rPr>
              <a:t>Goods Recepit 01.04.2007</a:t>
            </a:r>
          </a:p>
          <a:p>
            <a:r>
              <a:rPr lang="en-US" sz="1600">
                <a:latin typeface="Tahoma" pitchFamily="34" charset="0"/>
              </a:rPr>
              <a:t>Dr. Inventory Raw Materia   13.950.000</a:t>
            </a:r>
          </a:p>
          <a:p>
            <a:r>
              <a:rPr lang="en-US" sz="1600">
                <a:latin typeface="Tahoma" pitchFamily="34" charset="0"/>
              </a:rPr>
              <a:t>     Cr. Clear GR/IR                  13.950.000</a:t>
            </a:r>
          </a:p>
          <a:p>
            <a:endParaRPr lang="en-US" sz="1600">
              <a:latin typeface="Tahoma" pitchFamily="34" charset="0"/>
            </a:endParaRPr>
          </a:p>
          <a:p>
            <a:r>
              <a:rPr lang="en-US" sz="1600" b="1" u="sng">
                <a:latin typeface="Tahoma" pitchFamily="34" charset="0"/>
              </a:rPr>
              <a:t>Invoice Receipt 05.04.2007</a:t>
            </a:r>
          </a:p>
          <a:p>
            <a:r>
              <a:rPr lang="en-US" sz="1600">
                <a:latin typeface="Tahoma" pitchFamily="34" charset="0"/>
              </a:rPr>
              <a:t>Dr. Clear GR/IR                   13.950.000</a:t>
            </a:r>
          </a:p>
          <a:p>
            <a:r>
              <a:rPr lang="en-US" sz="1600">
                <a:latin typeface="Tahoma" pitchFamily="34" charset="0"/>
              </a:rPr>
              <a:t>Dr. VAT in                            1.425.000</a:t>
            </a:r>
          </a:p>
          <a:p>
            <a:r>
              <a:rPr lang="en-US" sz="1600">
                <a:latin typeface="Tahoma" pitchFamily="34" charset="0"/>
              </a:rPr>
              <a:t>Dr. G/L Foreign Expense           300.000</a:t>
            </a:r>
          </a:p>
          <a:p>
            <a:r>
              <a:rPr lang="en-US" sz="1600">
                <a:latin typeface="Tahoma" pitchFamily="34" charset="0"/>
              </a:rPr>
              <a:t>     Cr. Acc. Payable                  15.675.000</a:t>
            </a:r>
          </a:p>
          <a:p>
            <a:endParaRPr lang="en-US" sz="1600">
              <a:latin typeface="Tahoma" pitchFamily="34" charset="0"/>
            </a:endParaRPr>
          </a:p>
        </p:txBody>
      </p:sp>
      <p:sp>
        <p:nvSpPr>
          <p:cNvPr id="35895" name="Text Box 55"/>
          <p:cNvSpPr txBox="1">
            <a:spLocks noChangeArrowheads="1"/>
          </p:cNvSpPr>
          <p:nvPr/>
        </p:nvSpPr>
        <p:spPr bwMode="auto">
          <a:xfrm>
            <a:off x="5035550" y="4267200"/>
            <a:ext cx="4476750" cy="1155700"/>
          </a:xfrm>
          <a:prstGeom prst="rect">
            <a:avLst/>
          </a:prstGeom>
          <a:noFill/>
          <a:ln w="9525">
            <a:noFill/>
            <a:miter lim="800000"/>
            <a:headEnd/>
            <a:tailEnd/>
          </a:ln>
        </p:spPr>
        <p:txBody>
          <a:bodyPr wrap="none">
            <a:spAutoFit/>
          </a:bodyPr>
          <a:lstStyle/>
          <a:p>
            <a:r>
              <a:rPr lang="en-US" sz="1400" b="1" u="sng">
                <a:latin typeface="Tahoma" pitchFamily="34" charset="0"/>
              </a:rPr>
              <a:t>Catatan : </a:t>
            </a:r>
          </a:p>
          <a:p>
            <a:r>
              <a:rPr lang="en-US" sz="1400">
                <a:latin typeface="Tahoma" pitchFamily="34" charset="0"/>
              </a:rPr>
              <a:t>VAT In = USD 1,5 x 1.000 unit x 9.500 x 10%</a:t>
            </a:r>
          </a:p>
          <a:p>
            <a:r>
              <a:rPr lang="en-US" sz="1400">
                <a:latin typeface="Tahoma" pitchFamily="34" charset="0"/>
              </a:rPr>
              <a:t>           = 1.425.000</a:t>
            </a:r>
          </a:p>
          <a:p>
            <a:endParaRPr lang="en-US" sz="1400">
              <a:latin typeface="Tahoma" pitchFamily="34" charset="0"/>
            </a:endParaRPr>
          </a:p>
          <a:p>
            <a:r>
              <a:rPr lang="en-US" sz="1400">
                <a:latin typeface="Tahoma" pitchFamily="34" charset="0"/>
              </a:rPr>
              <a:t>G/L Foreign =14.250.000 – 13.950.000 = 300.000</a:t>
            </a:r>
          </a:p>
        </p:txBody>
      </p:sp>
      <p:sp>
        <p:nvSpPr>
          <p:cNvPr id="35896" name="AutoShape 56"/>
          <p:cNvSpPr>
            <a:spLocks noChangeArrowheads="1"/>
          </p:cNvSpPr>
          <p:nvPr/>
        </p:nvSpPr>
        <p:spPr bwMode="auto">
          <a:xfrm>
            <a:off x="3054350" y="1676400"/>
            <a:ext cx="495300" cy="685800"/>
          </a:xfrm>
          <a:custGeom>
            <a:avLst/>
            <a:gdLst>
              <a:gd name="T0" fmla="*/ 2147483647 w 21600"/>
              <a:gd name="T1" fmla="*/ 0 h 21600"/>
              <a:gd name="T2" fmla="*/ 0 w 21600"/>
              <a:gd name="T3" fmla="*/ 2147483647 h 21600"/>
              <a:gd name="T4" fmla="*/ 2147483647 w 21600"/>
              <a:gd name="T5" fmla="*/ 2147483647 h 21600"/>
              <a:gd name="T6" fmla="*/ 2147483647 w 21600"/>
              <a:gd name="T7" fmla="*/ 2147483647 h 21600"/>
              <a:gd name="T8" fmla="*/ 17694720 60000 65536"/>
              <a:gd name="T9" fmla="*/ 11796480 60000 65536"/>
              <a:gd name="T10" fmla="*/ 5898240 60000 65536"/>
              <a:gd name="T11" fmla="*/ 0 60000 65536"/>
              <a:gd name="T12" fmla="*/ 3375 w 21600"/>
              <a:gd name="T13" fmla="*/ 5435 h 21600"/>
              <a:gd name="T14" fmla="*/ 18058 w 21600"/>
              <a:gd name="T15" fmla="*/ 16165 h 21600"/>
            </a:gdLst>
            <a:ahLst/>
            <a:cxnLst>
              <a:cxn ang="T8">
                <a:pos x="T0" y="T1"/>
              </a:cxn>
              <a:cxn ang="T9">
                <a:pos x="T2" y="T3"/>
              </a:cxn>
              <a:cxn ang="T10">
                <a:pos x="T4" y="T5"/>
              </a:cxn>
              <a:cxn ang="T11">
                <a:pos x="T6" y="T7"/>
              </a:cxn>
            </a:cxnLst>
            <a:rect l="T12" t="T13" r="T14" b="T15"/>
            <a:pathLst>
              <a:path w="21600" h="21600">
                <a:moveTo>
                  <a:pt x="14470" y="0"/>
                </a:moveTo>
                <a:lnTo>
                  <a:pt x="14470" y="5435"/>
                </a:lnTo>
                <a:lnTo>
                  <a:pt x="3375" y="5435"/>
                </a:lnTo>
                <a:lnTo>
                  <a:pt x="3375" y="16165"/>
                </a:lnTo>
                <a:lnTo>
                  <a:pt x="14470" y="16165"/>
                </a:lnTo>
                <a:lnTo>
                  <a:pt x="14470" y="21600"/>
                </a:lnTo>
                <a:lnTo>
                  <a:pt x="21600" y="10800"/>
                </a:lnTo>
                <a:close/>
              </a:path>
              <a:path w="21600" h="21600">
                <a:moveTo>
                  <a:pt x="1350" y="5435"/>
                </a:moveTo>
                <a:lnTo>
                  <a:pt x="1350" y="16165"/>
                </a:lnTo>
                <a:lnTo>
                  <a:pt x="2700" y="16165"/>
                </a:lnTo>
                <a:lnTo>
                  <a:pt x="2700" y="5435"/>
                </a:lnTo>
                <a:close/>
              </a:path>
              <a:path w="21600" h="21600">
                <a:moveTo>
                  <a:pt x="0" y="5435"/>
                </a:moveTo>
                <a:lnTo>
                  <a:pt x="0" y="16165"/>
                </a:lnTo>
                <a:lnTo>
                  <a:pt x="675" y="16165"/>
                </a:lnTo>
                <a:lnTo>
                  <a:pt x="675" y="5435"/>
                </a:lnTo>
                <a:close/>
              </a:path>
            </a:pathLst>
          </a:custGeom>
          <a:solidFill>
            <a:schemeClr val="bg1"/>
          </a:solidFill>
          <a:ln w="9525">
            <a:solidFill>
              <a:schemeClr val="tx1"/>
            </a:solidFill>
            <a:miter lim="800000"/>
            <a:headEnd/>
            <a:tailEnd/>
          </a:ln>
        </p:spPr>
        <p:txBody>
          <a:bodyPr wrap="none" anchor="ctr"/>
          <a:lstStyle/>
          <a:p>
            <a:endParaRPr lang="en-US"/>
          </a:p>
        </p:txBody>
      </p:sp>
      <p:sp>
        <p:nvSpPr>
          <p:cNvPr id="35897" name="Text Box 57"/>
          <p:cNvSpPr txBox="1">
            <a:spLocks noChangeArrowheads="1"/>
          </p:cNvSpPr>
          <p:nvPr/>
        </p:nvSpPr>
        <p:spPr bwMode="auto">
          <a:xfrm>
            <a:off x="3797300" y="334963"/>
            <a:ext cx="5321300" cy="579437"/>
          </a:xfrm>
          <a:prstGeom prst="rect">
            <a:avLst/>
          </a:prstGeom>
          <a:noFill/>
          <a:ln w="9525">
            <a:noFill/>
            <a:miter lim="800000"/>
            <a:headEnd/>
            <a:tailEnd/>
          </a:ln>
        </p:spPr>
        <p:txBody>
          <a:bodyPr wrap="none">
            <a:spAutoFit/>
          </a:bodyPr>
          <a:lstStyle/>
          <a:p>
            <a:r>
              <a:rPr lang="en-US" sz="3200" u="sng">
                <a:latin typeface="Tahoma" pitchFamily="34" charset="0"/>
              </a:rPr>
              <a:t>Jurnal-jurnal Transaksi Valas</a:t>
            </a:r>
          </a:p>
        </p:txBody>
      </p:sp>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idx="4294967295"/>
          </p:nvPr>
        </p:nvSpPr>
        <p:spPr>
          <a:xfrm>
            <a:off x="0" y="381000"/>
            <a:ext cx="8915400" cy="838200"/>
          </a:xfrm>
        </p:spPr>
        <p:txBody>
          <a:bodyPr/>
          <a:lstStyle/>
          <a:p>
            <a:pPr eaLnBrk="1" hangingPunct="1"/>
            <a:r>
              <a:rPr lang="en-US" sz="3600" u="sng" smtClean="0"/>
              <a:t>Jurnal-jurnal Transaksi Valas</a:t>
            </a:r>
          </a:p>
        </p:txBody>
      </p:sp>
      <p:sp>
        <p:nvSpPr>
          <p:cNvPr id="36867" name="Text Box 3"/>
          <p:cNvSpPr txBox="1">
            <a:spLocks noChangeArrowheads="1"/>
          </p:cNvSpPr>
          <p:nvPr/>
        </p:nvSpPr>
        <p:spPr bwMode="auto">
          <a:xfrm>
            <a:off x="412750" y="1295400"/>
            <a:ext cx="200025" cy="366713"/>
          </a:xfrm>
          <a:prstGeom prst="rect">
            <a:avLst/>
          </a:prstGeom>
          <a:noFill/>
          <a:ln w="9525">
            <a:noFill/>
            <a:miter lim="800000"/>
            <a:headEnd/>
            <a:tailEnd/>
          </a:ln>
        </p:spPr>
        <p:txBody>
          <a:bodyPr wrap="none">
            <a:spAutoFit/>
          </a:bodyPr>
          <a:lstStyle/>
          <a:p>
            <a:endParaRPr lang="en-US">
              <a:latin typeface="Tahoma" pitchFamily="34" charset="0"/>
            </a:endParaRPr>
          </a:p>
        </p:txBody>
      </p:sp>
      <p:sp>
        <p:nvSpPr>
          <p:cNvPr id="36868" name="Text Box 4"/>
          <p:cNvSpPr txBox="1">
            <a:spLocks noChangeArrowheads="1"/>
          </p:cNvSpPr>
          <p:nvPr/>
        </p:nvSpPr>
        <p:spPr bwMode="auto">
          <a:xfrm>
            <a:off x="230188" y="1427163"/>
            <a:ext cx="3921125" cy="1803400"/>
          </a:xfrm>
          <a:prstGeom prst="rect">
            <a:avLst/>
          </a:prstGeom>
          <a:noFill/>
          <a:ln w="9525">
            <a:noFill/>
            <a:miter lim="800000"/>
            <a:headEnd/>
            <a:tailEnd/>
          </a:ln>
        </p:spPr>
        <p:txBody>
          <a:bodyPr wrap="none">
            <a:spAutoFit/>
          </a:bodyPr>
          <a:lstStyle/>
          <a:p>
            <a:r>
              <a:rPr lang="en-US" sz="1600" b="1" u="sng">
                <a:latin typeface="Tahoma" pitchFamily="34" charset="0"/>
              </a:rPr>
              <a:t>Closing Periode 31.04.2007</a:t>
            </a:r>
          </a:p>
          <a:p>
            <a:r>
              <a:rPr lang="en-US" sz="1600">
                <a:latin typeface="Tahoma" pitchFamily="34" charset="0"/>
              </a:rPr>
              <a:t>Dr. Acc. Payable                150.000</a:t>
            </a:r>
          </a:p>
          <a:p>
            <a:r>
              <a:rPr lang="en-US" sz="1600">
                <a:latin typeface="Tahoma" pitchFamily="34" charset="0"/>
              </a:rPr>
              <a:t>     Cr. G/L Unrealized A/P      150.000</a:t>
            </a:r>
          </a:p>
          <a:p>
            <a:endParaRPr lang="en-US" sz="1600">
              <a:latin typeface="Tahoma" pitchFamily="34" charset="0"/>
            </a:endParaRPr>
          </a:p>
          <a:p>
            <a:r>
              <a:rPr lang="en-US" sz="1600" b="1" u="sng">
                <a:latin typeface="Tahoma" pitchFamily="34" charset="0"/>
              </a:rPr>
              <a:t>Awal Periode 01.05.2007</a:t>
            </a:r>
          </a:p>
          <a:p>
            <a:r>
              <a:rPr lang="en-US" sz="1600">
                <a:latin typeface="Tahoma" pitchFamily="34" charset="0"/>
              </a:rPr>
              <a:t>Cr. G/L Unrealized A/P       150.000</a:t>
            </a:r>
          </a:p>
          <a:p>
            <a:r>
              <a:rPr lang="en-US" sz="1600">
                <a:latin typeface="Tahoma" pitchFamily="34" charset="0"/>
              </a:rPr>
              <a:t>    Dr. Acc. Payable               150.000</a:t>
            </a:r>
          </a:p>
        </p:txBody>
      </p:sp>
      <p:sp>
        <p:nvSpPr>
          <p:cNvPr id="36869" name="Text Box 5"/>
          <p:cNvSpPr txBox="1">
            <a:spLocks noChangeArrowheads="1"/>
          </p:cNvSpPr>
          <p:nvPr/>
        </p:nvSpPr>
        <p:spPr bwMode="auto">
          <a:xfrm>
            <a:off x="5018088" y="1555750"/>
            <a:ext cx="200025" cy="366713"/>
          </a:xfrm>
          <a:prstGeom prst="rect">
            <a:avLst/>
          </a:prstGeom>
          <a:noFill/>
          <a:ln w="9525">
            <a:noFill/>
            <a:miter lim="800000"/>
            <a:headEnd/>
            <a:tailEnd/>
          </a:ln>
        </p:spPr>
        <p:txBody>
          <a:bodyPr wrap="none">
            <a:spAutoFit/>
          </a:bodyPr>
          <a:lstStyle/>
          <a:p>
            <a:endParaRPr lang="en-US">
              <a:latin typeface="Tahoma" pitchFamily="34" charset="0"/>
            </a:endParaRPr>
          </a:p>
        </p:txBody>
      </p:sp>
      <p:sp>
        <p:nvSpPr>
          <p:cNvPr id="389126" name="Text Box 6"/>
          <p:cNvSpPr txBox="1">
            <a:spLocks noChangeArrowheads="1"/>
          </p:cNvSpPr>
          <p:nvPr/>
        </p:nvSpPr>
        <p:spPr bwMode="auto">
          <a:xfrm>
            <a:off x="4787900" y="1524000"/>
            <a:ext cx="5089525" cy="942975"/>
          </a:xfrm>
          <a:prstGeom prst="rect">
            <a:avLst/>
          </a:prstGeom>
          <a:noFill/>
          <a:ln w="9525">
            <a:noFill/>
            <a:miter lim="800000"/>
            <a:headEnd/>
            <a:tailEnd/>
          </a:ln>
          <a:effectLst/>
        </p:spPr>
        <p:txBody>
          <a:bodyPr wrap="none">
            <a:spAutoFit/>
          </a:bodyPr>
          <a:lstStyle/>
          <a:p>
            <a:pPr>
              <a:defRPr/>
            </a:pPr>
            <a:r>
              <a:rPr lang="en-US" sz="1400" b="1" u="sng">
                <a:latin typeface="Tahoma" pitchFamily="34" charset="0"/>
              </a:rPr>
              <a:t>Catatan :</a:t>
            </a:r>
          </a:p>
          <a:p>
            <a:pPr>
              <a:defRPr/>
            </a:pPr>
            <a:r>
              <a:rPr lang="en-US" sz="1400">
                <a:latin typeface="Tahoma" pitchFamily="34" charset="0"/>
              </a:rPr>
              <a:t>Amount Invoice = </a:t>
            </a:r>
            <a:r>
              <a:rPr lang="en-US" sz="1400">
                <a:effectLst>
                  <a:outerShdw blurRad="38100" dist="38100" dir="2700000" algn="tl">
                    <a:srgbClr val="C0C0C0"/>
                  </a:outerShdw>
                </a:effectLst>
                <a:latin typeface="Tahoma" pitchFamily="34" charset="0"/>
              </a:rPr>
              <a:t>1000 x USD 1,5 x 9.500 = 14.250.000</a:t>
            </a:r>
            <a:r>
              <a:rPr lang="en-US" sz="1400">
                <a:latin typeface="Tahoma" pitchFamily="34" charset="0"/>
              </a:rPr>
              <a:t> </a:t>
            </a:r>
          </a:p>
          <a:p>
            <a:pPr>
              <a:defRPr/>
            </a:pPr>
            <a:r>
              <a:rPr lang="en-US" sz="1400">
                <a:latin typeface="Tahoma" pitchFamily="34" charset="0"/>
              </a:rPr>
              <a:t>Amount Closing = </a:t>
            </a:r>
            <a:r>
              <a:rPr lang="en-US" sz="1400">
                <a:effectLst>
                  <a:outerShdw blurRad="38100" dist="38100" dir="2700000" algn="tl">
                    <a:srgbClr val="C0C0C0"/>
                  </a:outerShdw>
                </a:effectLst>
                <a:latin typeface="Tahoma" pitchFamily="34" charset="0"/>
              </a:rPr>
              <a:t>1000 x USD 1,5 x 9.400 = </a:t>
            </a:r>
            <a:r>
              <a:rPr lang="en-US" sz="1400" u="sng">
                <a:effectLst>
                  <a:outerShdw blurRad="38100" dist="38100" dir="2700000" algn="tl">
                    <a:srgbClr val="C0C0C0"/>
                  </a:outerShdw>
                </a:effectLst>
                <a:latin typeface="Tahoma" pitchFamily="34" charset="0"/>
              </a:rPr>
              <a:t>14.100.000</a:t>
            </a:r>
          </a:p>
          <a:p>
            <a:pPr>
              <a:defRPr/>
            </a:pPr>
            <a:r>
              <a:rPr lang="en-US" sz="1400" b="1">
                <a:effectLst>
                  <a:outerShdw blurRad="38100" dist="38100" dir="2700000" algn="tl">
                    <a:srgbClr val="C0C0C0"/>
                  </a:outerShdw>
                </a:effectLst>
                <a:latin typeface="Tahoma" pitchFamily="34" charset="0"/>
              </a:rPr>
              <a:t>Gain Unrealized A/P</a:t>
            </a:r>
            <a:r>
              <a:rPr lang="en-US" sz="1400">
                <a:effectLst>
                  <a:outerShdw blurRad="38100" dist="38100" dir="2700000" algn="tl">
                    <a:srgbClr val="C0C0C0"/>
                  </a:outerShdw>
                </a:effectLst>
                <a:latin typeface="Tahoma" pitchFamily="34" charset="0"/>
              </a:rPr>
              <a:t>			   150.000</a:t>
            </a:r>
          </a:p>
        </p:txBody>
      </p:sp>
      <p:sp>
        <p:nvSpPr>
          <p:cNvPr id="36871" name="Line 7"/>
          <p:cNvSpPr>
            <a:spLocks noChangeShapeType="1"/>
          </p:cNvSpPr>
          <p:nvPr/>
        </p:nvSpPr>
        <p:spPr bwMode="auto">
          <a:xfrm>
            <a:off x="4210050" y="2819400"/>
            <a:ext cx="1155700" cy="0"/>
          </a:xfrm>
          <a:prstGeom prst="line">
            <a:avLst/>
          </a:prstGeom>
          <a:noFill/>
          <a:ln w="38100">
            <a:solidFill>
              <a:srgbClr val="080808"/>
            </a:solidFill>
            <a:round/>
            <a:headEnd/>
            <a:tailEnd type="triangle" w="med" len="med"/>
          </a:ln>
        </p:spPr>
        <p:txBody>
          <a:bodyPr/>
          <a:lstStyle/>
          <a:p>
            <a:endParaRPr lang="en-US"/>
          </a:p>
        </p:txBody>
      </p:sp>
      <p:sp>
        <p:nvSpPr>
          <p:cNvPr id="36872" name="Oval 8"/>
          <p:cNvSpPr>
            <a:spLocks noChangeArrowheads="1"/>
          </p:cNvSpPr>
          <p:nvPr/>
        </p:nvSpPr>
        <p:spPr bwMode="auto">
          <a:xfrm>
            <a:off x="5283200" y="2514600"/>
            <a:ext cx="2724150" cy="1066800"/>
          </a:xfrm>
          <a:prstGeom prst="ellipse">
            <a:avLst/>
          </a:prstGeom>
          <a:solidFill>
            <a:schemeClr val="bg1"/>
          </a:solidFill>
          <a:ln w="9525">
            <a:solidFill>
              <a:srgbClr val="000000"/>
            </a:solidFill>
            <a:round/>
            <a:headEnd/>
            <a:tailEnd/>
          </a:ln>
        </p:spPr>
        <p:txBody>
          <a:bodyPr wrap="none" anchor="ctr"/>
          <a:lstStyle/>
          <a:p>
            <a:pPr algn="ctr"/>
            <a:r>
              <a:rPr lang="en-US" sz="1400">
                <a:solidFill>
                  <a:srgbClr val="000000"/>
                </a:solidFill>
                <a:latin typeface="Tahoma" pitchFamily="34" charset="0"/>
              </a:rPr>
              <a:t>Jurnal membalik A/P</a:t>
            </a:r>
          </a:p>
          <a:p>
            <a:pPr algn="ctr"/>
            <a:r>
              <a:rPr lang="en-US" sz="1400">
                <a:solidFill>
                  <a:srgbClr val="000000"/>
                </a:solidFill>
                <a:latin typeface="Tahoma" pitchFamily="34" charset="0"/>
              </a:rPr>
              <a:t>Agar nilai A/P sama </a:t>
            </a:r>
          </a:p>
          <a:p>
            <a:pPr algn="ctr"/>
            <a:r>
              <a:rPr lang="en-US" sz="1400">
                <a:solidFill>
                  <a:srgbClr val="000000"/>
                </a:solidFill>
                <a:latin typeface="Tahoma" pitchFamily="34" charset="0"/>
              </a:rPr>
              <a:t>dengan sebelum closing</a:t>
            </a:r>
          </a:p>
        </p:txBody>
      </p:sp>
      <p:sp>
        <p:nvSpPr>
          <p:cNvPr id="36873" name="Text Box 9"/>
          <p:cNvSpPr txBox="1">
            <a:spLocks noChangeArrowheads="1"/>
          </p:cNvSpPr>
          <p:nvPr/>
        </p:nvSpPr>
        <p:spPr bwMode="auto">
          <a:xfrm>
            <a:off x="230188" y="3865563"/>
            <a:ext cx="3840162" cy="1314450"/>
          </a:xfrm>
          <a:prstGeom prst="rect">
            <a:avLst/>
          </a:prstGeom>
          <a:noFill/>
          <a:ln w="9525">
            <a:noFill/>
            <a:miter lim="800000"/>
            <a:headEnd/>
            <a:tailEnd/>
          </a:ln>
        </p:spPr>
        <p:txBody>
          <a:bodyPr wrap="none">
            <a:spAutoFit/>
          </a:bodyPr>
          <a:lstStyle/>
          <a:p>
            <a:r>
              <a:rPr lang="en-US" sz="1600" b="1" u="sng">
                <a:latin typeface="Tahoma" pitchFamily="34" charset="0"/>
              </a:rPr>
              <a:t>Payment 11.05.2007</a:t>
            </a:r>
          </a:p>
          <a:p>
            <a:r>
              <a:rPr lang="en-US" sz="1600">
                <a:latin typeface="Tahoma" pitchFamily="34" charset="0"/>
              </a:rPr>
              <a:t>Dr. Acc. Payable          15.675.000</a:t>
            </a:r>
          </a:p>
          <a:p>
            <a:r>
              <a:rPr lang="en-US" sz="1600">
                <a:latin typeface="Tahoma" pitchFamily="34" charset="0"/>
              </a:rPr>
              <a:t>Dr. G/L Realized A/P         165.000</a:t>
            </a:r>
          </a:p>
          <a:p>
            <a:r>
              <a:rPr lang="en-US" sz="1600">
                <a:latin typeface="Tahoma" pitchFamily="34" charset="0"/>
              </a:rPr>
              <a:t>     Cr. Bank                    15.840.000</a:t>
            </a:r>
          </a:p>
          <a:p>
            <a:endParaRPr lang="en-US" sz="1600">
              <a:latin typeface="Tahoma" pitchFamily="34" charset="0"/>
            </a:endParaRPr>
          </a:p>
        </p:txBody>
      </p:sp>
      <p:sp>
        <p:nvSpPr>
          <p:cNvPr id="36874" name="Text Box 10"/>
          <p:cNvSpPr txBox="1">
            <a:spLocks noChangeArrowheads="1"/>
          </p:cNvSpPr>
          <p:nvPr/>
        </p:nvSpPr>
        <p:spPr bwMode="auto">
          <a:xfrm>
            <a:off x="4953000" y="3886200"/>
            <a:ext cx="4660900" cy="1581150"/>
          </a:xfrm>
          <a:prstGeom prst="rect">
            <a:avLst/>
          </a:prstGeom>
          <a:noFill/>
          <a:ln w="9525">
            <a:noFill/>
            <a:miter lim="800000"/>
            <a:headEnd/>
            <a:tailEnd/>
          </a:ln>
        </p:spPr>
        <p:txBody>
          <a:bodyPr wrap="none">
            <a:spAutoFit/>
          </a:bodyPr>
          <a:lstStyle/>
          <a:p>
            <a:r>
              <a:rPr lang="en-US" sz="1400" b="1" u="sng">
                <a:latin typeface="Tahoma" pitchFamily="34" charset="0"/>
              </a:rPr>
              <a:t>Catatan :</a:t>
            </a:r>
          </a:p>
          <a:p>
            <a:r>
              <a:rPr lang="en-US" sz="1400">
                <a:latin typeface="Tahoma" pitchFamily="34" charset="0"/>
              </a:rPr>
              <a:t>Saldo A/P yang akan dibayar : 15.657.000</a:t>
            </a:r>
          </a:p>
          <a:p>
            <a:r>
              <a:rPr lang="en-US" sz="1400">
                <a:latin typeface="Tahoma" pitchFamily="34" charset="0"/>
              </a:rPr>
              <a:t>Kurs Saat Invoice  Rp 9.500</a:t>
            </a:r>
          </a:p>
          <a:p>
            <a:r>
              <a:rPr lang="en-US" sz="1400">
                <a:latin typeface="Tahoma" pitchFamily="34" charset="0"/>
              </a:rPr>
              <a:t>Nilai USD A/P = 15.657.000 : 9.500 = 1.650</a:t>
            </a:r>
          </a:p>
          <a:p>
            <a:r>
              <a:rPr lang="en-US" sz="1400">
                <a:latin typeface="Tahoma" pitchFamily="34" charset="0"/>
              </a:rPr>
              <a:t>Kurs saat payment : 9.600</a:t>
            </a:r>
          </a:p>
          <a:p>
            <a:r>
              <a:rPr lang="en-US" sz="1400">
                <a:latin typeface="Tahoma" pitchFamily="34" charset="0"/>
              </a:rPr>
              <a:t>Nilai harus dibayarkan : 1.650 x 9.600 = 15.840.000</a:t>
            </a:r>
          </a:p>
          <a:p>
            <a:endParaRPr lang="en-US" sz="1400">
              <a:latin typeface="Tahoma" pitchFamily="34" charset="0"/>
            </a:endParaRPr>
          </a:p>
        </p:txBody>
      </p:sp>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Text Box 3"/>
          <p:cNvSpPr txBox="1">
            <a:spLocks noChangeArrowheads="1"/>
          </p:cNvSpPr>
          <p:nvPr/>
        </p:nvSpPr>
        <p:spPr bwMode="auto">
          <a:xfrm>
            <a:off x="501650" y="990600"/>
            <a:ext cx="9099550" cy="5453063"/>
          </a:xfrm>
          <a:prstGeom prst="rect">
            <a:avLst/>
          </a:prstGeom>
          <a:noFill/>
          <a:ln w="9525">
            <a:noFill/>
            <a:miter lim="800000"/>
            <a:headEnd/>
            <a:tailEnd/>
          </a:ln>
        </p:spPr>
        <p:txBody>
          <a:bodyPr>
            <a:spAutoFit/>
          </a:bodyPr>
          <a:lstStyle/>
          <a:p>
            <a:pPr marL="514350" indent="-514350">
              <a:buFontTx/>
              <a:buAutoNum type="arabicParenR"/>
            </a:pPr>
            <a:r>
              <a:rPr lang="en-US" sz="3200" u="sng">
                <a:latin typeface="Tahoma" pitchFamily="34" charset="0"/>
              </a:rPr>
              <a:t>Bagaimana  Account payable Report di Perusahaan anda ?</a:t>
            </a:r>
          </a:p>
          <a:p>
            <a:pPr marL="514350" indent="-514350">
              <a:buFontTx/>
              <a:buAutoNum type="arabicParenR"/>
            </a:pPr>
            <a:r>
              <a:rPr lang="en-US" sz="3200" u="sng">
                <a:latin typeface="Tahoma" pitchFamily="34" charset="0"/>
              </a:rPr>
              <a:t>Seberapa sering menemukan kesalahan?</a:t>
            </a:r>
          </a:p>
          <a:p>
            <a:pPr marL="514350" indent="-514350">
              <a:buFontTx/>
              <a:buAutoNum type="arabicParenR"/>
            </a:pPr>
            <a:r>
              <a:rPr lang="en-US" sz="3200" u="sng">
                <a:latin typeface="Tahoma" pitchFamily="34" charset="0"/>
              </a:rPr>
              <a:t>Seberapa sering di tinjau ulang master listnya?</a:t>
            </a:r>
          </a:p>
          <a:p>
            <a:pPr marL="514350" indent="-514350">
              <a:buFontTx/>
              <a:buAutoNum type="arabicParenR"/>
            </a:pPr>
            <a:r>
              <a:rPr lang="en-US" sz="3200" u="sng">
                <a:latin typeface="Tahoma" pitchFamily="34" charset="0"/>
              </a:rPr>
              <a:t>Seberapa sering menemukan invoice yang salah?</a:t>
            </a:r>
          </a:p>
          <a:p>
            <a:pPr marL="514350" indent="-514350">
              <a:buFontTx/>
              <a:buAutoNum type="arabicParenR"/>
            </a:pPr>
            <a:r>
              <a:rPr lang="en-US" sz="3200" u="sng">
                <a:latin typeface="Tahoma" pitchFamily="34" charset="0"/>
              </a:rPr>
              <a:t>Seberapa sering membayar A/P bukan dengan original invoice</a:t>
            </a:r>
          </a:p>
          <a:p>
            <a:pPr marL="514350" indent="-514350">
              <a:buFontTx/>
              <a:buAutoNum type="arabicParenR"/>
            </a:pPr>
            <a:r>
              <a:rPr lang="en-US" sz="3200" u="sng">
                <a:latin typeface="Tahoma" pitchFamily="34" charset="0"/>
              </a:rPr>
              <a:t>Seringkah melakukan </a:t>
            </a:r>
            <a:r>
              <a:rPr lang="en-US" sz="3200" i="1" u="sng">
                <a:latin typeface="Tahoma" pitchFamily="34" charset="0"/>
              </a:rPr>
              <a:t>rush check</a:t>
            </a:r>
          </a:p>
          <a:p>
            <a:pPr marL="514350" indent="-514350">
              <a:buFontTx/>
              <a:buAutoNum type="arabicParenR"/>
            </a:pPr>
            <a:endParaRPr lang="en-US" sz="3200" i="1" u="sng">
              <a:latin typeface="Tahoma" pitchFamily="34" charset="0"/>
            </a:endParaRPr>
          </a:p>
        </p:txBody>
      </p:sp>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9570" name="Picture 2"/>
          <p:cNvPicPr>
            <a:picLocks noGrp="1" noChangeAspect="1" noChangeArrowheads="1"/>
          </p:cNvPicPr>
          <p:nvPr>
            <p:ph idx="4294967295"/>
          </p:nvPr>
        </p:nvPicPr>
        <p:blipFill>
          <a:blip r:embed="rId3"/>
          <a:srcRect/>
          <a:stretch>
            <a:fillRect/>
          </a:stretch>
        </p:blipFill>
        <p:spPr>
          <a:xfrm>
            <a:off x="381000" y="685800"/>
            <a:ext cx="9296400" cy="5791200"/>
          </a:xfrm>
          <a:noFill/>
        </p:spPr>
      </p:pic>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0594" name="Picture 4"/>
          <p:cNvPicPr>
            <a:picLocks noGrp="1" noChangeAspect="1" noChangeArrowheads="1"/>
          </p:cNvPicPr>
          <p:nvPr>
            <p:ph idx="4294967295"/>
          </p:nvPr>
        </p:nvPicPr>
        <p:blipFill>
          <a:blip r:embed="rId3"/>
          <a:srcRect/>
          <a:stretch>
            <a:fillRect/>
          </a:stretch>
        </p:blipFill>
        <p:spPr>
          <a:xfrm>
            <a:off x="762000" y="533400"/>
            <a:ext cx="8610600" cy="6019800"/>
          </a:xfrm>
          <a:noFill/>
        </p:spPr>
      </p:pic>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1618" name="Picture 4"/>
          <p:cNvPicPr>
            <a:picLocks noGrp="1" noChangeAspect="1" noChangeArrowheads="1"/>
          </p:cNvPicPr>
          <p:nvPr>
            <p:ph idx="1"/>
          </p:nvPr>
        </p:nvPicPr>
        <p:blipFill>
          <a:blip r:embed="rId3"/>
          <a:srcRect/>
          <a:stretch>
            <a:fillRect/>
          </a:stretch>
        </p:blipFill>
        <p:spPr>
          <a:xfrm>
            <a:off x="762000" y="838200"/>
            <a:ext cx="8534400" cy="5486400"/>
          </a:xfrm>
          <a:noFill/>
        </p:spPr>
      </p:pic>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ctrTitle" idx="4294967295"/>
          </p:nvPr>
        </p:nvSpPr>
        <p:spPr>
          <a:xfrm>
            <a:off x="838200" y="685800"/>
            <a:ext cx="8420100" cy="1470025"/>
          </a:xfrm>
        </p:spPr>
        <p:txBody>
          <a:bodyPr/>
          <a:lstStyle/>
          <a:p>
            <a:pPr algn="r"/>
            <a:r>
              <a:rPr lang="en-US" sz="5400" b="1" smtClean="0"/>
              <a:t>Audit terhadap </a:t>
            </a:r>
            <a:br>
              <a:rPr lang="en-US" sz="5400" b="1" smtClean="0"/>
            </a:br>
            <a:r>
              <a:rPr lang="en-US" sz="5400" b="1" u="sng" smtClean="0"/>
              <a:t>Proses Account Payable</a:t>
            </a:r>
          </a:p>
        </p:txBody>
      </p:sp>
      <p:sp>
        <p:nvSpPr>
          <p:cNvPr id="37891" name="Rectangle 3"/>
          <p:cNvSpPr>
            <a:spLocks noGrp="1" noChangeArrowheads="1"/>
          </p:cNvSpPr>
          <p:nvPr>
            <p:ph type="subTitle" idx="4294967295"/>
          </p:nvPr>
        </p:nvSpPr>
        <p:spPr>
          <a:xfrm>
            <a:off x="457200" y="4038600"/>
            <a:ext cx="7658100" cy="1676400"/>
          </a:xfrm>
        </p:spPr>
        <p:txBody>
          <a:bodyPr/>
          <a:lstStyle/>
          <a:p>
            <a:pPr marL="465138" indent="-465138">
              <a:buClr>
                <a:schemeClr val="tx1"/>
              </a:buClr>
            </a:pPr>
            <a:r>
              <a:rPr lang="en-US" sz="4000" smtClean="0"/>
              <a:t>Compliance Test Proses A/P</a:t>
            </a:r>
          </a:p>
          <a:p>
            <a:pPr marL="465138" indent="-465138">
              <a:buClr>
                <a:schemeClr val="tx1"/>
              </a:buClr>
            </a:pPr>
            <a:r>
              <a:rPr lang="en-US" sz="4000" smtClean="0"/>
              <a:t>Substantive Test Nilai A/P</a:t>
            </a:r>
          </a:p>
        </p:txBody>
      </p:sp>
      <p:pic>
        <p:nvPicPr>
          <p:cNvPr id="37892" name="Picture 4" descr="g0126203"/>
          <p:cNvPicPr>
            <a:picLocks noChangeAspect="1" noChangeArrowheads="1"/>
          </p:cNvPicPr>
          <p:nvPr/>
        </p:nvPicPr>
        <p:blipFill>
          <a:blip r:embed="rId3">
            <a:lum bright="36000" contrast="-12000"/>
          </a:blip>
          <a:srcRect/>
          <a:stretch>
            <a:fillRect/>
          </a:stretch>
        </p:blipFill>
        <p:spPr bwMode="auto">
          <a:xfrm rot="944617">
            <a:off x="7512050" y="3657600"/>
            <a:ext cx="1816100" cy="29718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idx="4294967295"/>
          </p:nvPr>
        </p:nvSpPr>
        <p:spPr>
          <a:xfrm>
            <a:off x="495300" y="457200"/>
            <a:ext cx="8915400" cy="914400"/>
          </a:xfrm>
        </p:spPr>
        <p:txBody>
          <a:bodyPr/>
          <a:lstStyle/>
          <a:p>
            <a:r>
              <a:rPr lang="en-US" smtClean="0"/>
              <a:t>Audit terhadap A/P</a:t>
            </a:r>
          </a:p>
        </p:txBody>
      </p:sp>
      <p:sp>
        <p:nvSpPr>
          <p:cNvPr id="38915" name="Rectangle 3"/>
          <p:cNvSpPr>
            <a:spLocks noGrp="1" noChangeArrowheads="1"/>
          </p:cNvSpPr>
          <p:nvPr>
            <p:ph type="body" idx="4294967295"/>
          </p:nvPr>
        </p:nvSpPr>
        <p:spPr>
          <a:xfrm>
            <a:off x="495300" y="1371600"/>
            <a:ext cx="8915400" cy="5029200"/>
          </a:xfrm>
        </p:spPr>
        <p:txBody>
          <a:bodyPr/>
          <a:lstStyle/>
          <a:p>
            <a:pPr>
              <a:lnSpc>
                <a:spcPct val="90000"/>
              </a:lnSpc>
              <a:buClr>
                <a:schemeClr val="tx1"/>
              </a:buClr>
              <a:buSzTx/>
            </a:pPr>
            <a:r>
              <a:rPr lang="en-US" sz="2800" smtClean="0"/>
              <a:t>Compliance Test terhadap Siklus A/P</a:t>
            </a:r>
          </a:p>
          <a:p>
            <a:pPr lvl="2">
              <a:lnSpc>
                <a:spcPct val="90000"/>
              </a:lnSpc>
              <a:buClr>
                <a:schemeClr val="tx1"/>
              </a:buClr>
              <a:buSzTx/>
            </a:pPr>
            <a:r>
              <a:rPr lang="en-US" sz="2000" smtClean="0"/>
              <a:t>Verifikasi terhadap efektivitas sistem pengendalian internal (SPI) terhadap A/P</a:t>
            </a:r>
          </a:p>
          <a:p>
            <a:pPr lvl="2">
              <a:lnSpc>
                <a:spcPct val="90000"/>
              </a:lnSpc>
              <a:buClr>
                <a:schemeClr val="tx1"/>
              </a:buClr>
              <a:buSzTx/>
            </a:pPr>
            <a:r>
              <a:rPr lang="en-US" sz="2000" smtClean="0"/>
              <a:t>Mendapatkan informasi :</a:t>
            </a:r>
          </a:p>
          <a:p>
            <a:pPr lvl="3">
              <a:lnSpc>
                <a:spcPct val="90000"/>
              </a:lnSpc>
              <a:buClr>
                <a:schemeClr val="tx1"/>
              </a:buClr>
              <a:buSzTx/>
            </a:pPr>
            <a:r>
              <a:rPr lang="en-US" sz="1800" smtClean="0"/>
              <a:t>Frekuensi pelaksanaan SPI</a:t>
            </a:r>
          </a:p>
          <a:p>
            <a:pPr lvl="4">
              <a:lnSpc>
                <a:spcPct val="90000"/>
              </a:lnSpc>
              <a:buClr>
                <a:schemeClr val="tx1"/>
              </a:buClr>
            </a:pPr>
            <a:r>
              <a:rPr lang="en-US" sz="1800" smtClean="0"/>
              <a:t>Berapa banyak transaksi A/P diotorisasi oleh pejabat berwenang</a:t>
            </a:r>
          </a:p>
          <a:p>
            <a:pPr lvl="4">
              <a:lnSpc>
                <a:spcPct val="90000"/>
              </a:lnSpc>
              <a:buClr>
                <a:schemeClr val="tx1"/>
              </a:buClr>
            </a:pPr>
            <a:r>
              <a:rPr lang="en-US" sz="1800" smtClean="0"/>
              <a:t>Kemungkinan ditemukan ketidak konsistenan</a:t>
            </a:r>
          </a:p>
          <a:p>
            <a:pPr lvl="3">
              <a:lnSpc>
                <a:spcPct val="90000"/>
              </a:lnSpc>
              <a:buClr>
                <a:schemeClr val="tx1"/>
              </a:buClr>
              <a:buSzTx/>
            </a:pPr>
            <a:r>
              <a:rPr lang="en-US" sz="1800" smtClean="0"/>
              <a:t>Mutu SPI</a:t>
            </a:r>
          </a:p>
          <a:p>
            <a:pPr lvl="4">
              <a:lnSpc>
                <a:spcPct val="90000"/>
              </a:lnSpc>
              <a:buClr>
                <a:schemeClr val="tx1"/>
              </a:buClr>
            </a:pPr>
            <a:r>
              <a:rPr lang="en-US" sz="1800" smtClean="0"/>
              <a:t>Apa yang hendak dicapai oleh SPI tersebut</a:t>
            </a:r>
          </a:p>
          <a:p>
            <a:pPr lvl="4">
              <a:lnSpc>
                <a:spcPct val="90000"/>
              </a:lnSpc>
              <a:buClr>
                <a:schemeClr val="tx1"/>
              </a:buClr>
            </a:pPr>
            <a:r>
              <a:rPr lang="en-US" sz="1800" smtClean="0"/>
              <a:t>Mutu SPI baik jika mencapai tujuan yang hendak dicapai oleh SPI tersebut</a:t>
            </a:r>
          </a:p>
          <a:p>
            <a:pPr lvl="3">
              <a:lnSpc>
                <a:spcPct val="90000"/>
              </a:lnSpc>
              <a:buClr>
                <a:schemeClr val="tx1"/>
              </a:buClr>
              <a:buSzTx/>
            </a:pPr>
            <a:r>
              <a:rPr lang="en-US" sz="1800" smtClean="0"/>
              <a:t>Karyawan yang melaksanakan SPI</a:t>
            </a:r>
          </a:p>
          <a:p>
            <a:pPr lvl="4">
              <a:lnSpc>
                <a:spcPct val="90000"/>
              </a:lnSpc>
              <a:buClr>
                <a:schemeClr val="tx1"/>
              </a:buClr>
            </a:pPr>
            <a:r>
              <a:rPr lang="en-US" sz="1800" smtClean="0"/>
              <a:t>Saling kontrol antar karyawan, antar departemen</a:t>
            </a:r>
          </a:p>
          <a:p>
            <a:pPr lvl="4">
              <a:lnSpc>
                <a:spcPct val="90000"/>
              </a:lnSpc>
              <a:buClr>
                <a:schemeClr val="tx1"/>
              </a:buClr>
            </a:pPr>
            <a:r>
              <a:rPr lang="en-US" sz="1800" smtClean="0"/>
              <a:t>SPI tidak efektif jika pengendalian dilakukan langsung oleh karyawan itu sendiri yang melakukan transaksi</a:t>
            </a:r>
          </a:p>
        </p:txBody>
      </p:sp>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idx="4294967295"/>
          </p:nvPr>
        </p:nvSpPr>
        <p:spPr>
          <a:xfrm>
            <a:off x="495300" y="457200"/>
            <a:ext cx="8915400" cy="914400"/>
          </a:xfrm>
        </p:spPr>
        <p:txBody>
          <a:bodyPr/>
          <a:lstStyle/>
          <a:p>
            <a:r>
              <a:rPr lang="en-US" smtClean="0"/>
              <a:t>Audit terhadap A/P</a:t>
            </a:r>
          </a:p>
        </p:txBody>
      </p:sp>
      <p:sp>
        <p:nvSpPr>
          <p:cNvPr id="39939" name="Rectangle 3"/>
          <p:cNvSpPr>
            <a:spLocks noGrp="1" noChangeArrowheads="1"/>
          </p:cNvSpPr>
          <p:nvPr>
            <p:ph type="body" idx="4294967295"/>
          </p:nvPr>
        </p:nvSpPr>
        <p:spPr>
          <a:xfrm>
            <a:off x="247650" y="1295400"/>
            <a:ext cx="9163050" cy="5105400"/>
          </a:xfrm>
        </p:spPr>
        <p:txBody>
          <a:bodyPr/>
          <a:lstStyle/>
          <a:p>
            <a:pPr lvl="2">
              <a:buClr>
                <a:schemeClr val="tx1"/>
              </a:buClr>
              <a:buSzTx/>
            </a:pPr>
            <a:r>
              <a:rPr lang="en-US" smtClean="0"/>
              <a:t>Dilakukan dengan cara :</a:t>
            </a:r>
          </a:p>
          <a:p>
            <a:pPr lvl="3">
              <a:buClr>
                <a:schemeClr val="tx1"/>
              </a:buClr>
              <a:buSzTx/>
            </a:pPr>
            <a:r>
              <a:rPr lang="en-US" smtClean="0"/>
              <a:t>Pengujian dengan mengikuti pelaksanaan transaksi tertentu</a:t>
            </a:r>
          </a:p>
          <a:p>
            <a:pPr lvl="4">
              <a:buClr>
                <a:schemeClr val="tx1"/>
              </a:buClr>
            </a:pPr>
            <a:r>
              <a:rPr lang="en-US" smtClean="0"/>
              <a:t>Pengamatan adanya unsur SPI dalam transaksi A/P</a:t>
            </a:r>
          </a:p>
          <a:p>
            <a:pPr lvl="4">
              <a:buClr>
                <a:schemeClr val="tx1"/>
              </a:buClr>
            </a:pPr>
            <a:r>
              <a:rPr lang="en-US" smtClean="0"/>
              <a:t>Dari proses pembelian hingga pembayaran</a:t>
            </a:r>
          </a:p>
          <a:p>
            <a:pPr lvl="4">
              <a:buClr>
                <a:schemeClr val="tx1"/>
              </a:buClr>
            </a:pPr>
            <a:r>
              <a:rPr lang="en-US" smtClean="0"/>
              <a:t>Pengamatan (bisa bersifat mendadak) : pembuatan PO, Penerimaan tagihan, invoicing, pembuatan cek, penyetoran cek ke bank, posting di G/L</a:t>
            </a:r>
          </a:p>
          <a:p>
            <a:pPr lvl="3">
              <a:buClr>
                <a:schemeClr val="tx1"/>
              </a:buClr>
              <a:buSzTx/>
            </a:pPr>
            <a:r>
              <a:rPr lang="en-US" smtClean="0"/>
              <a:t>Pengujian transaksi masa lalu yang sudah dicatat</a:t>
            </a:r>
          </a:p>
          <a:p>
            <a:pPr lvl="4">
              <a:buClr>
                <a:schemeClr val="tx1"/>
              </a:buClr>
            </a:pPr>
            <a:r>
              <a:rPr lang="en-US" smtClean="0"/>
              <a:t>Sampling transaksi yang akan diuji</a:t>
            </a:r>
          </a:p>
          <a:p>
            <a:pPr lvl="4">
              <a:buClr>
                <a:schemeClr val="tx1"/>
              </a:buClr>
            </a:pPr>
            <a:r>
              <a:rPr lang="en-US" smtClean="0"/>
              <a:t>Mengikuti pelaksanaannya sejak awal – akhir</a:t>
            </a:r>
          </a:p>
          <a:p>
            <a:pPr lvl="4">
              <a:buClr>
                <a:schemeClr val="tx1"/>
              </a:buClr>
            </a:pPr>
            <a:r>
              <a:rPr lang="en-US" smtClean="0"/>
              <a:t>Cek semua dokumen yang dibuat dalam proses tersebut</a:t>
            </a:r>
          </a:p>
          <a:p>
            <a:pPr lvl="4">
              <a:buClr>
                <a:schemeClr val="tx1"/>
              </a:buClr>
            </a:pPr>
            <a:r>
              <a:rPr lang="en-US" smtClean="0"/>
              <a:t>Cek pencatatannya dalam G/L</a:t>
            </a:r>
          </a:p>
          <a:p>
            <a:pPr lvl="4">
              <a:buClr>
                <a:schemeClr val="tx1"/>
              </a:buClr>
            </a:pPr>
            <a:r>
              <a:rPr lang="en-US" smtClean="0"/>
              <a:t>Obyek yang diperiksa : sistem otorisasi apakah benar-benar dilaksanakan</a:t>
            </a:r>
          </a:p>
        </p:txBody>
      </p:sp>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p:txBody>
          <a:bodyPr/>
          <a:lstStyle/>
          <a:p>
            <a:r>
              <a:rPr lang="en-US" smtClean="0"/>
              <a:t>Audit terhadap A/P</a:t>
            </a:r>
          </a:p>
        </p:txBody>
      </p:sp>
      <p:sp>
        <p:nvSpPr>
          <p:cNvPr id="40963" name="Rectangle 3"/>
          <p:cNvSpPr>
            <a:spLocks noGrp="1" noChangeArrowheads="1"/>
          </p:cNvSpPr>
          <p:nvPr>
            <p:ph type="body" idx="4294967295"/>
          </p:nvPr>
        </p:nvSpPr>
        <p:spPr>
          <a:xfrm>
            <a:off x="495300" y="1600200"/>
            <a:ext cx="8915400" cy="4724400"/>
          </a:xfrm>
        </p:spPr>
        <p:txBody>
          <a:bodyPr/>
          <a:lstStyle/>
          <a:p>
            <a:pPr lvl="1">
              <a:buClr>
                <a:schemeClr val="tx1"/>
              </a:buClr>
              <a:buSzTx/>
            </a:pPr>
            <a:r>
              <a:rPr lang="en-US" smtClean="0"/>
              <a:t>Sumber informasi Compliance Test</a:t>
            </a:r>
          </a:p>
          <a:p>
            <a:pPr lvl="3">
              <a:buClr>
                <a:schemeClr val="tx1"/>
              </a:buClr>
              <a:buSzTx/>
            </a:pPr>
            <a:r>
              <a:rPr lang="en-US" smtClean="0"/>
              <a:t>Struktur organisasi dan Job Description karyawan A/P</a:t>
            </a:r>
          </a:p>
          <a:p>
            <a:pPr lvl="3">
              <a:buClr>
                <a:schemeClr val="tx1"/>
              </a:buClr>
              <a:buSzTx/>
            </a:pPr>
            <a:r>
              <a:rPr lang="en-US" smtClean="0"/>
              <a:t>Pedoman Chart of Account</a:t>
            </a:r>
          </a:p>
          <a:p>
            <a:pPr lvl="3">
              <a:buClr>
                <a:schemeClr val="tx1"/>
              </a:buClr>
              <a:buSzTx/>
            </a:pPr>
            <a:r>
              <a:rPr lang="en-US" smtClean="0"/>
              <a:t>SOP, sistem akuntansi A/P</a:t>
            </a:r>
          </a:p>
          <a:p>
            <a:pPr lvl="3">
              <a:buClr>
                <a:schemeClr val="tx1"/>
              </a:buClr>
              <a:buSzTx/>
            </a:pPr>
            <a:r>
              <a:rPr lang="en-US" smtClean="0"/>
              <a:t>Interview : karyawan inti dan pelaksana A/P</a:t>
            </a:r>
          </a:p>
          <a:p>
            <a:pPr lvl="3">
              <a:buClr>
                <a:schemeClr val="tx1"/>
              </a:buClr>
              <a:buSzTx/>
            </a:pPr>
            <a:r>
              <a:rPr lang="en-US" smtClean="0"/>
              <a:t>Laporan, kertas kerja dan program pemeriksaan auditor internal</a:t>
            </a:r>
          </a:p>
          <a:p>
            <a:pPr lvl="3">
              <a:buClr>
                <a:schemeClr val="tx1"/>
              </a:buClr>
              <a:buSzTx/>
            </a:pPr>
            <a:r>
              <a:rPr lang="en-US" smtClean="0"/>
              <a:t>Catatan akuntansi, dokumen, sistem informasi</a:t>
            </a:r>
          </a:p>
          <a:p>
            <a:pPr lvl="3">
              <a:buClr>
                <a:schemeClr val="tx1"/>
              </a:buClr>
              <a:buSzTx/>
            </a:pPr>
            <a:r>
              <a:rPr lang="en-US" smtClean="0"/>
              <a:t>Kunjungan ke seluruh kantor dan pabrik</a:t>
            </a:r>
          </a:p>
          <a:p>
            <a:pPr lvl="3">
              <a:buClr>
                <a:schemeClr val="tx1"/>
              </a:buClr>
              <a:buSzTx/>
            </a:pPr>
            <a:r>
              <a:rPr lang="en-US" smtClean="0"/>
              <a:t>Laporan rekomendasi perbaikan SPI, laporan akuntan sebelumnya</a:t>
            </a:r>
          </a:p>
        </p:txBody>
      </p:sp>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idx="4294967295"/>
          </p:nvPr>
        </p:nvSpPr>
        <p:spPr>
          <a:xfrm>
            <a:off x="495300" y="457200"/>
            <a:ext cx="8915400" cy="914400"/>
          </a:xfrm>
        </p:spPr>
        <p:txBody>
          <a:bodyPr/>
          <a:lstStyle/>
          <a:p>
            <a:r>
              <a:rPr lang="en-US" smtClean="0"/>
              <a:t>Audit terhadap A/P</a:t>
            </a:r>
          </a:p>
        </p:txBody>
      </p:sp>
      <p:sp>
        <p:nvSpPr>
          <p:cNvPr id="41987" name="Rectangle 3"/>
          <p:cNvSpPr>
            <a:spLocks noGrp="1" noChangeArrowheads="1"/>
          </p:cNvSpPr>
          <p:nvPr>
            <p:ph type="body" idx="4294967295"/>
          </p:nvPr>
        </p:nvSpPr>
        <p:spPr>
          <a:xfrm>
            <a:off x="495300" y="1295400"/>
            <a:ext cx="8915400" cy="4800600"/>
          </a:xfrm>
        </p:spPr>
        <p:txBody>
          <a:bodyPr/>
          <a:lstStyle/>
          <a:p>
            <a:pPr>
              <a:buClr>
                <a:schemeClr val="tx1"/>
              </a:buClr>
              <a:buSzTx/>
            </a:pPr>
            <a:r>
              <a:rPr lang="en-US" smtClean="0"/>
              <a:t>Substantif Test terhadap A/P :</a:t>
            </a:r>
          </a:p>
          <a:p>
            <a:pPr lvl="2">
              <a:buClr>
                <a:schemeClr val="tx1"/>
              </a:buClr>
              <a:buSzTx/>
            </a:pPr>
            <a:r>
              <a:rPr lang="en-US" smtClean="0"/>
              <a:t>Menemukan kemungkinan kesalahan rupiah</a:t>
            </a:r>
          </a:p>
          <a:p>
            <a:pPr lvl="2">
              <a:buClr>
                <a:schemeClr val="tx1"/>
              </a:buClr>
              <a:buSzTx/>
            </a:pPr>
            <a:r>
              <a:rPr lang="en-US" smtClean="0"/>
              <a:t>Secara langsung mempengaruhi kewajaran penyajian laporan keuangan</a:t>
            </a:r>
          </a:p>
          <a:p>
            <a:pPr lvl="2">
              <a:buClr>
                <a:schemeClr val="tx1"/>
              </a:buClr>
              <a:buSzTx/>
            </a:pPr>
            <a:r>
              <a:rPr lang="en-US" smtClean="0"/>
              <a:t>Kemungkinan terjadi karena kesalahan:</a:t>
            </a:r>
          </a:p>
          <a:p>
            <a:pPr lvl="3">
              <a:buClr>
                <a:schemeClr val="tx1"/>
              </a:buClr>
              <a:buSzTx/>
            </a:pPr>
            <a:r>
              <a:rPr lang="en-US" smtClean="0"/>
              <a:t>Penerapan akuntansi yang lazim</a:t>
            </a:r>
          </a:p>
          <a:p>
            <a:pPr lvl="3">
              <a:buClr>
                <a:schemeClr val="tx1"/>
              </a:buClr>
              <a:buSzTx/>
            </a:pPr>
            <a:r>
              <a:rPr lang="en-US" smtClean="0"/>
              <a:t>Tidak konsisten</a:t>
            </a:r>
          </a:p>
          <a:p>
            <a:pPr lvl="3">
              <a:buClr>
                <a:schemeClr val="tx1"/>
              </a:buClr>
              <a:buSzTx/>
            </a:pPr>
            <a:r>
              <a:rPr lang="en-US" smtClean="0"/>
              <a:t>Cut off tidak tepat</a:t>
            </a:r>
          </a:p>
          <a:p>
            <a:pPr lvl="3">
              <a:buClr>
                <a:schemeClr val="tx1"/>
              </a:buClr>
              <a:buSzTx/>
            </a:pPr>
            <a:r>
              <a:rPr lang="en-US" smtClean="0"/>
              <a:t>Penghitungan/matematis</a:t>
            </a:r>
          </a:p>
          <a:p>
            <a:pPr lvl="3">
              <a:buClr>
                <a:schemeClr val="tx1"/>
              </a:buClr>
              <a:buSzTx/>
            </a:pPr>
            <a:r>
              <a:rPr lang="en-US" smtClean="0"/>
              <a:t>Pekerjaan penyalinan, penggolongan, dan peringkasan informasi</a:t>
            </a:r>
          </a:p>
          <a:p>
            <a:pPr lvl="3">
              <a:buClr>
                <a:schemeClr val="tx1"/>
              </a:buClr>
              <a:buSzTx/>
            </a:pPr>
            <a:r>
              <a:rPr lang="en-US" smtClean="0"/>
              <a:t>Disclosure unsur tertentu dalam laporan keuangan</a:t>
            </a:r>
          </a:p>
          <a:p>
            <a:pPr lvl="3">
              <a:buClr>
                <a:schemeClr val="tx1"/>
              </a:buClr>
              <a:buSzTx/>
            </a:pPr>
            <a:endParaRPr lang="en-US" smtClean="0"/>
          </a:p>
        </p:txBody>
      </p:sp>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idx="4294967295"/>
          </p:nvPr>
        </p:nvSpPr>
        <p:spPr/>
        <p:txBody>
          <a:bodyPr/>
          <a:lstStyle/>
          <a:p>
            <a:r>
              <a:rPr lang="en-US" smtClean="0"/>
              <a:t>Audit terhadap A/P</a:t>
            </a:r>
          </a:p>
        </p:txBody>
      </p:sp>
      <p:sp>
        <p:nvSpPr>
          <p:cNvPr id="43011" name="Rectangle 3"/>
          <p:cNvSpPr>
            <a:spLocks noGrp="1" noChangeArrowheads="1"/>
          </p:cNvSpPr>
          <p:nvPr>
            <p:ph type="body" idx="4294967295"/>
          </p:nvPr>
        </p:nvSpPr>
        <p:spPr>
          <a:xfrm>
            <a:off x="495300" y="1524000"/>
            <a:ext cx="8915400" cy="4800600"/>
          </a:xfrm>
        </p:spPr>
        <p:txBody>
          <a:bodyPr/>
          <a:lstStyle/>
          <a:p>
            <a:pPr>
              <a:buClr>
                <a:schemeClr val="tx1"/>
              </a:buClr>
              <a:buSzTx/>
            </a:pPr>
            <a:r>
              <a:rPr lang="en-US" smtClean="0"/>
              <a:t>Tujuan Pemeriksaan A/P :</a:t>
            </a:r>
          </a:p>
          <a:p>
            <a:pPr lvl="2">
              <a:buClr>
                <a:schemeClr val="tx1"/>
              </a:buClr>
              <a:buSzTx/>
            </a:pPr>
            <a:r>
              <a:rPr lang="en-US" smtClean="0"/>
              <a:t>Keyakinan keandalan catatan akuntansi A/P</a:t>
            </a:r>
          </a:p>
          <a:p>
            <a:pPr lvl="3">
              <a:buClr>
                <a:schemeClr val="tx1"/>
              </a:buClr>
              <a:buSzTx/>
            </a:pPr>
            <a:r>
              <a:rPr lang="en-US" smtClean="0"/>
              <a:t>Keyakinan akan ketelitian catatan akuntansi yang mensupport A/P</a:t>
            </a:r>
          </a:p>
          <a:p>
            <a:pPr lvl="3">
              <a:buClr>
                <a:schemeClr val="tx1"/>
              </a:buClr>
              <a:buSzTx/>
            </a:pPr>
            <a:r>
              <a:rPr lang="en-US" smtClean="0"/>
              <a:t>Rekonsiliasi Saldo A/P di neraca, G/L, register kas keluar, Register cek dan jurnal umum</a:t>
            </a:r>
          </a:p>
          <a:p>
            <a:pPr lvl="2">
              <a:buClr>
                <a:schemeClr val="tx1"/>
              </a:buClr>
              <a:buSzTx/>
            </a:pPr>
            <a:r>
              <a:rPr lang="en-US" smtClean="0"/>
              <a:t>Membuktikan Eksistensi A/P di Neraca</a:t>
            </a:r>
          </a:p>
          <a:p>
            <a:pPr lvl="3">
              <a:buClr>
                <a:schemeClr val="tx1"/>
              </a:buClr>
              <a:buSzTx/>
            </a:pPr>
            <a:r>
              <a:rPr lang="en-US" smtClean="0"/>
              <a:t>Nilai A/P di neraca sesuai dengan nilai yang sesungguhnya</a:t>
            </a:r>
          </a:p>
          <a:p>
            <a:pPr lvl="3">
              <a:buClr>
                <a:schemeClr val="tx1"/>
              </a:buClr>
              <a:buSzTx/>
            </a:pPr>
            <a:r>
              <a:rPr lang="en-US" smtClean="0"/>
              <a:t>Konfirmasi saldo dari supplier (Statement of account)</a:t>
            </a:r>
          </a:p>
          <a:p>
            <a:pPr lvl="3">
              <a:buClr>
                <a:schemeClr val="tx1"/>
              </a:buClr>
              <a:buSzTx/>
            </a:pPr>
            <a:r>
              <a:rPr lang="en-US" smtClean="0"/>
              <a:t>Periksa dokumen yang mendukung pembayaran A/P</a:t>
            </a:r>
          </a:p>
          <a:p>
            <a:pPr lvl="3">
              <a:buClr>
                <a:schemeClr val="tx1"/>
              </a:buClr>
              <a:buSzTx/>
            </a:pPr>
            <a:r>
              <a:rPr lang="en-US" smtClean="0"/>
              <a:t>Temukan utang yang belum dicatat (rekonsiliasi dengan catatan penerimaan barang)</a:t>
            </a:r>
          </a:p>
          <a:p>
            <a:pPr lvl="3">
              <a:buClr>
                <a:schemeClr val="tx1"/>
              </a:buClr>
              <a:buSzTx/>
            </a:pPr>
            <a:endParaRPr lang="en-US" smtClean="0"/>
          </a:p>
          <a:p>
            <a:pPr lvl="1">
              <a:buClr>
                <a:schemeClr val="tx1"/>
              </a:buClr>
              <a:buSzTx/>
            </a:pPr>
            <a:endParaRPr lang="en-US" smtClean="0"/>
          </a:p>
        </p:txBody>
      </p:sp>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idx="4294967295"/>
          </p:nvPr>
        </p:nvSpPr>
        <p:spPr>
          <a:xfrm>
            <a:off x="495300" y="457200"/>
            <a:ext cx="8915400" cy="914400"/>
          </a:xfrm>
        </p:spPr>
        <p:txBody>
          <a:bodyPr/>
          <a:lstStyle/>
          <a:p>
            <a:r>
              <a:rPr lang="en-US" smtClean="0"/>
              <a:t>Audit terhadap A/P</a:t>
            </a:r>
          </a:p>
        </p:txBody>
      </p:sp>
      <p:sp>
        <p:nvSpPr>
          <p:cNvPr id="44035" name="Rectangle 3"/>
          <p:cNvSpPr>
            <a:spLocks noGrp="1" noChangeArrowheads="1"/>
          </p:cNvSpPr>
          <p:nvPr>
            <p:ph type="body" idx="4294967295"/>
          </p:nvPr>
        </p:nvSpPr>
        <p:spPr>
          <a:xfrm>
            <a:off x="495300" y="1371600"/>
            <a:ext cx="8915400" cy="4724400"/>
          </a:xfrm>
        </p:spPr>
        <p:txBody>
          <a:bodyPr/>
          <a:lstStyle/>
          <a:p>
            <a:pPr lvl="2">
              <a:buClr>
                <a:schemeClr val="tx1"/>
              </a:buClr>
              <a:buSzTx/>
            </a:pPr>
            <a:r>
              <a:rPr lang="en-US" smtClean="0"/>
              <a:t>Ketepatan cut off A/P</a:t>
            </a:r>
          </a:p>
          <a:p>
            <a:pPr lvl="3">
              <a:buClr>
                <a:schemeClr val="tx1"/>
              </a:buClr>
              <a:buSzTx/>
            </a:pPr>
            <a:r>
              <a:rPr lang="en-US" smtClean="0"/>
              <a:t>A/P terkait langsung dengan penghitungan biaya</a:t>
            </a:r>
          </a:p>
          <a:p>
            <a:pPr lvl="3">
              <a:buClr>
                <a:schemeClr val="tx1"/>
              </a:buClr>
              <a:buSzTx/>
            </a:pPr>
            <a:r>
              <a:rPr lang="en-US" smtClean="0"/>
              <a:t>Ketidaktepatan periode akan berdampak pada penghitungan rugi/laba</a:t>
            </a:r>
          </a:p>
          <a:p>
            <a:pPr lvl="3">
              <a:buClr>
                <a:schemeClr val="tx1"/>
              </a:buClr>
              <a:buSzTx/>
            </a:pPr>
            <a:r>
              <a:rPr lang="en-US" smtClean="0"/>
              <a:t>Cek transaksi minggu terakhir di bulan tersebut, dan minggu pertama awal bulan baru</a:t>
            </a:r>
          </a:p>
          <a:p>
            <a:pPr lvl="2">
              <a:buClr>
                <a:schemeClr val="tx1"/>
              </a:buClr>
              <a:buSzTx/>
            </a:pPr>
            <a:r>
              <a:rPr lang="en-US" smtClean="0"/>
              <a:t>Kewajaran penyajian A/P di neraca</a:t>
            </a:r>
          </a:p>
          <a:p>
            <a:pPr lvl="3">
              <a:buClr>
                <a:schemeClr val="tx1"/>
              </a:buClr>
              <a:buSzTx/>
            </a:pPr>
            <a:r>
              <a:rPr lang="en-US" smtClean="0"/>
              <a:t>Penyajian A/P berdasarkan prinsip akuntansi yang lazim</a:t>
            </a:r>
          </a:p>
          <a:p>
            <a:pPr lvl="3">
              <a:buClr>
                <a:schemeClr val="tx1"/>
              </a:buClr>
              <a:buSzTx/>
            </a:pPr>
            <a:r>
              <a:rPr lang="en-US" smtClean="0"/>
              <a:t>Cek klasifikasi A/P (Perusahaan afiliasi, kreditur dagang, dan direksi, pemegang saham, manager, karyawan</a:t>
            </a:r>
          </a:p>
          <a:p>
            <a:pPr lvl="3">
              <a:buClr>
                <a:schemeClr val="tx1"/>
              </a:buClr>
              <a:buSzTx/>
            </a:pPr>
            <a:r>
              <a:rPr lang="en-US" smtClean="0"/>
              <a:t>Auditor dapat melakukan penggolongan kembali</a:t>
            </a:r>
          </a:p>
          <a:p>
            <a:pPr lvl="3">
              <a:buClr>
                <a:schemeClr val="tx1"/>
              </a:buClr>
              <a:buSzTx/>
            </a:pPr>
            <a:r>
              <a:rPr lang="en-US" smtClean="0"/>
              <a:t>Periksa penjelasan yang berkaitan dengan A/P</a:t>
            </a:r>
          </a:p>
          <a:p>
            <a:pPr lvl="1">
              <a:buClr>
                <a:schemeClr val="tx1"/>
              </a:buClr>
              <a:buSzTx/>
            </a:pPr>
            <a:endParaRPr lang="en-US" smtClean="0"/>
          </a:p>
        </p:txBody>
      </p:sp>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ChangeArrowheads="1"/>
          </p:cNvSpPr>
          <p:nvPr/>
        </p:nvSpPr>
        <p:spPr bwMode="auto">
          <a:xfrm>
            <a:off x="495300" y="4495800"/>
            <a:ext cx="1981200" cy="990600"/>
          </a:xfrm>
          <a:prstGeom prst="rect">
            <a:avLst/>
          </a:prstGeom>
          <a:noFill/>
          <a:ln w="9525">
            <a:solidFill>
              <a:schemeClr val="tx1"/>
            </a:solidFill>
            <a:miter lim="800000"/>
            <a:headEnd/>
            <a:tailEnd/>
          </a:ln>
        </p:spPr>
        <p:txBody>
          <a:bodyPr wrap="none" anchor="ctr"/>
          <a:lstStyle/>
          <a:p>
            <a:pPr algn="ctr"/>
            <a:r>
              <a:rPr lang="en-US" sz="1600" b="1">
                <a:latin typeface="Tahoma" pitchFamily="34" charset="0"/>
              </a:rPr>
              <a:t>A/P sesungguhnya </a:t>
            </a:r>
          </a:p>
          <a:p>
            <a:pPr algn="ctr"/>
            <a:r>
              <a:rPr lang="en-US" sz="1600" b="1">
                <a:latin typeface="Tahoma" pitchFamily="34" charset="0"/>
              </a:rPr>
              <a:t>pada tanggal</a:t>
            </a:r>
          </a:p>
          <a:p>
            <a:pPr algn="ctr"/>
            <a:r>
              <a:rPr lang="en-US" sz="1600" b="1">
                <a:latin typeface="Tahoma" pitchFamily="34" charset="0"/>
              </a:rPr>
              <a:t> neraca</a:t>
            </a:r>
          </a:p>
        </p:txBody>
      </p:sp>
      <p:sp>
        <p:nvSpPr>
          <p:cNvPr id="45059" name="Rectangle 3"/>
          <p:cNvSpPr>
            <a:spLocks noChangeArrowheads="1"/>
          </p:cNvSpPr>
          <p:nvPr/>
        </p:nvSpPr>
        <p:spPr bwMode="auto">
          <a:xfrm>
            <a:off x="4210050" y="4495800"/>
            <a:ext cx="1568450" cy="990600"/>
          </a:xfrm>
          <a:prstGeom prst="rect">
            <a:avLst/>
          </a:prstGeom>
          <a:noFill/>
          <a:ln w="9525">
            <a:solidFill>
              <a:schemeClr val="tx1"/>
            </a:solidFill>
            <a:miter lim="800000"/>
            <a:headEnd/>
            <a:tailEnd/>
          </a:ln>
        </p:spPr>
        <p:txBody>
          <a:bodyPr wrap="none" anchor="ctr"/>
          <a:lstStyle/>
          <a:p>
            <a:pPr algn="ctr"/>
            <a:r>
              <a:rPr lang="en-US" sz="1600" b="1">
                <a:latin typeface="Tahoma" pitchFamily="34" charset="0"/>
              </a:rPr>
              <a:t>Saldo A/P </a:t>
            </a:r>
          </a:p>
          <a:p>
            <a:pPr algn="ctr"/>
            <a:r>
              <a:rPr lang="en-US" sz="1600" b="1">
                <a:latin typeface="Tahoma" pitchFamily="34" charset="0"/>
              </a:rPr>
              <a:t>yang disajikan</a:t>
            </a:r>
          </a:p>
          <a:p>
            <a:pPr algn="ctr"/>
            <a:r>
              <a:rPr lang="en-US" sz="1600" b="1">
                <a:latin typeface="Tahoma" pitchFamily="34" charset="0"/>
              </a:rPr>
              <a:t> di neraca</a:t>
            </a:r>
          </a:p>
        </p:txBody>
      </p:sp>
      <p:sp>
        <p:nvSpPr>
          <p:cNvPr id="45060" name="Rectangle 4"/>
          <p:cNvSpPr>
            <a:spLocks noChangeArrowheads="1"/>
          </p:cNvSpPr>
          <p:nvPr/>
        </p:nvSpPr>
        <p:spPr bwMode="auto">
          <a:xfrm>
            <a:off x="7346950" y="4495800"/>
            <a:ext cx="1816100" cy="990600"/>
          </a:xfrm>
          <a:prstGeom prst="rect">
            <a:avLst/>
          </a:prstGeom>
          <a:noFill/>
          <a:ln w="9525">
            <a:solidFill>
              <a:schemeClr val="tx1"/>
            </a:solidFill>
            <a:miter lim="800000"/>
            <a:headEnd/>
            <a:tailEnd/>
          </a:ln>
        </p:spPr>
        <p:txBody>
          <a:bodyPr wrap="none" anchor="ctr"/>
          <a:lstStyle/>
          <a:p>
            <a:pPr algn="ctr"/>
            <a:r>
              <a:rPr lang="en-US" sz="1600" b="1">
                <a:latin typeface="Tahoma" pitchFamily="34" charset="0"/>
              </a:rPr>
              <a:t>Catatan akuntansi</a:t>
            </a:r>
          </a:p>
          <a:p>
            <a:pPr algn="ctr"/>
            <a:r>
              <a:rPr lang="en-US" sz="1600" b="1">
                <a:latin typeface="Tahoma" pitchFamily="34" charset="0"/>
              </a:rPr>
              <a:t>Berkaitan </a:t>
            </a:r>
          </a:p>
          <a:p>
            <a:pPr algn="ctr"/>
            <a:r>
              <a:rPr lang="en-US" sz="1600" b="1">
                <a:latin typeface="Tahoma" pitchFamily="34" charset="0"/>
              </a:rPr>
              <a:t>dengan A/P</a:t>
            </a:r>
          </a:p>
        </p:txBody>
      </p:sp>
      <p:sp>
        <p:nvSpPr>
          <p:cNvPr id="45061" name="Line 5"/>
          <p:cNvSpPr>
            <a:spLocks noChangeShapeType="1"/>
          </p:cNvSpPr>
          <p:nvPr/>
        </p:nvSpPr>
        <p:spPr bwMode="auto">
          <a:xfrm>
            <a:off x="5778500" y="4953000"/>
            <a:ext cx="1568450" cy="0"/>
          </a:xfrm>
          <a:prstGeom prst="line">
            <a:avLst/>
          </a:prstGeom>
          <a:noFill/>
          <a:ln w="57150">
            <a:solidFill>
              <a:srgbClr val="000000"/>
            </a:solidFill>
            <a:round/>
            <a:headEnd/>
            <a:tailEnd type="stealth" w="lg" len="lg"/>
          </a:ln>
        </p:spPr>
        <p:txBody>
          <a:bodyPr/>
          <a:lstStyle/>
          <a:p>
            <a:endParaRPr lang="en-US"/>
          </a:p>
        </p:txBody>
      </p:sp>
      <p:sp>
        <p:nvSpPr>
          <p:cNvPr id="45062" name="Line 6"/>
          <p:cNvSpPr>
            <a:spLocks noChangeShapeType="1"/>
          </p:cNvSpPr>
          <p:nvPr/>
        </p:nvSpPr>
        <p:spPr bwMode="auto">
          <a:xfrm flipH="1">
            <a:off x="2476500" y="4953000"/>
            <a:ext cx="1733550" cy="0"/>
          </a:xfrm>
          <a:prstGeom prst="line">
            <a:avLst/>
          </a:prstGeom>
          <a:noFill/>
          <a:ln w="57150">
            <a:solidFill>
              <a:srgbClr val="000000"/>
            </a:solidFill>
            <a:round/>
            <a:headEnd/>
            <a:tailEnd type="stealth" w="lg" len="lg"/>
          </a:ln>
        </p:spPr>
        <p:txBody>
          <a:bodyPr/>
          <a:lstStyle/>
          <a:p>
            <a:endParaRPr lang="en-US"/>
          </a:p>
        </p:txBody>
      </p:sp>
      <p:cxnSp>
        <p:nvCxnSpPr>
          <p:cNvPr id="45063" name="AutoShape 7"/>
          <p:cNvCxnSpPr>
            <a:cxnSpLocks noChangeShapeType="1"/>
          </p:cNvCxnSpPr>
          <p:nvPr/>
        </p:nvCxnSpPr>
        <p:spPr bwMode="auto">
          <a:xfrm rot="5400000">
            <a:off x="5105400" y="2514600"/>
            <a:ext cx="3276600" cy="1447800"/>
          </a:xfrm>
          <a:prstGeom prst="bentConnector3">
            <a:avLst>
              <a:gd name="adj1" fmla="val 65213"/>
            </a:avLst>
          </a:prstGeom>
          <a:noFill/>
          <a:ln w="38100">
            <a:solidFill>
              <a:srgbClr val="000000"/>
            </a:solidFill>
            <a:miter lim="800000"/>
            <a:headEnd/>
            <a:tailEnd type="stealth" w="lg" len="lg"/>
          </a:ln>
        </p:spPr>
      </p:cxnSp>
      <p:cxnSp>
        <p:nvCxnSpPr>
          <p:cNvPr id="45064" name="AutoShape 8"/>
          <p:cNvCxnSpPr>
            <a:cxnSpLocks noChangeShapeType="1"/>
          </p:cNvCxnSpPr>
          <p:nvPr/>
        </p:nvCxnSpPr>
        <p:spPr bwMode="auto">
          <a:xfrm rot="16200000" flipH="1">
            <a:off x="1028700" y="3009900"/>
            <a:ext cx="2133600" cy="1600200"/>
          </a:xfrm>
          <a:prstGeom prst="bentConnector3">
            <a:avLst>
              <a:gd name="adj1" fmla="val 50000"/>
            </a:avLst>
          </a:prstGeom>
          <a:noFill/>
          <a:ln w="38100">
            <a:solidFill>
              <a:srgbClr val="000000"/>
            </a:solidFill>
            <a:miter lim="800000"/>
            <a:headEnd/>
            <a:tailEnd type="stealth" w="lg" len="lg"/>
          </a:ln>
        </p:spPr>
      </p:cxnSp>
      <p:cxnSp>
        <p:nvCxnSpPr>
          <p:cNvPr id="45065" name="AutoShape 9"/>
          <p:cNvCxnSpPr>
            <a:cxnSpLocks noChangeShapeType="1"/>
          </p:cNvCxnSpPr>
          <p:nvPr/>
        </p:nvCxnSpPr>
        <p:spPr bwMode="auto">
          <a:xfrm rot="5400000">
            <a:off x="2324100" y="3390900"/>
            <a:ext cx="2362200" cy="609600"/>
          </a:xfrm>
          <a:prstGeom prst="bentConnector3">
            <a:avLst>
              <a:gd name="adj1" fmla="val 50000"/>
            </a:avLst>
          </a:prstGeom>
          <a:noFill/>
          <a:ln w="28575">
            <a:solidFill>
              <a:srgbClr val="000000"/>
            </a:solidFill>
            <a:miter lim="800000"/>
            <a:headEnd/>
            <a:tailEnd type="stealth" w="lg" len="lg"/>
          </a:ln>
        </p:spPr>
      </p:cxnSp>
      <p:cxnSp>
        <p:nvCxnSpPr>
          <p:cNvPr id="45066" name="AutoShape 10"/>
          <p:cNvCxnSpPr>
            <a:cxnSpLocks noChangeShapeType="1"/>
          </p:cNvCxnSpPr>
          <p:nvPr/>
        </p:nvCxnSpPr>
        <p:spPr bwMode="auto">
          <a:xfrm rot="5400000">
            <a:off x="2667000" y="2819400"/>
            <a:ext cx="2971800" cy="1143000"/>
          </a:xfrm>
          <a:prstGeom prst="bentConnector3">
            <a:avLst>
              <a:gd name="adj1" fmla="val 68963"/>
            </a:avLst>
          </a:prstGeom>
          <a:noFill/>
          <a:ln w="28575">
            <a:solidFill>
              <a:srgbClr val="000000"/>
            </a:solidFill>
            <a:miter lim="800000"/>
            <a:headEnd/>
            <a:tailEnd type="stealth" w="lg" len="lg"/>
          </a:ln>
        </p:spPr>
      </p:cxnSp>
      <p:sp>
        <p:nvSpPr>
          <p:cNvPr id="45067" name="Rectangle 11"/>
          <p:cNvSpPr>
            <a:spLocks noChangeArrowheads="1"/>
          </p:cNvSpPr>
          <p:nvPr/>
        </p:nvSpPr>
        <p:spPr bwMode="auto">
          <a:xfrm>
            <a:off x="7316788" y="1219200"/>
            <a:ext cx="1485900" cy="533400"/>
          </a:xfrm>
          <a:prstGeom prst="rect">
            <a:avLst/>
          </a:prstGeom>
          <a:noFill/>
          <a:ln w="9525">
            <a:solidFill>
              <a:srgbClr val="000000"/>
            </a:solidFill>
            <a:miter lim="800000"/>
            <a:headEnd/>
            <a:tailEnd/>
          </a:ln>
        </p:spPr>
        <p:txBody>
          <a:bodyPr wrap="none" anchor="ctr"/>
          <a:lstStyle/>
          <a:p>
            <a:pPr algn="ctr"/>
            <a:r>
              <a:rPr lang="en-US" b="1">
                <a:solidFill>
                  <a:srgbClr val="000000"/>
                </a:solidFill>
                <a:latin typeface="Tahoma" pitchFamily="34" charset="0"/>
              </a:rPr>
              <a:t>Rekonsiliasi</a:t>
            </a:r>
          </a:p>
        </p:txBody>
      </p:sp>
      <p:cxnSp>
        <p:nvCxnSpPr>
          <p:cNvPr id="45068" name="AutoShape 12"/>
          <p:cNvCxnSpPr>
            <a:cxnSpLocks noChangeShapeType="1"/>
          </p:cNvCxnSpPr>
          <p:nvPr/>
        </p:nvCxnSpPr>
        <p:spPr bwMode="auto">
          <a:xfrm rot="5400000">
            <a:off x="4648200" y="3581400"/>
            <a:ext cx="1143000" cy="533400"/>
          </a:xfrm>
          <a:prstGeom prst="bentConnector3">
            <a:avLst>
              <a:gd name="adj1" fmla="val 68884"/>
            </a:avLst>
          </a:prstGeom>
          <a:noFill/>
          <a:ln w="28575">
            <a:solidFill>
              <a:srgbClr val="000000"/>
            </a:solidFill>
            <a:miter lim="800000"/>
            <a:headEnd/>
            <a:tailEnd type="stealth" w="lg" len="lg"/>
          </a:ln>
        </p:spPr>
      </p:cxnSp>
      <p:sp>
        <p:nvSpPr>
          <p:cNvPr id="45069" name="Rectangle 13"/>
          <p:cNvSpPr>
            <a:spLocks noChangeArrowheads="1"/>
          </p:cNvSpPr>
          <p:nvPr/>
        </p:nvSpPr>
        <p:spPr bwMode="auto">
          <a:xfrm>
            <a:off x="5283200" y="2743200"/>
            <a:ext cx="1568450" cy="609600"/>
          </a:xfrm>
          <a:prstGeom prst="rect">
            <a:avLst/>
          </a:prstGeom>
          <a:noFill/>
          <a:ln w="9525">
            <a:solidFill>
              <a:srgbClr val="000000"/>
            </a:solidFill>
            <a:miter lim="800000"/>
            <a:headEnd/>
            <a:tailEnd/>
          </a:ln>
        </p:spPr>
        <p:txBody>
          <a:bodyPr wrap="none" anchor="ctr"/>
          <a:lstStyle/>
          <a:p>
            <a:pPr algn="ctr"/>
            <a:r>
              <a:rPr lang="en-US" b="1">
                <a:solidFill>
                  <a:srgbClr val="000000"/>
                </a:solidFill>
                <a:latin typeface="Tahoma" pitchFamily="34" charset="0"/>
              </a:rPr>
              <a:t>Audit dimulai</a:t>
            </a:r>
          </a:p>
          <a:p>
            <a:pPr algn="ctr"/>
            <a:r>
              <a:rPr lang="en-US" b="1">
                <a:solidFill>
                  <a:srgbClr val="000000"/>
                </a:solidFill>
                <a:latin typeface="Tahoma" pitchFamily="34" charset="0"/>
              </a:rPr>
              <a:t> di sini</a:t>
            </a:r>
          </a:p>
        </p:txBody>
      </p:sp>
      <p:sp>
        <p:nvSpPr>
          <p:cNvPr id="45070" name="Rectangle 14"/>
          <p:cNvSpPr>
            <a:spLocks noChangeArrowheads="1"/>
          </p:cNvSpPr>
          <p:nvPr/>
        </p:nvSpPr>
        <p:spPr bwMode="auto">
          <a:xfrm>
            <a:off x="4648200" y="1295400"/>
            <a:ext cx="1403350" cy="838200"/>
          </a:xfrm>
          <a:prstGeom prst="rect">
            <a:avLst/>
          </a:prstGeom>
          <a:noFill/>
          <a:ln w="9525">
            <a:solidFill>
              <a:srgbClr val="000000"/>
            </a:solidFill>
            <a:miter lim="800000"/>
            <a:headEnd/>
            <a:tailEnd/>
          </a:ln>
        </p:spPr>
        <p:txBody>
          <a:bodyPr wrap="none" anchor="ctr"/>
          <a:lstStyle/>
          <a:p>
            <a:pPr algn="ctr"/>
            <a:r>
              <a:rPr lang="en-US" b="1">
                <a:solidFill>
                  <a:srgbClr val="000000"/>
                </a:solidFill>
                <a:latin typeface="Tahoma" pitchFamily="34" charset="0"/>
              </a:rPr>
              <a:t>Verifikasi</a:t>
            </a:r>
          </a:p>
          <a:p>
            <a:pPr algn="ctr"/>
            <a:r>
              <a:rPr lang="en-US" b="1">
                <a:solidFill>
                  <a:srgbClr val="000000"/>
                </a:solidFill>
                <a:latin typeface="Tahoma" pitchFamily="34" charset="0"/>
              </a:rPr>
              <a:t>Eksistensi</a:t>
            </a:r>
          </a:p>
        </p:txBody>
      </p:sp>
      <p:sp>
        <p:nvSpPr>
          <p:cNvPr id="45071" name="Text Box 15"/>
          <p:cNvSpPr txBox="1">
            <a:spLocks noChangeArrowheads="1"/>
          </p:cNvSpPr>
          <p:nvPr/>
        </p:nvSpPr>
        <p:spPr bwMode="auto">
          <a:xfrm>
            <a:off x="3449638" y="1250950"/>
            <a:ext cx="200025" cy="366713"/>
          </a:xfrm>
          <a:prstGeom prst="rect">
            <a:avLst/>
          </a:prstGeom>
          <a:noFill/>
          <a:ln w="9525">
            <a:noFill/>
            <a:miter lim="800000"/>
            <a:headEnd/>
            <a:tailEnd/>
          </a:ln>
        </p:spPr>
        <p:txBody>
          <a:bodyPr wrap="none">
            <a:spAutoFit/>
          </a:bodyPr>
          <a:lstStyle/>
          <a:p>
            <a:endParaRPr lang="en-US">
              <a:latin typeface="Tahoma" pitchFamily="34" charset="0"/>
            </a:endParaRPr>
          </a:p>
        </p:txBody>
      </p:sp>
      <p:sp>
        <p:nvSpPr>
          <p:cNvPr id="45072" name="Rectangle 16"/>
          <p:cNvSpPr>
            <a:spLocks noChangeArrowheads="1"/>
          </p:cNvSpPr>
          <p:nvPr/>
        </p:nvSpPr>
        <p:spPr bwMode="auto">
          <a:xfrm>
            <a:off x="3124200" y="1905000"/>
            <a:ext cx="1485900" cy="685800"/>
          </a:xfrm>
          <a:prstGeom prst="rect">
            <a:avLst/>
          </a:prstGeom>
          <a:noFill/>
          <a:ln w="9525">
            <a:solidFill>
              <a:srgbClr val="000000"/>
            </a:solidFill>
            <a:miter lim="800000"/>
            <a:headEnd/>
            <a:tailEnd/>
          </a:ln>
        </p:spPr>
        <p:txBody>
          <a:bodyPr wrap="none" anchor="ctr"/>
          <a:lstStyle/>
          <a:p>
            <a:pPr algn="ctr"/>
            <a:r>
              <a:rPr lang="en-US" b="1">
                <a:solidFill>
                  <a:srgbClr val="000000"/>
                </a:solidFill>
                <a:latin typeface="Tahoma" pitchFamily="34" charset="0"/>
              </a:rPr>
              <a:t>Verifikasi</a:t>
            </a:r>
          </a:p>
          <a:p>
            <a:pPr algn="ctr"/>
            <a:r>
              <a:rPr lang="en-US" b="1">
                <a:solidFill>
                  <a:srgbClr val="000000"/>
                </a:solidFill>
                <a:latin typeface="Tahoma" pitchFamily="34" charset="0"/>
              </a:rPr>
              <a:t>Cut off</a:t>
            </a:r>
          </a:p>
        </p:txBody>
      </p:sp>
      <p:sp>
        <p:nvSpPr>
          <p:cNvPr id="45073" name="Rectangle 17"/>
          <p:cNvSpPr>
            <a:spLocks noChangeArrowheads="1"/>
          </p:cNvSpPr>
          <p:nvPr/>
        </p:nvSpPr>
        <p:spPr bwMode="auto">
          <a:xfrm>
            <a:off x="685800" y="1828800"/>
            <a:ext cx="1651000" cy="914400"/>
          </a:xfrm>
          <a:prstGeom prst="rect">
            <a:avLst/>
          </a:prstGeom>
          <a:noFill/>
          <a:ln w="9525">
            <a:solidFill>
              <a:srgbClr val="000000"/>
            </a:solidFill>
            <a:miter lim="800000"/>
            <a:headEnd/>
            <a:tailEnd/>
          </a:ln>
        </p:spPr>
        <p:txBody>
          <a:bodyPr wrap="none" anchor="ctr"/>
          <a:lstStyle/>
          <a:p>
            <a:pPr algn="ctr"/>
            <a:r>
              <a:rPr lang="en-US" b="1">
                <a:solidFill>
                  <a:srgbClr val="000000"/>
                </a:solidFill>
                <a:latin typeface="Tahoma" pitchFamily="34" charset="0"/>
              </a:rPr>
              <a:t>Verifikasi </a:t>
            </a:r>
          </a:p>
          <a:p>
            <a:pPr algn="ctr"/>
            <a:r>
              <a:rPr lang="en-US" b="1">
                <a:solidFill>
                  <a:srgbClr val="000000"/>
                </a:solidFill>
                <a:latin typeface="Tahoma" pitchFamily="34" charset="0"/>
              </a:rPr>
              <a:t>penyajian</a:t>
            </a:r>
          </a:p>
          <a:p>
            <a:pPr algn="ctr"/>
            <a:r>
              <a:rPr lang="en-US" b="1">
                <a:solidFill>
                  <a:srgbClr val="000000"/>
                </a:solidFill>
                <a:latin typeface="Tahoma" pitchFamily="34" charset="0"/>
              </a:rPr>
              <a:t>Di Neraca</a:t>
            </a:r>
          </a:p>
        </p:txBody>
      </p:sp>
      <p:sp>
        <p:nvSpPr>
          <p:cNvPr id="45074" name="Text Box 18"/>
          <p:cNvSpPr txBox="1">
            <a:spLocks noChangeArrowheads="1"/>
          </p:cNvSpPr>
          <p:nvPr/>
        </p:nvSpPr>
        <p:spPr bwMode="auto">
          <a:xfrm>
            <a:off x="330200" y="685800"/>
            <a:ext cx="7223125" cy="457200"/>
          </a:xfrm>
          <a:prstGeom prst="rect">
            <a:avLst/>
          </a:prstGeom>
          <a:noFill/>
          <a:ln w="9525">
            <a:noFill/>
            <a:miter lim="800000"/>
            <a:headEnd/>
            <a:tailEnd/>
          </a:ln>
        </p:spPr>
        <p:txBody>
          <a:bodyPr wrap="none">
            <a:spAutoFit/>
          </a:bodyPr>
          <a:lstStyle/>
          <a:p>
            <a:r>
              <a:rPr lang="en-US" sz="2400" b="1" u="sng">
                <a:latin typeface="Tahoma" pitchFamily="34" charset="0"/>
              </a:rPr>
              <a:t>PENGUJIAN SUBSTANTIF Account payable</a:t>
            </a:r>
          </a:p>
        </p:txBody>
      </p:sp>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ctrTitle" idx="4294967295"/>
          </p:nvPr>
        </p:nvSpPr>
        <p:spPr>
          <a:xfrm>
            <a:off x="742950" y="1219200"/>
            <a:ext cx="8420100" cy="1470025"/>
          </a:xfrm>
        </p:spPr>
        <p:txBody>
          <a:bodyPr/>
          <a:lstStyle/>
          <a:p>
            <a:pPr algn="r" eaLnBrk="1" hangingPunct="1"/>
            <a:r>
              <a:rPr lang="en-US" sz="4800" smtClean="0"/>
              <a:t>Fraud (kecurangan)</a:t>
            </a:r>
            <a:br>
              <a:rPr lang="en-US" sz="4800" smtClean="0"/>
            </a:br>
            <a:r>
              <a:rPr lang="en-US" sz="4800" u="sng" smtClean="0"/>
              <a:t>di Account Payable</a:t>
            </a:r>
          </a:p>
        </p:txBody>
      </p:sp>
      <p:sp>
        <p:nvSpPr>
          <p:cNvPr id="46083" name="Rectangle 3"/>
          <p:cNvSpPr>
            <a:spLocks noGrp="1" noChangeArrowheads="1"/>
          </p:cNvSpPr>
          <p:nvPr>
            <p:ph type="subTitle" idx="4294967295"/>
          </p:nvPr>
        </p:nvSpPr>
        <p:spPr>
          <a:xfrm>
            <a:off x="990600" y="3886200"/>
            <a:ext cx="6934200" cy="1752600"/>
          </a:xfrm>
        </p:spPr>
        <p:txBody>
          <a:bodyPr/>
          <a:lstStyle/>
          <a:p>
            <a:pPr marL="465138" indent="-465138" eaLnBrk="1" hangingPunct="1">
              <a:lnSpc>
                <a:spcPct val="80000"/>
              </a:lnSpc>
              <a:buClr>
                <a:schemeClr val="tx1"/>
              </a:buClr>
            </a:pPr>
            <a:r>
              <a:rPr lang="en-US" sz="2800" smtClean="0"/>
              <a:t>Dasar terjadinya Fraud</a:t>
            </a:r>
          </a:p>
          <a:p>
            <a:pPr marL="465138" indent="-465138" eaLnBrk="1" hangingPunct="1">
              <a:lnSpc>
                <a:spcPct val="80000"/>
              </a:lnSpc>
              <a:buClr>
                <a:schemeClr val="tx1"/>
              </a:buClr>
            </a:pPr>
            <a:r>
              <a:rPr lang="en-US" sz="2800" smtClean="0"/>
              <a:t>Jenis-jenis Fraud</a:t>
            </a:r>
          </a:p>
          <a:p>
            <a:pPr marL="465138" indent="-465138" eaLnBrk="1" hangingPunct="1">
              <a:lnSpc>
                <a:spcPct val="80000"/>
              </a:lnSpc>
              <a:buClr>
                <a:schemeClr val="tx1"/>
              </a:buClr>
            </a:pPr>
            <a:r>
              <a:rPr lang="en-US" sz="2800" smtClean="0"/>
              <a:t>Fraud di Account Payable</a:t>
            </a:r>
          </a:p>
          <a:p>
            <a:pPr marL="465138" indent="-465138" eaLnBrk="1" hangingPunct="1">
              <a:lnSpc>
                <a:spcPct val="80000"/>
              </a:lnSpc>
              <a:buClr>
                <a:schemeClr val="tx1"/>
              </a:buClr>
            </a:pPr>
            <a:r>
              <a:rPr lang="en-US" sz="2800" smtClean="0"/>
              <a:t>Pencegahan Fraud</a:t>
            </a:r>
          </a:p>
        </p:txBody>
      </p:sp>
      <p:pic>
        <p:nvPicPr>
          <p:cNvPr id="46084" name="Picture 4" descr="g0126203"/>
          <p:cNvPicPr>
            <a:picLocks noChangeAspect="1" noChangeArrowheads="1"/>
          </p:cNvPicPr>
          <p:nvPr/>
        </p:nvPicPr>
        <p:blipFill>
          <a:blip r:embed="rId3"/>
          <a:srcRect/>
          <a:stretch>
            <a:fillRect/>
          </a:stretch>
        </p:blipFill>
        <p:spPr bwMode="auto">
          <a:xfrm>
            <a:off x="6356350" y="3505200"/>
            <a:ext cx="3000375" cy="29718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Slide Number Placeholder 6"/>
          <p:cNvSpPr txBox="1">
            <a:spLocks noGrp="1"/>
          </p:cNvSpPr>
          <p:nvPr/>
        </p:nvSpPr>
        <p:spPr bwMode="auto">
          <a:xfrm>
            <a:off x="7570788" y="6400800"/>
            <a:ext cx="2063750" cy="376238"/>
          </a:xfrm>
          <a:prstGeom prst="rect">
            <a:avLst/>
          </a:prstGeom>
          <a:noFill/>
          <a:ln>
            <a:miter lim="800000"/>
            <a:headEnd/>
            <a:tailEnd/>
          </a:ln>
        </p:spPr>
        <p:txBody>
          <a:bodyPr wrap="none" lIns="92075" tIns="46038" rIns="92075" bIns="46038" anchor="ctr"/>
          <a:lstStyle/>
          <a:p>
            <a:pPr algn="r" eaLnBrk="0" hangingPunct="0">
              <a:defRPr/>
            </a:pPr>
            <a:fld id="{08E35BC8-76CD-4CBC-8206-E2F267FCF57D}" type="slidenum">
              <a:rPr lang="en-US" sz="1400">
                <a:solidFill>
                  <a:schemeClr val="accent1"/>
                </a:solidFill>
                <a:latin typeface="+mj-lt"/>
                <a:cs typeface="Arial" pitchFamily="34" charset="0"/>
              </a:rPr>
              <a:pPr algn="r" eaLnBrk="0" hangingPunct="0">
                <a:defRPr/>
              </a:pPr>
              <a:t>97</a:t>
            </a:fld>
            <a:endParaRPr lang="en-US" sz="1400">
              <a:solidFill>
                <a:schemeClr val="accent1"/>
              </a:solidFill>
              <a:latin typeface="+mj-lt"/>
              <a:cs typeface="Arial" pitchFamily="34" charset="0"/>
            </a:endParaRPr>
          </a:p>
        </p:txBody>
      </p:sp>
      <p:sp>
        <p:nvSpPr>
          <p:cNvPr id="1028" name="Rectangle 2"/>
          <p:cNvSpPr>
            <a:spLocks noGrp="1" noChangeArrowheads="1"/>
          </p:cNvSpPr>
          <p:nvPr>
            <p:ph type="title"/>
          </p:nvPr>
        </p:nvSpPr>
        <p:spPr/>
        <p:txBody>
          <a:bodyPr/>
          <a:lstStyle/>
          <a:p>
            <a:pPr algn="ctr" eaLnBrk="1" hangingPunct="1">
              <a:defRPr/>
            </a:pPr>
            <a:r>
              <a:rPr lang="en-US" sz="3200" dirty="0" smtClean="0">
                <a:latin typeface="Arial Unicode MS" pitchFamily="34" charset="-128"/>
              </a:rPr>
              <a:t>NOT EVERYONE IS HONEST</a:t>
            </a:r>
          </a:p>
        </p:txBody>
      </p:sp>
      <p:sp>
        <p:nvSpPr>
          <p:cNvPr id="1029" name="Text Box 3"/>
          <p:cNvSpPr>
            <a:spLocks noGrp="1" noChangeArrowheads="1"/>
          </p:cNvSpPr>
          <p:nvPr>
            <p:ph type="body" sz="half" idx="4294967295"/>
          </p:nvPr>
        </p:nvSpPr>
        <p:spPr>
          <a:xfrm>
            <a:off x="1238224" y="1357298"/>
            <a:ext cx="4127500" cy="4114800"/>
          </a:xfrm>
          <a:noFill/>
        </p:spPr>
        <p:txBody>
          <a:bodyPr/>
          <a:lstStyle/>
          <a:p>
            <a:pPr algn="ctr" eaLnBrk="1" hangingPunct="1">
              <a:lnSpc>
                <a:spcPct val="90000"/>
              </a:lnSpc>
              <a:spcBef>
                <a:spcPct val="50000"/>
              </a:spcBef>
              <a:buClrTx/>
              <a:buSzTx/>
              <a:buFontTx/>
              <a:buNone/>
            </a:pPr>
            <a:endParaRPr lang="en-US" sz="2400" dirty="0" smtClean="0">
              <a:solidFill>
                <a:schemeClr val="tx2"/>
              </a:solidFill>
              <a:latin typeface="AGaramond"/>
            </a:endParaRPr>
          </a:p>
          <a:p>
            <a:pPr eaLnBrk="1" hangingPunct="1">
              <a:lnSpc>
                <a:spcPct val="90000"/>
              </a:lnSpc>
              <a:spcBef>
                <a:spcPct val="50000"/>
              </a:spcBef>
              <a:buClrTx/>
              <a:buSzTx/>
              <a:buFontTx/>
              <a:buNone/>
            </a:pPr>
            <a:r>
              <a:rPr lang="en-US" sz="2400" dirty="0" err="1" smtClean="0">
                <a:solidFill>
                  <a:schemeClr val="tx2"/>
                </a:solidFill>
                <a:latin typeface="Arial Unicode MS" pitchFamily="34" charset="-128"/>
              </a:rPr>
              <a:t>Hasil</a:t>
            </a:r>
            <a:r>
              <a:rPr lang="en-US" sz="2400" dirty="0" smtClean="0">
                <a:solidFill>
                  <a:schemeClr val="tx2"/>
                </a:solidFill>
                <a:latin typeface="Arial Unicode MS" pitchFamily="34" charset="-128"/>
              </a:rPr>
              <a:t> </a:t>
            </a:r>
            <a:r>
              <a:rPr lang="en-US" sz="2400" dirty="0" err="1" smtClean="0">
                <a:solidFill>
                  <a:schemeClr val="tx2"/>
                </a:solidFill>
                <a:latin typeface="Arial Unicode MS" pitchFamily="34" charset="-128"/>
              </a:rPr>
              <a:t>riset</a:t>
            </a:r>
            <a:r>
              <a:rPr lang="en-US" sz="2400" dirty="0" smtClean="0">
                <a:solidFill>
                  <a:schemeClr val="tx2"/>
                </a:solidFill>
                <a:latin typeface="Arial Unicode MS" pitchFamily="34" charset="-128"/>
              </a:rPr>
              <a:t> </a:t>
            </a:r>
            <a:r>
              <a:rPr lang="en-US" sz="2400" dirty="0" err="1" smtClean="0">
                <a:solidFill>
                  <a:schemeClr val="tx2"/>
                </a:solidFill>
                <a:latin typeface="Arial Unicode MS" pitchFamily="34" charset="-128"/>
              </a:rPr>
              <a:t>di</a:t>
            </a:r>
            <a:r>
              <a:rPr lang="en-US" sz="2400" dirty="0" smtClean="0">
                <a:solidFill>
                  <a:schemeClr val="tx2"/>
                </a:solidFill>
                <a:latin typeface="Arial Unicode MS" pitchFamily="34" charset="-128"/>
              </a:rPr>
              <a:t> A.S. </a:t>
            </a:r>
            <a:r>
              <a:rPr lang="en-US" sz="2400" dirty="0" err="1" smtClean="0">
                <a:solidFill>
                  <a:schemeClr val="tx2"/>
                </a:solidFill>
                <a:latin typeface="Arial Unicode MS" pitchFamily="34" charset="-128"/>
              </a:rPr>
              <a:t>menunjukkan</a:t>
            </a:r>
            <a:r>
              <a:rPr lang="en-US" sz="2400" dirty="0" smtClean="0">
                <a:solidFill>
                  <a:schemeClr val="tx2"/>
                </a:solidFill>
                <a:latin typeface="Arial Unicode MS" pitchFamily="34" charset="-128"/>
              </a:rPr>
              <a:t> (Steve Albrecht, 2003, hal.35):</a:t>
            </a:r>
          </a:p>
          <a:p>
            <a:pPr eaLnBrk="1" hangingPunct="1">
              <a:lnSpc>
                <a:spcPct val="90000"/>
              </a:lnSpc>
              <a:spcBef>
                <a:spcPct val="50000"/>
              </a:spcBef>
              <a:buClrTx/>
              <a:buSzTx/>
              <a:buFontTx/>
              <a:buChar char="•"/>
            </a:pPr>
            <a:r>
              <a:rPr lang="en-US" sz="2400" dirty="0" smtClean="0">
                <a:solidFill>
                  <a:schemeClr val="tx2"/>
                </a:solidFill>
                <a:latin typeface="Arial Unicode MS" pitchFamily="34" charset="-128"/>
              </a:rPr>
              <a:t> 30% </a:t>
            </a:r>
            <a:r>
              <a:rPr lang="en-US" sz="2400" dirty="0" err="1" smtClean="0">
                <a:solidFill>
                  <a:schemeClr val="tx2"/>
                </a:solidFill>
                <a:latin typeface="Arial Unicode MS" pitchFamily="34" charset="-128"/>
              </a:rPr>
              <a:t>orang</a:t>
            </a:r>
            <a:r>
              <a:rPr lang="en-US" sz="2400" dirty="0" smtClean="0">
                <a:solidFill>
                  <a:schemeClr val="tx2"/>
                </a:solidFill>
                <a:latin typeface="Arial Unicode MS" pitchFamily="34" charset="-128"/>
              </a:rPr>
              <a:t> </a:t>
            </a:r>
            <a:r>
              <a:rPr lang="en-US" sz="2400" dirty="0" err="1" smtClean="0">
                <a:solidFill>
                  <a:schemeClr val="tx2"/>
                </a:solidFill>
                <a:latin typeface="Arial Unicode MS" pitchFamily="34" charset="-128"/>
              </a:rPr>
              <a:t>tidak</a:t>
            </a:r>
            <a:r>
              <a:rPr lang="en-US" sz="2400" dirty="0" smtClean="0">
                <a:solidFill>
                  <a:schemeClr val="tx2"/>
                </a:solidFill>
                <a:latin typeface="Arial Unicode MS" pitchFamily="34" charset="-128"/>
              </a:rPr>
              <a:t> </a:t>
            </a:r>
            <a:r>
              <a:rPr lang="en-US" sz="2400" dirty="0" err="1" smtClean="0">
                <a:solidFill>
                  <a:schemeClr val="tx2"/>
                </a:solidFill>
                <a:latin typeface="Arial Unicode MS" pitchFamily="34" charset="-128"/>
              </a:rPr>
              <a:t>jujur</a:t>
            </a:r>
            <a:r>
              <a:rPr lang="en-US" sz="2400" dirty="0" smtClean="0">
                <a:solidFill>
                  <a:schemeClr val="tx2"/>
                </a:solidFill>
                <a:latin typeface="Arial Unicode MS" pitchFamily="34" charset="-128"/>
              </a:rPr>
              <a:t> (dishonest)</a:t>
            </a:r>
          </a:p>
          <a:p>
            <a:pPr eaLnBrk="1" hangingPunct="1">
              <a:lnSpc>
                <a:spcPct val="90000"/>
              </a:lnSpc>
              <a:spcBef>
                <a:spcPct val="50000"/>
              </a:spcBef>
              <a:buClrTx/>
              <a:buSzTx/>
              <a:buFontTx/>
              <a:buChar char="•"/>
            </a:pPr>
            <a:r>
              <a:rPr lang="en-US" sz="2400" dirty="0" smtClean="0">
                <a:solidFill>
                  <a:schemeClr val="tx2"/>
                </a:solidFill>
                <a:latin typeface="Arial Unicode MS" pitchFamily="34" charset="-128"/>
              </a:rPr>
              <a:t>30% </a:t>
            </a:r>
            <a:r>
              <a:rPr lang="en-US" sz="2400" dirty="0" err="1" smtClean="0">
                <a:solidFill>
                  <a:schemeClr val="tx2"/>
                </a:solidFill>
                <a:latin typeface="Arial Unicode MS" pitchFamily="34" charset="-128"/>
              </a:rPr>
              <a:t>orang</a:t>
            </a:r>
            <a:r>
              <a:rPr lang="en-US" sz="2400" dirty="0" smtClean="0">
                <a:solidFill>
                  <a:schemeClr val="tx2"/>
                </a:solidFill>
                <a:latin typeface="Arial Unicode MS" pitchFamily="34" charset="-128"/>
              </a:rPr>
              <a:t> </a:t>
            </a:r>
            <a:r>
              <a:rPr lang="en-US" sz="2400" dirty="0" err="1" smtClean="0">
                <a:solidFill>
                  <a:schemeClr val="tx2"/>
                </a:solidFill>
                <a:latin typeface="Arial Unicode MS" pitchFamily="34" charset="-128"/>
              </a:rPr>
              <a:t>jujur</a:t>
            </a:r>
            <a:r>
              <a:rPr lang="en-US" sz="2400" dirty="0" smtClean="0">
                <a:solidFill>
                  <a:schemeClr val="tx2"/>
                </a:solidFill>
                <a:latin typeface="Arial Unicode MS" pitchFamily="34" charset="-128"/>
              </a:rPr>
              <a:t> </a:t>
            </a:r>
            <a:r>
              <a:rPr lang="en-US" sz="2400" dirty="0" err="1" smtClean="0">
                <a:solidFill>
                  <a:schemeClr val="tx2"/>
                </a:solidFill>
                <a:latin typeface="Arial Unicode MS" pitchFamily="34" charset="-128"/>
              </a:rPr>
              <a:t>sesuai</a:t>
            </a:r>
            <a:r>
              <a:rPr lang="en-US" sz="2400" dirty="0" smtClean="0">
                <a:solidFill>
                  <a:schemeClr val="tx2"/>
                </a:solidFill>
                <a:latin typeface="Arial Unicode MS" pitchFamily="34" charset="-128"/>
              </a:rPr>
              <a:t> </a:t>
            </a:r>
            <a:r>
              <a:rPr lang="en-US" sz="2400" dirty="0" err="1" smtClean="0">
                <a:solidFill>
                  <a:schemeClr val="tx2"/>
                </a:solidFill>
                <a:latin typeface="Arial Unicode MS" pitchFamily="34" charset="-128"/>
              </a:rPr>
              <a:t>situasi</a:t>
            </a:r>
            <a:r>
              <a:rPr lang="en-US" sz="2400" dirty="0" smtClean="0">
                <a:solidFill>
                  <a:schemeClr val="tx2"/>
                </a:solidFill>
                <a:latin typeface="Arial Unicode MS" pitchFamily="34" charset="-128"/>
              </a:rPr>
              <a:t> (</a:t>
            </a:r>
            <a:r>
              <a:rPr lang="en-US" sz="2400" dirty="0" err="1" smtClean="0">
                <a:solidFill>
                  <a:schemeClr val="tx2"/>
                </a:solidFill>
                <a:latin typeface="Arial Unicode MS" pitchFamily="34" charset="-128"/>
              </a:rPr>
              <a:t>situtionally</a:t>
            </a:r>
            <a:r>
              <a:rPr lang="en-US" sz="2400" dirty="0" smtClean="0">
                <a:solidFill>
                  <a:schemeClr val="tx2"/>
                </a:solidFill>
                <a:latin typeface="Arial Unicode MS" pitchFamily="34" charset="-128"/>
              </a:rPr>
              <a:t> honest)</a:t>
            </a:r>
          </a:p>
          <a:p>
            <a:pPr eaLnBrk="1" hangingPunct="1">
              <a:lnSpc>
                <a:spcPct val="90000"/>
              </a:lnSpc>
              <a:spcBef>
                <a:spcPct val="50000"/>
              </a:spcBef>
              <a:buClrTx/>
              <a:buSzTx/>
              <a:buFontTx/>
              <a:buChar char="•"/>
            </a:pPr>
            <a:r>
              <a:rPr lang="en-US" sz="2400" dirty="0" smtClean="0">
                <a:solidFill>
                  <a:schemeClr val="tx2"/>
                </a:solidFill>
                <a:latin typeface="Arial Unicode MS" pitchFamily="34" charset="-128"/>
              </a:rPr>
              <a:t>40% </a:t>
            </a:r>
            <a:r>
              <a:rPr lang="en-US" sz="2400" dirty="0" err="1" smtClean="0">
                <a:solidFill>
                  <a:schemeClr val="tx2"/>
                </a:solidFill>
                <a:latin typeface="Arial Unicode MS" pitchFamily="34" charset="-128"/>
              </a:rPr>
              <a:t>jujur</a:t>
            </a:r>
            <a:r>
              <a:rPr lang="en-US" sz="2400" dirty="0" smtClean="0">
                <a:solidFill>
                  <a:schemeClr val="tx2"/>
                </a:solidFill>
                <a:latin typeface="Arial Unicode MS" pitchFamily="34" charset="-128"/>
              </a:rPr>
              <a:t> (honest at all time)</a:t>
            </a:r>
          </a:p>
        </p:txBody>
      </p:sp>
      <p:graphicFrame>
        <p:nvGraphicFramePr>
          <p:cNvPr id="1026" name="Object 4"/>
          <p:cNvGraphicFramePr>
            <a:graphicFrameLocks noChangeAspect="1"/>
          </p:cNvGraphicFramePr>
          <p:nvPr>
            <p:ph type="chart" sz="half" idx="4294967295"/>
          </p:nvPr>
        </p:nvGraphicFramePr>
        <p:xfrm>
          <a:off x="5262565" y="1500174"/>
          <a:ext cx="5112940" cy="4038600"/>
        </p:xfrm>
        <a:graphic>
          <a:graphicData uri="http://schemas.openxmlformats.org/presentationml/2006/ole">
            <p:oleObj spid="_x0000_s662530" name="Chart" r:id="rId4" imgW="5372100" imgH="4019550" progId="MSGraph.Chart.8">
              <p:embed followColorScheme="full"/>
            </p:oleObj>
          </a:graphicData>
        </a:graphic>
      </p:graphicFrame>
    </p:spTree>
  </p:cSld>
  <p:clrMapOvr>
    <a:masterClrMapping/>
  </p:clrMapOvr>
  <p:transition/>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Slide Number Placeholder 3"/>
          <p:cNvSpPr txBox="1">
            <a:spLocks noGrp="1"/>
          </p:cNvSpPr>
          <p:nvPr/>
        </p:nvSpPr>
        <p:spPr bwMode="auto">
          <a:xfrm>
            <a:off x="495300" y="6245225"/>
            <a:ext cx="2311400" cy="476250"/>
          </a:xfrm>
          <a:prstGeom prst="rect">
            <a:avLst/>
          </a:prstGeom>
          <a:noFill/>
          <a:ln w="9525">
            <a:noFill/>
            <a:miter lim="800000"/>
            <a:headEnd/>
            <a:tailEnd/>
          </a:ln>
        </p:spPr>
        <p:txBody>
          <a:bodyPr wrap="none" lIns="92075" tIns="46038" rIns="92075" bIns="46038" anchor="ctr"/>
          <a:lstStyle/>
          <a:p>
            <a:pPr algn="l" eaLnBrk="0" hangingPunct="0"/>
            <a:fld id="{AE9DE6CE-3441-499D-B0D8-B5D9C870EA71}" type="slidenum">
              <a:rPr lang="en-US" sz="1400">
                <a:solidFill>
                  <a:schemeClr val="accent1"/>
                </a:solidFill>
                <a:cs typeface="Arial" pitchFamily="34" charset="0"/>
              </a:rPr>
              <a:pPr algn="l" eaLnBrk="0" hangingPunct="0"/>
              <a:t>98</a:t>
            </a:fld>
            <a:endParaRPr lang="en-US" sz="1400">
              <a:solidFill>
                <a:schemeClr val="accent1"/>
              </a:solidFill>
              <a:cs typeface="Arial" pitchFamily="34" charset="0"/>
            </a:endParaRPr>
          </a:p>
        </p:txBody>
      </p:sp>
      <p:sp>
        <p:nvSpPr>
          <p:cNvPr id="202755" name="Text Box 2"/>
          <p:cNvSpPr txBox="1">
            <a:spLocks noChangeArrowheads="1"/>
          </p:cNvSpPr>
          <p:nvPr/>
        </p:nvSpPr>
        <p:spPr bwMode="auto">
          <a:xfrm>
            <a:off x="1155700" y="838201"/>
            <a:ext cx="6521450" cy="5508625"/>
          </a:xfrm>
          <a:prstGeom prst="rect">
            <a:avLst/>
          </a:prstGeom>
          <a:noFill/>
          <a:ln w="9525">
            <a:noFill/>
            <a:miter lim="800000"/>
            <a:headEnd/>
            <a:tailEnd/>
          </a:ln>
        </p:spPr>
        <p:txBody>
          <a:bodyPr>
            <a:spAutoFit/>
          </a:bodyPr>
          <a:lstStyle/>
          <a:p>
            <a:pPr marL="457200" indent="-457200">
              <a:spcBef>
                <a:spcPct val="50000"/>
              </a:spcBef>
            </a:pPr>
            <a:r>
              <a:rPr lang="en-US" b="1" dirty="0">
                <a:solidFill>
                  <a:schemeClr val="tx2"/>
                </a:solidFill>
                <a:latin typeface="Arial Unicode MS" pitchFamily="34" charset="-128"/>
              </a:rPr>
              <a:t>ELEMEN-ELEMEN MENGAPA </a:t>
            </a:r>
            <a:r>
              <a:rPr lang="en-US" b="1" u="sng" dirty="0">
                <a:solidFill>
                  <a:schemeClr val="tx2"/>
                </a:solidFill>
                <a:latin typeface="Arial Unicode MS" pitchFamily="34" charset="-128"/>
              </a:rPr>
              <a:t>SESEORANG</a:t>
            </a:r>
            <a:r>
              <a:rPr lang="en-US" b="1" dirty="0">
                <a:solidFill>
                  <a:schemeClr val="tx2"/>
                </a:solidFill>
                <a:latin typeface="Arial Unicode MS" pitchFamily="34" charset="-128"/>
              </a:rPr>
              <a:t> MELAKUKAN FRAUD</a:t>
            </a:r>
          </a:p>
          <a:p>
            <a:pPr marL="457200" indent="-457200">
              <a:spcBef>
                <a:spcPct val="50000"/>
              </a:spcBef>
            </a:pPr>
            <a:r>
              <a:rPr lang="en-US" b="1" i="1" dirty="0">
                <a:solidFill>
                  <a:schemeClr val="tx2"/>
                </a:solidFill>
                <a:latin typeface="Arial Unicode MS" pitchFamily="34" charset="-128"/>
              </a:rPr>
              <a:t>(THE FRAUD TRIANGEL)</a:t>
            </a:r>
          </a:p>
          <a:p>
            <a:pPr marL="457200" indent="-457200">
              <a:spcBef>
                <a:spcPct val="50000"/>
              </a:spcBef>
            </a:pPr>
            <a:endParaRPr lang="en-US" b="1" i="1" dirty="0">
              <a:solidFill>
                <a:schemeClr val="tx2"/>
              </a:solidFill>
              <a:latin typeface="Arial Unicode MS" pitchFamily="34" charset="-128"/>
            </a:endParaRPr>
          </a:p>
          <a:p>
            <a:pPr marL="457200" indent="-457200" algn="l">
              <a:spcBef>
                <a:spcPct val="50000"/>
              </a:spcBef>
              <a:buFontTx/>
              <a:buAutoNum type="arabicPeriod"/>
            </a:pPr>
            <a:r>
              <a:rPr lang="en-US" dirty="0" err="1">
                <a:solidFill>
                  <a:schemeClr val="tx2"/>
                </a:solidFill>
                <a:latin typeface="Arial Unicode MS" pitchFamily="34" charset="-128"/>
              </a:rPr>
              <a:t>Adanya</a:t>
            </a:r>
            <a:r>
              <a:rPr lang="en-US" dirty="0">
                <a:solidFill>
                  <a:schemeClr val="tx2"/>
                </a:solidFill>
                <a:latin typeface="Arial Unicode MS" pitchFamily="34" charset="-128"/>
              </a:rPr>
              <a:t> </a:t>
            </a:r>
            <a:r>
              <a:rPr lang="en-US" dirty="0" err="1">
                <a:solidFill>
                  <a:schemeClr val="tx2"/>
                </a:solidFill>
                <a:latin typeface="Arial Unicode MS" pitchFamily="34" charset="-128"/>
              </a:rPr>
              <a:t>tekanan</a:t>
            </a:r>
            <a:r>
              <a:rPr lang="en-US" dirty="0">
                <a:solidFill>
                  <a:schemeClr val="tx2"/>
                </a:solidFill>
                <a:latin typeface="Arial Unicode MS" pitchFamily="34" charset="-128"/>
              </a:rPr>
              <a:t> </a:t>
            </a:r>
          </a:p>
          <a:p>
            <a:pPr marL="457200" indent="-457200" algn="l">
              <a:spcBef>
                <a:spcPct val="50000"/>
              </a:spcBef>
              <a:buFontTx/>
              <a:buAutoNum type="arabicPeriod"/>
            </a:pPr>
            <a:r>
              <a:rPr lang="en-US" dirty="0" err="1">
                <a:solidFill>
                  <a:schemeClr val="tx2"/>
                </a:solidFill>
                <a:latin typeface="Arial Unicode MS" pitchFamily="34" charset="-128"/>
              </a:rPr>
              <a:t>Adanya</a:t>
            </a:r>
            <a:r>
              <a:rPr lang="en-US" dirty="0">
                <a:solidFill>
                  <a:schemeClr val="tx2"/>
                </a:solidFill>
                <a:latin typeface="Arial Unicode MS" pitchFamily="34" charset="-128"/>
              </a:rPr>
              <a:t> </a:t>
            </a:r>
            <a:r>
              <a:rPr lang="en-US" dirty="0" err="1">
                <a:solidFill>
                  <a:schemeClr val="tx2"/>
                </a:solidFill>
                <a:latin typeface="Arial Unicode MS" pitchFamily="34" charset="-128"/>
              </a:rPr>
              <a:t>kesempatan</a:t>
            </a:r>
            <a:r>
              <a:rPr lang="en-US" dirty="0">
                <a:solidFill>
                  <a:schemeClr val="tx2"/>
                </a:solidFill>
                <a:latin typeface="Arial Unicode MS" pitchFamily="34" charset="-128"/>
              </a:rPr>
              <a:t> </a:t>
            </a:r>
          </a:p>
          <a:p>
            <a:pPr marL="457200" indent="-457200" algn="l">
              <a:spcBef>
                <a:spcPct val="50000"/>
              </a:spcBef>
            </a:pPr>
            <a:r>
              <a:rPr lang="en-US" dirty="0">
                <a:solidFill>
                  <a:schemeClr val="tx2"/>
                </a:solidFill>
                <a:latin typeface="Arial Unicode MS" pitchFamily="34" charset="-128"/>
              </a:rPr>
              <a:t>     (</a:t>
            </a:r>
            <a:r>
              <a:rPr lang="en-US" dirty="0" err="1">
                <a:solidFill>
                  <a:schemeClr val="tx2"/>
                </a:solidFill>
                <a:latin typeface="Arial Unicode MS" pitchFamily="34" charset="-128"/>
              </a:rPr>
              <a:t>peluang</a:t>
            </a:r>
            <a:r>
              <a:rPr lang="en-US" dirty="0">
                <a:solidFill>
                  <a:schemeClr val="tx2"/>
                </a:solidFill>
                <a:latin typeface="Arial Unicode MS" pitchFamily="34" charset="-128"/>
              </a:rPr>
              <a:t>)</a:t>
            </a:r>
          </a:p>
          <a:p>
            <a:pPr marL="457200" indent="-457200" algn="l">
              <a:spcBef>
                <a:spcPct val="50000"/>
              </a:spcBef>
            </a:pPr>
            <a:r>
              <a:rPr lang="en-US" dirty="0">
                <a:solidFill>
                  <a:schemeClr val="tx2"/>
                </a:solidFill>
                <a:latin typeface="Arial Unicode MS" pitchFamily="34" charset="-128"/>
              </a:rPr>
              <a:t>3.  </a:t>
            </a:r>
            <a:r>
              <a:rPr lang="en-US" dirty="0" err="1">
                <a:solidFill>
                  <a:schemeClr val="tx2"/>
                </a:solidFill>
                <a:latin typeface="Arial Unicode MS" pitchFamily="34" charset="-128"/>
              </a:rPr>
              <a:t>Pembenaran</a:t>
            </a:r>
            <a:endParaRPr lang="en-US" dirty="0">
              <a:solidFill>
                <a:schemeClr val="tx2"/>
              </a:solidFill>
              <a:latin typeface="Arial Unicode MS" pitchFamily="34" charset="-128"/>
            </a:endParaRPr>
          </a:p>
          <a:p>
            <a:pPr marL="457200" indent="-457200" algn="l">
              <a:spcBef>
                <a:spcPct val="50000"/>
              </a:spcBef>
            </a:pPr>
            <a:endParaRPr lang="en-US" sz="2800" dirty="0">
              <a:solidFill>
                <a:schemeClr val="tx2"/>
              </a:solidFill>
              <a:latin typeface="Arial Unicode MS" pitchFamily="34" charset="-128"/>
            </a:endParaRPr>
          </a:p>
          <a:p>
            <a:pPr marL="457200" indent="-457200" algn="l">
              <a:spcBef>
                <a:spcPct val="50000"/>
              </a:spcBef>
            </a:pPr>
            <a:r>
              <a:rPr lang="en-US" sz="2800" dirty="0" err="1">
                <a:solidFill>
                  <a:schemeClr val="tx2"/>
                </a:solidFill>
                <a:latin typeface="Arial Unicode MS" pitchFamily="34" charset="-128"/>
              </a:rPr>
              <a:t>Ketiga</a:t>
            </a:r>
            <a:r>
              <a:rPr lang="en-US" sz="2800" dirty="0">
                <a:solidFill>
                  <a:schemeClr val="tx2"/>
                </a:solidFill>
                <a:latin typeface="Arial Unicode MS" pitchFamily="34" charset="-128"/>
              </a:rPr>
              <a:t> </a:t>
            </a:r>
            <a:r>
              <a:rPr lang="en-US" sz="2800" dirty="0" err="1">
                <a:solidFill>
                  <a:schemeClr val="tx2"/>
                </a:solidFill>
                <a:latin typeface="Arial Unicode MS" pitchFamily="34" charset="-128"/>
              </a:rPr>
              <a:t>elemen</a:t>
            </a:r>
            <a:r>
              <a:rPr lang="en-US" sz="2800" dirty="0">
                <a:solidFill>
                  <a:schemeClr val="tx2"/>
                </a:solidFill>
                <a:latin typeface="Arial Unicode MS" pitchFamily="34" charset="-128"/>
              </a:rPr>
              <a:t> </a:t>
            </a:r>
            <a:r>
              <a:rPr lang="en-US" sz="2800" dirty="0" err="1">
                <a:solidFill>
                  <a:schemeClr val="tx2"/>
                </a:solidFill>
                <a:latin typeface="Arial Unicode MS" pitchFamily="34" charset="-128"/>
              </a:rPr>
              <a:t>tersebut</a:t>
            </a:r>
            <a:r>
              <a:rPr lang="en-US" sz="2800" dirty="0">
                <a:solidFill>
                  <a:schemeClr val="tx2"/>
                </a:solidFill>
                <a:latin typeface="Arial Unicode MS" pitchFamily="34" charset="-128"/>
              </a:rPr>
              <a:t> </a:t>
            </a:r>
            <a:r>
              <a:rPr lang="en-US" sz="2800" dirty="0" err="1">
                <a:solidFill>
                  <a:schemeClr val="tx2"/>
                </a:solidFill>
                <a:latin typeface="Arial Unicode MS" pitchFamily="34" charset="-128"/>
              </a:rPr>
              <a:t>saling</a:t>
            </a:r>
            <a:r>
              <a:rPr lang="en-US" sz="2800" dirty="0">
                <a:solidFill>
                  <a:schemeClr val="tx2"/>
                </a:solidFill>
                <a:latin typeface="Arial Unicode MS" pitchFamily="34" charset="-128"/>
              </a:rPr>
              <a:t> </a:t>
            </a:r>
            <a:r>
              <a:rPr lang="en-US" sz="2800" dirty="0" err="1">
                <a:solidFill>
                  <a:schemeClr val="tx2"/>
                </a:solidFill>
                <a:latin typeface="Arial Unicode MS" pitchFamily="34" charset="-128"/>
              </a:rPr>
              <a:t>berinteraksi</a:t>
            </a:r>
            <a:endParaRPr lang="en-US" sz="2800" dirty="0">
              <a:solidFill>
                <a:schemeClr val="tx2"/>
              </a:solidFill>
              <a:latin typeface="Arial Unicode MS" pitchFamily="34" charset="-128"/>
            </a:endParaRPr>
          </a:p>
          <a:p>
            <a:pPr marL="457200" indent="-457200" algn="l">
              <a:spcBef>
                <a:spcPct val="50000"/>
              </a:spcBef>
            </a:pPr>
            <a:endParaRPr lang="en-US" sz="2800" dirty="0">
              <a:solidFill>
                <a:schemeClr val="tx2"/>
              </a:solidFill>
              <a:latin typeface="AGaramond"/>
            </a:endParaRPr>
          </a:p>
        </p:txBody>
      </p:sp>
      <p:sp>
        <p:nvSpPr>
          <p:cNvPr id="31747" name="AutoShape 3"/>
          <p:cNvSpPr>
            <a:spLocks noChangeArrowheads="1"/>
          </p:cNvSpPr>
          <p:nvPr/>
        </p:nvSpPr>
        <p:spPr bwMode="auto">
          <a:xfrm>
            <a:off x="5881694" y="1500174"/>
            <a:ext cx="3879850" cy="2819400"/>
          </a:xfrm>
          <a:prstGeom prst="triangle">
            <a:avLst>
              <a:gd name="adj" fmla="val 50000"/>
            </a:avLst>
          </a:prstGeom>
          <a:solidFill>
            <a:schemeClr val="accent1"/>
          </a:solidFill>
          <a:ln w="9525">
            <a:solidFill>
              <a:schemeClr val="tx1"/>
            </a:solidFill>
            <a:miter lim="800000"/>
            <a:headEnd/>
            <a:tailEnd/>
          </a:ln>
          <a:effectLst>
            <a:outerShdw dist="148106" dir="1857825" algn="ctr" rotWithShape="0">
              <a:schemeClr val="bg2"/>
            </a:outerShdw>
          </a:effectLst>
        </p:spPr>
        <p:txBody>
          <a:bodyPr wrap="none" anchor="ctr"/>
          <a:lstStyle/>
          <a:p>
            <a:pPr algn="l">
              <a:defRPr/>
            </a:pPr>
            <a:endParaRPr lang="en-US">
              <a:latin typeface="Arial" charset="0"/>
              <a:cs typeface="Arial" charset="0"/>
            </a:endParaRPr>
          </a:p>
        </p:txBody>
      </p:sp>
      <p:sp>
        <p:nvSpPr>
          <p:cNvPr id="202757" name="Freeform 4"/>
          <p:cNvSpPr>
            <a:spLocks/>
          </p:cNvSpPr>
          <p:nvPr/>
        </p:nvSpPr>
        <p:spPr bwMode="auto">
          <a:xfrm>
            <a:off x="5881694" y="1500174"/>
            <a:ext cx="1892300" cy="2819400"/>
          </a:xfrm>
          <a:custGeom>
            <a:avLst/>
            <a:gdLst>
              <a:gd name="T0" fmla="*/ 2147483647 w 936"/>
              <a:gd name="T1" fmla="*/ 0 h 1812"/>
              <a:gd name="T2" fmla="*/ 0 w 936"/>
              <a:gd name="T3" fmla="*/ 2147483647 h 1812"/>
              <a:gd name="T4" fmla="*/ 2147483647 w 936"/>
              <a:gd name="T5" fmla="*/ 2147483647 h 1812"/>
              <a:gd name="T6" fmla="*/ 2147483647 w 936"/>
              <a:gd name="T7" fmla="*/ 0 h 1812"/>
              <a:gd name="T8" fmla="*/ 0 60000 65536"/>
              <a:gd name="T9" fmla="*/ 0 60000 65536"/>
              <a:gd name="T10" fmla="*/ 0 60000 65536"/>
              <a:gd name="T11" fmla="*/ 0 60000 65536"/>
              <a:gd name="T12" fmla="*/ 0 w 936"/>
              <a:gd name="T13" fmla="*/ 0 h 1812"/>
              <a:gd name="T14" fmla="*/ 936 w 936"/>
              <a:gd name="T15" fmla="*/ 1812 h 1812"/>
            </a:gdLst>
            <a:ahLst/>
            <a:cxnLst>
              <a:cxn ang="T8">
                <a:pos x="T0" y="T1"/>
              </a:cxn>
              <a:cxn ang="T9">
                <a:pos x="T2" y="T3"/>
              </a:cxn>
              <a:cxn ang="T10">
                <a:pos x="T4" y="T5"/>
              </a:cxn>
              <a:cxn ang="T11">
                <a:pos x="T6" y="T7"/>
              </a:cxn>
            </a:cxnLst>
            <a:rect l="T12" t="T13" r="T14" b="T15"/>
            <a:pathLst>
              <a:path w="936" h="1812">
                <a:moveTo>
                  <a:pt x="936" y="0"/>
                </a:moveTo>
                <a:lnTo>
                  <a:pt x="0" y="1812"/>
                </a:lnTo>
                <a:lnTo>
                  <a:pt x="936" y="1320"/>
                </a:lnTo>
                <a:lnTo>
                  <a:pt x="936" y="0"/>
                </a:lnTo>
                <a:close/>
              </a:path>
            </a:pathLst>
          </a:custGeom>
          <a:solidFill>
            <a:schemeClr val="bg2"/>
          </a:solidFill>
          <a:ln w="9525">
            <a:solidFill>
              <a:schemeClr val="tx1"/>
            </a:solidFill>
            <a:round/>
            <a:headEnd/>
            <a:tailEnd/>
          </a:ln>
        </p:spPr>
        <p:txBody>
          <a:bodyPr/>
          <a:lstStyle/>
          <a:p>
            <a:pPr algn="l"/>
            <a:endParaRPr lang="en-US"/>
          </a:p>
        </p:txBody>
      </p:sp>
      <p:sp>
        <p:nvSpPr>
          <p:cNvPr id="202758" name="Rectangle 5"/>
          <p:cNvSpPr>
            <a:spLocks noChangeArrowheads="1"/>
          </p:cNvSpPr>
          <p:nvPr/>
        </p:nvSpPr>
        <p:spPr bwMode="auto">
          <a:xfrm rot="-3471453">
            <a:off x="5821682" y="2700296"/>
            <a:ext cx="2364750" cy="400110"/>
          </a:xfrm>
          <a:prstGeom prst="rect">
            <a:avLst/>
          </a:prstGeom>
          <a:noFill/>
          <a:ln w="9525">
            <a:noFill/>
            <a:miter lim="800000"/>
            <a:headEnd/>
            <a:tailEnd/>
          </a:ln>
        </p:spPr>
        <p:txBody>
          <a:bodyPr wrap="none">
            <a:spAutoFit/>
          </a:bodyPr>
          <a:lstStyle/>
          <a:p>
            <a:pPr algn="l"/>
            <a:r>
              <a:rPr lang="en-US" sz="2000">
                <a:latin typeface="Arial Unicode MS" pitchFamily="34" charset="-128"/>
              </a:rPr>
              <a:t>perceived pressure</a:t>
            </a:r>
          </a:p>
        </p:txBody>
      </p:sp>
      <p:sp>
        <p:nvSpPr>
          <p:cNvPr id="202759" name="Rectangle 6"/>
          <p:cNvSpPr>
            <a:spLocks noChangeArrowheads="1"/>
          </p:cNvSpPr>
          <p:nvPr/>
        </p:nvSpPr>
        <p:spPr bwMode="auto">
          <a:xfrm rot="34980">
            <a:off x="6555384" y="3841707"/>
            <a:ext cx="2635658" cy="400110"/>
          </a:xfrm>
          <a:prstGeom prst="rect">
            <a:avLst/>
          </a:prstGeom>
          <a:noFill/>
          <a:ln w="9525">
            <a:noFill/>
            <a:miter lim="800000"/>
            <a:headEnd/>
            <a:tailEnd/>
          </a:ln>
        </p:spPr>
        <p:txBody>
          <a:bodyPr wrap="none">
            <a:spAutoFit/>
          </a:bodyPr>
          <a:lstStyle/>
          <a:p>
            <a:pPr algn="l"/>
            <a:r>
              <a:rPr lang="en-US" sz="2000">
                <a:solidFill>
                  <a:schemeClr val="tx2"/>
                </a:solidFill>
                <a:latin typeface="AGaramond"/>
              </a:rPr>
              <a:t>perceived opportunity</a:t>
            </a:r>
          </a:p>
        </p:txBody>
      </p:sp>
      <p:sp>
        <p:nvSpPr>
          <p:cNvPr id="202760" name="Rectangle 7"/>
          <p:cNvSpPr>
            <a:spLocks noChangeArrowheads="1"/>
          </p:cNvSpPr>
          <p:nvPr/>
        </p:nvSpPr>
        <p:spPr bwMode="auto">
          <a:xfrm rot="3506127">
            <a:off x="7688291" y="2709821"/>
            <a:ext cx="1768433" cy="400110"/>
          </a:xfrm>
          <a:prstGeom prst="rect">
            <a:avLst/>
          </a:prstGeom>
          <a:noFill/>
          <a:ln w="9525">
            <a:noFill/>
            <a:miter lim="800000"/>
            <a:headEnd/>
            <a:tailEnd/>
          </a:ln>
        </p:spPr>
        <p:txBody>
          <a:bodyPr wrap="none">
            <a:spAutoFit/>
          </a:bodyPr>
          <a:lstStyle/>
          <a:p>
            <a:pPr algn="l"/>
            <a:r>
              <a:rPr lang="en-US" sz="2000" dirty="0">
                <a:latin typeface="Arial Unicode MS" pitchFamily="34" charset="-128"/>
              </a:rPr>
              <a:t>rationalization</a:t>
            </a:r>
          </a:p>
        </p:txBody>
      </p:sp>
      <p:grpSp>
        <p:nvGrpSpPr>
          <p:cNvPr id="2" name="Group 8"/>
          <p:cNvGrpSpPr>
            <a:grpSpLocks/>
          </p:cNvGrpSpPr>
          <p:nvPr/>
        </p:nvGrpSpPr>
        <p:grpSpPr bwMode="auto">
          <a:xfrm>
            <a:off x="5881694" y="3557574"/>
            <a:ext cx="3840163" cy="762000"/>
            <a:chOff x="2722" y="2784"/>
            <a:chExt cx="2233" cy="480"/>
          </a:xfrm>
        </p:grpSpPr>
        <p:sp>
          <p:nvSpPr>
            <p:cNvPr id="202762" name="Freeform 9"/>
            <p:cNvSpPr>
              <a:spLocks/>
            </p:cNvSpPr>
            <p:nvPr/>
          </p:nvSpPr>
          <p:spPr bwMode="auto">
            <a:xfrm>
              <a:off x="2722" y="2784"/>
              <a:ext cx="2233" cy="480"/>
            </a:xfrm>
            <a:custGeom>
              <a:avLst/>
              <a:gdLst>
                <a:gd name="T0" fmla="*/ 0 w 2233"/>
                <a:gd name="T1" fmla="*/ 480 h 480"/>
                <a:gd name="T2" fmla="*/ 1104 w 2233"/>
                <a:gd name="T3" fmla="*/ 0 h 480"/>
                <a:gd name="T4" fmla="*/ 2233 w 2233"/>
                <a:gd name="T5" fmla="*/ 466 h 480"/>
                <a:gd name="T6" fmla="*/ 0 w 2233"/>
                <a:gd name="T7" fmla="*/ 480 h 480"/>
                <a:gd name="T8" fmla="*/ 0 60000 65536"/>
                <a:gd name="T9" fmla="*/ 0 60000 65536"/>
                <a:gd name="T10" fmla="*/ 0 60000 65536"/>
                <a:gd name="T11" fmla="*/ 0 60000 65536"/>
                <a:gd name="T12" fmla="*/ 0 w 2233"/>
                <a:gd name="T13" fmla="*/ 0 h 480"/>
                <a:gd name="T14" fmla="*/ 2233 w 2233"/>
                <a:gd name="T15" fmla="*/ 480 h 480"/>
              </a:gdLst>
              <a:ahLst/>
              <a:cxnLst>
                <a:cxn ang="T8">
                  <a:pos x="T0" y="T1"/>
                </a:cxn>
                <a:cxn ang="T9">
                  <a:pos x="T2" y="T3"/>
                </a:cxn>
                <a:cxn ang="T10">
                  <a:pos x="T4" y="T5"/>
                </a:cxn>
                <a:cxn ang="T11">
                  <a:pos x="T6" y="T7"/>
                </a:cxn>
              </a:cxnLst>
              <a:rect l="T12" t="T13" r="T14" b="T15"/>
              <a:pathLst>
                <a:path w="2233" h="480">
                  <a:moveTo>
                    <a:pt x="0" y="480"/>
                  </a:moveTo>
                  <a:lnTo>
                    <a:pt x="1104" y="0"/>
                  </a:lnTo>
                  <a:lnTo>
                    <a:pt x="2233" y="466"/>
                  </a:lnTo>
                  <a:lnTo>
                    <a:pt x="0" y="480"/>
                  </a:lnTo>
                  <a:close/>
                </a:path>
              </a:pathLst>
            </a:custGeom>
            <a:solidFill>
              <a:schemeClr val="folHlink"/>
            </a:solidFill>
            <a:ln w="9525">
              <a:solidFill>
                <a:schemeClr val="tx1"/>
              </a:solidFill>
              <a:miter lim="800000"/>
              <a:headEnd/>
              <a:tailEnd/>
            </a:ln>
          </p:spPr>
          <p:txBody>
            <a:bodyPr wrap="none"/>
            <a:lstStyle/>
            <a:p>
              <a:pPr algn="l"/>
              <a:endParaRPr lang="en-US"/>
            </a:p>
          </p:txBody>
        </p:sp>
        <p:sp>
          <p:nvSpPr>
            <p:cNvPr id="202763" name="Rectangle 10"/>
            <p:cNvSpPr>
              <a:spLocks noChangeArrowheads="1"/>
            </p:cNvSpPr>
            <p:nvPr/>
          </p:nvSpPr>
          <p:spPr bwMode="auto">
            <a:xfrm>
              <a:off x="3067" y="2998"/>
              <a:ext cx="1533" cy="252"/>
            </a:xfrm>
            <a:prstGeom prst="rect">
              <a:avLst/>
            </a:prstGeom>
            <a:noFill/>
            <a:ln w="9525">
              <a:noFill/>
              <a:miter lim="800000"/>
              <a:headEnd/>
              <a:tailEnd/>
            </a:ln>
          </p:spPr>
          <p:txBody>
            <a:bodyPr wrap="none">
              <a:spAutoFit/>
            </a:bodyPr>
            <a:lstStyle/>
            <a:p>
              <a:r>
                <a:rPr lang="en-US" sz="2000">
                  <a:latin typeface="Arial Unicode MS" pitchFamily="34" charset="-128"/>
                </a:rPr>
                <a:t>perceived opportunity</a:t>
              </a:r>
            </a:p>
          </p:txBody>
        </p:sp>
      </p:grpSp>
      <p:sp>
        <p:nvSpPr>
          <p:cNvPr id="12" name="Title 11"/>
          <p:cNvSpPr>
            <a:spLocks noGrp="1"/>
          </p:cNvSpPr>
          <p:nvPr>
            <p:ph type="title"/>
          </p:nvPr>
        </p:nvSpPr>
        <p:spPr/>
        <p:txBody>
          <a:bodyPr/>
          <a:lstStyle/>
          <a:p>
            <a:endParaRPr lang="en-US"/>
          </a:p>
        </p:txBody>
      </p:sp>
    </p:spTree>
  </p:cSld>
  <p:clrMapOvr>
    <a:masterClrMapping/>
  </p:clrMapOvr>
  <p:transition/>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idx="4294967295"/>
          </p:nvPr>
        </p:nvSpPr>
        <p:spPr>
          <a:xfrm>
            <a:off x="495300" y="457200"/>
            <a:ext cx="8915400" cy="1066800"/>
          </a:xfrm>
        </p:spPr>
        <p:txBody>
          <a:bodyPr/>
          <a:lstStyle/>
          <a:p>
            <a:pPr eaLnBrk="1" hangingPunct="1"/>
            <a:r>
              <a:rPr lang="en-US" sz="4000" smtClean="0"/>
              <a:t>Dasar terjadinya Fraud</a:t>
            </a:r>
            <a:endParaRPr lang="en-US" sz="2000" smtClean="0"/>
          </a:p>
        </p:txBody>
      </p:sp>
      <p:sp>
        <p:nvSpPr>
          <p:cNvPr id="49155" name="Rectangle 3"/>
          <p:cNvSpPr>
            <a:spLocks noGrp="1" noChangeArrowheads="1"/>
          </p:cNvSpPr>
          <p:nvPr>
            <p:ph type="body" idx="4294967295"/>
          </p:nvPr>
        </p:nvSpPr>
        <p:spPr>
          <a:xfrm>
            <a:off x="247650" y="1371600"/>
            <a:ext cx="9328150" cy="5105400"/>
          </a:xfrm>
        </p:spPr>
        <p:txBody>
          <a:bodyPr/>
          <a:lstStyle/>
          <a:p>
            <a:pPr eaLnBrk="1" hangingPunct="1">
              <a:buClr>
                <a:schemeClr val="tx1"/>
              </a:buClr>
              <a:buSzTx/>
            </a:pPr>
            <a:r>
              <a:rPr lang="en-US" b="1" smtClean="0"/>
              <a:t>FRAUD :</a:t>
            </a:r>
          </a:p>
          <a:p>
            <a:pPr lvl="1" eaLnBrk="1" hangingPunct="1">
              <a:buClr>
                <a:schemeClr val="tx1"/>
              </a:buClr>
              <a:buSzTx/>
            </a:pPr>
            <a:r>
              <a:rPr lang="en-US" sz="2400" smtClean="0"/>
              <a:t>Dapat diartikan kecurangan secara luas di segala level kendali</a:t>
            </a:r>
          </a:p>
          <a:p>
            <a:pPr lvl="1" eaLnBrk="1" hangingPunct="1">
              <a:buClr>
                <a:schemeClr val="tx1"/>
              </a:buClr>
              <a:buSzTx/>
            </a:pPr>
            <a:r>
              <a:rPr lang="en-US" sz="2400" smtClean="0"/>
              <a:t>Melibatkan satu atau lebih karyawan</a:t>
            </a:r>
          </a:p>
          <a:p>
            <a:pPr lvl="1" eaLnBrk="1" hangingPunct="1">
              <a:buClr>
                <a:schemeClr val="tx1"/>
              </a:buClr>
              <a:buSzTx/>
            </a:pPr>
            <a:r>
              <a:rPr lang="en-US" sz="2400" smtClean="0"/>
              <a:t>Dapat bersifat antar departemen</a:t>
            </a:r>
          </a:p>
          <a:p>
            <a:pPr lvl="1" eaLnBrk="1" hangingPunct="1">
              <a:buClr>
                <a:schemeClr val="tx1"/>
              </a:buClr>
              <a:buSzTx/>
            </a:pPr>
            <a:r>
              <a:rPr lang="en-US" sz="2400" smtClean="0"/>
              <a:t>Umumnya Fraud terjadi karena 3 hal (fraud triangle) </a:t>
            </a:r>
            <a:r>
              <a:rPr lang="en-US" sz="1400" smtClean="0"/>
              <a:t>(AICPA : “Auditors : Responsibility for Fraud Detection”)</a:t>
            </a:r>
            <a:r>
              <a:rPr lang="en-US" sz="2400" smtClean="0"/>
              <a:t> :</a:t>
            </a:r>
          </a:p>
          <a:p>
            <a:pPr lvl="2" eaLnBrk="1" hangingPunct="1">
              <a:buClr>
                <a:schemeClr val="tx1"/>
              </a:buClr>
              <a:buSzTx/>
            </a:pPr>
            <a:r>
              <a:rPr lang="en-US" smtClean="0"/>
              <a:t>Insentif atau tekanan</a:t>
            </a:r>
          </a:p>
          <a:p>
            <a:pPr lvl="3" eaLnBrk="1" hangingPunct="1">
              <a:buClr>
                <a:schemeClr val="tx1"/>
              </a:buClr>
              <a:buSzTx/>
            </a:pPr>
            <a:r>
              <a:rPr lang="en-US" sz="2400" smtClean="0"/>
              <a:t>Adanya pendapatan lebih</a:t>
            </a:r>
          </a:p>
          <a:p>
            <a:pPr lvl="3" eaLnBrk="1" hangingPunct="1">
              <a:buClr>
                <a:schemeClr val="tx1"/>
              </a:buClr>
              <a:buSzTx/>
            </a:pPr>
            <a:r>
              <a:rPr lang="en-US" sz="2400" smtClean="0"/>
              <a:t>Tekanan masalah pribadi</a:t>
            </a:r>
          </a:p>
          <a:p>
            <a:pPr lvl="3" eaLnBrk="1" hangingPunct="1">
              <a:buClr>
                <a:schemeClr val="tx1"/>
              </a:buClr>
              <a:buSzTx/>
            </a:pPr>
            <a:r>
              <a:rPr lang="en-US" sz="2400" smtClean="0"/>
              <a:t>Tekanan dari pihak yang lebih berkuasa</a:t>
            </a:r>
          </a:p>
          <a:p>
            <a:pPr lvl="2" eaLnBrk="1" hangingPunct="1">
              <a:buClr>
                <a:schemeClr val="tx1"/>
              </a:buClr>
              <a:buSzTx/>
            </a:pPr>
            <a:endParaRPr lang="en-US" smtClean="0"/>
          </a:p>
        </p:txBody>
      </p:sp>
      <p:pic>
        <p:nvPicPr>
          <p:cNvPr id="49156" name="Picture 4" descr="g0126203"/>
          <p:cNvPicPr>
            <a:picLocks noChangeAspect="1" noChangeArrowheads="1"/>
          </p:cNvPicPr>
          <p:nvPr/>
        </p:nvPicPr>
        <p:blipFill>
          <a:blip r:embed="rId3"/>
          <a:srcRect/>
          <a:stretch>
            <a:fillRect/>
          </a:stretch>
        </p:blipFill>
        <p:spPr bwMode="auto">
          <a:xfrm>
            <a:off x="7924800" y="4114800"/>
            <a:ext cx="1762125" cy="2286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idx="4294967295"/>
          </p:nvPr>
        </p:nvSpPr>
        <p:spPr/>
        <p:txBody>
          <a:bodyPr/>
          <a:lstStyle/>
          <a:p>
            <a:pPr eaLnBrk="1" hangingPunct="1"/>
            <a:r>
              <a:rPr lang="en-US" smtClean="0"/>
              <a:t>Dasar terjadinya Fraud</a:t>
            </a:r>
            <a:endParaRPr lang="en-US" sz="2400" smtClean="0"/>
          </a:p>
        </p:txBody>
      </p:sp>
      <p:sp>
        <p:nvSpPr>
          <p:cNvPr id="50179" name="Rectangle 3"/>
          <p:cNvSpPr>
            <a:spLocks noGrp="1" noChangeArrowheads="1"/>
          </p:cNvSpPr>
          <p:nvPr>
            <p:ph type="body" idx="4294967295"/>
          </p:nvPr>
        </p:nvSpPr>
        <p:spPr>
          <a:xfrm>
            <a:off x="495300" y="1524000"/>
            <a:ext cx="8915400" cy="4800600"/>
          </a:xfrm>
        </p:spPr>
        <p:txBody>
          <a:bodyPr/>
          <a:lstStyle/>
          <a:p>
            <a:pPr lvl="2" eaLnBrk="1" hangingPunct="1">
              <a:buClr>
                <a:schemeClr val="tx1"/>
              </a:buClr>
              <a:buSzTx/>
            </a:pPr>
            <a:r>
              <a:rPr lang="en-US" smtClean="0"/>
              <a:t>Ada peluang</a:t>
            </a:r>
          </a:p>
          <a:p>
            <a:pPr lvl="3" eaLnBrk="1" hangingPunct="1">
              <a:buClr>
                <a:schemeClr val="tx1"/>
              </a:buClr>
              <a:buSzTx/>
            </a:pPr>
            <a:r>
              <a:rPr lang="en-US" sz="2400" smtClean="0"/>
              <a:t>Kelemahan dalam pengendalian internal</a:t>
            </a:r>
          </a:p>
          <a:p>
            <a:pPr lvl="3" eaLnBrk="1" hangingPunct="1">
              <a:buClr>
                <a:schemeClr val="tx1"/>
              </a:buClr>
              <a:buSzTx/>
            </a:pPr>
            <a:r>
              <a:rPr lang="en-US" sz="2400" smtClean="0"/>
              <a:t>Tidak ada pemisahan fungsi</a:t>
            </a:r>
          </a:p>
          <a:p>
            <a:pPr lvl="3" eaLnBrk="1" hangingPunct="1">
              <a:buClr>
                <a:schemeClr val="tx1"/>
              </a:buClr>
              <a:buSzTx/>
            </a:pPr>
            <a:r>
              <a:rPr lang="en-US" sz="2400" smtClean="0"/>
              <a:t>Karyawan yang cukup lama di satu bagian</a:t>
            </a:r>
          </a:p>
          <a:p>
            <a:pPr lvl="2" eaLnBrk="1" hangingPunct="1">
              <a:buClr>
                <a:schemeClr val="tx1"/>
              </a:buClr>
              <a:buSzTx/>
            </a:pPr>
            <a:r>
              <a:rPr lang="en-US" smtClean="0"/>
              <a:t>Sikap/Rasionalisasi untuk membenarkan fraud</a:t>
            </a:r>
          </a:p>
          <a:p>
            <a:pPr lvl="3" eaLnBrk="1" hangingPunct="1">
              <a:buClr>
                <a:schemeClr val="tx1"/>
              </a:buClr>
              <a:buSzTx/>
            </a:pPr>
            <a:r>
              <a:rPr lang="en-US" sz="2400" smtClean="0"/>
              <a:t>Pembenaran bahwa fraud yang dilakukan masih sesuai dengan kode etik</a:t>
            </a:r>
          </a:p>
          <a:p>
            <a:pPr lvl="3" eaLnBrk="1" hangingPunct="1">
              <a:buClr>
                <a:schemeClr val="tx1"/>
              </a:buClr>
              <a:buSzTx/>
            </a:pPr>
            <a:r>
              <a:rPr lang="en-US" sz="2400" smtClean="0"/>
              <a:t>Tidak ada punishment yang tegas terhadap fraud sebelumnya</a:t>
            </a:r>
          </a:p>
          <a:p>
            <a:pPr lvl="3" eaLnBrk="1" hangingPunct="1">
              <a:buClr>
                <a:schemeClr val="tx1"/>
              </a:buClr>
              <a:buSzTx/>
            </a:pPr>
            <a:r>
              <a:rPr lang="en-US" sz="2400" smtClean="0"/>
              <a:t>Telah menjadi kebiasaan dan budaya</a:t>
            </a:r>
          </a:p>
        </p:txBody>
      </p:sp>
    </p:spTree>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idx="4294967295"/>
          </p:nvPr>
        </p:nvSpPr>
        <p:spPr/>
        <p:txBody>
          <a:bodyPr/>
          <a:lstStyle/>
          <a:p>
            <a:pPr eaLnBrk="1" hangingPunct="1"/>
            <a:r>
              <a:rPr lang="en-US" smtClean="0"/>
              <a:t>FRAUD</a:t>
            </a:r>
          </a:p>
        </p:txBody>
      </p:sp>
      <p:sp>
        <p:nvSpPr>
          <p:cNvPr id="51203" name="Rectangle 3"/>
          <p:cNvSpPr>
            <a:spLocks noGrp="1" noChangeArrowheads="1"/>
          </p:cNvSpPr>
          <p:nvPr>
            <p:ph type="body" idx="4294967295"/>
          </p:nvPr>
        </p:nvSpPr>
        <p:spPr/>
        <p:txBody>
          <a:bodyPr/>
          <a:lstStyle/>
          <a:p>
            <a:pPr eaLnBrk="1" hangingPunct="1">
              <a:buClr>
                <a:schemeClr val="tx1"/>
              </a:buClr>
              <a:buSzTx/>
            </a:pPr>
            <a:r>
              <a:rPr lang="en-US" smtClean="0"/>
              <a:t>Secara normatif dicirikan :</a:t>
            </a:r>
          </a:p>
          <a:p>
            <a:pPr lvl="2" eaLnBrk="1" hangingPunct="1">
              <a:buClr>
                <a:schemeClr val="tx1"/>
              </a:buClr>
              <a:buSzTx/>
            </a:pPr>
            <a:r>
              <a:rPr lang="en-US" smtClean="0"/>
              <a:t>Penipuan (deceit)</a:t>
            </a:r>
          </a:p>
          <a:p>
            <a:pPr lvl="2" eaLnBrk="1" hangingPunct="1">
              <a:buClr>
                <a:schemeClr val="tx1"/>
              </a:buClr>
              <a:buSzTx/>
            </a:pPr>
            <a:r>
              <a:rPr lang="en-US" smtClean="0"/>
              <a:t>Pencurian (theft)</a:t>
            </a:r>
          </a:p>
          <a:p>
            <a:pPr lvl="2" eaLnBrk="1" hangingPunct="1">
              <a:buClr>
                <a:schemeClr val="tx1"/>
              </a:buClr>
              <a:buSzTx/>
            </a:pPr>
            <a:r>
              <a:rPr lang="en-US" smtClean="0"/>
              <a:t>Penyembunyian (cancealment)</a:t>
            </a:r>
          </a:p>
          <a:p>
            <a:pPr lvl="2" eaLnBrk="1" hangingPunct="1">
              <a:buClr>
                <a:schemeClr val="tx1"/>
              </a:buClr>
              <a:buSzTx/>
            </a:pPr>
            <a:r>
              <a:rPr lang="en-US" smtClean="0"/>
              <a:t>Pelanggaran kepercayaan (violation of trust)</a:t>
            </a:r>
          </a:p>
          <a:p>
            <a:pPr lvl="2" eaLnBrk="1" hangingPunct="1">
              <a:buClr>
                <a:schemeClr val="tx1"/>
              </a:buClr>
              <a:buSzTx/>
            </a:pPr>
            <a:r>
              <a:rPr lang="en-US" smtClean="0"/>
              <a:t>Dilakukan oleh individu/organisasi untuk memperoleh materi, kekayaan, jasa</a:t>
            </a:r>
          </a:p>
          <a:p>
            <a:pPr lvl="2" eaLnBrk="1" hangingPunct="1">
              <a:buClr>
                <a:schemeClr val="tx1"/>
              </a:buClr>
              <a:buSzTx/>
            </a:pPr>
            <a:r>
              <a:rPr lang="en-US" smtClean="0"/>
              <a:t>Menghindari pembayaran (avoid disbursment)</a:t>
            </a:r>
          </a:p>
          <a:p>
            <a:pPr lvl="2" eaLnBrk="1" hangingPunct="1">
              <a:buClr>
                <a:schemeClr val="tx1"/>
              </a:buClr>
              <a:buSzTx/>
            </a:pPr>
            <a:r>
              <a:rPr lang="en-US" smtClean="0"/>
              <a:t>Mengamankan kepentingan pribadi atau usaha</a:t>
            </a:r>
          </a:p>
        </p:txBody>
      </p:sp>
      <p:grpSp>
        <p:nvGrpSpPr>
          <p:cNvPr id="51204" name="Group 4"/>
          <p:cNvGrpSpPr>
            <a:grpSpLocks/>
          </p:cNvGrpSpPr>
          <p:nvPr/>
        </p:nvGrpSpPr>
        <p:grpSpPr bwMode="auto">
          <a:xfrm>
            <a:off x="6191250" y="304800"/>
            <a:ext cx="3444875" cy="2819400"/>
            <a:chOff x="480" y="2112"/>
            <a:chExt cx="2868" cy="2016"/>
          </a:xfrm>
        </p:grpSpPr>
        <p:sp>
          <p:nvSpPr>
            <p:cNvPr id="51205" name="Freeform 5"/>
            <p:cNvSpPr>
              <a:spLocks/>
            </p:cNvSpPr>
            <p:nvPr/>
          </p:nvSpPr>
          <p:spPr bwMode="auto">
            <a:xfrm>
              <a:off x="1072" y="3497"/>
              <a:ext cx="361" cy="429"/>
            </a:xfrm>
            <a:custGeom>
              <a:avLst/>
              <a:gdLst>
                <a:gd name="T0" fmla="*/ 1 w 721"/>
                <a:gd name="T1" fmla="*/ 0 h 859"/>
                <a:gd name="T2" fmla="*/ 1 w 721"/>
                <a:gd name="T3" fmla="*/ 0 h 859"/>
                <a:gd name="T4" fmla="*/ 1 w 721"/>
                <a:gd name="T5" fmla="*/ 0 h 859"/>
                <a:gd name="T6" fmla="*/ 1 w 721"/>
                <a:gd name="T7" fmla="*/ 0 h 859"/>
                <a:gd name="T8" fmla="*/ 0 w 721"/>
                <a:gd name="T9" fmla="*/ 0 h 859"/>
                <a:gd name="T10" fmla="*/ 1 w 721"/>
                <a:gd name="T11" fmla="*/ 0 h 859"/>
                <a:gd name="T12" fmla="*/ 1 w 721"/>
                <a:gd name="T13" fmla="*/ 0 h 859"/>
                <a:gd name="T14" fmla="*/ 1 w 721"/>
                <a:gd name="T15" fmla="*/ 0 h 859"/>
                <a:gd name="T16" fmla="*/ 1 w 721"/>
                <a:gd name="T17" fmla="*/ 0 h 859"/>
                <a:gd name="T18" fmla="*/ 1 w 721"/>
                <a:gd name="T19" fmla="*/ 0 h 859"/>
                <a:gd name="T20" fmla="*/ 1 w 721"/>
                <a:gd name="T21" fmla="*/ 0 h 859"/>
                <a:gd name="T22" fmla="*/ 1 w 721"/>
                <a:gd name="T23" fmla="*/ 0 h 859"/>
                <a:gd name="T24" fmla="*/ 1 w 721"/>
                <a:gd name="T25" fmla="*/ 0 h 859"/>
                <a:gd name="T26" fmla="*/ 1 w 721"/>
                <a:gd name="T27" fmla="*/ 0 h 859"/>
                <a:gd name="T28" fmla="*/ 1 w 721"/>
                <a:gd name="T29" fmla="*/ 0 h 85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21"/>
                <a:gd name="T46" fmla="*/ 0 h 859"/>
                <a:gd name="T47" fmla="*/ 721 w 721"/>
                <a:gd name="T48" fmla="*/ 859 h 85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21" h="859">
                  <a:moveTo>
                    <a:pt x="88" y="9"/>
                  </a:moveTo>
                  <a:lnTo>
                    <a:pt x="194" y="175"/>
                  </a:lnTo>
                  <a:lnTo>
                    <a:pt x="462" y="621"/>
                  </a:lnTo>
                  <a:lnTo>
                    <a:pt x="231" y="553"/>
                  </a:lnTo>
                  <a:lnTo>
                    <a:pt x="0" y="599"/>
                  </a:lnTo>
                  <a:lnTo>
                    <a:pt x="147" y="695"/>
                  </a:lnTo>
                  <a:lnTo>
                    <a:pt x="115" y="823"/>
                  </a:lnTo>
                  <a:lnTo>
                    <a:pt x="445" y="859"/>
                  </a:lnTo>
                  <a:lnTo>
                    <a:pt x="641" y="756"/>
                  </a:lnTo>
                  <a:lnTo>
                    <a:pt x="721" y="621"/>
                  </a:lnTo>
                  <a:lnTo>
                    <a:pt x="694" y="583"/>
                  </a:lnTo>
                  <a:lnTo>
                    <a:pt x="527" y="583"/>
                  </a:lnTo>
                  <a:lnTo>
                    <a:pt x="130" y="0"/>
                  </a:lnTo>
                  <a:lnTo>
                    <a:pt x="88" y="9"/>
                  </a:lnTo>
                  <a:close/>
                </a:path>
              </a:pathLst>
            </a:custGeom>
            <a:solidFill>
              <a:srgbClr val="E5E5FF"/>
            </a:solidFill>
            <a:ln w="9525">
              <a:noFill/>
              <a:round/>
              <a:headEnd/>
              <a:tailEnd/>
            </a:ln>
          </p:spPr>
          <p:txBody>
            <a:bodyPr/>
            <a:lstStyle/>
            <a:p>
              <a:endParaRPr lang="en-US"/>
            </a:p>
          </p:txBody>
        </p:sp>
        <p:sp>
          <p:nvSpPr>
            <p:cNvPr id="51206" name="Freeform 6"/>
            <p:cNvSpPr>
              <a:spLocks/>
            </p:cNvSpPr>
            <p:nvPr/>
          </p:nvSpPr>
          <p:spPr bwMode="auto">
            <a:xfrm>
              <a:off x="1835" y="3070"/>
              <a:ext cx="600" cy="1055"/>
            </a:xfrm>
            <a:custGeom>
              <a:avLst/>
              <a:gdLst>
                <a:gd name="T0" fmla="*/ 0 w 1202"/>
                <a:gd name="T1" fmla="*/ 1 h 2110"/>
                <a:gd name="T2" fmla="*/ 0 w 1202"/>
                <a:gd name="T3" fmla="*/ 1 h 2110"/>
                <a:gd name="T4" fmla="*/ 0 w 1202"/>
                <a:gd name="T5" fmla="*/ 1 h 2110"/>
                <a:gd name="T6" fmla="*/ 0 w 1202"/>
                <a:gd name="T7" fmla="*/ 1 h 2110"/>
                <a:gd name="T8" fmla="*/ 0 w 1202"/>
                <a:gd name="T9" fmla="*/ 0 h 2110"/>
                <a:gd name="T10" fmla="*/ 0 w 1202"/>
                <a:gd name="T11" fmla="*/ 1 h 2110"/>
                <a:gd name="T12" fmla="*/ 0 w 1202"/>
                <a:gd name="T13" fmla="*/ 1 h 2110"/>
                <a:gd name="T14" fmla="*/ 0 w 1202"/>
                <a:gd name="T15" fmla="*/ 1 h 2110"/>
                <a:gd name="T16" fmla="*/ 0 w 1202"/>
                <a:gd name="T17" fmla="*/ 1 h 2110"/>
                <a:gd name="T18" fmla="*/ 0 w 1202"/>
                <a:gd name="T19" fmla="*/ 1 h 2110"/>
                <a:gd name="T20" fmla="*/ 0 w 1202"/>
                <a:gd name="T21" fmla="*/ 1 h 2110"/>
                <a:gd name="T22" fmla="*/ 0 w 1202"/>
                <a:gd name="T23" fmla="*/ 1 h 2110"/>
                <a:gd name="T24" fmla="*/ 0 w 1202"/>
                <a:gd name="T25" fmla="*/ 1 h 211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202"/>
                <a:gd name="T40" fmla="*/ 0 h 2110"/>
                <a:gd name="T41" fmla="*/ 1202 w 1202"/>
                <a:gd name="T42" fmla="*/ 2110 h 211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202" h="2110">
                  <a:moveTo>
                    <a:pt x="52" y="377"/>
                  </a:moveTo>
                  <a:lnTo>
                    <a:pt x="297" y="837"/>
                  </a:lnTo>
                  <a:lnTo>
                    <a:pt x="445" y="875"/>
                  </a:lnTo>
                  <a:lnTo>
                    <a:pt x="989" y="386"/>
                  </a:lnTo>
                  <a:lnTo>
                    <a:pt x="1048" y="0"/>
                  </a:lnTo>
                  <a:lnTo>
                    <a:pt x="1202" y="145"/>
                  </a:lnTo>
                  <a:lnTo>
                    <a:pt x="1164" y="415"/>
                  </a:lnTo>
                  <a:lnTo>
                    <a:pt x="947" y="1093"/>
                  </a:lnTo>
                  <a:lnTo>
                    <a:pt x="552" y="2110"/>
                  </a:lnTo>
                  <a:lnTo>
                    <a:pt x="0" y="2110"/>
                  </a:lnTo>
                  <a:lnTo>
                    <a:pt x="19" y="669"/>
                  </a:lnTo>
                  <a:lnTo>
                    <a:pt x="52" y="377"/>
                  </a:lnTo>
                  <a:close/>
                </a:path>
              </a:pathLst>
            </a:custGeom>
            <a:solidFill>
              <a:srgbClr val="FFFFCC"/>
            </a:solidFill>
            <a:ln w="9525">
              <a:noFill/>
              <a:round/>
              <a:headEnd/>
              <a:tailEnd/>
            </a:ln>
          </p:spPr>
          <p:txBody>
            <a:bodyPr/>
            <a:lstStyle/>
            <a:p>
              <a:endParaRPr lang="en-US"/>
            </a:p>
          </p:txBody>
        </p:sp>
        <p:sp>
          <p:nvSpPr>
            <p:cNvPr id="51207" name="Freeform 7"/>
            <p:cNvSpPr>
              <a:spLocks/>
            </p:cNvSpPr>
            <p:nvPr/>
          </p:nvSpPr>
          <p:spPr bwMode="auto">
            <a:xfrm>
              <a:off x="2049" y="3627"/>
              <a:ext cx="178" cy="184"/>
            </a:xfrm>
            <a:custGeom>
              <a:avLst/>
              <a:gdLst>
                <a:gd name="T0" fmla="*/ 1 w 355"/>
                <a:gd name="T1" fmla="*/ 0 h 369"/>
                <a:gd name="T2" fmla="*/ 0 w 355"/>
                <a:gd name="T3" fmla="*/ 0 h 369"/>
                <a:gd name="T4" fmla="*/ 1 w 355"/>
                <a:gd name="T5" fmla="*/ 0 h 369"/>
                <a:gd name="T6" fmla="*/ 1 w 355"/>
                <a:gd name="T7" fmla="*/ 0 h 369"/>
                <a:gd name="T8" fmla="*/ 1 w 355"/>
                <a:gd name="T9" fmla="*/ 0 h 369"/>
                <a:gd name="T10" fmla="*/ 1 w 355"/>
                <a:gd name="T11" fmla="*/ 0 h 369"/>
                <a:gd name="T12" fmla="*/ 1 w 355"/>
                <a:gd name="T13" fmla="*/ 0 h 369"/>
                <a:gd name="T14" fmla="*/ 1 w 355"/>
                <a:gd name="T15" fmla="*/ 0 h 369"/>
                <a:gd name="T16" fmla="*/ 0 60000 65536"/>
                <a:gd name="T17" fmla="*/ 0 60000 65536"/>
                <a:gd name="T18" fmla="*/ 0 60000 65536"/>
                <a:gd name="T19" fmla="*/ 0 60000 65536"/>
                <a:gd name="T20" fmla="*/ 0 60000 65536"/>
                <a:gd name="T21" fmla="*/ 0 60000 65536"/>
                <a:gd name="T22" fmla="*/ 0 60000 65536"/>
                <a:gd name="T23" fmla="*/ 0 60000 65536"/>
                <a:gd name="T24" fmla="*/ 0 w 355"/>
                <a:gd name="T25" fmla="*/ 0 h 369"/>
                <a:gd name="T26" fmla="*/ 355 w 355"/>
                <a:gd name="T27" fmla="*/ 369 h 36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55" h="369">
                  <a:moveTo>
                    <a:pt x="87" y="0"/>
                  </a:moveTo>
                  <a:lnTo>
                    <a:pt x="0" y="181"/>
                  </a:lnTo>
                  <a:lnTo>
                    <a:pt x="131" y="247"/>
                  </a:lnTo>
                  <a:lnTo>
                    <a:pt x="297" y="369"/>
                  </a:lnTo>
                  <a:lnTo>
                    <a:pt x="355" y="287"/>
                  </a:lnTo>
                  <a:lnTo>
                    <a:pt x="236" y="198"/>
                  </a:lnTo>
                  <a:lnTo>
                    <a:pt x="87" y="0"/>
                  </a:lnTo>
                  <a:close/>
                </a:path>
              </a:pathLst>
            </a:custGeom>
            <a:solidFill>
              <a:srgbClr val="CCCCCC"/>
            </a:solidFill>
            <a:ln w="9525">
              <a:noFill/>
              <a:round/>
              <a:headEnd/>
              <a:tailEnd/>
            </a:ln>
          </p:spPr>
          <p:txBody>
            <a:bodyPr/>
            <a:lstStyle/>
            <a:p>
              <a:endParaRPr lang="en-US"/>
            </a:p>
          </p:txBody>
        </p:sp>
        <p:sp>
          <p:nvSpPr>
            <p:cNvPr id="51208" name="Freeform 8"/>
            <p:cNvSpPr>
              <a:spLocks/>
            </p:cNvSpPr>
            <p:nvPr/>
          </p:nvSpPr>
          <p:spPr bwMode="auto">
            <a:xfrm>
              <a:off x="1825" y="3293"/>
              <a:ext cx="142" cy="832"/>
            </a:xfrm>
            <a:custGeom>
              <a:avLst/>
              <a:gdLst>
                <a:gd name="T0" fmla="*/ 1 w 284"/>
                <a:gd name="T1" fmla="*/ 0 h 1665"/>
                <a:gd name="T2" fmla="*/ 1 w 284"/>
                <a:gd name="T3" fmla="*/ 0 h 1665"/>
                <a:gd name="T4" fmla="*/ 1 w 284"/>
                <a:gd name="T5" fmla="*/ 0 h 1665"/>
                <a:gd name="T6" fmla="*/ 1 w 284"/>
                <a:gd name="T7" fmla="*/ 0 h 1665"/>
                <a:gd name="T8" fmla="*/ 0 w 284"/>
                <a:gd name="T9" fmla="*/ 0 h 1665"/>
                <a:gd name="T10" fmla="*/ 1 w 284"/>
                <a:gd name="T11" fmla="*/ 0 h 1665"/>
                <a:gd name="T12" fmla="*/ 1 w 284"/>
                <a:gd name="T13" fmla="*/ 0 h 1665"/>
                <a:gd name="T14" fmla="*/ 0 60000 65536"/>
                <a:gd name="T15" fmla="*/ 0 60000 65536"/>
                <a:gd name="T16" fmla="*/ 0 60000 65536"/>
                <a:gd name="T17" fmla="*/ 0 60000 65536"/>
                <a:gd name="T18" fmla="*/ 0 60000 65536"/>
                <a:gd name="T19" fmla="*/ 0 60000 65536"/>
                <a:gd name="T20" fmla="*/ 0 60000 65536"/>
                <a:gd name="T21" fmla="*/ 0 w 284"/>
                <a:gd name="T22" fmla="*/ 0 h 1665"/>
                <a:gd name="T23" fmla="*/ 284 w 284"/>
                <a:gd name="T24" fmla="*/ 1665 h 166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84" h="1665">
                  <a:moveTo>
                    <a:pt x="57" y="0"/>
                  </a:moveTo>
                  <a:lnTo>
                    <a:pt x="156" y="336"/>
                  </a:lnTo>
                  <a:lnTo>
                    <a:pt x="284" y="500"/>
                  </a:lnTo>
                  <a:lnTo>
                    <a:pt x="133" y="1665"/>
                  </a:lnTo>
                  <a:lnTo>
                    <a:pt x="0" y="1665"/>
                  </a:lnTo>
                  <a:lnTo>
                    <a:pt x="57" y="0"/>
                  </a:lnTo>
                  <a:close/>
                </a:path>
              </a:pathLst>
            </a:custGeom>
            <a:solidFill>
              <a:srgbClr val="CCCCCC"/>
            </a:solidFill>
            <a:ln w="9525">
              <a:noFill/>
              <a:round/>
              <a:headEnd/>
              <a:tailEnd/>
            </a:ln>
          </p:spPr>
          <p:txBody>
            <a:bodyPr/>
            <a:lstStyle/>
            <a:p>
              <a:endParaRPr lang="en-US"/>
            </a:p>
          </p:txBody>
        </p:sp>
        <p:sp>
          <p:nvSpPr>
            <p:cNvPr id="51209" name="Freeform 9"/>
            <p:cNvSpPr>
              <a:spLocks/>
            </p:cNvSpPr>
            <p:nvPr/>
          </p:nvSpPr>
          <p:spPr bwMode="auto">
            <a:xfrm>
              <a:off x="482" y="3811"/>
              <a:ext cx="975" cy="314"/>
            </a:xfrm>
            <a:custGeom>
              <a:avLst/>
              <a:gdLst>
                <a:gd name="T0" fmla="*/ 0 w 1950"/>
                <a:gd name="T1" fmla="*/ 0 h 629"/>
                <a:gd name="T2" fmla="*/ 1 w 1950"/>
                <a:gd name="T3" fmla="*/ 0 h 629"/>
                <a:gd name="T4" fmla="*/ 1 w 1950"/>
                <a:gd name="T5" fmla="*/ 0 h 629"/>
                <a:gd name="T6" fmla="*/ 1 w 1950"/>
                <a:gd name="T7" fmla="*/ 0 h 629"/>
                <a:gd name="T8" fmla="*/ 1 w 1950"/>
                <a:gd name="T9" fmla="*/ 0 h 629"/>
                <a:gd name="T10" fmla="*/ 1 w 1950"/>
                <a:gd name="T11" fmla="*/ 0 h 629"/>
                <a:gd name="T12" fmla="*/ 1 w 1950"/>
                <a:gd name="T13" fmla="*/ 0 h 629"/>
                <a:gd name="T14" fmla="*/ 1 w 1950"/>
                <a:gd name="T15" fmla="*/ 0 h 629"/>
                <a:gd name="T16" fmla="*/ 0 w 1950"/>
                <a:gd name="T17" fmla="*/ 0 h 629"/>
                <a:gd name="T18" fmla="*/ 0 w 1950"/>
                <a:gd name="T19" fmla="*/ 0 h 62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50"/>
                <a:gd name="T31" fmla="*/ 0 h 629"/>
                <a:gd name="T32" fmla="*/ 1950 w 1950"/>
                <a:gd name="T33" fmla="*/ 629 h 62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50" h="629">
                  <a:moveTo>
                    <a:pt x="0" y="0"/>
                  </a:moveTo>
                  <a:lnTo>
                    <a:pt x="1283" y="192"/>
                  </a:lnTo>
                  <a:lnTo>
                    <a:pt x="1618" y="230"/>
                  </a:lnTo>
                  <a:lnTo>
                    <a:pt x="1821" y="477"/>
                  </a:lnTo>
                  <a:lnTo>
                    <a:pt x="1950" y="629"/>
                  </a:lnTo>
                  <a:lnTo>
                    <a:pt x="452" y="629"/>
                  </a:lnTo>
                  <a:lnTo>
                    <a:pt x="249" y="424"/>
                  </a:lnTo>
                  <a:lnTo>
                    <a:pt x="129" y="192"/>
                  </a:lnTo>
                  <a:lnTo>
                    <a:pt x="0" y="0"/>
                  </a:lnTo>
                  <a:close/>
                </a:path>
              </a:pathLst>
            </a:custGeom>
            <a:solidFill>
              <a:srgbClr val="E5E5E5"/>
            </a:solidFill>
            <a:ln w="9525">
              <a:noFill/>
              <a:round/>
              <a:headEnd/>
              <a:tailEnd/>
            </a:ln>
          </p:spPr>
          <p:txBody>
            <a:bodyPr/>
            <a:lstStyle/>
            <a:p>
              <a:endParaRPr lang="en-US"/>
            </a:p>
          </p:txBody>
        </p:sp>
        <p:sp>
          <p:nvSpPr>
            <p:cNvPr id="51210" name="Freeform 10" descr="Wide upward diagonal"/>
            <p:cNvSpPr>
              <a:spLocks/>
            </p:cNvSpPr>
            <p:nvPr/>
          </p:nvSpPr>
          <p:spPr bwMode="auto">
            <a:xfrm>
              <a:off x="1840" y="3541"/>
              <a:ext cx="266" cy="584"/>
            </a:xfrm>
            <a:custGeom>
              <a:avLst/>
              <a:gdLst>
                <a:gd name="T0" fmla="*/ 1 w 530"/>
                <a:gd name="T1" fmla="*/ 0 h 1169"/>
                <a:gd name="T2" fmla="*/ 1 w 530"/>
                <a:gd name="T3" fmla="*/ 0 h 1169"/>
                <a:gd name="T4" fmla="*/ 1 w 530"/>
                <a:gd name="T5" fmla="*/ 0 h 1169"/>
                <a:gd name="T6" fmla="*/ 1 w 530"/>
                <a:gd name="T7" fmla="*/ 0 h 1169"/>
                <a:gd name="T8" fmla="*/ 1 w 530"/>
                <a:gd name="T9" fmla="*/ 0 h 1169"/>
                <a:gd name="T10" fmla="*/ 1 w 530"/>
                <a:gd name="T11" fmla="*/ 0 h 1169"/>
                <a:gd name="T12" fmla="*/ 0 w 530"/>
                <a:gd name="T13" fmla="*/ 0 h 1169"/>
                <a:gd name="T14" fmla="*/ 1 w 530"/>
                <a:gd name="T15" fmla="*/ 0 h 1169"/>
                <a:gd name="T16" fmla="*/ 1 w 530"/>
                <a:gd name="T17" fmla="*/ 0 h 1169"/>
                <a:gd name="T18" fmla="*/ 1 w 530"/>
                <a:gd name="T19" fmla="*/ 0 h 1169"/>
                <a:gd name="T20" fmla="*/ 1 w 530"/>
                <a:gd name="T21" fmla="*/ 0 h 1169"/>
                <a:gd name="T22" fmla="*/ 1 w 530"/>
                <a:gd name="T23" fmla="*/ 0 h 1169"/>
                <a:gd name="T24" fmla="*/ 1 w 530"/>
                <a:gd name="T25" fmla="*/ 0 h 1169"/>
                <a:gd name="T26" fmla="*/ 1 w 530"/>
                <a:gd name="T27" fmla="*/ 0 h 1169"/>
                <a:gd name="T28" fmla="*/ 1 w 530"/>
                <a:gd name="T29" fmla="*/ 0 h 1169"/>
                <a:gd name="T30" fmla="*/ 1 w 530"/>
                <a:gd name="T31" fmla="*/ 0 h 1169"/>
                <a:gd name="T32" fmla="*/ 1 w 530"/>
                <a:gd name="T33" fmla="*/ 0 h 116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530"/>
                <a:gd name="T52" fmla="*/ 0 h 1169"/>
                <a:gd name="T53" fmla="*/ 530 w 530"/>
                <a:gd name="T54" fmla="*/ 1169 h 1169"/>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530" h="1169">
                  <a:moveTo>
                    <a:pt x="353" y="0"/>
                  </a:moveTo>
                  <a:lnTo>
                    <a:pt x="232" y="6"/>
                  </a:lnTo>
                  <a:lnTo>
                    <a:pt x="138" y="109"/>
                  </a:lnTo>
                  <a:lnTo>
                    <a:pt x="152" y="261"/>
                  </a:lnTo>
                  <a:lnTo>
                    <a:pt x="163" y="339"/>
                  </a:lnTo>
                  <a:lnTo>
                    <a:pt x="45" y="844"/>
                  </a:lnTo>
                  <a:lnTo>
                    <a:pt x="0" y="1169"/>
                  </a:lnTo>
                  <a:lnTo>
                    <a:pt x="490" y="1169"/>
                  </a:lnTo>
                  <a:lnTo>
                    <a:pt x="490" y="679"/>
                  </a:lnTo>
                  <a:lnTo>
                    <a:pt x="437" y="453"/>
                  </a:lnTo>
                  <a:lnTo>
                    <a:pt x="422" y="377"/>
                  </a:lnTo>
                  <a:lnTo>
                    <a:pt x="437" y="327"/>
                  </a:lnTo>
                  <a:lnTo>
                    <a:pt x="530" y="207"/>
                  </a:lnTo>
                  <a:lnTo>
                    <a:pt x="502" y="124"/>
                  </a:lnTo>
                  <a:lnTo>
                    <a:pt x="397" y="21"/>
                  </a:lnTo>
                  <a:lnTo>
                    <a:pt x="353" y="0"/>
                  </a:lnTo>
                  <a:close/>
                </a:path>
              </a:pathLst>
            </a:custGeom>
            <a:pattFill prst="wdUpDiag">
              <a:fgClr>
                <a:srgbClr val="0000B6"/>
              </a:fgClr>
              <a:bgClr>
                <a:srgbClr val="FFFFFF"/>
              </a:bgClr>
            </a:pattFill>
            <a:ln w="9525">
              <a:noFill/>
              <a:round/>
              <a:headEnd/>
              <a:tailEnd/>
            </a:ln>
          </p:spPr>
          <p:txBody>
            <a:bodyPr/>
            <a:lstStyle/>
            <a:p>
              <a:endParaRPr lang="en-US"/>
            </a:p>
          </p:txBody>
        </p:sp>
        <p:sp>
          <p:nvSpPr>
            <p:cNvPr id="51211" name="Freeform 11"/>
            <p:cNvSpPr>
              <a:spLocks/>
            </p:cNvSpPr>
            <p:nvPr/>
          </p:nvSpPr>
          <p:spPr bwMode="auto">
            <a:xfrm>
              <a:off x="2106" y="3058"/>
              <a:ext cx="1234" cy="1067"/>
            </a:xfrm>
            <a:custGeom>
              <a:avLst/>
              <a:gdLst>
                <a:gd name="T0" fmla="*/ 0 w 2470"/>
                <a:gd name="T1" fmla="*/ 0 h 2135"/>
                <a:gd name="T2" fmla="*/ 0 w 2470"/>
                <a:gd name="T3" fmla="*/ 0 h 2135"/>
                <a:gd name="T4" fmla="*/ 0 w 2470"/>
                <a:gd name="T5" fmla="*/ 0 h 2135"/>
                <a:gd name="T6" fmla="*/ 1 w 2470"/>
                <a:gd name="T7" fmla="*/ 0 h 2135"/>
                <a:gd name="T8" fmla="*/ 1 w 2470"/>
                <a:gd name="T9" fmla="*/ 0 h 2135"/>
                <a:gd name="T10" fmla="*/ 1 w 2470"/>
                <a:gd name="T11" fmla="*/ 1 h 2135"/>
                <a:gd name="T12" fmla="*/ 0 w 2470"/>
                <a:gd name="T13" fmla="*/ 1 h 2135"/>
                <a:gd name="T14" fmla="*/ 0 w 2470"/>
                <a:gd name="T15" fmla="*/ 0 h 2135"/>
                <a:gd name="T16" fmla="*/ 0 w 2470"/>
                <a:gd name="T17" fmla="*/ 0 h 2135"/>
                <a:gd name="T18" fmla="*/ 0 w 2470"/>
                <a:gd name="T19" fmla="*/ 0 h 2135"/>
                <a:gd name="T20" fmla="*/ 0 w 2470"/>
                <a:gd name="T21" fmla="*/ 0 h 2135"/>
                <a:gd name="T22" fmla="*/ 0 w 2470"/>
                <a:gd name="T23" fmla="*/ 0 h 2135"/>
                <a:gd name="T24" fmla="*/ 0 w 2470"/>
                <a:gd name="T25" fmla="*/ 0 h 2135"/>
                <a:gd name="T26" fmla="*/ 0 w 2470"/>
                <a:gd name="T27" fmla="*/ 0 h 2135"/>
                <a:gd name="T28" fmla="*/ 0 w 2470"/>
                <a:gd name="T29" fmla="*/ 0 h 213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470"/>
                <a:gd name="T46" fmla="*/ 0 h 2135"/>
                <a:gd name="T47" fmla="*/ 2470 w 2470"/>
                <a:gd name="T48" fmla="*/ 2135 h 213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470" h="2135">
                  <a:moveTo>
                    <a:pt x="515" y="0"/>
                  </a:moveTo>
                  <a:lnTo>
                    <a:pt x="677" y="147"/>
                  </a:lnTo>
                  <a:lnTo>
                    <a:pt x="863" y="447"/>
                  </a:lnTo>
                  <a:lnTo>
                    <a:pt x="2264" y="987"/>
                  </a:lnTo>
                  <a:lnTo>
                    <a:pt x="2398" y="1413"/>
                  </a:lnTo>
                  <a:lnTo>
                    <a:pt x="2470" y="2135"/>
                  </a:lnTo>
                  <a:lnTo>
                    <a:pt x="0" y="2135"/>
                  </a:lnTo>
                  <a:lnTo>
                    <a:pt x="215" y="1468"/>
                  </a:lnTo>
                  <a:lnTo>
                    <a:pt x="515" y="727"/>
                  </a:lnTo>
                  <a:lnTo>
                    <a:pt x="622" y="388"/>
                  </a:lnTo>
                  <a:lnTo>
                    <a:pt x="608" y="202"/>
                  </a:lnTo>
                  <a:lnTo>
                    <a:pt x="550" y="94"/>
                  </a:lnTo>
                  <a:lnTo>
                    <a:pt x="500" y="69"/>
                  </a:lnTo>
                  <a:lnTo>
                    <a:pt x="515" y="0"/>
                  </a:lnTo>
                  <a:close/>
                </a:path>
              </a:pathLst>
            </a:custGeom>
            <a:solidFill>
              <a:srgbClr val="0000B6"/>
            </a:solidFill>
            <a:ln w="9525">
              <a:noFill/>
              <a:round/>
              <a:headEnd/>
              <a:tailEnd/>
            </a:ln>
          </p:spPr>
          <p:txBody>
            <a:bodyPr/>
            <a:lstStyle/>
            <a:p>
              <a:endParaRPr lang="en-US"/>
            </a:p>
          </p:txBody>
        </p:sp>
        <p:sp>
          <p:nvSpPr>
            <p:cNvPr id="51212" name="Freeform 12"/>
            <p:cNvSpPr>
              <a:spLocks/>
            </p:cNvSpPr>
            <p:nvPr/>
          </p:nvSpPr>
          <p:spPr bwMode="auto">
            <a:xfrm>
              <a:off x="1230" y="3219"/>
              <a:ext cx="628" cy="906"/>
            </a:xfrm>
            <a:custGeom>
              <a:avLst/>
              <a:gdLst>
                <a:gd name="T0" fmla="*/ 0 w 1257"/>
                <a:gd name="T1" fmla="*/ 1 h 1811"/>
                <a:gd name="T2" fmla="*/ 0 w 1257"/>
                <a:gd name="T3" fmla="*/ 1 h 1811"/>
                <a:gd name="T4" fmla="*/ 0 w 1257"/>
                <a:gd name="T5" fmla="*/ 1 h 1811"/>
                <a:gd name="T6" fmla="*/ 0 w 1257"/>
                <a:gd name="T7" fmla="*/ 0 h 1811"/>
                <a:gd name="T8" fmla="*/ 0 w 1257"/>
                <a:gd name="T9" fmla="*/ 1 h 1811"/>
                <a:gd name="T10" fmla="*/ 0 w 1257"/>
                <a:gd name="T11" fmla="*/ 1 h 1811"/>
                <a:gd name="T12" fmla="*/ 0 w 1257"/>
                <a:gd name="T13" fmla="*/ 1 h 1811"/>
                <a:gd name="T14" fmla="*/ 0 w 1257"/>
                <a:gd name="T15" fmla="*/ 1 h 1811"/>
                <a:gd name="T16" fmla="*/ 0 w 1257"/>
                <a:gd name="T17" fmla="*/ 1 h 1811"/>
                <a:gd name="T18" fmla="*/ 0 w 1257"/>
                <a:gd name="T19" fmla="*/ 1 h 1811"/>
                <a:gd name="T20" fmla="*/ 0 w 1257"/>
                <a:gd name="T21" fmla="*/ 1 h 1811"/>
                <a:gd name="T22" fmla="*/ 0 w 1257"/>
                <a:gd name="T23" fmla="*/ 1 h 1811"/>
                <a:gd name="T24" fmla="*/ 0 w 1257"/>
                <a:gd name="T25" fmla="*/ 1 h 1811"/>
                <a:gd name="T26" fmla="*/ 0 w 1257"/>
                <a:gd name="T27" fmla="*/ 1 h 1811"/>
                <a:gd name="T28" fmla="*/ 0 w 1257"/>
                <a:gd name="T29" fmla="*/ 1 h 1811"/>
                <a:gd name="T30" fmla="*/ 0 w 1257"/>
                <a:gd name="T31" fmla="*/ 1 h 1811"/>
                <a:gd name="T32" fmla="*/ 0 w 1257"/>
                <a:gd name="T33" fmla="*/ 1 h 1811"/>
                <a:gd name="T34" fmla="*/ 0 w 1257"/>
                <a:gd name="T35" fmla="*/ 1 h 1811"/>
                <a:gd name="T36" fmla="*/ 0 w 1257"/>
                <a:gd name="T37" fmla="*/ 1 h 1811"/>
                <a:gd name="T38" fmla="*/ 0 w 1257"/>
                <a:gd name="T39" fmla="*/ 1 h 1811"/>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257"/>
                <a:gd name="T61" fmla="*/ 0 h 1811"/>
                <a:gd name="T62" fmla="*/ 1257 w 1257"/>
                <a:gd name="T63" fmla="*/ 1811 h 1811"/>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257" h="1811">
                  <a:moveTo>
                    <a:pt x="242" y="232"/>
                  </a:moveTo>
                  <a:lnTo>
                    <a:pt x="378" y="226"/>
                  </a:lnTo>
                  <a:lnTo>
                    <a:pt x="525" y="161"/>
                  </a:lnTo>
                  <a:lnTo>
                    <a:pt x="1236" y="0"/>
                  </a:lnTo>
                  <a:lnTo>
                    <a:pt x="1242" y="201"/>
                  </a:lnTo>
                  <a:lnTo>
                    <a:pt x="1257" y="688"/>
                  </a:lnTo>
                  <a:lnTo>
                    <a:pt x="1202" y="1498"/>
                  </a:lnTo>
                  <a:lnTo>
                    <a:pt x="1226" y="1811"/>
                  </a:lnTo>
                  <a:lnTo>
                    <a:pt x="456" y="1811"/>
                  </a:lnTo>
                  <a:lnTo>
                    <a:pt x="133" y="1433"/>
                  </a:lnTo>
                  <a:lnTo>
                    <a:pt x="251" y="1334"/>
                  </a:lnTo>
                  <a:lnTo>
                    <a:pt x="338" y="1281"/>
                  </a:lnTo>
                  <a:lnTo>
                    <a:pt x="413" y="1182"/>
                  </a:lnTo>
                  <a:lnTo>
                    <a:pt x="363" y="1148"/>
                  </a:lnTo>
                  <a:lnTo>
                    <a:pt x="211" y="1144"/>
                  </a:lnTo>
                  <a:lnTo>
                    <a:pt x="0" y="849"/>
                  </a:lnTo>
                  <a:lnTo>
                    <a:pt x="89" y="549"/>
                  </a:lnTo>
                  <a:lnTo>
                    <a:pt x="164" y="349"/>
                  </a:lnTo>
                  <a:lnTo>
                    <a:pt x="242" y="232"/>
                  </a:lnTo>
                  <a:close/>
                </a:path>
              </a:pathLst>
            </a:custGeom>
            <a:solidFill>
              <a:srgbClr val="000099"/>
            </a:solidFill>
            <a:ln w="9525">
              <a:noFill/>
              <a:round/>
              <a:headEnd/>
              <a:tailEnd/>
            </a:ln>
          </p:spPr>
          <p:txBody>
            <a:bodyPr/>
            <a:lstStyle/>
            <a:p>
              <a:endParaRPr lang="en-US"/>
            </a:p>
          </p:txBody>
        </p:sp>
        <p:sp>
          <p:nvSpPr>
            <p:cNvPr id="51213" name="Freeform 13"/>
            <p:cNvSpPr>
              <a:spLocks/>
            </p:cNvSpPr>
            <p:nvPr/>
          </p:nvSpPr>
          <p:spPr bwMode="auto">
            <a:xfrm>
              <a:off x="2307" y="2514"/>
              <a:ext cx="145" cy="184"/>
            </a:xfrm>
            <a:custGeom>
              <a:avLst/>
              <a:gdLst>
                <a:gd name="T0" fmla="*/ 0 w 289"/>
                <a:gd name="T1" fmla="*/ 0 h 369"/>
                <a:gd name="T2" fmla="*/ 1 w 289"/>
                <a:gd name="T3" fmla="*/ 0 h 369"/>
                <a:gd name="T4" fmla="*/ 1 w 289"/>
                <a:gd name="T5" fmla="*/ 0 h 369"/>
                <a:gd name="T6" fmla="*/ 1 w 289"/>
                <a:gd name="T7" fmla="*/ 0 h 369"/>
                <a:gd name="T8" fmla="*/ 1 w 289"/>
                <a:gd name="T9" fmla="*/ 0 h 369"/>
                <a:gd name="T10" fmla="*/ 0 w 289"/>
                <a:gd name="T11" fmla="*/ 0 h 369"/>
                <a:gd name="T12" fmla="*/ 0 w 289"/>
                <a:gd name="T13" fmla="*/ 0 h 369"/>
                <a:gd name="T14" fmla="*/ 0 60000 65536"/>
                <a:gd name="T15" fmla="*/ 0 60000 65536"/>
                <a:gd name="T16" fmla="*/ 0 60000 65536"/>
                <a:gd name="T17" fmla="*/ 0 60000 65536"/>
                <a:gd name="T18" fmla="*/ 0 60000 65536"/>
                <a:gd name="T19" fmla="*/ 0 60000 65536"/>
                <a:gd name="T20" fmla="*/ 0 60000 65536"/>
                <a:gd name="T21" fmla="*/ 0 w 289"/>
                <a:gd name="T22" fmla="*/ 0 h 369"/>
                <a:gd name="T23" fmla="*/ 289 w 289"/>
                <a:gd name="T24" fmla="*/ 369 h 36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89" h="369">
                  <a:moveTo>
                    <a:pt x="0" y="0"/>
                  </a:moveTo>
                  <a:lnTo>
                    <a:pt x="55" y="369"/>
                  </a:lnTo>
                  <a:lnTo>
                    <a:pt x="219" y="361"/>
                  </a:lnTo>
                  <a:lnTo>
                    <a:pt x="289" y="118"/>
                  </a:lnTo>
                  <a:lnTo>
                    <a:pt x="209" y="63"/>
                  </a:lnTo>
                  <a:lnTo>
                    <a:pt x="0" y="0"/>
                  </a:lnTo>
                  <a:close/>
                </a:path>
              </a:pathLst>
            </a:custGeom>
            <a:solidFill>
              <a:srgbClr val="FFEDED"/>
            </a:solidFill>
            <a:ln w="9525">
              <a:noFill/>
              <a:round/>
              <a:headEnd/>
              <a:tailEnd/>
            </a:ln>
          </p:spPr>
          <p:txBody>
            <a:bodyPr/>
            <a:lstStyle/>
            <a:p>
              <a:endParaRPr lang="en-US"/>
            </a:p>
          </p:txBody>
        </p:sp>
        <p:sp>
          <p:nvSpPr>
            <p:cNvPr id="51214" name="Freeform 14"/>
            <p:cNvSpPr>
              <a:spLocks/>
            </p:cNvSpPr>
            <p:nvPr/>
          </p:nvSpPr>
          <p:spPr bwMode="auto">
            <a:xfrm>
              <a:off x="1544" y="2152"/>
              <a:ext cx="736" cy="675"/>
            </a:xfrm>
            <a:custGeom>
              <a:avLst/>
              <a:gdLst>
                <a:gd name="T0" fmla="*/ 0 w 1474"/>
                <a:gd name="T1" fmla="*/ 1 h 1350"/>
                <a:gd name="T2" fmla="*/ 0 w 1474"/>
                <a:gd name="T3" fmla="*/ 1 h 1350"/>
                <a:gd name="T4" fmla="*/ 0 w 1474"/>
                <a:gd name="T5" fmla="*/ 1 h 1350"/>
                <a:gd name="T6" fmla="*/ 0 w 1474"/>
                <a:gd name="T7" fmla="*/ 1 h 1350"/>
                <a:gd name="T8" fmla="*/ 0 w 1474"/>
                <a:gd name="T9" fmla="*/ 1 h 1350"/>
                <a:gd name="T10" fmla="*/ 0 w 1474"/>
                <a:gd name="T11" fmla="*/ 0 h 1350"/>
                <a:gd name="T12" fmla="*/ 0 w 1474"/>
                <a:gd name="T13" fmla="*/ 1 h 1350"/>
                <a:gd name="T14" fmla="*/ 0 w 1474"/>
                <a:gd name="T15" fmla="*/ 1 h 1350"/>
                <a:gd name="T16" fmla="*/ 0 w 1474"/>
                <a:gd name="T17" fmla="*/ 1 h 1350"/>
                <a:gd name="T18" fmla="*/ 0 w 1474"/>
                <a:gd name="T19" fmla="*/ 1 h 1350"/>
                <a:gd name="T20" fmla="*/ 0 w 1474"/>
                <a:gd name="T21" fmla="*/ 1 h 1350"/>
                <a:gd name="T22" fmla="*/ 0 w 1474"/>
                <a:gd name="T23" fmla="*/ 1 h 1350"/>
                <a:gd name="T24" fmla="*/ 0 w 1474"/>
                <a:gd name="T25" fmla="*/ 1 h 1350"/>
                <a:gd name="T26" fmla="*/ 0 w 1474"/>
                <a:gd name="T27" fmla="*/ 1 h 1350"/>
                <a:gd name="T28" fmla="*/ 0 w 1474"/>
                <a:gd name="T29" fmla="*/ 1 h 135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474"/>
                <a:gd name="T46" fmla="*/ 0 h 1350"/>
                <a:gd name="T47" fmla="*/ 1474 w 1474"/>
                <a:gd name="T48" fmla="*/ 1350 h 135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474" h="1350">
                  <a:moveTo>
                    <a:pt x="75" y="1270"/>
                  </a:moveTo>
                  <a:lnTo>
                    <a:pt x="0" y="842"/>
                  </a:lnTo>
                  <a:lnTo>
                    <a:pt x="75" y="498"/>
                  </a:lnTo>
                  <a:lnTo>
                    <a:pt x="272" y="188"/>
                  </a:lnTo>
                  <a:lnTo>
                    <a:pt x="537" y="13"/>
                  </a:lnTo>
                  <a:lnTo>
                    <a:pt x="1008" y="0"/>
                  </a:lnTo>
                  <a:lnTo>
                    <a:pt x="1297" y="21"/>
                  </a:lnTo>
                  <a:lnTo>
                    <a:pt x="1474" y="104"/>
                  </a:lnTo>
                  <a:lnTo>
                    <a:pt x="1461" y="334"/>
                  </a:lnTo>
                  <a:lnTo>
                    <a:pt x="1067" y="390"/>
                  </a:lnTo>
                  <a:lnTo>
                    <a:pt x="369" y="460"/>
                  </a:lnTo>
                  <a:lnTo>
                    <a:pt x="192" y="762"/>
                  </a:lnTo>
                  <a:lnTo>
                    <a:pt x="179" y="1350"/>
                  </a:lnTo>
                  <a:lnTo>
                    <a:pt x="75" y="1270"/>
                  </a:lnTo>
                  <a:close/>
                </a:path>
              </a:pathLst>
            </a:custGeom>
            <a:solidFill>
              <a:srgbClr val="FFEDED"/>
            </a:solidFill>
            <a:ln w="9525">
              <a:noFill/>
              <a:round/>
              <a:headEnd/>
              <a:tailEnd/>
            </a:ln>
          </p:spPr>
          <p:txBody>
            <a:bodyPr/>
            <a:lstStyle/>
            <a:p>
              <a:endParaRPr lang="en-US"/>
            </a:p>
          </p:txBody>
        </p:sp>
        <p:sp>
          <p:nvSpPr>
            <p:cNvPr id="51215" name="Freeform 15"/>
            <p:cNvSpPr>
              <a:spLocks/>
            </p:cNvSpPr>
            <p:nvPr/>
          </p:nvSpPr>
          <p:spPr bwMode="auto">
            <a:xfrm>
              <a:off x="1685" y="2193"/>
              <a:ext cx="770" cy="555"/>
            </a:xfrm>
            <a:custGeom>
              <a:avLst/>
              <a:gdLst>
                <a:gd name="T0" fmla="*/ 0 w 1540"/>
                <a:gd name="T1" fmla="*/ 1 h 1110"/>
                <a:gd name="T2" fmla="*/ 1 w 1540"/>
                <a:gd name="T3" fmla="*/ 1 h 1110"/>
                <a:gd name="T4" fmla="*/ 1 w 1540"/>
                <a:gd name="T5" fmla="*/ 1 h 1110"/>
                <a:gd name="T6" fmla="*/ 1 w 1540"/>
                <a:gd name="T7" fmla="*/ 1 h 1110"/>
                <a:gd name="T8" fmla="*/ 1 w 1540"/>
                <a:gd name="T9" fmla="*/ 1 h 1110"/>
                <a:gd name="T10" fmla="*/ 1 w 1540"/>
                <a:gd name="T11" fmla="*/ 1 h 1110"/>
                <a:gd name="T12" fmla="*/ 1 w 1540"/>
                <a:gd name="T13" fmla="*/ 1 h 1110"/>
                <a:gd name="T14" fmla="*/ 1 w 1540"/>
                <a:gd name="T15" fmla="*/ 1 h 1110"/>
                <a:gd name="T16" fmla="*/ 1 w 1540"/>
                <a:gd name="T17" fmla="*/ 1 h 1110"/>
                <a:gd name="T18" fmla="*/ 1 w 1540"/>
                <a:gd name="T19" fmla="*/ 1 h 1110"/>
                <a:gd name="T20" fmla="*/ 1 w 1540"/>
                <a:gd name="T21" fmla="*/ 1 h 1110"/>
                <a:gd name="T22" fmla="*/ 1 w 1540"/>
                <a:gd name="T23" fmla="*/ 1 h 1110"/>
                <a:gd name="T24" fmla="*/ 1 w 1540"/>
                <a:gd name="T25" fmla="*/ 1 h 1110"/>
                <a:gd name="T26" fmla="*/ 1 w 1540"/>
                <a:gd name="T27" fmla="*/ 1 h 1110"/>
                <a:gd name="T28" fmla="*/ 1 w 1540"/>
                <a:gd name="T29" fmla="*/ 1 h 1110"/>
                <a:gd name="T30" fmla="*/ 1 w 1540"/>
                <a:gd name="T31" fmla="*/ 1 h 1110"/>
                <a:gd name="T32" fmla="*/ 1 w 1540"/>
                <a:gd name="T33" fmla="*/ 1 h 1110"/>
                <a:gd name="T34" fmla="*/ 1 w 1540"/>
                <a:gd name="T35" fmla="*/ 0 h 1110"/>
                <a:gd name="T36" fmla="*/ 1 w 1540"/>
                <a:gd name="T37" fmla="*/ 1 h 1110"/>
                <a:gd name="T38" fmla="*/ 1 w 1540"/>
                <a:gd name="T39" fmla="*/ 1 h 1110"/>
                <a:gd name="T40" fmla="*/ 1 w 1540"/>
                <a:gd name="T41" fmla="*/ 1 h 1110"/>
                <a:gd name="T42" fmla="*/ 1 w 1540"/>
                <a:gd name="T43" fmla="*/ 1 h 1110"/>
                <a:gd name="T44" fmla="*/ 1 w 1540"/>
                <a:gd name="T45" fmla="*/ 1 h 1110"/>
                <a:gd name="T46" fmla="*/ 1 w 1540"/>
                <a:gd name="T47" fmla="*/ 1 h 1110"/>
                <a:gd name="T48" fmla="*/ 1 w 1540"/>
                <a:gd name="T49" fmla="*/ 1 h 1110"/>
                <a:gd name="T50" fmla="*/ 1 w 1540"/>
                <a:gd name="T51" fmla="*/ 1 h 1110"/>
                <a:gd name="T52" fmla="*/ 1 w 1540"/>
                <a:gd name="T53" fmla="*/ 1 h 1110"/>
                <a:gd name="T54" fmla="*/ 1 w 1540"/>
                <a:gd name="T55" fmla="*/ 1 h 1110"/>
                <a:gd name="T56" fmla="*/ 1 w 1540"/>
                <a:gd name="T57" fmla="*/ 1 h 1110"/>
                <a:gd name="T58" fmla="*/ 1 w 1540"/>
                <a:gd name="T59" fmla="*/ 1 h 1110"/>
                <a:gd name="T60" fmla="*/ 1 w 1540"/>
                <a:gd name="T61" fmla="*/ 1 h 1110"/>
                <a:gd name="T62" fmla="*/ 1 w 1540"/>
                <a:gd name="T63" fmla="*/ 1 h 1110"/>
                <a:gd name="T64" fmla="*/ 1 w 1540"/>
                <a:gd name="T65" fmla="*/ 1 h 1110"/>
                <a:gd name="T66" fmla="*/ 1 w 1540"/>
                <a:gd name="T67" fmla="*/ 1 h 1110"/>
                <a:gd name="T68" fmla="*/ 1 w 1540"/>
                <a:gd name="T69" fmla="*/ 1 h 1110"/>
                <a:gd name="T70" fmla="*/ 1 w 1540"/>
                <a:gd name="T71" fmla="*/ 1 h 1110"/>
                <a:gd name="T72" fmla="*/ 1 w 1540"/>
                <a:gd name="T73" fmla="*/ 1 h 1110"/>
                <a:gd name="T74" fmla="*/ 1 w 1540"/>
                <a:gd name="T75" fmla="*/ 1 h 1110"/>
                <a:gd name="T76" fmla="*/ 1 w 1540"/>
                <a:gd name="T77" fmla="*/ 1 h 1110"/>
                <a:gd name="T78" fmla="*/ 1 w 1540"/>
                <a:gd name="T79" fmla="*/ 1 h 1110"/>
                <a:gd name="T80" fmla="*/ 1 w 1540"/>
                <a:gd name="T81" fmla="*/ 1 h 1110"/>
                <a:gd name="T82" fmla="*/ 1 w 1540"/>
                <a:gd name="T83" fmla="*/ 1 h 1110"/>
                <a:gd name="T84" fmla="*/ 1 w 1540"/>
                <a:gd name="T85" fmla="*/ 1 h 1110"/>
                <a:gd name="T86" fmla="*/ 1 w 1540"/>
                <a:gd name="T87" fmla="*/ 1 h 1110"/>
                <a:gd name="T88" fmla="*/ 0 w 1540"/>
                <a:gd name="T89" fmla="*/ 1 h 1110"/>
                <a:gd name="T90" fmla="*/ 0 w 1540"/>
                <a:gd name="T91" fmla="*/ 1 h 1110"/>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540"/>
                <a:gd name="T139" fmla="*/ 0 h 1110"/>
                <a:gd name="T140" fmla="*/ 1540 w 1540"/>
                <a:gd name="T141" fmla="*/ 1110 h 1110"/>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540" h="1110">
                  <a:moveTo>
                    <a:pt x="0" y="264"/>
                  </a:moveTo>
                  <a:lnTo>
                    <a:pt x="85" y="271"/>
                  </a:lnTo>
                  <a:lnTo>
                    <a:pt x="135" y="194"/>
                  </a:lnTo>
                  <a:lnTo>
                    <a:pt x="142" y="268"/>
                  </a:lnTo>
                  <a:lnTo>
                    <a:pt x="234" y="346"/>
                  </a:lnTo>
                  <a:lnTo>
                    <a:pt x="376" y="332"/>
                  </a:lnTo>
                  <a:lnTo>
                    <a:pt x="395" y="194"/>
                  </a:lnTo>
                  <a:lnTo>
                    <a:pt x="456" y="135"/>
                  </a:lnTo>
                  <a:lnTo>
                    <a:pt x="467" y="186"/>
                  </a:lnTo>
                  <a:lnTo>
                    <a:pt x="526" y="135"/>
                  </a:lnTo>
                  <a:lnTo>
                    <a:pt x="637" y="138"/>
                  </a:lnTo>
                  <a:lnTo>
                    <a:pt x="696" y="178"/>
                  </a:lnTo>
                  <a:lnTo>
                    <a:pt x="747" y="233"/>
                  </a:lnTo>
                  <a:lnTo>
                    <a:pt x="884" y="254"/>
                  </a:lnTo>
                  <a:lnTo>
                    <a:pt x="975" y="211"/>
                  </a:lnTo>
                  <a:lnTo>
                    <a:pt x="1013" y="117"/>
                  </a:lnTo>
                  <a:lnTo>
                    <a:pt x="922" y="7"/>
                  </a:lnTo>
                  <a:lnTo>
                    <a:pt x="1044" y="0"/>
                  </a:lnTo>
                  <a:lnTo>
                    <a:pt x="1087" y="43"/>
                  </a:lnTo>
                  <a:lnTo>
                    <a:pt x="1095" y="135"/>
                  </a:lnTo>
                  <a:lnTo>
                    <a:pt x="1217" y="129"/>
                  </a:lnTo>
                  <a:lnTo>
                    <a:pt x="1255" y="224"/>
                  </a:lnTo>
                  <a:lnTo>
                    <a:pt x="1342" y="359"/>
                  </a:lnTo>
                  <a:lnTo>
                    <a:pt x="1384" y="444"/>
                  </a:lnTo>
                  <a:lnTo>
                    <a:pt x="1403" y="617"/>
                  </a:lnTo>
                  <a:lnTo>
                    <a:pt x="1479" y="783"/>
                  </a:lnTo>
                  <a:lnTo>
                    <a:pt x="1353" y="804"/>
                  </a:lnTo>
                  <a:lnTo>
                    <a:pt x="1262" y="747"/>
                  </a:lnTo>
                  <a:lnTo>
                    <a:pt x="1346" y="872"/>
                  </a:lnTo>
                  <a:lnTo>
                    <a:pt x="1329" y="1011"/>
                  </a:lnTo>
                  <a:lnTo>
                    <a:pt x="1397" y="882"/>
                  </a:lnTo>
                  <a:lnTo>
                    <a:pt x="1441" y="920"/>
                  </a:lnTo>
                  <a:lnTo>
                    <a:pt x="1428" y="828"/>
                  </a:lnTo>
                  <a:lnTo>
                    <a:pt x="1519" y="884"/>
                  </a:lnTo>
                  <a:lnTo>
                    <a:pt x="1540" y="927"/>
                  </a:lnTo>
                  <a:lnTo>
                    <a:pt x="1502" y="1024"/>
                  </a:lnTo>
                  <a:lnTo>
                    <a:pt x="1298" y="1110"/>
                  </a:lnTo>
                  <a:lnTo>
                    <a:pt x="1255" y="988"/>
                  </a:lnTo>
                  <a:lnTo>
                    <a:pt x="1241" y="785"/>
                  </a:lnTo>
                  <a:lnTo>
                    <a:pt x="1173" y="505"/>
                  </a:lnTo>
                  <a:lnTo>
                    <a:pt x="1030" y="406"/>
                  </a:lnTo>
                  <a:lnTo>
                    <a:pt x="696" y="334"/>
                  </a:lnTo>
                  <a:lnTo>
                    <a:pt x="190" y="482"/>
                  </a:lnTo>
                  <a:lnTo>
                    <a:pt x="38" y="406"/>
                  </a:lnTo>
                  <a:lnTo>
                    <a:pt x="0" y="264"/>
                  </a:lnTo>
                  <a:close/>
                </a:path>
              </a:pathLst>
            </a:custGeom>
            <a:solidFill>
              <a:srgbClr val="A39494"/>
            </a:solidFill>
            <a:ln w="9525">
              <a:noFill/>
              <a:round/>
              <a:headEnd/>
              <a:tailEnd/>
            </a:ln>
          </p:spPr>
          <p:txBody>
            <a:bodyPr/>
            <a:lstStyle/>
            <a:p>
              <a:endParaRPr lang="en-US"/>
            </a:p>
          </p:txBody>
        </p:sp>
        <p:sp>
          <p:nvSpPr>
            <p:cNvPr id="51216" name="Freeform 16"/>
            <p:cNvSpPr>
              <a:spLocks/>
            </p:cNvSpPr>
            <p:nvPr/>
          </p:nvSpPr>
          <p:spPr bwMode="auto">
            <a:xfrm>
              <a:off x="1587" y="2311"/>
              <a:ext cx="135" cy="600"/>
            </a:xfrm>
            <a:custGeom>
              <a:avLst/>
              <a:gdLst>
                <a:gd name="T0" fmla="*/ 0 w 272"/>
                <a:gd name="T1" fmla="*/ 0 h 1202"/>
                <a:gd name="T2" fmla="*/ 0 w 272"/>
                <a:gd name="T3" fmla="*/ 0 h 1202"/>
                <a:gd name="T4" fmla="*/ 0 w 272"/>
                <a:gd name="T5" fmla="*/ 0 h 1202"/>
                <a:gd name="T6" fmla="*/ 0 w 272"/>
                <a:gd name="T7" fmla="*/ 0 h 1202"/>
                <a:gd name="T8" fmla="*/ 0 w 272"/>
                <a:gd name="T9" fmla="*/ 0 h 1202"/>
                <a:gd name="T10" fmla="*/ 0 w 272"/>
                <a:gd name="T11" fmla="*/ 0 h 1202"/>
                <a:gd name="T12" fmla="*/ 0 w 272"/>
                <a:gd name="T13" fmla="*/ 0 h 1202"/>
                <a:gd name="T14" fmla="*/ 0 w 272"/>
                <a:gd name="T15" fmla="*/ 0 h 1202"/>
                <a:gd name="T16" fmla="*/ 0 w 272"/>
                <a:gd name="T17" fmla="*/ 0 h 1202"/>
                <a:gd name="T18" fmla="*/ 0 w 272"/>
                <a:gd name="T19" fmla="*/ 0 h 1202"/>
                <a:gd name="T20" fmla="*/ 0 w 272"/>
                <a:gd name="T21" fmla="*/ 0 h 1202"/>
                <a:gd name="T22" fmla="*/ 0 w 272"/>
                <a:gd name="T23" fmla="*/ 0 h 1202"/>
                <a:gd name="T24" fmla="*/ 0 w 272"/>
                <a:gd name="T25" fmla="*/ 0 h 1202"/>
                <a:gd name="T26" fmla="*/ 0 w 272"/>
                <a:gd name="T27" fmla="*/ 0 h 120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72"/>
                <a:gd name="T43" fmla="*/ 0 h 1202"/>
                <a:gd name="T44" fmla="*/ 272 w 272"/>
                <a:gd name="T45" fmla="*/ 1202 h 120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72" h="1202">
                  <a:moveTo>
                    <a:pt x="272" y="221"/>
                  </a:moveTo>
                  <a:lnTo>
                    <a:pt x="68" y="0"/>
                  </a:lnTo>
                  <a:lnTo>
                    <a:pt x="17" y="187"/>
                  </a:lnTo>
                  <a:lnTo>
                    <a:pt x="30" y="303"/>
                  </a:lnTo>
                  <a:lnTo>
                    <a:pt x="68" y="369"/>
                  </a:lnTo>
                  <a:lnTo>
                    <a:pt x="40" y="476"/>
                  </a:lnTo>
                  <a:lnTo>
                    <a:pt x="55" y="687"/>
                  </a:lnTo>
                  <a:lnTo>
                    <a:pt x="0" y="932"/>
                  </a:lnTo>
                  <a:lnTo>
                    <a:pt x="48" y="1105"/>
                  </a:lnTo>
                  <a:lnTo>
                    <a:pt x="122" y="1202"/>
                  </a:lnTo>
                  <a:lnTo>
                    <a:pt x="181" y="1112"/>
                  </a:lnTo>
                  <a:lnTo>
                    <a:pt x="181" y="415"/>
                  </a:lnTo>
                  <a:lnTo>
                    <a:pt x="272" y="221"/>
                  </a:lnTo>
                  <a:close/>
                </a:path>
              </a:pathLst>
            </a:custGeom>
            <a:solidFill>
              <a:srgbClr val="A39494"/>
            </a:solidFill>
            <a:ln w="9525">
              <a:noFill/>
              <a:round/>
              <a:headEnd/>
              <a:tailEnd/>
            </a:ln>
          </p:spPr>
          <p:txBody>
            <a:bodyPr/>
            <a:lstStyle/>
            <a:p>
              <a:endParaRPr lang="en-US"/>
            </a:p>
          </p:txBody>
        </p:sp>
        <p:sp>
          <p:nvSpPr>
            <p:cNvPr id="51217" name="Freeform 17"/>
            <p:cNvSpPr>
              <a:spLocks/>
            </p:cNvSpPr>
            <p:nvPr/>
          </p:nvSpPr>
          <p:spPr bwMode="auto">
            <a:xfrm>
              <a:off x="1680" y="2344"/>
              <a:ext cx="771" cy="1196"/>
            </a:xfrm>
            <a:custGeom>
              <a:avLst/>
              <a:gdLst>
                <a:gd name="T0" fmla="*/ 1 w 1542"/>
                <a:gd name="T1" fmla="*/ 1 h 2391"/>
                <a:gd name="T2" fmla="*/ 1 w 1542"/>
                <a:gd name="T3" fmla="*/ 1 h 2391"/>
                <a:gd name="T4" fmla="*/ 1 w 1542"/>
                <a:gd name="T5" fmla="*/ 0 h 2391"/>
                <a:gd name="T6" fmla="*/ 1 w 1542"/>
                <a:gd name="T7" fmla="*/ 1 h 2391"/>
                <a:gd name="T8" fmla="*/ 1 w 1542"/>
                <a:gd name="T9" fmla="*/ 1 h 2391"/>
                <a:gd name="T10" fmla="*/ 1 w 1542"/>
                <a:gd name="T11" fmla="*/ 1 h 2391"/>
                <a:gd name="T12" fmla="*/ 1 w 1542"/>
                <a:gd name="T13" fmla="*/ 1 h 2391"/>
                <a:gd name="T14" fmla="*/ 1 w 1542"/>
                <a:gd name="T15" fmla="*/ 1 h 2391"/>
                <a:gd name="T16" fmla="*/ 1 w 1542"/>
                <a:gd name="T17" fmla="*/ 1 h 2391"/>
                <a:gd name="T18" fmla="*/ 1 w 1542"/>
                <a:gd name="T19" fmla="*/ 1 h 2391"/>
                <a:gd name="T20" fmla="*/ 1 w 1542"/>
                <a:gd name="T21" fmla="*/ 1 h 2391"/>
                <a:gd name="T22" fmla="*/ 1 w 1542"/>
                <a:gd name="T23" fmla="*/ 1 h 2391"/>
                <a:gd name="T24" fmla="*/ 1 w 1542"/>
                <a:gd name="T25" fmla="*/ 1 h 2391"/>
                <a:gd name="T26" fmla="*/ 1 w 1542"/>
                <a:gd name="T27" fmla="*/ 1 h 2391"/>
                <a:gd name="T28" fmla="*/ 1 w 1542"/>
                <a:gd name="T29" fmla="*/ 1 h 2391"/>
                <a:gd name="T30" fmla="*/ 1 w 1542"/>
                <a:gd name="T31" fmla="*/ 1 h 2391"/>
                <a:gd name="T32" fmla="*/ 1 w 1542"/>
                <a:gd name="T33" fmla="*/ 1 h 2391"/>
                <a:gd name="T34" fmla="*/ 1 w 1542"/>
                <a:gd name="T35" fmla="*/ 2 h 2391"/>
                <a:gd name="T36" fmla="*/ 1 w 1542"/>
                <a:gd name="T37" fmla="*/ 2 h 2391"/>
                <a:gd name="T38" fmla="*/ 1 w 1542"/>
                <a:gd name="T39" fmla="*/ 2 h 2391"/>
                <a:gd name="T40" fmla="*/ 1 w 1542"/>
                <a:gd name="T41" fmla="*/ 2 h 2391"/>
                <a:gd name="T42" fmla="*/ 1 w 1542"/>
                <a:gd name="T43" fmla="*/ 2 h 2391"/>
                <a:gd name="T44" fmla="*/ 1 w 1542"/>
                <a:gd name="T45" fmla="*/ 1 h 2391"/>
                <a:gd name="T46" fmla="*/ 1 w 1542"/>
                <a:gd name="T47" fmla="*/ 1 h 2391"/>
                <a:gd name="T48" fmla="*/ 0 w 1542"/>
                <a:gd name="T49" fmla="*/ 1 h 2391"/>
                <a:gd name="T50" fmla="*/ 1 w 1542"/>
                <a:gd name="T51" fmla="*/ 1 h 2391"/>
                <a:gd name="T52" fmla="*/ 1 w 1542"/>
                <a:gd name="T53" fmla="*/ 1 h 2391"/>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542"/>
                <a:gd name="T82" fmla="*/ 0 h 2391"/>
                <a:gd name="T83" fmla="*/ 1542 w 1542"/>
                <a:gd name="T84" fmla="*/ 2391 h 2391"/>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542" h="2391">
                  <a:moveTo>
                    <a:pt x="82" y="268"/>
                  </a:moveTo>
                  <a:lnTo>
                    <a:pt x="405" y="110"/>
                  </a:lnTo>
                  <a:lnTo>
                    <a:pt x="727" y="0"/>
                  </a:lnTo>
                  <a:lnTo>
                    <a:pt x="814" y="32"/>
                  </a:lnTo>
                  <a:lnTo>
                    <a:pt x="1037" y="72"/>
                  </a:lnTo>
                  <a:lnTo>
                    <a:pt x="1122" y="156"/>
                  </a:lnTo>
                  <a:lnTo>
                    <a:pt x="1177" y="247"/>
                  </a:lnTo>
                  <a:lnTo>
                    <a:pt x="1274" y="540"/>
                  </a:lnTo>
                  <a:lnTo>
                    <a:pt x="1291" y="739"/>
                  </a:lnTo>
                  <a:lnTo>
                    <a:pt x="1521" y="694"/>
                  </a:lnTo>
                  <a:lnTo>
                    <a:pt x="1542" y="791"/>
                  </a:lnTo>
                  <a:lnTo>
                    <a:pt x="1521" y="986"/>
                  </a:lnTo>
                  <a:lnTo>
                    <a:pt x="1453" y="1251"/>
                  </a:lnTo>
                  <a:lnTo>
                    <a:pt x="1377" y="1327"/>
                  </a:lnTo>
                  <a:lnTo>
                    <a:pt x="1360" y="1580"/>
                  </a:lnTo>
                  <a:lnTo>
                    <a:pt x="1352" y="1758"/>
                  </a:lnTo>
                  <a:lnTo>
                    <a:pt x="1274" y="1901"/>
                  </a:lnTo>
                  <a:lnTo>
                    <a:pt x="1154" y="2051"/>
                  </a:lnTo>
                  <a:lnTo>
                    <a:pt x="839" y="2298"/>
                  </a:lnTo>
                  <a:lnTo>
                    <a:pt x="725" y="2391"/>
                  </a:lnTo>
                  <a:lnTo>
                    <a:pt x="664" y="2353"/>
                  </a:lnTo>
                  <a:lnTo>
                    <a:pt x="559" y="2213"/>
                  </a:lnTo>
                  <a:lnTo>
                    <a:pt x="303" y="1718"/>
                  </a:lnTo>
                  <a:lnTo>
                    <a:pt x="17" y="1123"/>
                  </a:lnTo>
                  <a:lnTo>
                    <a:pt x="0" y="532"/>
                  </a:lnTo>
                  <a:lnTo>
                    <a:pt x="82" y="268"/>
                  </a:lnTo>
                  <a:close/>
                </a:path>
              </a:pathLst>
            </a:custGeom>
            <a:solidFill>
              <a:srgbClr val="FFC4B8"/>
            </a:solidFill>
            <a:ln w="9525">
              <a:noFill/>
              <a:round/>
              <a:headEnd/>
              <a:tailEnd/>
            </a:ln>
          </p:spPr>
          <p:txBody>
            <a:bodyPr/>
            <a:lstStyle/>
            <a:p>
              <a:endParaRPr lang="en-US"/>
            </a:p>
          </p:txBody>
        </p:sp>
        <p:sp>
          <p:nvSpPr>
            <p:cNvPr id="51218" name="Freeform 18"/>
            <p:cNvSpPr>
              <a:spLocks/>
            </p:cNvSpPr>
            <p:nvPr/>
          </p:nvSpPr>
          <p:spPr bwMode="auto">
            <a:xfrm>
              <a:off x="2071" y="2717"/>
              <a:ext cx="116" cy="50"/>
            </a:xfrm>
            <a:custGeom>
              <a:avLst/>
              <a:gdLst>
                <a:gd name="T0" fmla="*/ 1 w 232"/>
                <a:gd name="T1" fmla="*/ 0 h 101"/>
                <a:gd name="T2" fmla="*/ 1 w 232"/>
                <a:gd name="T3" fmla="*/ 0 h 101"/>
                <a:gd name="T4" fmla="*/ 0 w 232"/>
                <a:gd name="T5" fmla="*/ 0 h 101"/>
                <a:gd name="T6" fmla="*/ 1 w 232"/>
                <a:gd name="T7" fmla="*/ 0 h 101"/>
                <a:gd name="T8" fmla="*/ 1 w 232"/>
                <a:gd name="T9" fmla="*/ 0 h 101"/>
                <a:gd name="T10" fmla="*/ 1 w 232"/>
                <a:gd name="T11" fmla="*/ 0 h 101"/>
                <a:gd name="T12" fmla="*/ 1 w 232"/>
                <a:gd name="T13" fmla="*/ 0 h 101"/>
                <a:gd name="T14" fmla="*/ 1 w 232"/>
                <a:gd name="T15" fmla="*/ 0 h 101"/>
                <a:gd name="T16" fmla="*/ 1 w 232"/>
                <a:gd name="T17" fmla="*/ 0 h 101"/>
                <a:gd name="T18" fmla="*/ 1 w 232"/>
                <a:gd name="T19" fmla="*/ 0 h 101"/>
                <a:gd name="T20" fmla="*/ 1 w 232"/>
                <a:gd name="T21" fmla="*/ 0 h 10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32"/>
                <a:gd name="T34" fmla="*/ 0 h 101"/>
                <a:gd name="T35" fmla="*/ 232 w 232"/>
                <a:gd name="T36" fmla="*/ 101 h 10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32" h="101">
                  <a:moveTo>
                    <a:pt x="55" y="15"/>
                  </a:moveTo>
                  <a:lnTo>
                    <a:pt x="7" y="67"/>
                  </a:lnTo>
                  <a:lnTo>
                    <a:pt x="0" y="101"/>
                  </a:lnTo>
                  <a:lnTo>
                    <a:pt x="112" y="95"/>
                  </a:lnTo>
                  <a:lnTo>
                    <a:pt x="156" y="89"/>
                  </a:lnTo>
                  <a:lnTo>
                    <a:pt x="194" y="72"/>
                  </a:lnTo>
                  <a:lnTo>
                    <a:pt x="232" y="36"/>
                  </a:lnTo>
                  <a:lnTo>
                    <a:pt x="186" y="8"/>
                  </a:lnTo>
                  <a:lnTo>
                    <a:pt x="118" y="0"/>
                  </a:lnTo>
                  <a:lnTo>
                    <a:pt x="55" y="15"/>
                  </a:lnTo>
                  <a:close/>
                </a:path>
              </a:pathLst>
            </a:custGeom>
            <a:solidFill>
              <a:srgbClr val="FFFFFF"/>
            </a:solidFill>
            <a:ln w="9525">
              <a:noFill/>
              <a:round/>
              <a:headEnd/>
              <a:tailEnd/>
            </a:ln>
          </p:spPr>
          <p:txBody>
            <a:bodyPr/>
            <a:lstStyle/>
            <a:p>
              <a:endParaRPr lang="en-US"/>
            </a:p>
          </p:txBody>
        </p:sp>
        <p:sp>
          <p:nvSpPr>
            <p:cNvPr id="51219" name="Freeform 19"/>
            <p:cNvSpPr>
              <a:spLocks/>
            </p:cNvSpPr>
            <p:nvPr/>
          </p:nvSpPr>
          <p:spPr bwMode="auto">
            <a:xfrm>
              <a:off x="1767" y="2751"/>
              <a:ext cx="135" cy="54"/>
            </a:xfrm>
            <a:custGeom>
              <a:avLst/>
              <a:gdLst>
                <a:gd name="T0" fmla="*/ 1 w 270"/>
                <a:gd name="T1" fmla="*/ 0 h 109"/>
                <a:gd name="T2" fmla="*/ 1 w 270"/>
                <a:gd name="T3" fmla="*/ 0 h 109"/>
                <a:gd name="T4" fmla="*/ 0 w 270"/>
                <a:gd name="T5" fmla="*/ 0 h 109"/>
                <a:gd name="T6" fmla="*/ 1 w 270"/>
                <a:gd name="T7" fmla="*/ 0 h 109"/>
                <a:gd name="T8" fmla="*/ 1 w 270"/>
                <a:gd name="T9" fmla="*/ 0 h 109"/>
                <a:gd name="T10" fmla="*/ 1 w 270"/>
                <a:gd name="T11" fmla="*/ 0 h 109"/>
                <a:gd name="T12" fmla="*/ 1 w 270"/>
                <a:gd name="T13" fmla="*/ 0 h 109"/>
                <a:gd name="T14" fmla="*/ 1 w 270"/>
                <a:gd name="T15" fmla="*/ 0 h 109"/>
                <a:gd name="T16" fmla="*/ 1 w 270"/>
                <a:gd name="T17" fmla="*/ 0 h 109"/>
                <a:gd name="T18" fmla="*/ 1 w 270"/>
                <a:gd name="T19" fmla="*/ 0 h 109"/>
                <a:gd name="T20" fmla="*/ 1 w 270"/>
                <a:gd name="T21" fmla="*/ 0 h 10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70"/>
                <a:gd name="T34" fmla="*/ 0 h 109"/>
                <a:gd name="T35" fmla="*/ 270 w 270"/>
                <a:gd name="T36" fmla="*/ 109 h 10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70" h="109">
                  <a:moveTo>
                    <a:pt x="46" y="21"/>
                  </a:moveTo>
                  <a:lnTo>
                    <a:pt x="10" y="63"/>
                  </a:lnTo>
                  <a:lnTo>
                    <a:pt x="0" y="94"/>
                  </a:lnTo>
                  <a:lnTo>
                    <a:pt x="82" y="109"/>
                  </a:lnTo>
                  <a:lnTo>
                    <a:pt x="192" y="90"/>
                  </a:lnTo>
                  <a:lnTo>
                    <a:pt x="270" y="77"/>
                  </a:lnTo>
                  <a:lnTo>
                    <a:pt x="270" y="54"/>
                  </a:lnTo>
                  <a:lnTo>
                    <a:pt x="207" y="23"/>
                  </a:lnTo>
                  <a:lnTo>
                    <a:pt x="143" y="0"/>
                  </a:lnTo>
                  <a:lnTo>
                    <a:pt x="46" y="21"/>
                  </a:lnTo>
                  <a:close/>
                </a:path>
              </a:pathLst>
            </a:custGeom>
            <a:solidFill>
              <a:srgbClr val="FFFFFF"/>
            </a:solidFill>
            <a:ln w="9525">
              <a:noFill/>
              <a:round/>
              <a:headEnd/>
              <a:tailEnd/>
            </a:ln>
          </p:spPr>
          <p:txBody>
            <a:bodyPr/>
            <a:lstStyle/>
            <a:p>
              <a:endParaRPr lang="en-US"/>
            </a:p>
          </p:txBody>
        </p:sp>
        <p:sp>
          <p:nvSpPr>
            <p:cNvPr id="51220" name="Freeform 20"/>
            <p:cNvSpPr>
              <a:spLocks/>
            </p:cNvSpPr>
            <p:nvPr/>
          </p:nvSpPr>
          <p:spPr bwMode="auto">
            <a:xfrm>
              <a:off x="1801" y="2755"/>
              <a:ext cx="64" cy="45"/>
            </a:xfrm>
            <a:custGeom>
              <a:avLst/>
              <a:gdLst>
                <a:gd name="T0" fmla="*/ 0 w 127"/>
                <a:gd name="T1" fmla="*/ 0 h 91"/>
                <a:gd name="T2" fmla="*/ 1 w 127"/>
                <a:gd name="T3" fmla="*/ 0 h 91"/>
                <a:gd name="T4" fmla="*/ 1 w 127"/>
                <a:gd name="T5" fmla="*/ 0 h 91"/>
                <a:gd name="T6" fmla="*/ 1 w 127"/>
                <a:gd name="T7" fmla="*/ 0 h 91"/>
                <a:gd name="T8" fmla="*/ 1 w 127"/>
                <a:gd name="T9" fmla="*/ 0 h 91"/>
                <a:gd name="T10" fmla="*/ 1 w 127"/>
                <a:gd name="T11" fmla="*/ 0 h 91"/>
                <a:gd name="T12" fmla="*/ 1 w 127"/>
                <a:gd name="T13" fmla="*/ 0 h 91"/>
                <a:gd name="T14" fmla="*/ 0 w 127"/>
                <a:gd name="T15" fmla="*/ 0 h 91"/>
                <a:gd name="T16" fmla="*/ 0 w 127"/>
                <a:gd name="T17" fmla="*/ 0 h 9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27"/>
                <a:gd name="T28" fmla="*/ 0 h 91"/>
                <a:gd name="T29" fmla="*/ 127 w 127"/>
                <a:gd name="T30" fmla="*/ 91 h 9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27" h="91">
                  <a:moveTo>
                    <a:pt x="0" y="32"/>
                  </a:moveTo>
                  <a:lnTo>
                    <a:pt x="11" y="88"/>
                  </a:lnTo>
                  <a:lnTo>
                    <a:pt x="72" y="91"/>
                  </a:lnTo>
                  <a:lnTo>
                    <a:pt x="108" y="63"/>
                  </a:lnTo>
                  <a:lnTo>
                    <a:pt x="127" y="8"/>
                  </a:lnTo>
                  <a:lnTo>
                    <a:pt x="93" y="0"/>
                  </a:lnTo>
                  <a:lnTo>
                    <a:pt x="40" y="2"/>
                  </a:lnTo>
                  <a:lnTo>
                    <a:pt x="0" y="32"/>
                  </a:lnTo>
                  <a:close/>
                </a:path>
              </a:pathLst>
            </a:custGeom>
            <a:solidFill>
              <a:srgbClr val="7DB2E8"/>
            </a:solidFill>
            <a:ln w="9525">
              <a:noFill/>
              <a:round/>
              <a:headEnd/>
              <a:tailEnd/>
            </a:ln>
          </p:spPr>
          <p:txBody>
            <a:bodyPr/>
            <a:lstStyle/>
            <a:p>
              <a:endParaRPr lang="en-US"/>
            </a:p>
          </p:txBody>
        </p:sp>
        <p:sp>
          <p:nvSpPr>
            <p:cNvPr id="51221" name="Freeform 21"/>
            <p:cNvSpPr>
              <a:spLocks/>
            </p:cNvSpPr>
            <p:nvPr/>
          </p:nvSpPr>
          <p:spPr bwMode="auto">
            <a:xfrm>
              <a:off x="2112" y="2717"/>
              <a:ext cx="56" cy="44"/>
            </a:xfrm>
            <a:custGeom>
              <a:avLst/>
              <a:gdLst>
                <a:gd name="T0" fmla="*/ 0 w 113"/>
                <a:gd name="T1" fmla="*/ 0 h 89"/>
                <a:gd name="T2" fmla="*/ 0 w 113"/>
                <a:gd name="T3" fmla="*/ 0 h 89"/>
                <a:gd name="T4" fmla="*/ 0 w 113"/>
                <a:gd name="T5" fmla="*/ 0 h 89"/>
                <a:gd name="T6" fmla="*/ 0 w 113"/>
                <a:gd name="T7" fmla="*/ 0 h 89"/>
                <a:gd name="T8" fmla="*/ 0 w 113"/>
                <a:gd name="T9" fmla="*/ 0 h 89"/>
                <a:gd name="T10" fmla="*/ 0 w 113"/>
                <a:gd name="T11" fmla="*/ 0 h 89"/>
                <a:gd name="T12" fmla="*/ 0 w 113"/>
                <a:gd name="T13" fmla="*/ 0 h 89"/>
                <a:gd name="T14" fmla="*/ 0 w 113"/>
                <a:gd name="T15" fmla="*/ 0 h 89"/>
                <a:gd name="T16" fmla="*/ 0 60000 65536"/>
                <a:gd name="T17" fmla="*/ 0 60000 65536"/>
                <a:gd name="T18" fmla="*/ 0 60000 65536"/>
                <a:gd name="T19" fmla="*/ 0 60000 65536"/>
                <a:gd name="T20" fmla="*/ 0 60000 65536"/>
                <a:gd name="T21" fmla="*/ 0 60000 65536"/>
                <a:gd name="T22" fmla="*/ 0 60000 65536"/>
                <a:gd name="T23" fmla="*/ 0 60000 65536"/>
                <a:gd name="T24" fmla="*/ 0 w 113"/>
                <a:gd name="T25" fmla="*/ 0 h 89"/>
                <a:gd name="T26" fmla="*/ 113 w 113"/>
                <a:gd name="T27" fmla="*/ 89 h 8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13" h="89">
                  <a:moveTo>
                    <a:pt x="2" y="11"/>
                  </a:moveTo>
                  <a:lnTo>
                    <a:pt x="0" y="63"/>
                  </a:lnTo>
                  <a:lnTo>
                    <a:pt x="37" y="89"/>
                  </a:lnTo>
                  <a:lnTo>
                    <a:pt x="97" y="68"/>
                  </a:lnTo>
                  <a:lnTo>
                    <a:pt x="113" y="27"/>
                  </a:lnTo>
                  <a:lnTo>
                    <a:pt x="88" y="0"/>
                  </a:lnTo>
                  <a:lnTo>
                    <a:pt x="2" y="11"/>
                  </a:lnTo>
                  <a:close/>
                </a:path>
              </a:pathLst>
            </a:custGeom>
            <a:solidFill>
              <a:srgbClr val="7DB2E8"/>
            </a:solidFill>
            <a:ln w="9525">
              <a:noFill/>
              <a:round/>
              <a:headEnd/>
              <a:tailEnd/>
            </a:ln>
          </p:spPr>
          <p:txBody>
            <a:bodyPr/>
            <a:lstStyle/>
            <a:p>
              <a:endParaRPr lang="en-US"/>
            </a:p>
          </p:txBody>
        </p:sp>
        <p:sp>
          <p:nvSpPr>
            <p:cNvPr id="51222" name="Freeform 22"/>
            <p:cNvSpPr>
              <a:spLocks/>
            </p:cNvSpPr>
            <p:nvPr/>
          </p:nvSpPr>
          <p:spPr bwMode="auto">
            <a:xfrm>
              <a:off x="849" y="3724"/>
              <a:ext cx="316" cy="184"/>
            </a:xfrm>
            <a:custGeom>
              <a:avLst/>
              <a:gdLst>
                <a:gd name="T0" fmla="*/ 0 w 633"/>
                <a:gd name="T1" fmla="*/ 0 h 369"/>
                <a:gd name="T2" fmla="*/ 0 w 633"/>
                <a:gd name="T3" fmla="*/ 0 h 369"/>
                <a:gd name="T4" fmla="*/ 0 w 633"/>
                <a:gd name="T5" fmla="*/ 0 h 369"/>
                <a:gd name="T6" fmla="*/ 0 w 633"/>
                <a:gd name="T7" fmla="*/ 0 h 369"/>
                <a:gd name="T8" fmla="*/ 0 w 633"/>
                <a:gd name="T9" fmla="*/ 0 h 369"/>
                <a:gd name="T10" fmla="*/ 0 w 633"/>
                <a:gd name="T11" fmla="*/ 0 h 369"/>
                <a:gd name="T12" fmla="*/ 0 w 633"/>
                <a:gd name="T13" fmla="*/ 0 h 369"/>
                <a:gd name="T14" fmla="*/ 0 w 633"/>
                <a:gd name="T15" fmla="*/ 0 h 369"/>
                <a:gd name="T16" fmla="*/ 0 w 633"/>
                <a:gd name="T17" fmla="*/ 0 h 369"/>
                <a:gd name="T18" fmla="*/ 0 w 633"/>
                <a:gd name="T19" fmla="*/ 0 h 369"/>
                <a:gd name="T20" fmla="*/ 0 w 633"/>
                <a:gd name="T21" fmla="*/ 0 h 369"/>
                <a:gd name="T22" fmla="*/ 0 w 633"/>
                <a:gd name="T23" fmla="*/ 0 h 36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33"/>
                <a:gd name="T37" fmla="*/ 0 h 369"/>
                <a:gd name="T38" fmla="*/ 633 w 633"/>
                <a:gd name="T39" fmla="*/ 369 h 36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33" h="369">
                  <a:moveTo>
                    <a:pt x="0" y="287"/>
                  </a:moveTo>
                  <a:lnTo>
                    <a:pt x="397" y="350"/>
                  </a:lnTo>
                  <a:lnTo>
                    <a:pt x="578" y="369"/>
                  </a:lnTo>
                  <a:lnTo>
                    <a:pt x="633" y="251"/>
                  </a:lnTo>
                  <a:lnTo>
                    <a:pt x="454" y="124"/>
                  </a:lnTo>
                  <a:lnTo>
                    <a:pt x="289" y="0"/>
                  </a:lnTo>
                  <a:lnTo>
                    <a:pt x="222" y="46"/>
                  </a:lnTo>
                  <a:lnTo>
                    <a:pt x="127" y="10"/>
                  </a:lnTo>
                  <a:lnTo>
                    <a:pt x="47" y="32"/>
                  </a:lnTo>
                  <a:lnTo>
                    <a:pt x="34" y="234"/>
                  </a:lnTo>
                  <a:lnTo>
                    <a:pt x="0" y="287"/>
                  </a:lnTo>
                  <a:close/>
                </a:path>
              </a:pathLst>
            </a:custGeom>
            <a:solidFill>
              <a:srgbClr val="FFC4B8"/>
            </a:solidFill>
            <a:ln w="9525">
              <a:noFill/>
              <a:round/>
              <a:headEnd/>
              <a:tailEnd/>
            </a:ln>
          </p:spPr>
          <p:txBody>
            <a:bodyPr/>
            <a:lstStyle/>
            <a:p>
              <a:endParaRPr lang="en-US"/>
            </a:p>
          </p:txBody>
        </p:sp>
        <p:sp>
          <p:nvSpPr>
            <p:cNvPr id="51223" name="Freeform 23"/>
            <p:cNvSpPr>
              <a:spLocks/>
            </p:cNvSpPr>
            <p:nvPr/>
          </p:nvSpPr>
          <p:spPr bwMode="auto">
            <a:xfrm>
              <a:off x="970" y="3721"/>
              <a:ext cx="68" cy="90"/>
            </a:xfrm>
            <a:custGeom>
              <a:avLst/>
              <a:gdLst>
                <a:gd name="T0" fmla="*/ 0 w 137"/>
                <a:gd name="T1" fmla="*/ 0 h 179"/>
                <a:gd name="T2" fmla="*/ 0 w 137"/>
                <a:gd name="T3" fmla="*/ 1 h 179"/>
                <a:gd name="T4" fmla="*/ 0 w 137"/>
                <a:gd name="T5" fmla="*/ 1 h 179"/>
                <a:gd name="T6" fmla="*/ 0 w 137"/>
                <a:gd name="T7" fmla="*/ 1 h 179"/>
                <a:gd name="T8" fmla="*/ 0 w 137"/>
                <a:gd name="T9" fmla="*/ 1 h 179"/>
                <a:gd name="T10" fmla="*/ 0 w 137"/>
                <a:gd name="T11" fmla="*/ 1 h 179"/>
                <a:gd name="T12" fmla="*/ 0 w 137"/>
                <a:gd name="T13" fmla="*/ 1 h 179"/>
                <a:gd name="T14" fmla="*/ 0 w 137"/>
                <a:gd name="T15" fmla="*/ 0 h 179"/>
                <a:gd name="T16" fmla="*/ 0 w 137"/>
                <a:gd name="T17" fmla="*/ 0 h 17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37"/>
                <a:gd name="T28" fmla="*/ 0 h 179"/>
                <a:gd name="T29" fmla="*/ 137 w 137"/>
                <a:gd name="T30" fmla="*/ 179 h 17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37" h="179">
                  <a:moveTo>
                    <a:pt x="59" y="0"/>
                  </a:moveTo>
                  <a:lnTo>
                    <a:pt x="51" y="54"/>
                  </a:lnTo>
                  <a:lnTo>
                    <a:pt x="86" y="103"/>
                  </a:lnTo>
                  <a:lnTo>
                    <a:pt x="137" y="179"/>
                  </a:lnTo>
                  <a:lnTo>
                    <a:pt x="78" y="120"/>
                  </a:lnTo>
                  <a:lnTo>
                    <a:pt x="0" y="69"/>
                  </a:lnTo>
                  <a:lnTo>
                    <a:pt x="0" y="17"/>
                  </a:lnTo>
                  <a:lnTo>
                    <a:pt x="59" y="0"/>
                  </a:lnTo>
                  <a:close/>
                </a:path>
              </a:pathLst>
            </a:custGeom>
            <a:solidFill>
              <a:srgbClr val="E08477"/>
            </a:solidFill>
            <a:ln w="9525">
              <a:noFill/>
              <a:round/>
              <a:headEnd/>
              <a:tailEnd/>
            </a:ln>
          </p:spPr>
          <p:txBody>
            <a:bodyPr/>
            <a:lstStyle/>
            <a:p>
              <a:endParaRPr lang="en-US"/>
            </a:p>
          </p:txBody>
        </p:sp>
        <p:sp>
          <p:nvSpPr>
            <p:cNvPr id="51224" name="Freeform 24"/>
            <p:cNvSpPr>
              <a:spLocks/>
            </p:cNvSpPr>
            <p:nvPr/>
          </p:nvSpPr>
          <p:spPr bwMode="auto">
            <a:xfrm>
              <a:off x="830" y="3728"/>
              <a:ext cx="163" cy="154"/>
            </a:xfrm>
            <a:custGeom>
              <a:avLst/>
              <a:gdLst>
                <a:gd name="T0" fmla="*/ 0 w 327"/>
                <a:gd name="T1" fmla="*/ 1 h 308"/>
                <a:gd name="T2" fmla="*/ 0 w 327"/>
                <a:gd name="T3" fmla="*/ 1 h 308"/>
                <a:gd name="T4" fmla="*/ 0 w 327"/>
                <a:gd name="T5" fmla="*/ 1 h 308"/>
                <a:gd name="T6" fmla="*/ 0 w 327"/>
                <a:gd name="T7" fmla="*/ 1 h 308"/>
                <a:gd name="T8" fmla="*/ 0 w 327"/>
                <a:gd name="T9" fmla="*/ 1 h 308"/>
                <a:gd name="T10" fmla="*/ 0 w 327"/>
                <a:gd name="T11" fmla="*/ 1 h 308"/>
                <a:gd name="T12" fmla="*/ 0 w 327"/>
                <a:gd name="T13" fmla="*/ 1 h 308"/>
                <a:gd name="T14" fmla="*/ 0 w 327"/>
                <a:gd name="T15" fmla="*/ 1 h 308"/>
                <a:gd name="T16" fmla="*/ 0 w 327"/>
                <a:gd name="T17" fmla="*/ 1 h 308"/>
                <a:gd name="T18" fmla="*/ 0 w 327"/>
                <a:gd name="T19" fmla="*/ 1 h 308"/>
                <a:gd name="T20" fmla="*/ 0 w 327"/>
                <a:gd name="T21" fmla="*/ 1 h 308"/>
                <a:gd name="T22" fmla="*/ 0 w 327"/>
                <a:gd name="T23" fmla="*/ 1 h 308"/>
                <a:gd name="T24" fmla="*/ 0 w 327"/>
                <a:gd name="T25" fmla="*/ 0 h 308"/>
                <a:gd name="T26" fmla="*/ 0 w 327"/>
                <a:gd name="T27" fmla="*/ 1 h 308"/>
                <a:gd name="T28" fmla="*/ 0 w 327"/>
                <a:gd name="T29" fmla="*/ 1 h 30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27"/>
                <a:gd name="T46" fmla="*/ 0 h 308"/>
                <a:gd name="T47" fmla="*/ 327 w 327"/>
                <a:gd name="T48" fmla="*/ 308 h 308"/>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27" h="308">
                  <a:moveTo>
                    <a:pt x="175" y="3"/>
                  </a:moveTo>
                  <a:lnTo>
                    <a:pt x="125" y="62"/>
                  </a:lnTo>
                  <a:lnTo>
                    <a:pt x="137" y="123"/>
                  </a:lnTo>
                  <a:lnTo>
                    <a:pt x="270" y="247"/>
                  </a:lnTo>
                  <a:lnTo>
                    <a:pt x="327" y="308"/>
                  </a:lnTo>
                  <a:lnTo>
                    <a:pt x="159" y="228"/>
                  </a:lnTo>
                  <a:lnTo>
                    <a:pt x="114" y="247"/>
                  </a:lnTo>
                  <a:lnTo>
                    <a:pt x="81" y="292"/>
                  </a:lnTo>
                  <a:lnTo>
                    <a:pt x="0" y="275"/>
                  </a:lnTo>
                  <a:lnTo>
                    <a:pt x="87" y="199"/>
                  </a:lnTo>
                  <a:lnTo>
                    <a:pt x="36" y="118"/>
                  </a:lnTo>
                  <a:lnTo>
                    <a:pt x="55" y="47"/>
                  </a:lnTo>
                  <a:lnTo>
                    <a:pt x="114" y="0"/>
                  </a:lnTo>
                  <a:lnTo>
                    <a:pt x="175" y="3"/>
                  </a:lnTo>
                  <a:close/>
                </a:path>
              </a:pathLst>
            </a:custGeom>
            <a:solidFill>
              <a:srgbClr val="E08477"/>
            </a:solidFill>
            <a:ln w="9525">
              <a:noFill/>
              <a:round/>
              <a:headEnd/>
              <a:tailEnd/>
            </a:ln>
          </p:spPr>
          <p:txBody>
            <a:bodyPr/>
            <a:lstStyle/>
            <a:p>
              <a:endParaRPr lang="en-US"/>
            </a:p>
          </p:txBody>
        </p:sp>
        <p:sp>
          <p:nvSpPr>
            <p:cNvPr id="51225" name="Freeform 25"/>
            <p:cNvSpPr>
              <a:spLocks/>
            </p:cNvSpPr>
            <p:nvPr/>
          </p:nvSpPr>
          <p:spPr bwMode="auto">
            <a:xfrm>
              <a:off x="2376" y="2698"/>
              <a:ext cx="50" cy="92"/>
            </a:xfrm>
            <a:custGeom>
              <a:avLst/>
              <a:gdLst>
                <a:gd name="T0" fmla="*/ 1 w 99"/>
                <a:gd name="T1" fmla="*/ 0 h 184"/>
                <a:gd name="T2" fmla="*/ 1 w 99"/>
                <a:gd name="T3" fmla="*/ 1 h 184"/>
                <a:gd name="T4" fmla="*/ 1 w 99"/>
                <a:gd name="T5" fmla="*/ 1 h 184"/>
                <a:gd name="T6" fmla="*/ 0 w 99"/>
                <a:gd name="T7" fmla="*/ 1 h 184"/>
                <a:gd name="T8" fmla="*/ 1 w 99"/>
                <a:gd name="T9" fmla="*/ 0 h 184"/>
                <a:gd name="T10" fmla="*/ 1 w 99"/>
                <a:gd name="T11" fmla="*/ 0 h 184"/>
                <a:gd name="T12" fmla="*/ 0 60000 65536"/>
                <a:gd name="T13" fmla="*/ 0 60000 65536"/>
                <a:gd name="T14" fmla="*/ 0 60000 65536"/>
                <a:gd name="T15" fmla="*/ 0 60000 65536"/>
                <a:gd name="T16" fmla="*/ 0 60000 65536"/>
                <a:gd name="T17" fmla="*/ 0 60000 65536"/>
                <a:gd name="T18" fmla="*/ 0 w 99"/>
                <a:gd name="T19" fmla="*/ 0 h 184"/>
                <a:gd name="T20" fmla="*/ 99 w 99"/>
                <a:gd name="T21" fmla="*/ 184 h 184"/>
              </a:gdLst>
              <a:ahLst/>
              <a:cxnLst>
                <a:cxn ang="T12">
                  <a:pos x="T0" y="T1"/>
                </a:cxn>
                <a:cxn ang="T13">
                  <a:pos x="T2" y="T3"/>
                </a:cxn>
                <a:cxn ang="T14">
                  <a:pos x="T4" y="T5"/>
                </a:cxn>
                <a:cxn ang="T15">
                  <a:pos x="T6" y="T7"/>
                </a:cxn>
                <a:cxn ang="T16">
                  <a:pos x="T8" y="T9"/>
                </a:cxn>
                <a:cxn ang="T17">
                  <a:pos x="T10" y="T11"/>
                </a:cxn>
              </a:cxnLst>
              <a:rect l="T18" t="T19" r="T20" b="T21"/>
              <a:pathLst>
                <a:path w="99" h="184">
                  <a:moveTo>
                    <a:pt x="59" y="0"/>
                  </a:moveTo>
                  <a:lnTo>
                    <a:pt x="99" y="97"/>
                  </a:lnTo>
                  <a:lnTo>
                    <a:pt x="80" y="184"/>
                  </a:lnTo>
                  <a:lnTo>
                    <a:pt x="0" y="49"/>
                  </a:lnTo>
                  <a:lnTo>
                    <a:pt x="59" y="0"/>
                  </a:lnTo>
                  <a:close/>
                </a:path>
              </a:pathLst>
            </a:custGeom>
            <a:solidFill>
              <a:srgbClr val="F59E92"/>
            </a:solidFill>
            <a:ln w="9525">
              <a:noFill/>
              <a:round/>
              <a:headEnd/>
              <a:tailEnd/>
            </a:ln>
          </p:spPr>
          <p:txBody>
            <a:bodyPr/>
            <a:lstStyle/>
            <a:p>
              <a:endParaRPr lang="en-US"/>
            </a:p>
          </p:txBody>
        </p:sp>
        <p:sp>
          <p:nvSpPr>
            <p:cNvPr id="51226" name="Freeform 26"/>
            <p:cNvSpPr>
              <a:spLocks/>
            </p:cNvSpPr>
            <p:nvPr/>
          </p:nvSpPr>
          <p:spPr bwMode="auto">
            <a:xfrm>
              <a:off x="2351" y="2751"/>
              <a:ext cx="64" cy="264"/>
            </a:xfrm>
            <a:custGeom>
              <a:avLst/>
              <a:gdLst>
                <a:gd name="T0" fmla="*/ 0 w 129"/>
                <a:gd name="T1" fmla="*/ 0 h 529"/>
                <a:gd name="T2" fmla="*/ 0 w 129"/>
                <a:gd name="T3" fmla="*/ 0 h 529"/>
                <a:gd name="T4" fmla="*/ 0 w 129"/>
                <a:gd name="T5" fmla="*/ 0 h 529"/>
                <a:gd name="T6" fmla="*/ 0 w 129"/>
                <a:gd name="T7" fmla="*/ 0 h 529"/>
                <a:gd name="T8" fmla="*/ 0 w 129"/>
                <a:gd name="T9" fmla="*/ 0 h 529"/>
                <a:gd name="T10" fmla="*/ 0 w 129"/>
                <a:gd name="T11" fmla="*/ 0 h 529"/>
                <a:gd name="T12" fmla="*/ 0 w 129"/>
                <a:gd name="T13" fmla="*/ 0 h 529"/>
                <a:gd name="T14" fmla="*/ 0 w 129"/>
                <a:gd name="T15" fmla="*/ 0 h 529"/>
                <a:gd name="T16" fmla="*/ 0 w 129"/>
                <a:gd name="T17" fmla="*/ 0 h 529"/>
                <a:gd name="T18" fmla="*/ 0 w 129"/>
                <a:gd name="T19" fmla="*/ 0 h 529"/>
                <a:gd name="T20" fmla="*/ 0 w 129"/>
                <a:gd name="T21" fmla="*/ 0 h 529"/>
                <a:gd name="T22" fmla="*/ 0 w 129"/>
                <a:gd name="T23" fmla="*/ 0 h 52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29"/>
                <a:gd name="T37" fmla="*/ 0 h 529"/>
                <a:gd name="T38" fmla="*/ 129 w 129"/>
                <a:gd name="T39" fmla="*/ 529 h 52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29" h="529">
                  <a:moveTo>
                    <a:pt x="15" y="0"/>
                  </a:moveTo>
                  <a:lnTo>
                    <a:pt x="110" y="107"/>
                  </a:lnTo>
                  <a:lnTo>
                    <a:pt x="129" y="213"/>
                  </a:lnTo>
                  <a:lnTo>
                    <a:pt x="78" y="274"/>
                  </a:lnTo>
                  <a:lnTo>
                    <a:pt x="93" y="335"/>
                  </a:lnTo>
                  <a:lnTo>
                    <a:pt x="43" y="381"/>
                  </a:lnTo>
                  <a:lnTo>
                    <a:pt x="78" y="476"/>
                  </a:lnTo>
                  <a:lnTo>
                    <a:pt x="0" y="529"/>
                  </a:lnTo>
                  <a:lnTo>
                    <a:pt x="15" y="381"/>
                  </a:lnTo>
                  <a:lnTo>
                    <a:pt x="15" y="90"/>
                  </a:lnTo>
                  <a:lnTo>
                    <a:pt x="15" y="0"/>
                  </a:lnTo>
                  <a:close/>
                </a:path>
              </a:pathLst>
            </a:custGeom>
            <a:solidFill>
              <a:srgbClr val="F59E92"/>
            </a:solidFill>
            <a:ln w="9525">
              <a:noFill/>
              <a:round/>
              <a:headEnd/>
              <a:tailEnd/>
            </a:ln>
          </p:spPr>
          <p:txBody>
            <a:bodyPr/>
            <a:lstStyle/>
            <a:p>
              <a:endParaRPr lang="en-US"/>
            </a:p>
          </p:txBody>
        </p:sp>
        <p:sp>
          <p:nvSpPr>
            <p:cNvPr id="51227" name="Freeform 27"/>
            <p:cNvSpPr>
              <a:spLocks/>
            </p:cNvSpPr>
            <p:nvPr/>
          </p:nvSpPr>
          <p:spPr bwMode="auto">
            <a:xfrm>
              <a:off x="1777" y="2687"/>
              <a:ext cx="227" cy="303"/>
            </a:xfrm>
            <a:custGeom>
              <a:avLst/>
              <a:gdLst>
                <a:gd name="T0" fmla="*/ 0 w 455"/>
                <a:gd name="T1" fmla="*/ 0 h 607"/>
                <a:gd name="T2" fmla="*/ 0 w 455"/>
                <a:gd name="T3" fmla="*/ 0 h 607"/>
                <a:gd name="T4" fmla="*/ 0 w 455"/>
                <a:gd name="T5" fmla="*/ 0 h 607"/>
                <a:gd name="T6" fmla="*/ 0 w 455"/>
                <a:gd name="T7" fmla="*/ 0 h 607"/>
                <a:gd name="T8" fmla="*/ 0 w 455"/>
                <a:gd name="T9" fmla="*/ 0 h 607"/>
                <a:gd name="T10" fmla="*/ 0 w 455"/>
                <a:gd name="T11" fmla="*/ 0 h 607"/>
                <a:gd name="T12" fmla="*/ 0 w 455"/>
                <a:gd name="T13" fmla="*/ 0 h 607"/>
                <a:gd name="T14" fmla="*/ 0 w 455"/>
                <a:gd name="T15" fmla="*/ 0 h 607"/>
                <a:gd name="T16" fmla="*/ 0 w 455"/>
                <a:gd name="T17" fmla="*/ 0 h 607"/>
                <a:gd name="T18" fmla="*/ 0 w 455"/>
                <a:gd name="T19" fmla="*/ 0 h 607"/>
                <a:gd name="T20" fmla="*/ 0 w 455"/>
                <a:gd name="T21" fmla="*/ 0 h 607"/>
                <a:gd name="T22" fmla="*/ 0 w 455"/>
                <a:gd name="T23" fmla="*/ 0 h 607"/>
                <a:gd name="T24" fmla="*/ 0 w 455"/>
                <a:gd name="T25" fmla="*/ 0 h 607"/>
                <a:gd name="T26" fmla="*/ 0 w 455"/>
                <a:gd name="T27" fmla="*/ 0 h 607"/>
                <a:gd name="T28" fmla="*/ 0 w 455"/>
                <a:gd name="T29" fmla="*/ 0 h 607"/>
                <a:gd name="T30" fmla="*/ 0 w 455"/>
                <a:gd name="T31" fmla="*/ 0 h 607"/>
                <a:gd name="T32" fmla="*/ 0 w 455"/>
                <a:gd name="T33" fmla="*/ 0 h 607"/>
                <a:gd name="T34" fmla="*/ 0 w 455"/>
                <a:gd name="T35" fmla="*/ 0 h 607"/>
                <a:gd name="T36" fmla="*/ 0 w 455"/>
                <a:gd name="T37" fmla="*/ 0 h 607"/>
                <a:gd name="T38" fmla="*/ 0 w 455"/>
                <a:gd name="T39" fmla="*/ 0 h 607"/>
                <a:gd name="T40" fmla="*/ 0 w 455"/>
                <a:gd name="T41" fmla="*/ 0 h 607"/>
                <a:gd name="T42" fmla="*/ 0 w 455"/>
                <a:gd name="T43" fmla="*/ 0 h 607"/>
                <a:gd name="T44" fmla="*/ 0 w 455"/>
                <a:gd name="T45" fmla="*/ 0 h 607"/>
                <a:gd name="T46" fmla="*/ 0 w 455"/>
                <a:gd name="T47" fmla="*/ 0 h 607"/>
                <a:gd name="T48" fmla="*/ 0 w 455"/>
                <a:gd name="T49" fmla="*/ 0 h 607"/>
                <a:gd name="T50" fmla="*/ 0 w 455"/>
                <a:gd name="T51" fmla="*/ 0 h 607"/>
                <a:gd name="T52" fmla="*/ 0 w 455"/>
                <a:gd name="T53" fmla="*/ 0 h 607"/>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455"/>
                <a:gd name="T82" fmla="*/ 0 h 607"/>
                <a:gd name="T83" fmla="*/ 455 w 455"/>
                <a:gd name="T84" fmla="*/ 607 h 607"/>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455" h="607">
                  <a:moveTo>
                    <a:pt x="0" y="40"/>
                  </a:moveTo>
                  <a:lnTo>
                    <a:pt x="78" y="78"/>
                  </a:lnTo>
                  <a:lnTo>
                    <a:pt x="179" y="86"/>
                  </a:lnTo>
                  <a:lnTo>
                    <a:pt x="285" y="160"/>
                  </a:lnTo>
                  <a:lnTo>
                    <a:pt x="297" y="242"/>
                  </a:lnTo>
                  <a:lnTo>
                    <a:pt x="200" y="375"/>
                  </a:lnTo>
                  <a:lnTo>
                    <a:pt x="247" y="367"/>
                  </a:lnTo>
                  <a:lnTo>
                    <a:pt x="215" y="548"/>
                  </a:lnTo>
                  <a:lnTo>
                    <a:pt x="230" y="607"/>
                  </a:lnTo>
                  <a:lnTo>
                    <a:pt x="276" y="546"/>
                  </a:lnTo>
                  <a:lnTo>
                    <a:pt x="329" y="589"/>
                  </a:lnTo>
                  <a:lnTo>
                    <a:pt x="411" y="588"/>
                  </a:lnTo>
                  <a:lnTo>
                    <a:pt x="455" y="570"/>
                  </a:lnTo>
                  <a:lnTo>
                    <a:pt x="394" y="565"/>
                  </a:lnTo>
                  <a:lnTo>
                    <a:pt x="358" y="534"/>
                  </a:lnTo>
                  <a:lnTo>
                    <a:pt x="342" y="485"/>
                  </a:lnTo>
                  <a:lnTo>
                    <a:pt x="358" y="350"/>
                  </a:lnTo>
                  <a:lnTo>
                    <a:pt x="346" y="297"/>
                  </a:lnTo>
                  <a:lnTo>
                    <a:pt x="358" y="232"/>
                  </a:lnTo>
                  <a:lnTo>
                    <a:pt x="339" y="133"/>
                  </a:lnTo>
                  <a:lnTo>
                    <a:pt x="306" y="80"/>
                  </a:lnTo>
                  <a:lnTo>
                    <a:pt x="289" y="36"/>
                  </a:lnTo>
                  <a:lnTo>
                    <a:pt x="261" y="0"/>
                  </a:lnTo>
                  <a:lnTo>
                    <a:pt x="253" y="50"/>
                  </a:lnTo>
                  <a:lnTo>
                    <a:pt x="111" y="17"/>
                  </a:lnTo>
                  <a:lnTo>
                    <a:pt x="0" y="40"/>
                  </a:lnTo>
                  <a:close/>
                </a:path>
              </a:pathLst>
            </a:custGeom>
            <a:solidFill>
              <a:srgbClr val="F59E92"/>
            </a:solidFill>
            <a:ln w="9525">
              <a:noFill/>
              <a:round/>
              <a:headEnd/>
              <a:tailEnd/>
            </a:ln>
          </p:spPr>
          <p:txBody>
            <a:bodyPr/>
            <a:lstStyle/>
            <a:p>
              <a:endParaRPr lang="en-US"/>
            </a:p>
          </p:txBody>
        </p:sp>
        <p:sp>
          <p:nvSpPr>
            <p:cNvPr id="51228" name="Freeform 28"/>
            <p:cNvSpPr>
              <a:spLocks/>
            </p:cNvSpPr>
            <p:nvPr/>
          </p:nvSpPr>
          <p:spPr bwMode="auto">
            <a:xfrm>
              <a:off x="1762" y="2731"/>
              <a:ext cx="56" cy="60"/>
            </a:xfrm>
            <a:custGeom>
              <a:avLst/>
              <a:gdLst>
                <a:gd name="T0" fmla="*/ 0 w 110"/>
                <a:gd name="T1" fmla="*/ 1 h 119"/>
                <a:gd name="T2" fmla="*/ 1 w 110"/>
                <a:gd name="T3" fmla="*/ 1 h 119"/>
                <a:gd name="T4" fmla="*/ 1 w 110"/>
                <a:gd name="T5" fmla="*/ 1 h 119"/>
                <a:gd name="T6" fmla="*/ 1 w 110"/>
                <a:gd name="T7" fmla="*/ 0 h 119"/>
                <a:gd name="T8" fmla="*/ 1 w 110"/>
                <a:gd name="T9" fmla="*/ 1 h 119"/>
                <a:gd name="T10" fmla="*/ 0 w 110"/>
                <a:gd name="T11" fmla="*/ 1 h 119"/>
                <a:gd name="T12" fmla="*/ 0 w 110"/>
                <a:gd name="T13" fmla="*/ 1 h 119"/>
                <a:gd name="T14" fmla="*/ 0 60000 65536"/>
                <a:gd name="T15" fmla="*/ 0 60000 65536"/>
                <a:gd name="T16" fmla="*/ 0 60000 65536"/>
                <a:gd name="T17" fmla="*/ 0 60000 65536"/>
                <a:gd name="T18" fmla="*/ 0 60000 65536"/>
                <a:gd name="T19" fmla="*/ 0 60000 65536"/>
                <a:gd name="T20" fmla="*/ 0 60000 65536"/>
                <a:gd name="T21" fmla="*/ 0 w 110"/>
                <a:gd name="T22" fmla="*/ 0 h 119"/>
                <a:gd name="T23" fmla="*/ 110 w 110"/>
                <a:gd name="T24" fmla="*/ 119 h 11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0" h="119">
                  <a:moveTo>
                    <a:pt x="0" y="119"/>
                  </a:moveTo>
                  <a:lnTo>
                    <a:pt x="4" y="45"/>
                  </a:lnTo>
                  <a:lnTo>
                    <a:pt x="57" y="11"/>
                  </a:lnTo>
                  <a:lnTo>
                    <a:pt x="110" y="0"/>
                  </a:lnTo>
                  <a:lnTo>
                    <a:pt x="78" y="53"/>
                  </a:lnTo>
                  <a:lnTo>
                    <a:pt x="0" y="119"/>
                  </a:lnTo>
                  <a:close/>
                </a:path>
              </a:pathLst>
            </a:custGeom>
            <a:solidFill>
              <a:srgbClr val="E08477"/>
            </a:solidFill>
            <a:ln w="9525">
              <a:noFill/>
              <a:round/>
              <a:headEnd/>
              <a:tailEnd/>
            </a:ln>
          </p:spPr>
          <p:txBody>
            <a:bodyPr/>
            <a:lstStyle/>
            <a:p>
              <a:endParaRPr lang="en-US"/>
            </a:p>
          </p:txBody>
        </p:sp>
        <p:sp>
          <p:nvSpPr>
            <p:cNvPr id="51229" name="Freeform 29"/>
            <p:cNvSpPr>
              <a:spLocks/>
            </p:cNvSpPr>
            <p:nvPr/>
          </p:nvSpPr>
          <p:spPr bwMode="auto">
            <a:xfrm>
              <a:off x="2117" y="2742"/>
              <a:ext cx="87" cy="52"/>
            </a:xfrm>
            <a:custGeom>
              <a:avLst/>
              <a:gdLst>
                <a:gd name="T0" fmla="*/ 0 w 175"/>
                <a:gd name="T1" fmla="*/ 0 h 105"/>
                <a:gd name="T2" fmla="*/ 0 w 175"/>
                <a:gd name="T3" fmla="*/ 0 h 105"/>
                <a:gd name="T4" fmla="*/ 0 w 175"/>
                <a:gd name="T5" fmla="*/ 0 h 105"/>
                <a:gd name="T6" fmla="*/ 0 w 175"/>
                <a:gd name="T7" fmla="*/ 0 h 105"/>
                <a:gd name="T8" fmla="*/ 0 w 175"/>
                <a:gd name="T9" fmla="*/ 0 h 105"/>
                <a:gd name="T10" fmla="*/ 0 w 175"/>
                <a:gd name="T11" fmla="*/ 0 h 105"/>
                <a:gd name="T12" fmla="*/ 0 w 175"/>
                <a:gd name="T13" fmla="*/ 0 h 105"/>
                <a:gd name="T14" fmla="*/ 0 w 175"/>
                <a:gd name="T15" fmla="*/ 0 h 105"/>
                <a:gd name="T16" fmla="*/ 0 w 175"/>
                <a:gd name="T17" fmla="*/ 0 h 10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75"/>
                <a:gd name="T28" fmla="*/ 0 h 105"/>
                <a:gd name="T29" fmla="*/ 175 w 175"/>
                <a:gd name="T30" fmla="*/ 105 h 10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75" h="105">
                  <a:moveTo>
                    <a:pt x="0" y="78"/>
                  </a:moveTo>
                  <a:lnTo>
                    <a:pt x="63" y="105"/>
                  </a:lnTo>
                  <a:lnTo>
                    <a:pt x="123" y="97"/>
                  </a:lnTo>
                  <a:lnTo>
                    <a:pt x="175" y="29"/>
                  </a:lnTo>
                  <a:lnTo>
                    <a:pt x="137" y="0"/>
                  </a:lnTo>
                  <a:lnTo>
                    <a:pt x="116" y="31"/>
                  </a:lnTo>
                  <a:lnTo>
                    <a:pt x="53" y="71"/>
                  </a:lnTo>
                  <a:lnTo>
                    <a:pt x="0" y="78"/>
                  </a:lnTo>
                  <a:close/>
                </a:path>
              </a:pathLst>
            </a:custGeom>
            <a:solidFill>
              <a:srgbClr val="F59E92"/>
            </a:solidFill>
            <a:ln w="9525">
              <a:noFill/>
              <a:round/>
              <a:headEnd/>
              <a:tailEnd/>
            </a:ln>
          </p:spPr>
          <p:txBody>
            <a:bodyPr/>
            <a:lstStyle/>
            <a:p>
              <a:endParaRPr lang="en-US"/>
            </a:p>
          </p:txBody>
        </p:sp>
        <p:sp>
          <p:nvSpPr>
            <p:cNvPr id="51230" name="Freeform 30"/>
            <p:cNvSpPr>
              <a:spLocks/>
            </p:cNvSpPr>
            <p:nvPr/>
          </p:nvSpPr>
          <p:spPr bwMode="auto">
            <a:xfrm>
              <a:off x="1752" y="2810"/>
              <a:ext cx="98" cy="31"/>
            </a:xfrm>
            <a:custGeom>
              <a:avLst/>
              <a:gdLst>
                <a:gd name="T0" fmla="*/ 1 w 196"/>
                <a:gd name="T1" fmla="*/ 0 h 63"/>
                <a:gd name="T2" fmla="*/ 1 w 196"/>
                <a:gd name="T3" fmla="*/ 0 h 63"/>
                <a:gd name="T4" fmla="*/ 1 w 196"/>
                <a:gd name="T5" fmla="*/ 0 h 63"/>
                <a:gd name="T6" fmla="*/ 1 w 196"/>
                <a:gd name="T7" fmla="*/ 0 h 63"/>
                <a:gd name="T8" fmla="*/ 1 w 196"/>
                <a:gd name="T9" fmla="*/ 0 h 63"/>
                <a:gd name="T10" fmla="*/ 0 w 196"/>
                <a:gd name="T11" fmla="*/ 0 h 63"/>
                <a:gd name="T12" fmla="*/ 1 w 196"/>
                <a:gd name="T13" fmla="*/ 0 h 63"/>
                <a:gd name="T14" fmla="*/ 1 w 196"/>
                <a:gd name="T15" fmla="*/ 0 h 63"/>
                <a:gd name="T16" fmla="*/ 0 60000 65536"/>
                <a:gd name="T17" fmla="*/ 0 60000 65536"/>
                <a:gd name="T18" fmla="*/ 0 60000 65536"/>
                <a:gd name="T19" fmla="*/ 0 60000 65536"/>
                <a:gd name="T20" fmla="*/ 0 60000 65536"/>
                <a:gd name="T21" fmla="*/ 0 60000 65536"/>
                <a:gd name="T22" fmla="*/ 0 60000 65536"/>
                <a:gd name="T23" fmla="*/ 0 60000 65536"/>
                <a:gd name="T24" fmla="*/ 0 w 196"/>
                <a:gd name="T25" fmla="*/ 0 h 63"/>
                <a:gd name="T26" fmla="*/ 196 w 196"/>
                <a:gd name="T27" fmla="*/ 63 h 6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96" h="63">
                  <a:moveTo>
                    <a:pt x="17" y="0"/>
                  </a:moveTo>
                  <a:lnTo>
                    <a:pt x="112" y="16"/>
                  </a:lnTo>
                  <a:lnTo>
                    <a:pt x="196" y="6"/>
                  </a:lnTo>
                  <a:lnTo>
                    <a:pt x="127" y="63"/>
                  </a:lnTo>
                  <a:lnTo>
                    <a:pt x="49" y="55"/>
                  </a:lnTo>
                  <a:lnTo>
                    <a:pt x="0" y="12"/>
                  </a:lnTo>
                  <a:lnTo>
                    <a:pt x="17" y="0"/>
                  </a:lnTo>
                  <a:close/>
                </a:path>
              </a:pathLst>
            </a:custGeom>
            <a:solidFill>
              <a:srgbClr val="F59E92"/>
            </a:solidFill>
            <a:ln w="9525">
              <a:noFill/>
              <a:round/>
              <a:headEnd/>
              <a:tailEnd/>
            </a:ln>
          </p:spPr>
          <p:txBody>
            <a:bodyPr/>
            <a:lstStyle/>
            <a:p>
              <a:endParaRPr lang="en-US"/>
            </a:p>
          </p:txBody>
        </p:sp>
        <p:sp>
          <p:nvSpPr>
            <p:cNvPr id="51231" name="Freeform 31"/>
            <p:cNvSpPr>
              <a:spLocks/>
            </p:cNvSpPr>
            <p:nvPr/>
          </p:nvSpPr>
          <p:spPr bwMode="auto">
            <a:xfrm>
              <a:off x="2021" y="2654"/>
              <a:ext cx="195" cy="110"/>
            </a:xfrm>
            <a:custGeom>
              <a:avLst/>
              <a:gdLst>
                <a:gd name="T0" fmla="*/ 1 w 390"/>
                <a:gd name="T1" fmla="*/ 1 h 220"/>
                <a:gd name="T2" fmla="*/ 0 w 390"/>
                <a:gd name="T3" fmla="*/ 1 h 220"/>
                <a:gd name="T4" fmla="*/ 0 w 390"/>
                <a:gd name="T5" fmla="*/ 1 h 220"/>
                <a:gd name="T6" fmla="*/ 1 w 390"/>
                <a:gd name="T7" fmla="*/ 1 h 220"/>
                <a:gd name="T8" fmla="*/ 1 w 390"/>
                <a:gd name="T9" fmla="*/ 0 h 220"/>
                <a:gd name="T10" fmla="*/ 1 w 390"/>
                <a:gd name="T11" fmla="*/ 1 h 220"/>
                <a:gd name="T12" fmla="*/ 1 w 390"/>
                <a:gd name="T13" fmla="*/ 1 h 220"/>
                <a:gd name="T14" fmla="*/ 1 w 390"/>
                <a:gd name="T15" fmla="*/ 1 h 220"/>
                <a:gd name="T16" fmla="*/ 1 w 390"/>
                <a:gd name="T17" fmla="*/ 1 h 220"/>
                <a:gd name="T18" fmla="*/ 1 w 390"/>
                <a:gd name="T19" fmla="*/ 1 h 220"/>
                <a:gd name="T20" fmla="*/ 1 w 390"/>
                <a:gd name="T21" fmla="*/ 1 h 220"/>
                <a:gd name="T22" fmla="*/ 1 w 390"/>
                <a:gd name="T23" fmla="*/ 1 h 220"/>
                <a:gd name="T24" fmla="*/ 1 w 390"/>
                <a:gd name="T25" fmla="*/ 1 h 220"/>
                <a:gd name="T26" fmla="*/ 1 w 390"/>
                <a:gd name="T27" fmla="*/ 1 h 220"/>
                <a:gd name="T28" fmla="*/ 1 w 390"/>
                <a:gd name="T29" fmla="*/ 1 h 220"/>
                <a:gd name="T30" fmla="*/ 1 w 390"/>
                <a:gd name="T31" fmla="*/ 1 h 220"/>
                <a:gd name="T32" fmla="*/ 1 w 390"/>
                <a:gd name="T33" fmla="*/ 1 h 220"/>
                <a:gd name="T34" fmla="*/ 1 w 390"/>
                <a:gd name="T35" fmla="*/ 1 h 220"/>
                <a:gd name="T36" fmla="*/ 1 w 390"/>
                <a:gd name="T37" fmla="*/ 1 h 220"/>
                <a:gd name="T38" fmla="*/ 1 w 390"/>
                <a:gd name="T39" fmla="*/ 1 h 220"/>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390"/>
                <a:gd name="T61" fmla="*/ 0 h 220"/>
                <a:gd name="T62" fmla="*/ 390 w 390"/>
                <a:gd name="T63" fmla="*/ 220 h 220"/>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390" h="220">
                  <a:moveTo>
                    <a:pt x="25" y="180"/>
                  </a:moveTo>
                  <a:lnTo>
                    <a:pt x="0" y="152"/>
                  </a:lnTo>
                  <a:lnTo>
                    <a:pt x="0" y="62"/>
                  </a:lnTo>
                  <a:lnTo>
                    <a:pt x="114" y="9"/>
                  </a:lnTo>
                  <a:lnTo>
                    <a:pt x="251" y="0"/>
                  </a:lnTo>
                  <a:lnTo>
                    <a:pt x="367" y="28"/>
                  </a:lnTo>
                  <a:lnTo>
                    <a:pt x="308" y="49"/>
                  </a:lnTo>
                  <a:lnTo>
                    <a:pt x="390" y="62"/>
                  </a:lnTo>
                  <a:lnTo>
                    <a:pt x="357" y="93"/>
                  </a:lnTo>
                  <a:lnTo>
                    <a:pt x="344" y="106"/>
                  </a:lnTo>
                  <a:lnTo>
                    <a:pt x="354" y="161"/>
                  </a:lnTo>
                  <a:lnTo>
                    <a:pt x="321" y="155"/>
                  </a:lnTo>
                  <a:lnTo>
                    <a:pt x="247" y="87"/>
                  </a:lnTo>
                  <a:lnTo>
                    <a:pt x="186" y="66"/>
                  </a:lnTo>
                  <a:lnTo>
                    <a:pt x="133" y="76"/>
                  </a:lnTo>
                  <a:lnTo>
                    <a:pt x="93" y="117"/>
                  </a:lnTo>
                  <a:lnTo>
                    <a:pt x="74" y="173"/>
                  </a:lnTo>
                  <a:lnTo>
                    <a:pt x="47" y="220"/>
                  </a:lnTo>
                  <a:lnTo>
                    <a:pt x="25" y="180"/>
                  </a:lnTo>
                  <a:close/>
                </a:path>
              </a:pathLst>
            </a:custGeom>
            <a:solidFill>
              <a:srgbClr val="F59E92"/>
            </a:solidFill>
            <a:ln w="9525">
              <a:noFill/>
              <a:round/>
              <a:headEnd/>
              <a:tailEnd/>
            </a:ln>
          </p:spPr>
          <p:txBody>
            <a:bodyPr/>
            <a:lstStyle/>
            <a:p>
              <a:endParaRPr lang="en-US"/>
            </a:p>
          </p:txBody>
        </p:sp>
        <p:sp>
          <p:nvSpPr>
            <p:cNvPr id="51232" name="Freeform 32"/>
            <p:cNvSpPr>
              <a:spLocks/>
            </p:cNvSpPr>
            <p:nvPr/>
          </p:nvSpPr>
          <p:spPr bwMode="auto">
            <a:xfrm>
              <a:off x="1651" y="2412"/>
              <a:ext cx="702" cy="1094"/>
            </a:xfrm>
            <a:custGeom>
              <a:avLst/>
              <a:gdLst>
                <a:gd name="T0" fmla="*/ 1 w 1403"/>
                <a:gd name="T1" fmla="*/ 1 h 2188"/>
                <a:gd name="T2" fmla="*/ 1 w 1403"/>
                <a:gd name="T3" fmla="*/ 1 h 2188"/>
                <a:gd name="T4" fmla="*/ 1 w 1403"/>
                <a:gd name="T5" fmla="*/ 1 h 2188"/>
                <a:gd name="T6" fmla="*/ 1 w 1403"/>
                <a:gd name="T7" fmla="*/ 1 h 2188"/>
                <a:gd name="T8" fmla="*/ 1 w 1403"/>
                <a:gd name="T9" fmla="*/ 1 h 2188"/>
                <a:gd name="T10" fmla="*/ 1 w 1403"/>
                <a:gd name="T11" fmla="*/ 1 h 2188"/>
                <a:gd name="T12" fmla="*/ 1 w 1403"/>
                <a:gd name="T13" fmla="*/ 1 h 2188"/>
                <a:gd name="T14" fmla="*/ 1 w 1403"/>
                <a:gd name="T15" fmla="*/ 1 h 2188"/>
                <a:gd name="T16" fmla="*/ 1 w 1403"/>
                <a:gd name="T17" fmla="*/ 1 h 2188"/>
                <a:gd name="T18" fmla="*/ 1 w 1403"/>
                <a:gd name="T19" fmla="*/ 1 h 2188"/>
                <a:gd name="T20" fmla="*/ 1 w 1403"/>
                <a:gd name="T21" fmla="*/ 1 h 2188"/>
                <a:gd name="T22" fmla="*/ 1 w 1403"/>
                <a:gd name="T23" fmla="*/ 1 h 2188"/>
                <a:gd name="T24" fmla="*/ 1 w 1403"/>
                <a:gd name="T25" fmla="*/ 1 h 2188"/>
                <a:gd name="T26" fmla="*/ 1 w 1403"/>
                <a:gd name="T27" fmla="*/ 1 h 2188"/>
                <a:gd name="T28" fmla="*/ 1 w 1403"/>
                <a:gd name="T29" fmla="*/ 1 h 2188"/>
                <a:gd name="T30" fmla="*/ 1 w 1403"/>
                <a:gd name="T31" fmla="*/ 1 h 2188"/>
                <a:gd name="T32" fmla="*/ 1 w 1403"/>
                <a:gd name="T33" fmla="*/ 1 h 2188"/>
                <a:gd name="T34" fmla="*/ 1 w 1403"/>
                <a:gd name="T35" fmla="*/ 1 h 2188"/>
                <a:gd name="T36" fmla="*/ 1 w 1403"/>
                <a:gd name="T37" fmla="*/ 1 h 2188"/>
                <a:gd name="T38" fmla="*/ 1 w 1403"/>
                <a:gd name="T39" fmla="*/ 1 h 2188"/>
                <a:gd name="T40" fmla="*/ 1 w 1403"/>
                <a:gd name="T41" fmla="*/ 1 h 2188"/>
                <a:gd name="T42" fmla="*/ 1 w 1403"/>
                <a:gd name="T43" fmla="*/ 1 h 2188"/>
                <a:gd name="T44" fmla="*/ 1 w 1403"/>
                <a:gd name="T45" fmla="*/ 1 h 2188"/>
                <a:gd name="T46" fmla="*/ 1 w 1403"/>
                <a:gd name="T47" fmla="*/ 1 h 2188"/>
                <a:gd name="T48" fmla="*/ 1 w 1403"/>
                <a:gd name="T49" fmla="*/ 1 h 2188"/>
                <a:gd name="T50" fmla="*/ 1 w 1403"/>
                <a:gd name="T51" fmla="*/ 1 h 2188"/>
                <a:gd name="T52" fmla="*/ 1 w 1403"/>
                <a:gd name="T53" fmla="*/ 1 h 2188"/>
                <a:gd name="T54" fmla="*/ 1 w 1403"/>
                <a:gd name="T55" fmla="*/ 1 h 2188"/>
                <a:gd name="T56" fmla="*/ 1 w 1403"/>
                <a:gd name="T57" fmla="*/ 1 h 2188"/>
                <a:gd name="T58" fmla="*/ 0 w 1403"/>
                <a:gd name="T59" fmla="*/ 1 h 2188"/>
                <a:gd name="T60" fmla="*/ 1 w 1403"/>
                <a:gd name="T61" fmla="*/ 1 h 2188"/>
                <a:gd name="T62" fmla="*/ 1 w 1403"/>
                <a:gd name="T63" fmla="*/ 1 h 2188"/>
                <a:gd name="T64" fmla="*/ 1 w 1403"/>
                <a:gd name="T65" fmla="*/ 0 h 218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403"/>
                <a:gd name="T100" fmla="*/ 0 h 2188"/>
                <a:gd name="T101" fmla="*/ 1403 w 1403"/>
                <a:gd name="T102" fmla="*/ 2188 h 218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403" h="2188">
                  <a:moveTo>
                    <a:pt x="428" y="0"/>
                  </a:moveTo>
                  <a:lnTo>
                    <a:pt x="244" y="112"/>
                  </a:lnTo>
                  <a:lnTo>
                    <a:pt x="211" y="234"/>
                  </a:lnTo>
                  <a:lnTo>
                    <a:pt x="234" y="313"/>
                  </a:lnTo>
                  <a:lnTo>
                    <a:pt x="413" y="340"/>
                  </a:lnTo>
                  <a:lnTo>
                    <a:pt x="268" y="393"/>
                  </a:lnTo>
                  <a:lnTo>
                    <a:pt x="240" y="448"/>
                  </a:lnTo>
                  <a:lnTo>
                    <a:pt x="360" y="412"/>
                  </a:lnTo>
                  <a:lnTo>
                    <a:pt x="535" y="393"/>
                  </a:lnTo>
                  <a:lnTo>
                    <a:pt x="799" y="317"/>
                  </a:lnTo>
                  <a:lnTo>
                    <a:pt x="620" y="429"/>
                  </a:lnTo>
                  <a:lnTo>
                    <a:pt x="483" y="481"/>
                  </a:lnTo>
                  <a:lnTo>
                    <a:pt x="295" y="481"/>
                  </a:lnTo>
                  <a:lnTo>
                    <a:pt x="173" y="509"/>
                  </a:lnTo>
                  <a:lnTo>
                    <a:pt x="139" y="599"/>
                  </a:lnTo>
                  <a:lnTo>
                    <a:pt x="122" y="726"/>
                  </a:lnTo>
                  <a:lnTo>
                    <a:pt x="154" y="781"/>
                  </a:lnTo>
                  <a:lnTo>
                    <a:pt x="141" y="895"/>
                  </a:lnTo>
                  <a:lnTo>
                    <a:pt x="192" y="1057"/>
                  </a:lnTo>
                  <a:lnTo>
                    <a:pt x="308" y="1319"/>
                  </a:lnTo>
                  <a:lnTo>
                    <a:pt x="360" y="1456"/>
                  </a:lnTo>
                  <a:lnTo>
                    <a:pt x="403" y="1521"/>
                  </a:lnTo>
                  <a:lnTo>
                    <a:pt x="470" y="1469"/>
                  </a:lnTo>
                  <a:lnTo>
                    <a:pt x="510" y="1484"/>
                  </a:lnTo>
                  <a:lnTo>
                    <a:pt x="535" y="1433"/>
                  </a:lnTo>
                  <a:lnTo>
                    <a:pt x="624" y="1475"/>
                  </a:lnTo>
                  <a:lnTo>
                    <a:pt x="727" y="1460"/>
                  </a:lnTo>
                  <a:lnTo>
                    <a:pt x="850" y="1475"/>
                  </a:lnTo>
                  <a:lnTo>
                    <a:pt x="911" y="1443"/>
                  </a:lnTo>
                  <a:lnTo>
                    <a:pt x="915" y="1521"/>
                  </a:lnTo>
                  <a:lnTo>
                    <a:pt x="862" y="1574"/>
                  </a:lnTo>
                  <a:lnTo>
                    <a:pt x="700" y="1564"/>
                  </a:lnTo>
                  <a:lnTo>
                    <a:pt x="605" y="1591"/>
                  </a:lnTo>
                  <a:lnTo>
                    <a:pt x="590" y="1661"/>
                  </a:lnTo>
                  <a:lnTo>
                    <a:pt x="641" y="1722"/>
                  </a:lnTo>
                  <a:lnTo>
                    <a:pt x="727" y="1724"/>
                  </a:lnTo>
                  <a:lnTo>
                    <a:pt x="941" y="1680"/>
                  </a:lnTo>
                  <a:lnTo>
                    <a:pt x="1116" y="1555"/>
                  </a:lnTo>
                  <a:lnTo>
                    <a:pt x="1211" y="1494"/>
                  </a:lnTo>
                  <a:lnTo>
                    <a:pt x="1289" y="1408"/>
                  </a:lnTo>
                  <a:lnTo>
                    <a:pt x="1403" y="1239"/>
                  </a:lnTo>
                  <a:lnTo>
                    <a:pt x="1324" y="1424"/>
                  </a:lnTo>
                  <a:lnTo>
                    <a:pt x="1219" y="1591"/>
                  </a:lnTo>
                  <a:lnTo>
                    <a:pt x="1052" y="1773"/>
                  </a:lnTo>
                  <a:lnTo>
                    <a:pt x="976" y="1872"/>
                  </a:lnTo>
                  <a:lnTo>
                    <a:pt x="901" y="2019"/>
                  </a:lnTo>
                  <a:lnTo>
                    <a:pt x="782" y="1914"/>
                  </a:lnTo>
                  <a:lnTo>
                    <a:pt x="694" y="1897"/>
                  </a:lnTo>
                  <a:lnTo>
                    <a:pt x="797" y="2131"/>
                  </a:lnTo>
                  <a:lnTo>
                    <a:pt x="690" y="2089"/>
                  </a:lnTo>
                  <a:lnTo>
                    <a:pt x="694" y="2188"/>
                  </a:lnTo>
                  <a:lnTo>
                    <a:pt x="586" y="2047"/>
                  </a:lnTo>
                  <a:lnTo>
                    <a:pt x="403" y="1621"/>
                  </a:lnTo>
                  <a:lnTo>
                    <a:pt x="259" y="1536"/>
                  </a:lnTo>
                  <a:lnTo>
                    <a:pt x="202" y="1490"/>
                  </a:lnTo>
                  <a:lnTo>
                    <a:pt x="71" y="1095"/>
                  </a:lnTo>
                  <a:lnTo>
                    <a:pt x="36" y="927"/>
                  </a:lnTo>
                  <a:lnTo>
                    <a:pt x="27" y="781"/>
                  </a:lnTo>
                  <a:lnTo>
                    <a:pt x="8" y="585"/>
                  </a:lnTo>
                  <a:lnTo>
                    <a:pt x="0" y="467"/>
                  </a:lnTo>
                  <a:lnTo>
                    <a:pt x="27" y="308"/>
                  </a:lnTo>
                  <a:lnTo>
                    <a:pt x="33" y="186"/>
                  </a:lnTo>
                  <a:lnTo>
                    <a:pt x="59" y="116"/>
                  </a:lnTo>
                  <a:lnTo>
                    <a:pt x="192" y="61"/>
                  </a:lnTo>
                  <a:lnTo>
                    <a:pt x="244" y="19"/>
                  </a:lnTo>
                  <a:lnTo>
                    <a:pt x="428" y="0"/>
                  </a:lnTo>
                  <a:close/>
                </a:path>
              </a:pathLst>
            </a:custGeom>
            <a:solidFill>
              <a:srgbClr val="F59E92"/>
            </a:solidFill>
            <a:ln w="9525">
              <a:noFill/>
              <a:round/>
              <a:headEnd/>
              <a:tailEnd/>
            </a:ln>
          </p:spPr>
          <p:txBody>
            <a:bodyPr/>
            <a:lstStyle/>
            <a:p>
              <a:endParaRPr lang="en-US"/>
            </a:p>
          </p:txBody>
        </p:sp>
        <p:sp>
          <p:nvSpPr>
            <p:cNvPr id="51233" name="Freeform 33"/>
            <p:cNvSpPr>
              <a:spLocks/>
            </p:cNvSpPr>
            <p:nvPr/>
          </p:nvSpPr>
          <p:spPr bwMode="auto">
            <a:xfrm>
              <a:off x="1837" y="2761"/>
              <a:ext cx="10" cy="13"/>
            </a:xfrm>
            <a:custGeom>
              <a:avLst/>
              <a:gdLst>
                <a:gd name="T0" fmla="*/ 0 w 21"/>
                <a:gd name="T1" fmla="*/ 0 h 25"/>
                <a:gd name="T2" fmla="*/ 0 w 21"/>
                <a:gd name="T3" fmla="*/ 1 h 25"/>
                <a:gd name="T4" fmla="*/ 0 w 21"/>
                <a:gd name="T5" fmla="*/ 1 h 25"/>
                <a:gd name="T6" fmla="*/ 0 w 21"/>
                <a:gd name="T7" fmla="*/ 1 h 25"/>
                <a:gd name="T8" fmla="*/ 0 w 21"/>
                <a:gd name="T9" fmla="*/ 1 h 25"/>
                <a:gd name="T10" fmla="*/ 0 w 21"/>
                <a:gd name="T11" fmla="*/ 0 h 25"/>
                <a:gd name="T12" fmla="*/ 0 w 21"/>
                <a:gd name="T13" fmla="*/ 0 h 25"/>
                <a:gd name="T14" fmla="*/ 0 60000 65536"/>
                <a:gd name="T15" fmla="*/ 0 60000 65536"/>
                <a:gd name="T16" fmla="*/ 0 60000 65536"/>
                <a:gd name="T17" fmla="*/ 0 60000 65536"/>
                <a:gd name="T18" fmla="*/ 0 60000 65536"/>
                <a:gd name="T19" fmla="*/ 0 60000 65536"/>
                <a:gd name="T20" fmla="*/ 0 60000 65536"/>
                <a:gd name="T21" fmla="*/ 0 w 21"/>
                <a:gd name="T22" fmla="*/ 0 h 25"/>
                <a:gd name="T23" fmla="*/ 21 w 21"/>
                <a:gd name="T24" fmla="*/ 25 h 2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1" h="25">
                  <a:moveTo>
                    <a:pt x="6" y="0"/>
                  </a:moveTo>
                  <a:lnTo>
                    <a:pt x="0" y="12"/>
                  </a:lnTo>
                  <a:lnTo>
                    <a:pt x="8" y="25"/>
                  </a:lnTo>
                  <a:lnTo>
                    <a:pt x="21" y="16"/>
                  </a:lnTo>
                  <a:lnTo>
                    <a:pt x="21" y="4"/>
                  </a:lnTo>
                  <a:lnTo>
                    <a:pt x="6" y="0"/>
                  </a:lnTo>
                  <a:close/>
                </a:path>
              </a:pathLst>
            </a:custGeom>
            <a:solidFill>
              <a:srgbClr val="FFFFFF"/>
            </a:solidFill>
            <a:ln w="9525">
              <a:noFill/>
              <a:round/>
              <a:headEnd/>
              <a:tailEnd/>
            </a:ln>
          </p:spPr>
          <p:txBody>
            <a:bodyPr/>
            <a:lstStyle/>
            <a:p>
              <a:endParaRPr lang="en-US"/>
            </a:p>
          </p:txBody>
        </p:sp>
        <p:sp>
          <p:nvSpPr>
            <p:cNvPr id="51234" name="Freeform 34"/>
            <p:cNvSpPr>
              <a:spLocks/>
            </p:cNvSpPr>
            <p:nvPr/>
          </p:nvSpPr>
          <p:spPr bwMode="auto">
            <a:xfrm>
              <a:off x="2145" y="2725"/>
              <a:ext cx="11" cy="12"/>
            </a:xfrm>
            <a:custGeom>
              <a:avLst/>
              <a:gdLst>
                <a:gd name="T0" fmla="*/ 0 w 23"/>
                <a:gd name="T1" fmla="*/ 0 h 25"/>
                <a:gd name="T2" fmla="*/ 0 w 23"/>
                <a:gd name="T3" fmla="*/ 0 h 25"/>
                <a:gd name="T4" fmla="*/ 0 w 23"/>
                <a:gd name="T5" fmla="*/ 0 h 25"/>
                <a:gd name="T6" fmla="*/ 0 w 23"/>
                <a:gd name="T7" fmla="*/ 0 h 25"/>
                <a:gd name="T8" fmla="*/ 0 w 23"/>
                <a:gd name="T9" fmla="*/ 0 h 25"/>
                <a:gd name="T10" fmla="*/ 0 w 23"/>
                <a:gd name="T11" fmla="*/ 0 h 25"/>
                <a:gd name="T12" fmla="*/ 0 w 23"/>
                <a:gd name="T13" fmla="*/ 0 h 25"/>
                <a:gd name="T14" fmla="*/ 0 60000 65536"/>
                <a:gd name="T15" fmla="*/ 0 60000 65536"/>
                <a:gd name="T16" fmla="*/ 0 60000 65536"/>
                <a:gd name="T17" fmla="*/ 0 60000 65536"/>
                <a:gd name="T18" fmla="*/ 0 60000 65536"/>
                <a:gd name="T19" fmla="*/ 0 60000 65536"/>
                <a:gd name="T20" fmla="*/ 0 60000 65536"/>
                <a:gd name="T21" fmla="*/ 0 w 23"/>
                <a:gd name="T22" fmla="*/ 0 h 25"/>
                <a:gd name="T23" fmla="*/ 23 w 23"/>
                <a:gd name="T24" fmla="*/ 25 h 2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3" h="25">
                  <a:moveTo>
                    <a:pt x="0" y="4"/>
                  </a:moveTo>
                  <a:lnTo>
                    <a:pt x="11" y="0"/>
                  </a:lnTo>
                  <a:lnTo>
                    <a:pt x="23" y="6"/>
                  </a:lnTo>
                  <a:lnTo>
                    <a:pt x="17" y="25"/>
                  </a:lnTo>
                  <a:lnTo>
                    <a:pt x="4" y="15"/>
                  </a:lnTo>
                  <a:lnTo>
                    <a:pt x="0" y="4"/>
                  </a:lnTo>
                  <a:close/>
                </a:path>
              </a:pathLst>
            </a:custGeom>
            <a:solidFill>
              <a:srgbClr val="FFFFFF"/>
            </a:solidFill>
            <a:ln w="9525">
              <a:noFill/>
              <a:round/>
              <a:headEnd/>
              <a:tailEnd/>
            </a:ln>
          </p:spPr>
          <p:txBody>
            <a:bodyPr/>
            <a:lstStyle/>
            <a:p>
              <a:endParaRPr lang="en-US"/>
            </a:p>
          </p:txBody>
        </p:sp>
        <p:sp>
          <p:nvSpPr>
            <p:cNvPr id="51235" name="Freeform 35"/>
            <p:cNvSpPr>
              <a:spLocks/>
            </p:cNvSpPr>
            <p:nvPr/>
          </p:nvSpPr>
          <p:spPr bwMode="auto">
            <a:xfrm>
              <a:off x="1869" y="2439"/>
              <a:ext cx="316" cy="161"/>
            </a:xfrm>
            <a:custGeom>
              <a:avLst/>
              <a:gdLst>
                <a:gd name="T0" fmla="*/ 0 w 633"/>
                <a:gd name="T1" fmla="*/ 1 h 321"/>
                <a:gd name="T2" fmla="*/ 0 w 633"/>
                <a:gd name="T3" fmla="*/ 1 h 321"/>
                <a:gd name="T4" fmla="*/ 0 w 633"/>
                <a:gd name="T5" fmla="*/ 1 h 321"/>
                <a:gd name="T6" fmla="*/ 0 w 633"/>
                <a:gd name="T7" fmla="*/ 1 h 321"/>
                <a:gd name="T8" fmla="*/ 0 w 633"/>
                <a:gd name="T9" fmla="*/ 1 h 321"/>
                <a:gd name="T10" fmla="*/ 0 w 633"/>
                <a:gd name="T11" fmla="*/ 1 h 321"/>
                <a:gd name="T12" fmla="*/ 0 w 633"/>
                <a:gd name="T13" fmla="*/ 0 h 321"/>
                <a:gd name="T14" fmla="*/ 0 w 633"/>
                <a:gd name="T15" fmla="*/ 1 h 321"/>
                <a:gd name="T16" fmla="*/ 0 w 633"/>
                <a:gd name="T17" fmla="*/ 1 h 321"/>
                <a:gd name="T18" fmla="*/ 0 w 633"/>
                <a:gd name="T19" fmla="*/ 1 h 321"/>
                <a:gd name="T20" fmla="*/ 0 w 633"/>
                <a:gd name="T21" fmla="*/ 1 h 321"/>
                <a:gd name="T22" fmla="*/ 0 w 633"/>
                <a:gd name="T23" fmla="*/ 1 h 321"/>
                <a:gd name="T24" fmla="*/ 0 w 633"/>
                <a:gd name="T25" fmla="*/ 1 h 321"/>
                <a:gd name="T26" fmla="*/ 0 w 633"/>
                <a:gd name="T27" fmla="*/ 1 h 321"/>
                <a:gd name="T28" fmla="*/ 0 w 633"/>
                <a:gd name="T29" fmla="*/ 1 h 321"/>
                <a:gd name="T30" fmla="*/ 0 w 633"/>
                <a:gd name="T31" fmla="*/ 1 h 32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633"/>
                <a:gd name="T49" fmla="*/ 0 h 321"/>
                <a:gd name="T50" fmla="*/ 633 w 633"/>
                <a:gd name="T51" fmla="*/ 321 h 32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633" h="321">
                  <a:moveTo>
                    <a:pt x="0" y="321"/>
                  </a:moveTo>
                  <a:lnTo>
                    <a:pt x="85" y="276"/>
                  </a:lnTo>
                  <a:lnTo>
                    <a:pt x="19" y="232"/>
                  </a:lnTo>
                  <a:lnTo>
                    <a:pt x="24" y="118"/>
                  </a:lnTo>
                  <a:lnTo>
                    <a:pt x="76" y="40"/>
                  </a:lnTo>
                  <a:lnTo>
                    <a:pt x="188" y="6"/>
                  </a:lnTo>
                  <a:lnTo>
                    <a:pt x="350" y="0"/>
                  </a:lnTo>
                  <a:lnTo>
                    <a:pt x="509" y="11"/>
                  </a:lnTo>
                  <a:lnTo>
                    <a:pt x="564" y="65"/>
                  </a:lnTo>
                  <a:lnTo>
                    <a:pt x="625" y="150"/>
                  </a:lnTo>
                  <a:lnTo>
                    <a:pt x="633" y="194"/>
                  </a:lnTo>
                  <a:lnTo>
                    <a:pt x="422" y="219"/>
                  </a:lnTo>
                  <a:lnTo>
                    <a:pt x="224" y="287"/>
                  </a:lnTo>
                  <a:lnTo>
                    <a:pt x="131" y="316"/>
                  </a:lnTo>
                  <a:lnTo>
                    <a:pt x="0" y="321"/>
                  </a:lnTo>
                  <a:close/>
                </a:path>
              </a:pathLst>
            </a:custGeom>
            <a:solidFill>
              <a:srgbClr val="FFD6C9"/>
            </a:solidFill>
            <a:ln w="9525">
              <a:noFill/>
              <a:round/>
              <a:headEnd/>
              <a:tailEnd/>
            </a:ln>
          </p:spPr>
          <p:txBody>
            <a:bodyPr/>
            <a:lstStyle/>
            <a:p>
              <a:endParaRPr lang="en-US"/>
            </a:p>
          </p:txBody>
        </p:sp>
        <p:sp>
          <p:nvSpPr>
            <p:cNvPr id="51236" name="Freeform 36"/>
            <p:cNvSpPr>
              <a:spLocks/>
            </p:cNvSpPr>
            <p:nvPr/>
          </p:nvSpPr>
          <p:spPr bwMode="auto">
            <a:xfrm>
              <a:off x="1895" y="2584"/>
              <a:ext cx="280" cy="113"/>
            </a:xfrm>
            <a:custGeom>
              <a:avLst/>
              <a:gdLst>
                <a:gd name="T0" fmla="*/ 0 w 559"/>
                <a:gd name="T1" fmla="*/ 1 h 224"/>
                <a:gd name="T2" fmla="*/ 1 w 559"/>
                <a:gd name="T3" fmla="*/ 1 h 224"/>
                <a:gd name="T4" fmla="*/ 1 w 559"/>
                <a:gd name="T5" fmla="*/ 1 h 224"/>
                <a:gd name="T6" fmla="*/ 1 w 559"/>
                <a:gd name="T7" fmla="*/ 1 h 224"/>
                <a:gd name="T8" fmla="*/ 1 w 559"/>
                <a:gd name="T9" fmla="*/ 0 h 224"/>
                <a:gd name="T10" fmla="*/ 1 w 559"/>
                <a:gd name="T11" fmla="*/ 1 h 224"/>
                <a:gd name="T12" fmla="*/ 1 w 559"/>
                <a:gd name="T13" fmla="*/ 1 h 224"/>
                <a:gd name="T14" fmla="*/ 1 w 559"/>
                <a:gd name="T15" fmla="*/ 1 h 224"/>
                <a:gd name="T16" fmla="*/ 1 w 559"/>
                <a:gd name="T17" fmla="*/ 1 h 224"/>
                <a:gd name="T18" fmla="*/ 1 w 559"/>
                <a:gd name="T19" fmla="*/ 1 h 224"/>
                <a:gd name="T20" fmla="*/ 1 w 559"/>
                <a:gd name="T21" fmla="*/ 1 h 224"/>
                <a:gd name="T22" fmla="*/ 0 w 559"/>
                <a:gd name="T23" fmla="*/ 1 h 224"/>
                <a:gd name="T24" fmla="*/ 0 w 559"/>
                <a:gd name="T25" fmla="*/ 1 h 2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59"/>
                <a:gd name="T40" fmla="*/ 0 h 224"/>
                <a:gd name="T41" fmla="*/ 559 w 559"/>
                <a:gd name="T42" fmla="*/ 224 h 2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59" h="224">
                  <a:moveTo>
                    <a:pt x="0" y="156"/>
                  </a:moveTo>
                  <a:lnTo>
                    <a:pt x="101" y="127"/>
                  </a:lnTo>
                  <a:lnTo>
                    <a:pt x="228" y="59"/>
                  </a:lnTo>
                  <a:lnTo>
                    <a:pt x="369" y="9"/>
                  </a:lnTo>
                  <a:lnTo>
                    <a:pt x="481" y="0"/>
                  </a:lnTo>
                  <a:lnTo>
                    <a:pt x="559" y="15"/>
                  </a:lnTo>
                  <a:lnTo>
                    <a:pt x="374" y="64"/>
                  </a:lnTo>
                  <a:lnTo>
                    <a:pt x="262" y="118"/>
                  </a:lnTo>
                  <a:lnTo>
                    <a:pt x="188" y="186"/>
                  </a:lnTo>
                  <a:lnTo>
                    <a:pt x="137" y="224"/>
                  </a:lnTo>
                  <a:lnTo>
                    <a:pt x="68" y="196"/>
                  </a:lnTo>
                  <a:lnTo>
                    <a:pt x="0" y="156"/>
                  </a:lnTo>
                  <a:close/>
                </a:path>
              </a:pathLst>
            </a:custGeom>
            <a:solidFill>
              <a:srgbClr val="FFD6C9"/>
            </a:solidFill>
            <a:ln w="9525">
              <a:noFill/>
              <a:round/>
              <a:headEnd/>
              <a:tailEnd/>
            </a:ln>
          </p:spPr>
          <p:txBody>
            <a:bodyPr/>
            <a:lstStyle/>
            <a:p>
              <a:endParaRPr lang="en-US"/>
            </a:p>
          </p:txBody>
        </p:sp>
        <p:sp>
          <p:nvSpPr>
            <p:cNvPr id="51237" name="Freeform 37"/>
            <p:cNvSpPr>
              <a:spLocks/>
            </p:cNvSpPr>
            <p:nvPr/>
          </p:nvSpPr>
          <p:spPr bwMode="auto">
            <a:xfrm>
              <a:off x="1981" y="2886"/>
              <a:ext cx="38" cy="59"/>
            </a:xfrm>
            <a:custGeom>
              <a:avLst/>
              <a:gdLst>
                <a:gd name="T0" fmla="*/ 1 w 76"/>
                <a:gd name="T1" fmla="*/ 1 h 118"/>
                <a:gd name="T2" fmla="*/ 1 w 76"/>
                <a:gd name="T3" fmla="*/ 1 h 118"/>
                <a:gd name="T4" fmla="*/ 0 w 76"/>
                <a:gd name="T5" fmla="*/ 1 h 118"/>
                <a:gd name="T6" fmla="*/ 1 w 76"/>
                <a:gd name="T7" fmla="*/ 0 h 118"/>
                <a:gd name="T8" fmla="*/ 1 w 76"/>
                <a:gd name="T9" fmla="*/ 1 h 118"/>
                <a:gd name="T10" fmla="*/ 1 w 76"/>
                <a:gd name="T11" fmla="*/ 1 h 118"/>
                <a:gd name="T12" fmla="*/ 1 w 76"/>
                <a:gd name="T13" fmla="*/ 1 h 118"/>
                <a:gd name="T14" fmla="*/ 0 60000 65536"/>
                <a:gd name="T15" fmla="*/ 0 60000 65536"/>
                <a:gd name="T16" fmla="*/ 0 60000 65536"/>
                <a:gd name="T17" fmla="*/ 0 60000 65536"/>
                <a:gd name="T18" fmla="*/ 0 60000 65536"/>
                <a:gd name="T19" fmla="*/ 0 60000 65536"/>
                <a:gd name="T20" fmla="*/ 0 60000 65536"/>
                <a:gd name="T21" fmla="*/ 0 w 76"/>
                <a:gd name="T22" fmla="*/ 0 h 118"/>
                <a:gd name="T23" fmla="*/ 76 w 76"/>
                <a:gd name="T24" fmla="*/ 118 h 11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6" h="118">
                  <a:moveTo>
                    <a:pt x="76" y="118"/>
                  </a:moveTo>
                  <a:lnTo>
                    <a:pt x="17" y="94"/>
                  </a:lnTo>
                  <a:lnTo>
                    <a:pt x="0" y="35"/>
                  </a:lnTo>
                  <a:lnTo>
                    <a:pt x="32" y="0"/>
                  </a:lnTo>
                  <a:lnTo>
                    <a:pt x="76" y="50"/>
                  </a:lnTo>
                  <a:lnTo>
                    <a:pt x="76" y="118"/>
                  </a:lnTo>
                  <a:close/>
                </a:path>
              </a:pathLst>
            </a:custGeom>
            <a:solidFill>
              <a:srgbClr val="FFD6C9"/>
            </a:solidFill>
            <a:ln w="9525">
              <a:noFill/>
              <a:round/>
              <a:headEnd/>
              <a:tailEnd/>
            </a:ln>
          </p:spPr>
          <p:txBody>
            <a:bodyPr/>
            <a:lstStyle/>
            <a:p>
              <a:endParaRPr lang="en-US"/>
            </a:p>
          </p:txBody>
        </p:sp>
        <p:sp>
          <p:nvSpPr>
            <p:cNvPr id="51238" name="Freeform 38"/>
            <p:cNvSpPr>
              <a:spLocks/>
            </p:cNvSpPr>
            <p:nvPr/>
          </p:nvSpPr>
          <p:spPr bwMode="auto">
            <a:xfrm>
              <a:off x="1981" y="2737"/>
              <a:ext cx="46" cy="152"/>
            </a:xfrm>
            <a:custGeom>
              <a:avLst/>
              <a:gdLst>
                <a:gd name="T0" fmla="*/ 1 w 91"/>
                <a:gd name="T1" fmla="*/ 0 h 302"/>
                <a:gd name="T2" fmla="*/ 0 w 91"/>
                <a:gd name="T3" fmla="*/ 1 h 302"/>
                <a:gd name="T4" fmla="*/ 1 w 91"/>
                <a:gd name="T5" fmla="*/ 1 h 302"/>
                <a:gd name="T6" fmla="*/ 1 w 91"/>
                <a:gd name="T7" fmla="*/ 1 h 302"/>
                <a:gd name="T8" fmla="*/ 1 w 91"/>
                <a:gd name="T9" fmla="*/ 1 h 302"/>
                <a:gd name="T10" fmla="*/ 1 w 91"/>
                <a:gd name="T11" fmla="*/ 1 h 302"/>
                <a:gd name="T12" fmla="*/ 1 w 91"/>
                <a:gd name="T13" fmla="*/ 1 h 302"/>
                <a:gd name="T14" fmla="*/ 1 w 91"/>
                <a:gd name="T15" fmla="*/ 0 h 302"/>
                <a:gd name="T16" fmla="*/ 1 w 91"/>
                <a:gd name="T17" fmla="*/ 0 h 30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1"/>
                <a:gd name="T28" fmla="*/ 0 h 302"/>
                <a:gd name="T29" fmla="*/ 91 w 91"/>
                <a:gd name="T30" fmla="*/ 302 h 30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1" h="302">
                  <a:moveTo>
                    <a:pt x="17" y="0"/>
                  </a:moveTo>
                  <a:lnTo>
                    <a:pt x="0" y="89"/>
                  </a:lnTo>
                  <a:lnTo>
                    <a:pt x="42" y="171"/>
                  </a:lnTo>
                  <a:lnTo>
                    <a:pt x="32" y="258"/>
                  </a:lnTo>
                  <a:lnTo>
                    <a:pt x="91" y="302"/>
                  </a:lnTo>
                  <a:lnTo>
                    <a:pt x="91" y="160"/>
                  </a:lnTo>
                  <a:lnTo>
                    <a:pt x="61" y="63"/>
                  </a:lnTo>
                  <a:lnTo>
                    <a:pt x="17" y="0"/>
                  </a:lnTo>
                  <a:close/>
                </a:path>
              </a:pathLst>
            </a:custGeom>
            <a:solidFill>
              <a:srgbClr val="FFD6C9"/>
            </a:solidFill>
            <a:ln w="9525">
              <a:noFill/>
              <a:round/>
              <a:headEnd/>
              <a:tailEnd/>
            </a:ln>
          </p:spPr>
          <p:txBody>
            <a:bodyPr/>
            <a:lstStyle/>
            <a:p>
              <a:endParaRPr lang="en-US"/>
            </a:p>
          </p:txBody>
        </p:sp>
        <p:sp>
          <p:nvSpPr>
            <p:cNvPr id="51239" name="Freeform 39"/>
            <p:cNvSpPr>
              <a:spLocks/>
            </p:cNvSpPr>
            <p:nvPr/>
          </p:nvSpPr>
          <p:spPr bwMode="auto">
            <a:xfrm>
              <a:off x="2092" y="2670"/>
              <a:ext cx="241" cy="349"/>
            </a:xfrm>
            <a:custGeom>
              <a:avLst/>
              <a:gdLst>
                <a:gd name="T0" fmla="*/ 0 w 481"/>
                <a:gd name="T1" fmla="*/ 1 h 698"/>
                <a:gd name="T2" fmla="*/ 1 w 481"/>
                <a:gd name="T3" fmla="*/ 1 h 698"/>
                <a:gd name="T4" fmla="*/ 1 w 481"/>
                <a:gd name="T5" fmla="*/ 1 h 698"/>
                <a:gd name="T6" fmla="*/ 1 w 481"/>
                <a:gd name="T7" fmla="*/ 1 h 698"/>
                <a:gd name="T8" fmla="*/ 1 w 481"/>
                <a:gd name="T9" fmla="*/ 1 h 698"/>
                <a:gd name="T10" fmla="*/ 1 w 481"/>
                <a:gd name="T11" fmla="*/ 1 h 698"/>
                <a:gd name="T12" fmla="*/ 1 w 481"/>
                <a:gd name="T13" fmla="*/ 0 h 698"/>
                <a:gd name="T14" fmla="*/ 1 w 481"/>
                <a:gd name="T15" fmla="*/ 1 h 698"/>
                <a:gd name="T16" fmla="*/ 1 w 481"/>
                <a:gd name="T17" fmla="*/ 1 h 698"/>
                <a:gd name="T18" fmla="*/ 1 w 481"/>
                <a:gd name="T19" fmla="*/ 1 h 698"/>
                <a:gd name="T20" fmla="*/ 1 w 481"/>
                <a:gd name="T21" fmla="*/ 1 h 698"/>
                <a:gd name="T22" fmla="*/ 1 w 481"/>
                <a:gd name="T23" fmla="*/ 1 h 698"/>
                <a:gd name="T24" fmla="*/ 1 w 481"/>
                <a:gd name="T25" fmla="*/ 1 h 698"/>
                <a:gd name="T26" fmla="*/ 1 w 481"/>
                <a:gd name="T27" fmla="*/ 1 h 698"/>
                <a:gd name="T28" fmla="*/ 1 w 481"/>
                <a:gd name="T29" fmla="*/ 1 h 698"/>
                <a:gd name="T30" fmla="*/ 1 w 481"/>
                <a:gd name="T31" fmla="*/ 1 h 698"/>
                <a:gd name="T32" fmla="*/ 1 w 481"/>
                <a:gd name="T33" fmla="*/ 1 h 698"/>
                <a:gd name="T34" fmla="*/ 1 w 481"/>
                <a:gd name="T35" fmla="*/ 1 h 698"/>
                <a:gd name="T36" fmla="*/ 0 w 481"/>
                <a:gd name="T37" fmla="*/ 1 h 698"/>
                <a:gd name="T38" fmla="*/ 0 w 481"/>
                <a:gd name="T39" fmla="*/ 1 h 69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481"/>
                <a:gd name="T61" fmla="*/ 0 h 698"/>
                <a:gd name="T62" fmla="*/ 481 w 481"/>
                <a:gd name="T63" fmla="*/ 698 h 698"/>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481" h="698">
                  <a:moveTo>
                    <a:pt x="0" y="258"/>
                  </a:moveTo>
                  <a:lnTo>
                    <a:pt x="122" y="295"/>
                  </a:lnTo>
                  <a:lnTo>
                    <a:pt x="225" y="285"/>
                  </a:lnTo>
                  <a:lnTo>
                    <a:pt x="267" y="232"/>
                  </a:lnTo>
                  <a:lnTo>
                    <a:pt x="274" y="169"/>
                  </a:lnTo>
                  <a:lnTo>
                    <a:pt x="303" y="93"/>
                  </a:lnTo>
                  <a:lnTo>
                    <a:pt x="284" y="0"/>
                  </a:lnTo>
                  <a:lnTo>
                    <a:pt x="360" y="93"/>
                  </a:lnTo>
                  <a:lnTo>
                    <a:pt x="385" y="179"/>
                  </a:lnTo>
                  <a:lnTo>
                    <a:pt x="421" y="276"/>
                  </a:lnTo>
                  <a:lnTo>
                    <a:pt x="481" y="334"/>
                  </a:lnTo>
                  <a:lnTo>
                    <a:pt x="438" y="513"/>
                  </a:lnTo>
                  <a:lnTo>
                    <a:pt x="405" y="616"/>
                  </a:lnTo>
                  <a:lnTo>
                    <a:pt x="350" y="698"/>
                  </a:lnTo>
                  <a:lnTo>
                    <a:pt x="259" y="671"/>
                  </a:lnTo>
                  <a:lnTo>
                    <a:pt x="172" y="568"/>
                  </a:lnTo>
                  <a:lnTo>
                    <a:pt x="69" y="490"/>
                  </a:lnTo>
                  <a:lnTo>
                    <a:pt x="35" y="397"/>
                  </a:lnTo>
                  <a:lnTo>
                    <a:pt x="0" y="258"/>
                  </a:lnTo>
                  <a:close/>
                </a:path>
              </a:pathLst>
            </a:custGeom>
            <a:solidFill>
              <a:srgbClr val="FFD6C9"/>
            </a:solidFill>
            <a:ln w="9525">
              <a:noFill/>
              <a:round/>
              <a:headEnd/>
              <a:tailEnd/>
            </a:ln>
          </p:spPr>
          <p:txBody>
            <a:bodyPr/>
            <a:lstStyle/>
            <a:p>
              <a:endParaRPr lang="en-US"/>
            </a:p>
          </p:txBody>
        </p:sp>
        <p:sp>
          <p:nvSpPr>
            <p:cNvPr id="51240" name="Freeform 40"/>
            <p:cNvSpPr>
              <a:spLocks/>
            </p:cNvSpPr>
            <p:nvPr/>
          </p:nvSpPr>
          <p:spPr bwMode="auto">
            <a:xfrm>
              <a:off x="2162" y="3208"/>
              <a:ext cx="401" cy="917"/>
            </a:xfrm>
            <a:custGeom>
              <a:avLst/>
              <a:gdLst>
                <a:gd name="T0" fmla="*/ 0 w 803"/>
                <a:gd name="T1" fmla="*/ 1 h 1834"/>
                <a:gd name="T2" fmla="*/ 0 w 803"/>
                <a:gd name="T3" fmla="*/ 1 h 1834"/>
                <a:gd name="T4" fmla="*/ 0 w 803"/>
                <a:gd name="T5" fmla="*/ 1 h 1834"/>
                <a:gd name="T6" fmla="*/ 0 w 803"/>
                <a:gd name="T7" fmla="*/ 1 h 1834"/>
                <a:gd name="T8" fmla="*/ 0 w 803"/>
                <a:gd name="T9" fmla="*/ 0 h 1834"/>
                <a:gd name="T10" fmla="*/ 0 w 803"/>
                <a:gd name="T11" fmla="*/ 1 h 1834"/>
                <a:gd name="T12" fmla="*/ 0 w 803"/>
                <a:gd name="T13" fmla="*/ 1 h 1834"/>
                <a:gd name="T14" fmla="*/ 0 w 803"/>
                <a:gd name="T15" fmla="*/ 1 h 1834"/>
                <a:gd name="T16" fmla="*/ 0 w 803"/>
                <a:gd name="T17" fmla="*/ 1 h 1834"/>
                <a:gd name="T18" fmla="*/ 0 w 803"/>
                <a:gd name="T19" fmla="*/ 1 h 1834"/>
                <a:gd name="T20" fmla="*/ 0 w 803"/>
                <a:gd name="T21" fmla="*/ 1 h 1834"/>
                <a:gd name="T22" fmla="*/ 0 w 803"/>
                <a:gd name="T23" fmla="*/ 1 h 1834"/>
                <a:gd name="T24" fmla="*/ 0 w 803"/>
                <a:gd name="T25" fmla="*/ 1 h 1834"/>
                <a:gd name="T26" fmla="*/ 0 w 803"/>
                <a:gd name="T27" fmla="*/ 1 h 1834"/>
                <a:gd name="T28" fmla="*/ 0 w 803"/>
                <a:gd name="T29" fmla="*/ 1 h 1834"/>
                <a:gd name="T30" fmla="*/ 0 w 803"/>
                <a:gd name="T31" fmla="*/ 1 h 1834"/>
                <a:gd name="T32" fmla="*/ 0 w 803"/>
                <a:gd name="T33" fmla="*/ 1 h 1834"/>
                <a:gd name="T34" fmla="*/ 0 w 803"/>
                <a:gd name="T35" fmla="*/ 1 h 1834"/>
                <a:gd name="T36" fmla="*/ 0 w 803"/>
                <a:gd name="T37" fmla="*/ 1 h 1834"/>
                <a:gd name="T38" fmla="*/ 0 w 803"/>
                <a:gd name="T39" fmla="*/ 1 h 1834"/>
                <a:gd name="T40" fmla="*/ 0 w 803"/>
                <a:gd name="T41" fmla="*/ 1 h 1834"/>
                <a:gd name="T42" fmla="*/ 0 w 803"/>
                <a:gd name="T43" fmla="*/ 1 h 1834"/>
                <a:gd name="T44" fmla="*/ 0 w 803"/>
                <a:gd name="T45" fmla="*/ 1 h 183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803"/>
                <a:gd name="T70" fmla="*/ 0 h 1834"/>
                <a:gd name="T71" fmla="*/ 803 w 803"/>
                <a:gd name="T72" fmla="*/ 1834 h 1834"/>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803" h="1834">
                  <a:moveTo>
                    <a:pt x="0" y="1834"/>
                  </a:moveTo>
                  <a:lnTo>
                    <a:pt x="274" y="901"/>
                  </a:lnTo>
                  <a:lnTo>
                    <a:pt x="441" y="540"/>
                  </a:lnTo>
                  <a:lnTo>
                    <a:pt x="527" y="249"/>
                  </a:lnTo>
                  <a:lnTo>
                    <a:pt x="569" y="0"/>
                  </a:lnTo>
                  <a:lnTo>
                    <a:pt x="611" y="241"/>
                  </a:lnTo>
                  <a:lnTo>
                    <a:pt x="630" y="53"/>
                  </a:lnTo>
                  <a:lnTo>
                    <a:pt x="690" y="291"/>
                  </a:lnTo>
                  <a:lnTo>
                    <a:pt x="753" y="456"/>
                  </a:lnTo>
                  <a:lnTo>
                    <a:pt x="803" y="954"/>
                  </a:lnTo>
                  <a:lnTo>
                    <a:pt x="681" y="717"/>
                  </a:lnTo>
                  <a:lnTo>
                    <a:pt x="761" y="996"/>
                  </a:lnTo>
                  <a:lnTo>
                    <a:pt x="641" y="758"/>
                  </a:lnTo>
                  <a:lnTo>
                    <a:pt x="690" y="1038"/>
                  </a:lnTo>
                  <a:lnTo>
                    <a:pt x="580" y="819"/>
                  </a:lnTo>
                  <a:lnTo>
                    <a:pt x="630" y="1099"/>
                  </a:lnTo>
                  <a:lnTo>
                    <a:pt x="565" y="1150"/>
                  </a:lnTo>
                  <a:lnTo>
                    <a:pt x="403" y="870"/>
                  </a:lnTo>
                  <a:lnTo>
                    <a:pt x="380" y="996"/>
                  </a:lnTo>
                  <a:lnTo>
                    <a:pt x="599" y="1505"/>
                  </a:lnTo>
                  <a:lnTo>
                    <a:pt x="411" y="1834"/>
                  </a:lnTo>
                  <a:lnTo>
                    <a:pt x="0" y="1834"/>
                  </a:lnTo>
                  <a:close/>
                </a:path>
              </a:pathLst>
            </a:custGeom>
            <a:solidFill>
              <a:srgbClr val="000099"/>
            </a:solidFill>
            <a:ln w="9525">
              <a:noFill/>
              <a:round/>
              <a:headEnd/>
              <a:tailEnd/>
            </a:ln>
          </p:spPr>
          <p:txBody>
            <a:bodyPr/>
            <a:lstStyle/>
            <a:p>
              <a:endParaRPr lang="en-US"/>
            </a:p>
          </p:txBody>
        </p:sp>
        <p:sp>
          <p:nvSpPr>
            <p:cNvPr id="51241" name="Freeform 41"/>
            <p:cNvSpPr>
              <a:spLocks/>
            </p:cNvSpPr>
            <p:nvPr/>
          </p:nvSpPr>
          <p:spPr bwMode="auto">
            <a:xfrm>
              <a:off x="2452" y="3457"/>
              <a:ext cx="657" cy="668"/>
            </a:xfrm>
            <a:custGeom>
              <a:avLst/>
              <a:gdLst>
                <a:gd name="T0" fmla="*/ 0 w 1316"/>
                <a:gd name="T1" fmla="*/ 1 h 1336"/>
                <a:gd name="T2" fmla="*/ 0 w 1316"/>
                <a:gd name="T3" fmla="*/ 1 h 1336"/>
                <a:gd name="T4" fmla="*/ 0 w 1316"/>
                <a:gd name="T5" fmla="*/ 1 h 1336"/>
                <a:gd name="T6" fmla="*/ 0 w 1316"/>
                <a:gd name="T7" fmla="*/ 1 h 1336"/>
                <a:gd name="T8" fmla="*/ 0 w 1316"/>
                <a:gd name="T9" fmla="*/ 1 h 1336"/>
                <a:gd name="T10" fmla="*/ 0 w 1316"/>
                <a:gd name="T11" fmla="*/ 1 h 1336"/>
                <a:gd name="T12" fmla="*/ 0 w 1316"/>
                <a:gd name="T13" fmla="*/ 1 h 1336"/>
                <a:gd name="T14" fmla="*/ 0 w 1316"/>
                <a:gd name="T15" fmla="*/ 0 h 1336"/>
                <a:gd name="T16" fmla="*/ 0 w 1316"/>
                <a:gd name="T17" fmla="*/ 1 h 1336"/>
                <a:gd name="T18" fmla="*/ 0 w 1316"/>
                <a:gd name="T19" fmla="*/ 1 h 1336"/>
                <a:gd name="T20" fmla="*/ 0 w 1316"/>
                <a:gd name="T21" fmla="*/ 1 h 1336"/>
                <a:gd name="T22" fmla="*/ 0 w 1316"/>
                <a:gd name="T23" fmla="*/ 1 h 1336"/>
                <a:gd name="T24" fmla="*/ 0 w 1316"/>
                <a:gd name="T25" fmla="*/ 1 h 1336"/>
                <a:gd name="T26" fmla="*/ 0 w 1316"/>
                <a:gd name="T27" fmla="*/ 1 h 1336"/>
                <a:gd name="T28" fmla="*/ 0 w 1316"/>
                <a:gd name="T29" fmla="*/ 1 h 1336"/>
                <a:gd name="T30" fmla="*/ 0 w 1316"/>
                <a:gd name="T31" fmla="*/ 1 h 13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316"/>
                <a:gd name="T49" fmla="*/ 0 h 1336"/>
                <a:gd name="T50" fmla="*/ 1316 w 1316"/>
                <a:gd name="T51" fmla="*/ 1336 h 13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316" h="1336">
                  <a:moveTo>
                    <a:pt x="0" y="1336"/>
                  </a:moveTo>
                  <a:lnTo>
                    <a:pt x="173" y="1045"/>
                  </a:lnTo>
                  <a:lnTo>
                    <a:pt x="91" y="789"/>
                  </a:lnTo>
                  <a:lnTo>
                    <a:pt x="226" y="642"/>
                  </a:lnTo>
                  <a:lnTo>
                    <a:pt x="415" y="498"/>
                  </a:lnTo>
                  <a:lnTo>
                    <a:pt x="358" y="84"/>
                  </a:lnTo>
                  <a:lnTo>
                    <a:pt x="415" y="7"/>
                  </a:lnTo>
                  <a:lnTo>
                    <a:pt x="637" y="0"/>
                  </a:lnTo>
                  <a:lnTo>
                    <a:pt x="981" y="89"/>
                  </a:lnTo>
                  <a:lnTo>
                    <a:pt x="1211" y="260"/>
                  </a:lnTo>
                  <a:lnTo>
                    <a:pt x="1316" y="407"/>
                  </a:lnTo>
                  <a:lnTo>
                    <a:pt x="1308" y="682"/>
                  </a:lnTo>
                  <a:lnTo>
                    <a:pt x="1301" y="947"/>
                  </a:lnTo>
                  <a:lnTo>
                    <a:pt x="1221" y="1336"/>
                  </a:lnTo>
                  <a:lnTo>
                    <a:pt x="0" y="1336"/>
                  </a:lnTo>
                  <a:close/>
                </a:path>
              </a:pathLst>
            </a:custGeom>
            <a:solidFill>
              <a:srgbClr val="000099"/>
            </a:solidFill>
            <a:ln w="9525">
              <a:noFill/>
              <a:round/>
              <a:headEnd/>
              <a:tailEnd/>
            </a:ln>
          </p:spPr>
          <p:txBody>
            <a:bodyPr/>
            <a:lstStyle/>
            <a:p>
              <a:endParaRPr lang="en-US"/>
            </a:p>
          </p:txBody>
        </p:sp>
        <p:sp>
          <p:nvSpPr>
            <p:cNvPr id="51242" name="Freeform 42"/>
            <p:cNvSpPr>
              <a:spLocks/>
            </p:cNvSpPr>
            <p:nvPr/>
          </p:nvSpPr>
          <p:spPr bwMode="auto">
            <a:xfrm>
              <a:off x="3119" y="3660"/>
              <a:ext cx="134" cy="465"/>
            </a:xfrm>
            <a:custGeom>
              <a:avLst/>
              <a:gdLst>
                <a:gd name="T0" fmla="*/ 0 w 268"/>
                <a:gd name="T1" fmla="*/ 1 h 929"/>
                <a:gd name="T2" fmla="*/ 1 w 268"/>
                <a:gd name="T3" fmla="*/ 1 h 929"/>
                <a:gd name="T4" fmla="*/ 1 w 268"/>
                <a:gd name="T5" fmla="*/ 1 h 929"/>
                <a:gd name="T6" fmla="*/ 1 w 268"/>
                <a:gd name="T7" fmla="*/ 1 h 929"/>
                <a:gd name="T8" fmla="*/ 1 w 268"/>
                <a:gd name="T9" fmla="*/ 0 h 929"/>
                <a:gd name="T10" fmla="*/ 1 w 268"/>
                <a:gd name="T11" fmla="*/ 1 h 929"/>
                <a:gd name="T12" fmla="*/ 1 w 268"/>
                <a:gd name="T13" fmla="*/ 1 h 929"/>
                <a:gd name="T14" fmla="*/ 1 w 268"/>
                <a:gd name="T15" fmla="*/ 1 h 929"/>
                <a:gd name="T16" fmla="*/ 1 w 268"/>
                <a:gd name="T17" fmla="*/ 1 h 929"/>
                <a:gd name="T18" fmla="*/ 1 w 268"/>
                <a:gd name="T19" fmla="*/ 1 h 929"/>
                <a:gd name="T20" fmla="*/ 0 w 268"/>
                <a:gd name="T21" fmla="*/ 1 h 929"/>
                <a:gd name="T22" fmla="*/ 0 w 268"/>
                <a:gd name="T23" fmla="*/ 1 h 92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68"/>
                <a:gd name="T37" fmla="*/ 0 h 929"/>
                <a:gd name="T38" fmla="*/ 268 w 268"/>
                <a:gd name="T39" fmla="*/ 929 h 92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68" h="929">
                  <a:moveTo>
                    <a:pt x="0" y="929"/>
                  </a:moveTo>
                  <a:lnTo>
                    <a:pt x="53" y="559"/>
                  </a:lnTo>
                  <a:lnTo>
                    <a:pt x="104" y="317"/>
                  </a:lnTo>
                  <a:lnTo>
                    <a:pt x="177" y="91"/>
                  </a:lnTo>
                  <a:lnTo>
                    <a:pt x="215" y="0"/>
                  </a:lnTo>
                  <a:lnTo>
                    <a:pt x="215" y="216"/>
                  </a:lnTo>
                  <a:lnTo>
                    <a:pt x="260" y="203"/>
                  </a:lnTo>
                  <a:lnTo>
                    <a:pt x="249" y="332"/>
                  </a:lnTo>
                  <a:lnTo>
                    <a:pt x="268" y="608"/>
                  </a:lnTo>
                  <a:lnTo>
                    <a:pt x="230" y="929"/>
                  </a:lnTo>
                  <a:lnTo>
                    <a:pt x="0" y="929"/>
                  </a:lnTo>
                  <a:close/>
                </a:path>
              </a:pathLst>
            </a:custGeom>
            <a:solidFill>
              <a:srgbClr val="0000B6"/>
            </a:solidFill>
            <a:ln w="9525">
              <a:noFill/>
              <a:round/>
              <a:headEnd/>
              <a:tailEnd/>
            </a:ln>
          </p:spPr>
          <p:txBody>
            <a:bodyPr/>
            <a:lstStyle/>
            <a:p>
              <a:endParaRPr lang="en-US"/>
            </a:p>
          </p:txBody>
        </p:sp>
        <p:sp>
          <p:nvSpPr>
            <p:cNvPr id="51243" name="Freeform 43"/>
            <p:cNvSpPr>
              <a:spLocks/>
            </p:cNvSpPr>
            <p:nvPr/>
          </p:nvSpPr>
          <p:spPr bwMode="auto">
            <a:xfrm>
              <a:off x="1633" y="3329"/>
              <a:ext cx="200" cy="796"/>
            </a:xfrm>
            <a:custGeom>
              <a:avLst/>
              <a:gdLst>
                <a:gd name="T0" fmla="*/ 1 w 399"/>
                <a:gd name="T1" fmla="*/ 0 h 1593"/>
                <a:gd name="T2" fmla="*/ 1 w 399"/>
                <a:gd name="T3" fmla="*/ 0 h 1593"/>
                <a:gd name="T4" fmla="*/ 1 w 399"/>
                <a:gd name="T5" fmla="*/ 0 h 1593"/>
                <a:gd name="T6" fmla="*/ 1 w 399"/>
                <a:gd name="T7" fmla="*/ 0 h 1593"/>
                <a:gd name="T8" fmla="*/ 1 w 399"/>
                <a:gd name="T9" fmla="*/ 0 h 1593"/>
                <a:gd name="T10" fmla="*/ 1 w 399"/>
                <a:gd name="T11" fmla="*/ 0 h 1593"/>
                <a:gd name="T12" fmla="*/ 1 w 399"/>
                <a:gd name="T13" fmla="*/ 0 h 1593"/>
                <a:gd name="T14" fmla="*/ 1 w 399"/>
                <a:gd name="T15" fmla="*/ 0 h 1593"/>
                <a:gd name="T16" fmla="*/ 1 w 399"/>
                <a:gd name="T17" fmla="*/ 0 h 1593"/>
                <a:gd name="T18" fmla="*/ 1 w 399"/>
                <a:gd name="T19" fmla="*/ 0 h 1593"/>
                <a:gd name="T20" fmla="*/ 1 w 399"/>
                <a:gd name="T21" fmla="*/ 0 h 1593"/>
                <a:gd name="T22" fmla="*/ 1 w 399"/>
                <a:gd name="T23" fmla="*/ 0 h 1593"/>
                <a:gd name="T24" fmla="*/ 1 w 399"/>
                <a:gd name="T25" fmla="*/ 0 h 1593"/>
                <a:gd name="T26" fmla="*/ 1 w 399"/>
                <a:gd name="T27" fmla="*/ 0 h 1593"/>
                <a:gd name="T28" fmla="*/ 0 w 399"/>
                <a:gd name="T29" fmla="*/ 0 h 1593"/>
                <a:gd name="T30" fmla="*/ 1 w 399"/>
                <a:gd name="T31" fmla="*/ 0 h 1593"/>
                <a:gd name="T32" fmla="*/ 1 w 399"/>
                <a:gd name="T33" fmla="*/ 0 h 1593"/>
                <a:gd name="T34" fmla="*/ 1 w 399"/>
                <a:gd name="T35" fmla="*/ 0 h 159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99"/>
                <a:gd name="T55" fmla="*/ 0 h 1593"/>
                <a:gd name="T56" fmla="*/ 399 w 399"/>
                <a:gd name="T57" fmla="*/ 1593 h 159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99" h="1593">
                  <a:moveTo>
                    <a:pt x="384" y="1593"/>
                  </a:moveTo>
                  <a:lnTo>
                    <a:pt x="352" y="1200"/>
                  </a:lnTo>
                  <a:lnTo>
                    <a:pt x="352" y="629"/>
                  </a:lnTo>
                  <a:lnTo>
                    <a:pt x="399" y="299"/>
                  </a:lnTo>
                  <a:lnTo>
                    <a:pt x="371" y="0"/>
                  </a:lnTo>
                  <a:lnTo>
                    <a:pt x="268" y="299"/>
                  </a:lnTo>
                  <a:lnTo>
                    <a:pt x="245" y="671"/>
                  </a:lnTo>
                  <a:lnTo>
                    <a:pt x="219" y="1076"/>
                  </a:lnTo>
                  <a:lnTo>
                    <a:pt x="150" y="928"/>
                  </a:lnTo>
                  <a:lnTo>
                    <a:pt x="215" y="1253"/>
                  </a:lnTo>
                  <a:lnTo>
                    <a:pt x="103" y="996"/>
                  </a:lnTo>
                  <a:lnTo>
                    <a:pt x="226" y="1460"/>
                  </a:lnTo>
                  <a:lnTo>
                    <a:pt x="53" y="1069"/>
                  </a:lnTo>
                  <a:lnTo>
                    <a:pt x="164" y="1472"/>
                  </a:lnTo>
                  <a:lnTo>
                    <a:pt x="0" y="1137"/>
                  </a:lnTo>
                  <a:lnTo>
                    <a:pt x="110" y="1593"/>
                  </a:lnTo>
                  <a:lnTo>
                    <a:pt x="384" y="1593"/>
                  </a:lnTo>
                  <a:close/>
                </a:path>
              </a:pathLst>
            </a:custGeom>
            <a:solidFill>
              <a:srgbClr val="0000B6"/>
            </a:solidFill>
            <a:ln w="9525">
              <a:noFill/>
              <a:round/>
              <a:headEnd/>
              <a:tailEnd/>
            </a:ln>
          </p:spPr>
          <p:txBody>
            <a:bodyPr/>
            <a:lstStyle/>
            <a:p>
              <a:endParaRPr lang="en-US"/>
            </a:p>
          </p:txBody>
        </p:sp>
        <p:sp>
          <p:nvSpPr>
            <p:cNvPr id="51244" name="Freeform 44"/>
            <p:cNvSpPr>
              <a:spLocks/>
            </p:cNvSpPr>
            <p:nvPr/>
          </p:nvSpPr>
          <p:spPr bwMode="auto">
            <a:xfrm>
              <a:off x="1439" y="3394"/>
              <a:ext cx="303" cy="731"/>
            </a:xfrm>
            <a:custGeom>
              <a:avLst/>
              <a:gdLst>
                <a:gd name="T0" fmla="*/ 0 w 607"/>
                <a:gd name="T1" fmla="*/ 1 h 1462"/>
                <a:gd name="T2" fmla="*/ 0 w 607"/>
                <a:gd name="T3" fmla="*/ 1 h 1462"/>
                <a:gd name="T4" fmla="*/ 0 w 607"/>
                <a:gd name="T5" fmla="*/ 1 h 1462"/>
                <a:gd name="T6" fmla="*/ 0 w 607"/>
                <a:gd name="T7" fmla="*/ 1 h 1462"/>
                <a:gd name="T8" fmla="*/ 0 w 607"/>
                <a:gd name="T9" fmla="*/ 1 h 1462"/>
                <a:gd name="T10" fmla="*/ 0 w 607"/>
                <a:gd name="T11" fmla="*/ 0 h 1462"/>
                <a:gd name="T12" fmla="*/ 0 w 607"/>
                <a:gd name="T13" fmla="*/ 1 h 1462"/>
                <a:gd name="T14" fmla="*/ 0 w 607"/>
                <a:gd name="T15" fmla="*/ 1 h 1462"/>
                <a:gd name="T16" fmla="*/ 0 w 607"/>
                <a:gd name="T17" fmla="*/ 1 h 1462"/>
                <a:gd name="T18" fmla="*/ 0 w 607"/>
                <a:gd name="T19" fmla="*/ 1 h 1462"/>
                <a:gd name="T20" fmla="*/ 0 w 607"/>
                <a:gd name="T21" fmla="*/ 1 h 1462"/>
                <a:gd name="T22" fmla="*/ 0 w 607"/>
                <a:gd name="T23" fmla="*/ 1 h 1462"/>
                <a:gd name="T24" fmla="*/ 0 w 607"/>
                <a:gd name="T25" fmla="*/ 1 h 1462"/>
                <a:gd name="T26" fmla="*/ 0 w 607"/>
                <a:gd name="T27" fmla="*/ 1 h 1462"/>
                <a:gd name="T28" fmla="*/ 0 w 607"/>
                <a:gd name="T29" fmla="*/ 1 h 146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07"/>
                <a:gd name="T46" fmla="*/ 0 h 1462"/>
                <a:gd name="T47" fmla="*/ 607 w 607"/>
                <a:gd name="T48" fmla="*/ 1462 h 1462"/>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07" h="1462">
                  <a:moveTo>
                    <a:pt x="261" y="1462"/>
                  </a:moveTo>
                  <a:lnTo>
                    <a:pt x="211" y="979"/>
                  </a:lnTo>
                  <a:lnTo>
                    <a:pt x="384" y="742"/>
                  </a:lnTo>
                  <a:lnTo>
                    <a:pt x="419" y="643"/>
                  </a:lnTo>
                  <a:lnTo>
                    <a:pt x="365" y="478"/>
                  </a:lnTo>
                  <a:lnTo>
                    <a:pt x="607" y="0"/>
                  </a:lnTo>
                  <a:lnTo>
                    <a:pt x="343" y="126"/>
                  </a:lnTo>
                  <a:lnTo>
                    <a:pt x="158" y="299"/>
                  </a:lnTo>
                  <a:lnTo>
                    <a:pt x="46" y="508"/>
                  </a:lnTo>
                  <a:lnTo>
                    <a:pt x="23" y="708"/>
                  </a:lnTo>
                  <a:lnTo>
                    <a:pt x="0" y="1088"/>
                  </a:lnTo>
                  <a:lnTo>
                    <a:pt x="65" y="1337"/>
                  </a:lnTo>
                  <a:lnTo>
                    <a:pt x="97" y="1462"/>
                  </a:lnTo>
                  <a:lnTo>
                    <a:pt x="261" y="1462"/>
                  </a:lnTo>
                  <a:close/>
                </a:path>
              </a:pathLst>
            </a:custGeom>
            <a:solidFill>
              <a:srgbClr val="0000B6"/>
            </a:solidFill>
            <a:ln w="9525">
              <a:noFill/>
              <a:round/>
              <a:headEnd/>
              <a:tailEnd/>
            </a:ln>
          </p:spPr>
          <p:txBody>
            <a:bodyPr/>
            <a:lstStyle/>
            <a:p>
              <a:endParaRPr lang="en-US"/>
            </a:p>
          </p:txBody>
        </p:sp>
        <p:sp>
          <p:nvSpPr>
            <p:cNvPr id="51245" name="Freeform 45"/>
            <p:cNvSpPr>
              <a:spLocks/>
            </p:cNvSpPr>
            <p:nvPr/>
          </p:nvSpPr>
          <p:spPr bwMode="auto">
            <a:xfrm>
              <a:off x="1752" y="2736"/>
              <a:ext cx="163" cy="91"/>
            </a:xfrm>
            <a:custGeom>
              <a:avLst/>
              <a:gdLst>
                <a:gd name="T0" fmla="*/ 0 w 327"/>
                <a:gd name="T1" fmla="*/ 1 h 181"/>
                <a:gd name="T2" fmla="*/ 0 w 327"/>
                <a:gd name="T3" fmla="*/ 1 h 181"/>
                <a:gd name="T4" fmla="*/ 0 w 327"/>
                <a:gd name="T5" fmla="*/ 1 h 181"/>
                <a:gd name="T6" fmla="*/ 0 w 327"/>
                <a:gd name="T7" fmla="*/ 1 h 181"/>
                <a:gd name="T8" fmla="*/ 0 w 327"/>
                <a:gd name="T9" fmla="*/ 1 h 181"/>
                <a:gd name="T10" fmla="*/ 0 w 327"/>
                <a:gd name="T11" fmla="*/ 1 h 181"/>
                <a:gd name="T12" fmla="*/ 0 w 327"/>
                <a:gd name="T13" fmla="*/ 1 h 181"/>
                <a:gd name="T14" fmla="*/ 0 w 327"/>
                <a:gd name="T15" fmla="*/ 1 h 181"/>
                <a:gd name="T16" fmla="*/ 0 w 327"/>
                <a:gd name="T17" fmla="*/ 0 h 181"/>
                <a:gd name="T18" fmla="*/ 0 w 327"/>
                <a:gd name="T19" fmla="*/ 1 h 181"/>
                <a:gd name="T20" fmla="*/ 0 w 327"/>
                <a:gd name="T21" fmla="*/ 1 h 181"/>
                <a:gd name="T22" fmla="*/ 0 w 327"/>
                <a:gd name="T23" fmla="*/ 1 h 181"/>
                <a:gd name="T24" fmla="*/ 0 w 327"/>
                <a:gd name="T25" fmla="*/ 1 h 181"/>
                <a:gd name="T26" fmla="*/ 0 w 327"/>
                <a:gd name="T27" fmla="*/ 1 h 181"/>
                <a:gd name="T28" fmla="*/ 0 w 327"/>
                <a:gd name="T29" fmla="*/ 1 h 181"/>
                <a:gd name="T30" fmla="*/ 0 w 327"/>
                <a:gd name="T31" fmla="*/ 1 h 181"/>
                <a:gd name="T32" fmla="*/ 0 w 327"/>
                <a:gd name="T33" fmla="*/ 1 h 181"/>
                <a:gd name="T34" fmla="*/ 0 w 327"/>
                <a:gd name="T35" fmla="*/ 1 h 181"/>
                <a:gd name="T36" fmla="*/ 0 w 327"/>
                <a:gd name="T37" fmla="*/ 1 h 181"/>
                <a:gd name="T38" fmla="*/ 0 w 327"/>
                <a:gd name="T39" fmla="*/ 1 h 181"/>
                <a:gd name="T40" fmla="*/ 0 w 327"/>
                <a:gd name="T41" fmla="*/ 1 h 181"/>
                <a:gd name="T42" fmla="*/ 0 w 327"/>
                <a:gd name="T43" fmla="*/ 1 h 181"/>
                <a:gd name="T44" fmla="*/ 0 w 327"/>
                <a:gd name="T45" fmla="*/ 1 h 181"/>
                <a:gd name="T46" fmla="*/ 0 w 327"/>
                <a:gd name="T47" fmla="*/ 1 h 181"/>
                <a:gd name="T48" fmla="*/ 0 w 327"/>
                <a:gd name="T49" fmla="*/ 1 h 181"/>
                <a:gd name="T50" fmla="*/ 0 w 327"/>
                <a:gd name="T51" fmla="*/ 1 h 181"/>
                <a:gd name="T52" fmla="*/ 0 w 327"/>
                <a:gd name="T53" fmla="*/ 1 h 181"/>
                <a:gd name="T54" fmla="*/ 0 w 327"/>
                <a:gd name="T55" fmla="*/ 1 h 181"/>
                <a:gd name="T56" fmla="*/ 0 w 327"/>
                <a:gd name="T57" fmla="*/ 1 h 181"/>
                <a:gd name="T58" fmla="*/ 0 w 327"/>
                <a:gd name="T59" fmla="*/ 1 h 181"/>
                <a:gd name="T60" fmla="*/ 0 w 327"/>
                <a:gd name="T61" fmla="*/ 1 h 181"/>
                <a:gd name="T62" fmla="*/ 0 w 327"/>
                <a:gd name="T63" fmla="*/ 1 h 181"/>
                <a:gd name="T64" fmla="*/ 0 w 327"/>
                <a:gd name="T65" fmla="*/ 1 h 181"/>
                <a:gd name="T66" fmla="*/ 0 w 327"/>
                <a:gd name="T67" fmla="*/ 1 h 181"/>
                <a:gd name="T68" fmla="*/ 0 w 327"/>
                <a:gd name="T69" fmla="*/ 1 h 181"/>
                <a:gd name="T70" fmla="*/ 0 w 327"/>
                <a:gd name="T71" fmla="*/ 1 h 181"/>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327"/>
                <a:gd name="T109" fmla="*/ 0 h 181"/>
                <a:gd name="T110" fmla="*/ 327 w 327"/>
                <a:gd name="T111" fmla="*/ 181 h 181"/>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327" h="181">
                  <a:moveTo>
                    <a:pt x="319" y="72"/>
                  </a:moveTo>
                  <a:lnTo>
                    <a:pt x="279" y="65"/>
                  </a:lnTo>
                  <a:lnTo>
                    <a:pt x="186" y="21"/>
                  </a:lnTo>
                  <a:lnTo>
                    <a:pt x="139" y="23"/>
                  </a:lnTo>
                  <a:lnTo>
                    <a:pt x="101" y="34"/>
                  </a:lnTo>
                  <a:lnTo>
                    <a:pt x="57" y="55"/>
                  </a:lnTo>
                  <a:lnTo>
                    <a:pt x="25" y="89"/>
                  </a:lnTo>
                  <a:lnTo>
                    <a:pt x="45" y="36"/>
                  </a:lnTo>
                  <a:lnTo>
                    <a:pt x="78" y="0"/>
                  </a:lnTo>
                  <a:lnTo>
                    <a:pt x="51" y="4"/>
                  </a:lnTo>
                  <a:lnTo>
                    <a:pt x="15" y="38"/>
                  </a:lnTo>
                  <a:lnTo>
                    <a:pt x="6" y="89"/>
                  </a:lnTo>
                  <a:lnTo>
                    <a:pt x="6" y="131"/>
                  </a:lnTo>
                  <a:lnTo>
                    <a:pt x="0" y="156"/>
                  </a:lnTo>
                  <a:lnTo>
                    <a:pt x="25" y="167"/>
                  </a:lnTo>
                  <a:lnTo>
                    <a:pt x="47" y="175"/>
                  </a:lnTo>
                  <a:lnTo>
                    <a:pt x="68" y="181"/>
                  </a:lnTo>
                  <a:lnTo>
                    <a:pt x="93" y="177"/>
                  </a:lnTo>
                  <a:lnTo>
                    <a:pt x="110" y="169"/>
                  </a:lnTo>
                  <a:lnTo>
                    <a:pt x="135" y="150"/>
                  </a:lnTo>
                  <a:lnTo>
                    <a:pt x="85" y="150"/>
                  </a:lnTo>
                  <a:lnTo>
                    <a:pt x="53" y="146"/>
                  </a:lnTo>
                  <a:lnTo>
                    <a:pt x="30" y="135"/>
                  </a:lnTo>
                  <a:lnTo>
                    <a:pt x="42" y="118"/>
                  </a:lnTo>
                  <a:lnTo>
                    <a:pt x="57" y="86"/>
                  </a:lnTo>
                  <a:lnTo>
                    <a:pt x="89" y="61"/>
                  </a:lnTo>
                  <a:lnTo>
                    <a:pt x="127" y="46"/>
                  </a:lnTo>
                  <a:lnTo>
                    <a:pt x="165" y="40"/>
                  </a:lnTo>
                  <a:lnTo>
                    <a:pt x="203" y="47"/>
                  </a:lnTo>
                  <a:lnTo>
                    <a:pt x="236" y="61"/>
                  </a:lnTo>
                  <a:lnTo>
                    <a:pt x="262" y="82"/>
                  </a:lnTo>
                  <a:lnTo>
                    <a:pt x="293" y="89"/>
                  </a:lnTo>
                  <a:lnTo>
                    <a:pt x="291" y="108"/>
                  </a:lnTo>
                  <a:lnTo>
                    <a:pt x="327" y="97"/>
                  </a:lnTo>
                  <a:lnTo>
                    <a:pt x="319" y="72"/>
                  </a:lnTo>
                  <a:close/>
                </a:path>
              </a:pathLst>
            </a:custGeom>
            <a:solidFill>
              <a:srgbClr val="000000"/>
            </a:solidFill>
            <a:ln w="9525">
              <a:noFill/>
              <a:round/>
              <a:headEnd/>
              <a:tailEnd/>
            </a:ln>
          </p:spPr>
          <p:txBody>
            <a:bodyPr/>
            <a:lstStyle/>
            <a:p>
              <a:endParaRPr lang="en-US"/>
            </a:p>
          </p:txBody>
        </p:sp>
        <p:sp>
          <p:nvSpPr>
            <p:cNvPr id="51246" name="Freeform 46"/>
            <p:cNvSpPr>
              <a:spLocks/>
            </p:cNvSpPr>
            <p:nvPr/>
          </p:nvSpPr>
          <p:spPr bwMode="auto">
            <a:xfrm>
              <a:off x="1828" y="2724"/>
              <a:ext cx="232" cy="272"/>
            </a:xfrm>
            <a:custGeom>
              <a:avLst/>
              <a:gdLst>
                <a:gd name="T0" fmla="*/ 0 w 464"/>
                <a:gd name="T1" fmla="*/ 1 h 544"/>
                <a:gd name="T2" fmla="*/ 1 w 464"/>
                <a:gd name="T3" fmla="*/ 1 h 544"/>
                <a:gd name="T4" fmla="*/ 1 w 464"/>
                <a:gd name="T5" fmla="*/ 1 h 544"/>
                <a:gd name="T6" fmla="*/ 1 w 464"/>
                <a:gd name="T7" fmla="*/ 1 h 544"/>
                <a:gd name="T8" fmla="*/ 1 w 464"/>
                <a:gd name="T9" fmla="*/ 1 h 544"/>
                <a:gd name="T10" fmla="*/ 1 w 464"/>
                <a:gd name="T11" fmla="*/ 1 h 544"/>
                <a:gd name="T12" fmla="*/ 1 w 464"/>
                <a:gd name="T13" fmla="*/ 1 h 544"/>
                <a:gd name="T14" fmla="*/ 1 w 464"/>
                <a:gd name="T15" fmla="*/ 1 h 544"/>
                <a:gd name="T16" fmla="*/ 1 w 464"/>
                <a:gd name="T17" fmla="*/ 1 h 544"/>
                <a:gd name="T18" fmla="*/ 1 w 464"/>
                <a:gd name="T19" fmla="*/ 1 h 544"/>
                <a:gd name="T20" fmla="*/ 1 w 464"/>
                <a:gd name="T21" fmla="*/ 1 h 544"/>
                <a:gd name="T22" fmla="*/ 1 w 464"/>
                <a:gd name="T23" fmla="*/ 1 h 544"/>
                <a:gd name="T24" fmla="*/ 1 w 464"/>
                <a:gd name="T25" fmla="*/ 1 h 544"/>
                <a:gd name="T26" fmla="*/ 1 w 464"/>
                <a:gd name="T27" fmla="*/ 1 h 544"/>
                <a:gd name="T28" fmla="*/ 1 w 464"/>
                <a:gd name="T29" fmla="*/ 1 h 544"/>
                <a:gd name="T30" fmla="*/ 1 w 464"/>
                <a:gd name="T31" fmla="*/ 1 h 544"/>
                <a:gd name="T32" fmla="*/ 1 w 464"/>
                <a:gd name="T33" fmla="*/ 1 h 544"/>
                <a:gd name="T34" fmla="*/ 1 w 464"/>
                <a:gd name="T35" fmla="*/ 1 h 544"/>
                <a:gd name="T36" fmla="*/ 1 w 464"/>
                <a:gd name="T37" fmla="*/ 1 h 544"/>
                <a:gd name="T38" fmla="*/ 1 w 464"/>
                <a:gd name="T39" fmla="*/ 1 h 544"/>
                <a:gd name="T40" fmla="*/ 1 w 464"/>
                <a:gd name="T41" fmla="*/ 1 h 544"/>
                <a:gd name="T42" fmla="*/ 1 w 464"/>
                <a:gd name="T43" fmla="*/ 1 h 544"/>
                <a:gd name="T44" fmla="*/ 1 w 464"/>
                <a:gd name="T45" fmla="*/ 1 h 544"/>
                <a:gd name="T46" fmla="*/ 1 w 464"/>
                <a:gd name="T47" fmla="*/ 1 h 544"/>
                <a:gd name="T48" fmla="*/ 1 w 464"/>
                <a:gd name="T49" fmla="*/ 1 h 544"/>
                <a:gd name="T50" fmla="*/ 1 w 464"/>
                <a:gd name="T51" fmla="*/ 1 h 544"/>
                <a:gd name="T52" fmla="*/ 1 w 464"/>
                <a:gd name="T53" fmla="*/ 1 h 544"/>
                <a:gd name="T54" fmla="*/ 1 w 464"/>
                <a:gd name="T55" fmla="*/ 1 h 544"/>
                <a:gd name="T56" fmla="*/ 1 w 464"/>
                <a:gd name="T57" fmla="*/ 1 h 544"/>
                <a:gd name="T58" fmla="*/ 1 w 464"/>
                <a:gd name="T59" fmla="*/ 1 h 544"/>
                <a:gd name="T60" fmla="*/ 1 w 464"/>
                <a:gd name="T61" fmla="*/ 1 h 544"/>
                <a:gd name="T62" fmla="*/ 1 w 464"/>
                <a:gd name="T63" fmla="*/ 1 h 544"/>
                <a:gd name="T64" fmla="*/ 1 w 464"/>
                <a:gd name="T65" fmla="*/ 1 h 544"/>
                <a:gd name="T66" fmla="*/ 1 w 464"/>
                <a:gd name="T67" fmla="*/ 1 h 544"/>
                <a:gd name="T68" fmla="*/ 1 w 464"/>
                <a:gd name="T69" fmla="*/ 1 h 544"/>
                <a:gd name="T70" fmla="*/ 1 w 464"/>
                <a:gd name="T71" fmla="*/ 1 h 544"/>
                <a:gd name="T72" fmla="*/ 1 w 464"/>
                <a:gd name="T73" fmla="*/ 1 h 544"/>
                <a:gd name="T74" fmla="*/ 1 w 464"/>
                <a:gd name="T75" fmla="*/ 1 h 544"/>
                <a:gd name="T76" fmla="*/ 1 w 464"/>
                <a:gd name="T77" fmla="*/ 0 h 544"/>
                <a:gd name="T78" fmla="*/ 0 w 464"/>
                <a:gd name="T79" fmla="*/ 1 h 544"/>
                <a:gd name="T80" fmla="*/ 0 w 464"/>
                <a:gd name="T81" fmla="*/ 1 h 54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464"/>
                <a:gd name="T124" fmla="*/ 0 h 544"/>
                <a:gd name="T125" fmla="*/ 464 w 464"/>
                <a:gd name="T126" fmla="*/ 544 h 544"/>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464" h="544">
                  <a:moveTo>
                    <a:pt x="0" y="8"/>
                  </a:moveTo>
                  <a:lnTo>
                    <a:pt x="82" y="29"/>
                  </a:lnTo>
                  <a:lnTo>
                    <a:pt x="143" y="76"/>
                  </a:lnTo>
                  <a:lnTo>
                    <a:pt x="181" y="131"/>
                  </a:lnTo>
                  <a:lnTo>
                    <a:pt x="181" y="177"/>
                  </a:lnTo>
                  <a:lnTo>
                    <a:pt x="127" y="278"/>
                  </a:lnTo>
                  <a:lnTo>
                    <a:pt x="175" y="259"/>
                  </a:lnTo>
                  <a:lnTo>
                    <a:pt x="154" y="371"/>
                  </a:lnTo>
                  <a:lnTo>
                    <a:pt x="127" y="456"/>
                  </a:lnTo>
                  <a:lnTo>
                    <a:pt x="120" y="508"/>
                  </a:lnTo>
                  <a:lnTo>
                    <a:pt x="156" y="544"/>
                  </a:lnTo>
                  <a:lnTo>
                    <a:pt x="192" y="544"/>
                  </a:lnTo>
                  <a:lnTo>
                    <a:pt x="150" y="514"/>
                  </a:lnTo>
                  <a:lnTo>
                    <a:pt x="148" y="470"/>
                  </a:lnTo>
                  <a:lnTo>
                    <a:pt x="177" y="417"/>
                  </a:lnTo>
                  <a:lnTo>
                    <a:pt x="184" y="458"/>
                  </a:lnTo>
                  <a:lnTo>
                    <a:pt x="215" y="500"/>
                  </a:lnTo>
                  <a:lnTo>
                    <a:pt x="192" y="517"/>
                  </a:lnTo>
                  <a:lnTo>
                    <a:pt x="220" y="525"/>
                  </a:lnTo>
                  <a:lnTo>
                    <a:pt x="247" y="517"/>
                  </a:lnTo>
                  <a:lnTo>
                    <a:pt x="304" y="525"/>
                  </a:lnTo>
                  <a:lnTo>
                    <a:pt x="369" y="493"/>
                  </a:lnTo>
                  <a:lnTo>
                    <a:pt x="454" y="502"/>
                  </a:lnTo>
                  <a:lnTo>
                    <a:pt x="464" y="481"/>
                  </a:lnTo>
                  <a:lnTo>
                    <a:pt x="418" y="472"/>
                  </a:lnTo>
                  <a:lnTo>
                    <a:pt x="365" y="483"/>
                  </a:lnTo>
                  <a:lnTo>
                    <a:pt x="306" y="510"/>
                  </a:lnTo>
                  <a:lnTo>
                    <a:pt x="274" y="508"/>
                  </a:lnTo>
                  <a:lnTo>
                    <a:pt x="238" y="489"/>
                  </a:lnTo>
                  <a:lnTo>
                    <a:pt x="207" y="437"/>
                  </a:lnTo>
                  <a:lnTo>
                    <a:pt x="215" y="403"/>
                  </a:lnTo>
                  <a:lnTo>
                    <a:pt x="224" y="302"/>
                  </a:lnTo>
                  <a:lnTo>
                    <a:pt x="220" y="232"/>
                  </a:lnTo>
                  <a:lnTo>
                    <a:pt x="236" y="139"/>
                  </a:lnTo>
                  <a:lnTo>
                    <a:pt x="217" y="74"/>
                  </a:lnTo>
                  <a:lnTo>
                    <a:pt x="179" y="33"/>
                  </a:lnTo>
                  <a:lnTo>
                    <a:pt x="169" y="65"/>
                  </a:lnTo>
                  <a:lnTo>
                    <a:pt x="125" y="31"/>
                  </a:lnTo>
                  <a:lnTo>
                    <a:pt x="78" y="0"/>
                  </a:lnTo>
                  <a:lnTo>
                    <a:pt x="0" y="8"/>
                  </a:lnTo>
                  <a:close/>
                </a:path>
              </a:pathLst>
            </a:custGeom>
            <a:solidFill>
              <a:srgbClr val="000000"/>
            </a:solidFill>
            <a:ln w="9525">
              <a:noFill/>
              <a:round/>
              <a:headEnd/>
              <a:tailEnd/>
            </a:ln>
          </p:spPr>
          <p:txBody>
            <a:bodyPr/>
            <a:lstStyle/>
            <a:p>
              <a:endParaRPr lang="en-US"/>
            </a:p>
          </p:txBody>
        </p:sp>
        <p:sp>
          <p:nvSpPr>
            <p:cNvPr id="51247" name="Freeform 47"/>
            <p:cNvSpPr>
              <a:spLocks/>
            </p:cNvSpPr>
            <p:nvPr/>
          </p:nvSpPr>
          <p:spPr bwMode="auto">
            <a:xfrm>
              <a:off x="1704" y="2746"/>
              <a:ext cx="38" cy="30"/>
            </a:xfrm>
            <a:custGeom>
              <a:avLst/>
              <a:gdLst>
                <a:gd name="T0" fmla="*/ 1 w 76"/>
                <a:gd name="T1" fmla="*/ 0 h 61"/>
                <a:gd name="T2" fmla="*/ 1 w 76"/>
                <a:gd name="T3" fmla="*/ 0 h 61"/>
                <a:gd name="T4" fmla="*/ 0 w 76"/>
                <a:gd name="T5" fmla="*/ 0 h 61"/>
                <a:gd name="T6" fmla="*/ 1 w 76"/>
                <a:gd name="T7" fmla="*/ 0 h 61"/>
                <a:gd name="T8" fmla="*/ 1 w 76"/>
                <a:gd name="T9" fmla="*/ 0 h 61"/>
                <a:gd name="T10" fmla="*/ 1 w 76"/>
                <a:gd name="T11" fmla="*/ 0 h 61"/>
                <a:gd name="T12" fmla="*/ 0 60000 65536"/>
                <a:gd name="T13" fmla="*/ 0 60000 65536"/>
                <a:gd name="T14" fmla="*/ 0 60000 65536"/>
                <a:gd name="T15" fmla="*/ 0 60000 65536"/>
                <a:gd name="T16" fmla="*/ 0 60000 65536"/>
                <a:gd name="T17" fmla="*/ 0 60000 65536"/>
                <a:gd name="T18" fmla="*/ 0 w 76"/>
                <a:gd name="T19" fmla="*/ 0 h 61"/>
                <a:gd name="T20" fmla="*/ 76 w 76"/>
                <a:gd name="T21" fmla="*/ 61 h 61"/>
              </a:gdLst>
              <a:ahLst/>
              <a:cxnLst>
                <a:cxn ang="T12">
                  <a:pos x="T0" y="T1"/>
                </a:cxn>
                <a:cxn ang="T13">
                  <a:pos x="T2" y="T3"/>
                </a:cxn>
                <a:cxn ang="T14">
                  <a:pos x="T4" y="T5"/>
                </a:cxn>
                <a:cxn ang="T15">
                  <a:pos x="T6" y="T7"/>
                </a:cxn>
                <a:cxn ang="T16">
                  <a:pos x="T8" y="T9"/>
                </a:cxn>
                <a:cxn ang="T17">
                  <a:pos x="T10" y="T11"/>
                </a:cxn>
              </a:cxnLst>
              <a:rect l="T18" t="T19" r="T20" b="T21"/>
              <a:pathLst>
                <a:path w="76" h="61">
                  <a:moveTo>
                    <a:pt x="76" y="0"/>
                  </a:moveTo>
                  <a:lnTo>
                    <a:pt x="34" y="13"/>
                  </a:lnTo>
                  <a:lnTo>
                    <a:pt x="0" y="61"/>
                  </a:lnTo>
                  <a:lnTo>
                    <a:pt x="55" y="40"/>
                  </a:lnTo>
                  <a:lnTo>
                    <a:pt x="76" y="0"/>
                  </a:lnTo>
                  <a:close/>
                </a:path>
              </a:pathLst>
            </a:custGeom>
            <a:solidFill>
              <a:srgbClr val="000000"/>
            </a:solidFill>
            <a:ln w="9525">
              <a:noFill/>
              <a:round/>
              <a:headEnd/>
              <a:tailEnd/>
            </a:ln>
          </p:spPr>
          <p:txBody>
            <a:bodyPr/>
            <a:lstStyle/>
            <a:p>
              <a:endParaRPr lang="en-US"/>
            </a:p>
          </p:txBody>
        </p:sp>
        <p:sp>
          <p:nvSpPr>
            <p:cNvPr id="51248" name="Freeform 48"/>
            <p:cNvSpPr>
              <a:spLocks/>
            </p:cNvSpPr>
            <p:nvPr/>
          </p:nvSpPr>
          <p:spPr bwMode="auto">
            <a:xfrm>
              <a:off x="2169" y="2674"/>
              <a:ext cx="41" cy="11"/>
            </a:xfrm>
            <a:custGeom>
              <a:avLst/>
              <a:gdLst>
                <a:gd name="T0" fmla="*/ 0 w 82"/>
                <a:gd name="T1" fmla="*/ 0 h 23"/>
                <a:gd name="T2" fmla="*/ 1 w 82"/>
                <a:gd name="T3" fmla="*/ 0 h 23"/>
                <a:gd name="T4" fmla="*/ 1 w 82"/>
                <a:gd name="T5" fmla="*/ 0 h 23"/>
                <a:gd name="T6" fmla="*/ 1 w 82"/>
                <a:gd name="T7" fmla="*/ 0 h 23"/>
                <a:gd name="T8" fmla="*/ 0 w 82"/>
                <a:gd name="T9" fmla="*/ 0 h 23"/>
                <a:gd name="T10" fmla="*/ 0 w 82"/>
                <a:gd name="T11" fmla="*/ 0 h 23"/>
                <a:gd name="T12" fmla="*/ 0 60000 65536"/>
                <a:gd name="T13" fmla="*/ 0 60000 65536"/>
                <a:gd name="T14" fmla="*/ 0 60000 65536"/>
                <a:gd name="T15" fmla="*/ 0 60000 65536"/>
                <a:gd name="T16" fmla="*/ 0 60000 65536"/>
                <a:gd name="T17" fmla="*/ 0 60000 65536"/>
                <a:gd name="T18" fmla="*/ 0 w 82"/>
                <a:gd name="T19" fmla="*/ 0 h 23"/>
                <a:gd name="T20" fmla="*/ 82 w 82"/>
                <a:gd name="T21" fmla="*/ 23 h 23"/>
              </a:gdLst>
              <a:ahLst/>
              <a:cxnLst>
                <a:cxn ang="T12">
                  <a:pos x="T0" y="T1"/>
                </a:cxn>
                <a:cxn ang="T13">
                  <a:pos x="T2" y="T3"/>
                </a:cxn>
                <a:cxn ang="T14">
                  <a:pos x="T4" y="T5"/>
                </a:cxn>
                <a:cxn ang="T15">
                  <a:pos x="T6" y="T7"/>
                </a:cxn>
                <a:cxn ang="T16">
                  <a:pos x="T8" y="T9"/>
                </a:cxn>
                <a:cxn ang="T17">
                  <a:pos x="T10" y="T11"/>
                </a:cxn>
              </a:cxnLst>
              <a:rect l="T18" t="T19" r="T20" b="T21"/>
              <a:pathLst>
                <a:path w="82" h="23">
                  <a:moveTo>
                    <a:pt x="0" y="4"/>
                  </a:moveTo>
                  <a:lnTo>
                    <a:pt x="33" y="23"/>
                  </a:lnTo>
                  <a:lnTo>
                    <a:pt x="82" y="21"/>
                  </a:lnTo>
                  <a:lnTo>
                    <a:pt x="40" y="0"/>
                  </a:lnTo>
                  <a:lnTo>
                    <a:pt x="0" y="4"/>
                  </a:lnTo>
                  <a:close/>
                </a:path>
              </a:pathLst>
            </a:custGeom>
            <a:solidFill>
              <a:srgbClr val="000000"/>
            </a:solidFill>
            <a:ln w="9525">
              <a:noFill/>
              <a:round/>
              <a:headEnd/>
              <a:tailEnd/>
            </a:ln>
          </p:spPr>
          <p:txBody>
            <a:bodyPr/>
            <a:lstStyle/>
            <a:p>
              <a:endParaRPr lang="en-US"/>
            </a:p>
          </p:txBody>
        </p:sp>
        <p:sp>
          <p:nvSpPr>
            <p:cNvPr id="51249" name="Freeform 49"/>
            <p:cNvSpPr>
              <a:spLocks/>
            </p:cNvSpPr>
            <p:nvPr/>
          </p:nvSpPr>
          <p:spPr bwMode="auto">
            <a:xfrm>
              <a:off x="1718" y="2780"/>
              <a:ext cx="17" cy="22"/>
            </a:xfrm>
            <a:custGeom>
              <a:avLst/>
              <a:gdLst>
                <a:gd name="T0" fmla="*/ 0 w 35"/>
                <a:gd name="T1" fmla="*/ 0 h 44"/>
                <a:gd name="T2" fmla="*/ 0 w 35"/>
                <a:gd name="T3" fmla="*/ 1 h 44"/>
                <a:gd name="T4" fmla="*/ 0 w 35"/>
                <a:gd name="T5" fmla="*/ 1 h 44"/>
                <a:gd name="T6" fmla="*/ 0 w 35"/>
                <a:gd name="T7" fmla="*/ 0 h 44"/>
                <a:gd name="T8" fmla="*/ 0 w 35"/>
                <a:gd name="T9" fmla="*/ 0 h 44"/>
                <a:gd name="T10" fmla="*/ 0 60000 65536"/>
                <a:gd name="T11" fmla="*/ 0 60000 65536"/>
                <a:gd name="T12" fmla="*/ 0 60000 65536"/>
                <a:gd name="T13" fmla="*/ 0 60000 65536"/>
                <a:gd name="T14" fmla="*/ 0 60000 65536"/>
                <a:gd name="T15" fmla="*/ 0 w 35"/>
                <a:gd name="T16" fmla="*/ 0 h 44"/>
                <a:gd name="T17" fmla="*/ 35 w 35"/>
                <a:gd name="T18" fmla="*/ 44 h 44"/>
              </a:gdLst>
              <a:ahLst/>
              <a:cxnLst>
                <a:cxn ang="T10">
                  <a:pos x="T0" y="T1"/>
                </a:cxn>
                <a:cxn ang="T11">
                  <a:pos x="T2" y="T3"/>
                </a:cxn>
                <a:cxn ang="T12">
                  <a:pos x="T4" y="T5"/>
                </a:cxn>
                <a:cxn ang="T13">
                  <a:pos x="T6" y="T7"/>
                </a:cxn>
                <a:cxn ang="T14">
                  <a:pos x="T8" y="T9"/>
                </a:cxn>
              </a:cxnLst>
              <a:rect l="T15" t="T16" r="T17" b="T18"/>
              <a:pathLst>
                <a:path w="35" h="44">
                  <a:moveTo>
                    <a:pt x="17" y="0"/>
                  </a:moveTo>
                  <a:lnTo>
                    <a:pt x="0" y="18"/>
                  </a:lnTo>
                  <a:lnTo>
                    <a:pt x="35" y="44"/>
                  </a:lnTo>
                  <a:lnTo>
                    <a:pt x="17" y="0"/>
                  </a:lnTo>
                  <a:close/>
                </a:path>
              </a:pathLst>
            </a:custGeom>
            <a:solidFill>
              <a:srgbClr val="000000"/>
            </a:solidFill>
            <a:ln w="9525">
              <a:noFill/>
              <a:round/>
              <a:headEnd/>
              <a:tailEnd/>
            </a:ln>
          </p:spPr>
          <p:txBody>
            <a:bodyPr/>
            <a:lstStyle/>
            <a:p>
              <a:endParaRPr lang="en-US"/>
            </a:p>
          </p:txBody>
        </p:sp>
        <p:sp>
          <p:nvSpPr>
            <p:cNvPr id="51250" name="Freeform 50"/>
            <p:cNvSpPr>
              <a:spLocks/>
            </p:cNvSpPr>
            <p:nvPr/>
          </p:nvSpPr>
          <p:spPr bwMode="auto">
            <a:xfrm>
              <a:off x="2193" y="2695"/>
              <a:ext cx="15" cy="22"/>
            </a:xfrm>
            <a:custGeom>
              <a:avLst/>
              <a:gdLst>
                <a:gd name="T0" fmla="*/ 0 w 30"/>
                <a:gd name="T1" fmla="*/ 0 h 44"/>
                <a:gd name="T2" fmla="*/ 1 w 30"/>
                <a:gd name="T3" fmla="*/ 1 h 44"/>
                <a:gd name="T4" fmla="*/ 1 w 30"/>
                <a:gd name="T5" fmla="*/ 1 h 44"/>
                <a:gd name="T6" fmla="*/ 0 w 30"/>
                <a:gd name="T7" fmla="*/ 0 h 44"/>
                <a:gd name="T8" fmla="*/ 0 w 30"/>
                <a:gd name="T9" fmla="*/ 0 h 44"/>
                <a:gd name="T10" fmla="*/ 0 60000 65536"/>
                <a:gd name="T11" fmla="*/ 0 60000 65536"/>
                <a:gd name="T12" fmla="*/ 0 60000 65536"/>
                <a:gd name="T13" fmla="*/ 0 60000 65536"/>
                <a:gd name="T14" fmla="*/ 0 60000 65536"/>
                <a:gd name="T15" fmla="*/ 0 w 30"/>
                <a:gd name="T16" fmla="*/ 0 h 44"/>
                <a:gd name="T17" fmla="*/ 30 w 30"/>
                <a:gd name="T18" fmla="*/ 44 h 44"/>
              </a:gdLst>
              <a:ahLst/>
              <a:cxnLst>
                <a:cxn ang="T10">
                  <a:pos x="T0" y="T1"/>
                </a:cxn>
                <a:cxn ang="T11">
                  <a:pos x="T2" y="T3"/>
                </a:cxn>
                <a:cxn ang="T12">
                  <a:pos x="T4" y="T5"/>
                </a:cxn>
                <a:cxn ang="T13">
                  <a:pos x="T6" y="T7"/>
                </a:cxn>
                <a:cxn ang="T14">
                  <a:pos x="T8" y="T9"/>
                </a:cxn>
              </a:cxnLst>
              <a:rect l="T15" t="T16" r="T17" b="T18"/>
              <a:pathLst>
                <a:path w="30" h="44">
                  <a:moveTo>
                    <a:pt x="0" y="0"/>
                  </a:moveTo>
                  <a:lnTo>
                    <a:pt x="30" y="44"/>
                  </a:lnTo>
                  <a:lnTo>
                    <a:pt x="30" y="2"/>
                  </a:lnTo>
                  <a:lnTo>
                    <a:pt x="0" y="0"/>
                  </a:lnTo>
                  <a:close/>
                </a:path>
              </a:pathLst>
            </a:custGeom>
            <a:solidFill>
              <a:srgbClr val="000000"/>
            </a:solidFill>
            <a:ln w="9525">
              <a:noFill/>
              <a:round/>
              <a:headEnd/>
              <a:tailEnd/>
            </a:ln>
          </p:spPr>
          <p:txBody>
            <a:bodyPr/>
            <a:lstStyle/>
            <a:p>
              <a:endParaRPr lang="en-US"/>
            </a:p>
          </p:txBody>
        </p:sp>
        <p:sp>
          <p:nvSpPr>
            <p:cNvPr id="51251" name="Freeform 51"/>
            <p:cNvSpPr>
              <a:spLocks/>
            </p:cNvSpPr>
            <p:nvPr/>
          </p:nvSpPr>
          <p:spPr bwMode="auto">
            <a:xfrm>
              <a:off x="2056" y="2709"/>
              <a:ext cx="147" cy="60"/>
            </a:xfrm>
            <a:custGeom>
              <a:avLst/>
              <a:gdLst>
                <a:gd name="T0" fmla="*/ 0 w 293"/>
                <a:gd name="T1" fmla="*/ 1 h 120"/>
                <a:gd name="T2" fmla="*/ 1 w 293"/>
                <a:gd name="T3" fmla="*/ 1 h 120"/>
                <a:gd name="T4" fmla="*/ 1 w 293"/>
                <a:gd name="T5" fmla="*/ 0 h 120"/>
                <a:gd name="T6" fmla="*/ 1 w 293"/>
                <a:gd name="T7" fmla="*/ 1 h 120"/>
                <a:gd name="T8" fmla="*/ 1 w 293"/>
                <a:gd name="T9" fmla="*/ 1 h 120"/>
                <a:gd name="T10" fmla="*/ 1 w 293"/>
                <a:gd name="T11" fmla="*/ 1 h 120"/>
                <a:gd name="T12" fmla="*/ 1 w 293"/>
                <a:gd name="T13" fmla="*/ 1 h 120"/>
                <a:gd name="T14" fmla="*/ 1 w 293"/>
                <a:gd name="T15" fmla="*/ 1 h 120"/>
                <a:gd name="T16" fmla="*/ 1 w 293"/>
                <a:gd name="T17" fmla="*/ 1 h 120"/>
                <a:gd name="T18" fmla="*/ 1 w 293"/>
                <a:gd name="T19" fmla="*/ 1 h 120"/>
                <a:gd name="T20" fmla="*/ 0 w 293"/>
                <a:gd name="T21" fmla="*/ 1 h 120"/>
                <a:gd name="T22" fmla="*/ 0 w 293"/>
                <a:gd name="T23" fmla="*/ 1 h 12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93"/>
                <a:gd name="T37" fmla="*/ 0 h 120"/>
                <a:gd name="T38" fmla="*/ 293 w 293"/>
                <a:gd name="T39" fmla="*/ 120 h 12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93" h="120">
                  <a:moveTo>
                    <a:pt x="0" y="120"/>
                  </a:moveTo>
                  <a:lnTo>
                    <a:pt x="53" y="32"/>
                  </a:lnTo>
                  <a:lnTo>
                    <a:pt x="118" y="0"/>
                  </a:lnTo>
                  <a:lnTo>
                    <a:pt x="202" y="4"/>
                  </a:lnTo>
                  <a:lnTo>
                    <a:pt x="293" y="34"/>
                  </a:lnTo>
                  <a:lnTo>
                    <a:pt x="280" y="64"/>
                  </a:lnTo>
                  <a:lnTo>
                    <a:pt x="196" y="28"/>
                  </a:lnTo>
                  <a:lnTo>
                    <a:pt x="139" y="23"/>
                  </a:lnTo>
                  <a:lnTo>
                    <a:pt x="88" y="36"/>
                  </a:lnTo>
                  <a:lnTo>
                    <a:pt x="42" y="114"/>
                  </a:lnTo>
                  <a:lnTo>
                    <a:pt x="0" y="120"/>
                  </a:lnTo>
                  <a:close/>
                </a:path>
              </a:pathLst>
            </a:custGeom>
            <a:solidFill>
              <a:srgbClr val="000000"/>
            </a:solidFill>
            <a:ln w="9525">
              <a:noFill/>
              <a:round/>
              <a:headEnd/>
              <a:tailEnd/>
            </a:ln>
          </p:spPr>
          <p:txBody>
            <a:bodyPr/>
            <a:lstStyle/>
            <a:p>
              <a:endParaRPr lang="en-US"/>
            </a:p>
          </p:txBody>
        </p:sp>
        <p:sp>
          <p:nvSpPr>
            <p:cNvPr id="51252" name="Freeform 52"/>
            <p:cNvSpPr>
              <a:spLocks/>
            </p:cNvSpPr>
            <p:nvPr/>
          </p:nvSpPr>
          <p:spPr bwMode="auto">
            <a:xfrm>
              <a:off x="2082" y="2676"/>
              <a:ext cx="115" cy="52"/>
            </a:xfrm>
            <a:custGeom>
              <a:avLst/>
              <a:gdLst>
                <a:gd name="T0" fmla="*/ 0 w 230"/>
                <a:gd name="T1" fmla="*/ 0 h 105"/>
                <a:gd name="T2" fmla="*/ 1 w 230"/>
                <a:gd name="T3" fmla="*/ 0 h 105"/>
                <a:gd name="T4" fmla="*/ 1 w 230"/>
                <a:gd name="T5" fmla="*/ 0 h 105"/>
                <a:gd name="T6" fmla="*/ 1 w 230"/>
                <a:gd name="T7" fmla="*/ 0 h 105"/>
                <a:gd name="T8" fmla="*/ 1 w 230"/>
                <a:gd name="T9" fmla="*/ 0 h 105"/>
                <a:gd name="T10" fmla="*/ 1 w 230"/>
                <a:gd name="T11" fmla="*/ 0 h 105"/>
                <a:gd name="T12" fmla="*/ 1 w 230"/>
                <a:gd name="T13" fmla="*/ 0 h 105"/>
                <a:gd name="T14" fmla="*/ 1 w 230"/>
                <a:gd name="T15" fmla="*/ 0 h 105"/>
                <a:gd name="T16" fmla="*/ 1 w 230"/>
                <a:gd name="T17" fmla="*/ 0 h 105"/>
                <a:gd name="T18" fmla="*/ 1 w 230"/>
                <a:gd name="T19" fmla="*/ 0 h 105"/>
                <a:gd name="T20" fmla="*/ 0 w 230"/>
                <a:gd name="T21" fmla="*/ 0 h 105"/>
                <a:gd name="T22" fmla="*/ 0 w 230"/>
                <a:gd name="T23" fmla="*/ 0 h 10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30"/>
                <a:gd name="T37" fmla="*/ 0 h 105"/>
                <a:gd name="T38" fmla="*/ 230 w 230"/>
                <a:gd name="T39" fmla="*/ 105 h 10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30" h="105">
                  <a:moveTo>
                    <a:pt x="0" y="38"/>
                  </a:moveTo>
                  <a:lnTo>
                    <a:pt x="58" y="25"/>
                  </a:lnTo>
                  <a:lnTo>
                    <a:pt x="119" y="25"/>
                  </a:lnTo>
                  <a:lnTo>
                    <a:pt x="169" y="40"/>
                  </a:lnTo>
                  <a:lnTo>
                    <a:pt x="199" y="67"/>
                  </a:lnTo>
                  <a:lnTo>
                    <a:pt x="230" y="105"/>
                  </a:lnTo>
                  <a:lnTo>
                    <a:pt x="218" y="55"/>
                  </a:lnTo>
                  <a:lnTo>
                    <a:pt x="174" y="16"/>
                  </a:lnTo>
                  <a:lnTo>
                    <a:pt x="108" y="0"/>
                  </a:lnTo>
                  <a:lnTo>
                    <a:pt x="36" y="12"/>
                  </a:lnTo>
                  <a:lnTo>
                    <a:pt x="0" y="38"/>
                  </a:lnTo>
                  <a:close/>
                </a:path>
              </a:pathLst>
            </a:custGeom>
            <a:solidFill>
              <a:srgbClr val="000000"/>
            </a:solidFill>
            <a:ln w="9525">
              <a:noFill/>
              <a:round/>
              <a:headEnd/>
              <a:tailEnd/>
            </a:ln>
          </p:spPr>
          <p:txBody>
            <a:bodyPr/>
            <a:lstStyle/>
            <a:p>
              <a:endParaRPr lang="en-US"/>
            </a:p>
          </p:txBody>
        </p:sp>
        <p:sp>
          <p:nvSpPr>
            <p:cNvPr id="51253" name="Freeform 53"/>
            <p:cNvSpPr>
              <a:spLocks/>
            </p:cNvSpPr>
            <p:nvPr/>
          </p:nvSpPr>
          <p:spPr bwMode="auto">
            <a:xfrm>
              <a:off x="2100" y="2746"/>
              <a:ext cx="90" cy="38"/>
            </a:xfrm>
            <a:custGeom>
              <a:avLst/>
              <a:gdLst>
                <a:gd name="T0" fmla="*/ 0 w 180"/>
                <a:gd name="T1" fmla="*/ 1 h 76"/>
                <a:gd name="T2" fmla="*/ 1 w 180"/>
                <a:gd name="T3" fmla="*/ 1 h 76"/>
                <a:gd name="T4" fmla="*/ 1 w 180"/>
                <a:gd name="T5" fmla="*/ 1 h 76"/>
                <a:gd name="T6" fmla="*/ 1 w 180"/>
                <a:gd name="T7" fmla="*/ 1 h 76"/>
                <a:gd name="T8" fmla="*/ 1 w 180"/>
                <a:gd name="T9" fmla="*/ 0 h 76"/>
                <a:gd name="T10" fmla="*/ 1 w 180"/>
                <a:gd name="T11" fmla="*/ 1 h 76"/>
                <a:gd name="T12" fmla="*/ 1 w 180"/>
                <a:gd name="T13" fmla="*/ 1 h 76"/>
                <a:gd name="T14" fmla="*/ 1 w 180"/>
                <a:gd name="T15" fmla="*/ 1 h 76"/>
                <a:gd name="T16" fmla="*/ 1 w 180"/>
                <a:gd name="T17" fmla="*/ 1 h 76"/>
                <a:gd name="T18" fmla="*/ 0 w 180"/>
                <a:gd name="T19" fmla="*/ 1 h 76"/>
                <a:gd name="T20" fmla="*/ 0 w 180"/>
                <a:gd name="T21" fmla="*/ 1 h 7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80"/>
                <a:gd name="T34" fmla="*/ 0 h 76"/>
                <a:gd name="T35" fmla="*/ 180 w 180"/>
                <a:gd name="T36" fmla="*/ 76 h 7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80" h="76">
                  <a:moveTo>
                    <a:pt x="0" y="57"/>
                  </a:moveTo>
                  <a:lnTo>
                    <a:pt x="53" y="59"/>
                  </a:lnTo>
                  <a:lnTo>
                    <a:pt x="100" y="51"/>
                  </a:lnTo>
                  <a:lnTo>
                    <a:pt x="140" y="28"/>
                  </a:lnTo>
                  <a:lnTo>
                    <a:pt x="180" y="0"/>
                  </a:lnTo>
                  <a:lnTo>
                    <a:pt x="175" y="40"/>
                  </a:lnTo>
                  <a:lnTo>
                    <a:pt x="135" y="57"/>
                  </a:lnTo>
                  <a:lnTo>
                    <a:pt x="102" y="76"/>
                  </a:lnTo>
                  <a:lnTo>
                    <a:pt x="34" y="70"/>
                  </a:lnTo>
                  <a:lnTo>
                    <a:pt x="0" y="57"/>
                  </a:lnTo>
                  <a:close/>
                </a:path>
              </a:pathLst>
            </a:custGeom>
            <a:solidFill>
              <a:srgbClr val="000000"/>
            </a:solidFill>
            <a:ln w="9525">
              <a:noFill/>
              <a:round/>
              <a:headEnd/>
              <a:tailEnd/>
            </a:ln>
          </p:spPr>
          <p:txBody>
            <a:bodyPr/>
            <a:lstStyle/>
            <a:p>
              <a:endParaRPr lang="en-US"/>
            </a:p>
          </p:txBody>
        </p:sp>
        <p:sp>
          <p:nvSpPr>
            <p:cNvPr id="51254" name="Freeform 54"/>
            <p:cNvSpPr>
              <a:spLocks/>
            </p:cNvSpPr>
            <p:nvPr/>
          </p:nvSpPr>
          <p:spPr bwMode="auto">
            <a:xfrm>
              <a:off x="1768" y="2218"/>
              <a:ext cx="571" cy="181"/>
            </a:xfrm>
            <a:custGeom>
              <a:avLst/>
              <a:gdLst>
                <a:gd name="T0" fmla="*/ 0 w 1143"/>
                <a:gd name="T1" fmla="*/ 0 h 363"/>
                <a:gd name="T2" fmla="*/ 0 w 1143"/>
                <a:gd name="T3" fmla="*/ 0 h 363"/>
                <a:gd name="T4" fmla="*/ 0 w 1143"/>
                <a:gd name="T5" fmla="*/ 0 h 363"/>
                <a:gd name="T6" fmla="*/ 0 w 1143"/>
                <a:gd name="T7" fmla="*/ 0 h 363"/>
                <a:gd name="T8" fmla="*/ 0 w 1143"/>
                <a:gd name="T9" fmla="*/ 0 h 363"/>
                <a:gd name="T10" fmla="*/ 0 w 1143"/>
                <a:gd name="T11" fmla="*/ 0 h 363"/>
                <a:gd name="T12" fmla="*/ 0 w 1143"/>
                <a:gd name="T13" fmla="*/ 0 h 363"/>
                <a:gd name="T14" fmla="*/ 0 w 1143"/>
                <a:gd name="T15" fmla="*/ 0 h 363"/>
                <a:gd name="T16" fmla="*/ 0 w 1143"/>
                <a:gd name="T17" fmla="*/ 0 h 363"/>
                <a:gd name="T18" fmla="*/ 0 w 1143"/>
                <a:gd name="T19" fmla="*/ 0 h 363"/>
                <a:gd name="T20" fmla="*/ 0 w 1143"/>
                <a:gd name="T21" fmla="*/ 0 h 363"/>
                <a:gd name="T22" fmla="*/ 0 w 1143"/>
                <a:gd name="T23" fmla="*/ 0 h 363"/>
                <a:gd name="T24" fmla="*/ 0 w 1143"/>
                <a:gd name="T25" fmla="*/ 0 h 363"/>
                <a:gd name="T26" fmla="*/ 0 w 1143"/>
                <a:gd name="T27" fmla="*/ 0 h 363"/>
                <a:gd name="T28" fmla="*/ 0 w 1143"/>
                <a:gd name="T29" fmla="*/ 0 h 363"/>
                <a:gd name="T30" fmla="*/ 0 w 1143"/>
                <a:gd name="T31" fmla="*/ 0 h 363"/>
                <a:gd name="T32" fmla="*/ 0 w 1143"/>
                <a:gd name="T33" fmla="*/ 0 h 363"/>
                <a:gd name="T34" fmla="*/ 0 w 1143"/>
                <a:gd name="T35" fmla="*/ 0 h 363"/>
                <a:gd name="T36" fmla="*/ 0 w 1143"/>
                <a:gd name="T37" fmla="*/ 0 h 363"/>
                <a:gd name="T38" fmla="*/ 0 w 1143"/>
                <a:gd name="T39" fmla="*/ 0 h 363"/>
                <a:gd name="T40" fmla="*/ 0 w 1143"/>
                <a:gd name="T41" fmla="*/ 0 h 363"/>
                <a:gd name="T42" fmla="*/ 0 w 1143"/>
                <a:gd name="T43" fmla="*/ 0 h 363"/>
                <a:gd name="T44" fmla="*/ 0 w 1143"/>
                <a:gd name="T45" fmla="*/ 0 h 363"/>
                <a:gd name="T46" fmla="*/ 0 w 1143"/>
                <a:gd name="T47" fmla="*/ 0 h 363"/>
                <a:gd name="T48" fmla="*/ 0 w 1143"/>
                <a:gd name="T49" fmla="*/ 0 h 363"/>
                <a:gd name="T50" fmla="*/ 0 w 1143"/>
                <a:gd name="T51" fmla="*/ 0 h 363"/>
                <a:gd name="T52" fmla="*/ 0 w 1143"/>
                <a:gd name="T53" fmla="*/ 0 h 363"/>
                <a:gd name="T54" fmla="*/ 0 w 1143"/>
                <a:gd name="T55" fmla="*/ 0 h 363"/>
                <a:gd name="T56" fmla="*/ 0 w 1143"/>
                <a:gd name="T57" fmla="*/ 0 h 363"/>
                <a:gd name="T58" fmla="*/ 0 w 1143"/>
                <a:gd name="T59" fmla="*/ 0 h 363"/>
                <a:gd name="T60" fmla="*/ 0 w 1143"/>
                <a:gd name="T61" fmla="*/ 0 h 363"/>
                <a:gd name="T62" fmla="*/ 0 w 1143"/>
                <a:gd name="T63" fmla="*/ 0 h 363"/>
                <a:gd name="T64" fmla="*/ 0 w 1143"/>
                <a:gd name="T65" fmla="*/ 0 h 363"/>
                <a:gd name="T66" fmla="*/ 0 w 1143"/>
                <a:gd name="T67" fmla="*/ 0 h 363"/>
                <a:gd name="T68" fmla="*/ 0 w 1143"/>
                <a:gd name="T69" fmla="*/ 0 h 363"/>
                <a:gd name="T70" fmla="*/ 0 w 1143"/>
                <a:gd name="T71" fmla="*/ 0 h 363"/>
                <a:gd name="T72" fmla="*/ 0 w 1143"/>
                <a:gd name="T73" fmla="*/ 0 h 363"/>
                <a:gd name="T74" fmla="*/ 0 w 1143"/>
                <a:gd name="T75" fmla="*/ 0 h 363"/>
                <a:gd name="T76" fmla="*/ 0 w 1143"/>
                <a:gd name="T77" fmla="*/ 0 h 363"/>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1143"/>
                <a:gd name="T118" fmla="*/ 0 h 363"/>
                <a:gd name="T119" fmla="*/ 1143 w 1143"/>
                <a:gd name="T120" fmla="*/ 363 h 363"/>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1143" h="363">
                  <a:moveTo>
                    <a:pt x="325" y="342"/>
                  </a:moveTo>
                  <a:lnTo>
                    <a:pt x="215" y="363"/>
                  </a:lnTo>
                  <a:lnTo>
                    <a:pt x="97" y="342"/>
                  </a:lnTo>
                  <a:lnTo>
                    <a:pt x="27" y="285"/>
                  </a:lnTo>
                  <a:lnTo>
                    <a:pt x="0" y="200"/>
                  </a:lnTo>
                  <a:lnTo>
                    <a:pt x="27" y="105"/>
                  </a:lnTo>
                  <a:lnTo>
                    <a:pt x="118" y="4"/>
                  </a:lnTo>
                  <a:lnTo>
                    <a:pt x="129" y="49"/>
                  </a:lnTo>
                  <a:lnTo>
                    <a:pt x="230" y="6"/>
                  </a:lnTo>
                  <a:lnTo>
                    <a:pt x="401" y="0"/>
                  </a:lnTo>
                  <a:lnTo>
                    <a:pt x="263" y="55"/>
                  </a:lnTo>
                  <a:lnTo>
                    <a:pt x="221" y="148"/>
                  </a:lnTo>
                  <a:lnTo>
                    <a:pt x="253" y="228"/>
                  </a:lnTo>
                  <a:lnTo>
                    <a:pt x="283" y="169"/>
                  </a:lnTo>
                  <a:lnTo>
                    <a:pt x="325" y="234"/>
                  </a:lnTo>
                  <a:lnTo>
                    <a:pt x="340" y="154"/>
                  </a:lnTo>
                  <a:lnTo>
                    <a:pt x="411" y="105"/>
                  </a:lnTo>
                  <a:lnTo>
                    <a:pt x="534" y="116"/>
                  </a:lnTo>
                  <a:lnTo>
                    <a:pt x="479" y="145"/>
                  </a:lnTo>
                  <a:lnTo>
                    <a:pt x="624" y="228"/>
                  </a:lnTo>
                  <a:lnTo>
                    <a:pt x="753" y="228"/>
                  </a:lnTo>
                  <a:lnTo>
                    <a:pt x="926" y="125"/>
                  </a:lnTo>
                  <a:lnTo>
                    <a:pt x="1042" y="135"/>
                  </a:lnTo>
                  <a:lnTo>
                    <a:pt x="953" y="179"/>
                  </a:lnTo>
                  <a:lnTo>
                    <a:pt x="1078" y="240"/>
                  </a:lnTo>
                  <a:lnTo>
                    <a:pt x="1019" y="268"/>
                  </a:lnTo>
                  <a:lnTo>
                    <a:pt x="1143" y="317"/>
                  </a:lnTo>
                  <a:lnTo>
                    <a:pt x="994" y="325"/>
                  </a:lnTo>
                  <a:lnTo>
                    <a:pt x="814" y="314"/>
                  </a:lnTo>
                  <a:lnTo>
                    <a:pt x="681" y="279"/>
                  </a:lnTo>
                  <a:lnTo>
                    <a:pt x="586" y="240"/>
                  </a:lnTo>
                  <a:lnTo>
                    <a:pt x="552" y="228"/>
                  </a:lnTo>
                  <a:lnTo>
                    <a:pt x="527" y="264"/>
                  </a:lnTo>
                  <a:lnTo>
                    <a:pt x="489" y="260"/>
                  </a:lnTo>
                  <a:lnTo>
                    <a:pt x="477" y="295"/>
                  </a:lnTo>
                  <a:lnTo>
                    <a:pt x="428" y="274"/>
                  </a:lnTo>
                  <a:lnTo>
                    <a:pt x="407" y="323"/>
                  </a:lnTo>
                  <a:lnTo>
                    <a:pt x="325" y="342"/>
                  </a:lnTo>
                  <a:close/>
                </a:path>
              </a:pathLst>
            </a:custGeom>
            <a:solidFill>
              <a:srgbClr val="000000"/>
            </a:solidFill>
            <a:ln w="9525">
              <a:noFill/>
              <a:round/>
              <a:headEnd/>
              <a:tailEnd/>
            </a:ln>
          </p:spPr>
          <p:txBody>
            <a:bodyPr/>
            <a:lstStyle/>
            <a:p>
              <a:endParaRPr lang="en-US"/>
            </a:p>
          </p:txBody>
        </p:sp>
        <p:sp>
          <p:nvSpPr>
            <p:cNvPr id="51255" name="Freeform 55"/>
            <p:cNvSpPr>
              <a:spLocks/>
            </p:cNvSpPr>
            <p:nvPr/>
          </p:nvSpPr>
          <p:spPr bwMode="auto">
            <a:xfrm>
              <a:off x="2206" y="2380"/>
              <a:ext cx="250" cy="404"/>
            </a:xfrm>
            <a:custGeom>
              <a:avLst/>
              <a:gdLst>
                <a:gd name="T0" fmla="*/ 0 w 500"/>
                <a:gd name="T1" fmla="*/ 0 h 808"/>
                <a:gd name="T2" fmla="*/ 1 w 500"/>
                <a:gd name="T3" fmla="*/ 1 h 808"/>
                <a:gd name="T4" fmla="*/ 1 w 500"/>
                <a:gd name="T5" fmla="*/ 1 h 808"/>
                <a:gd name="T6" fmla="*/ 1 w 500"/>
                <a:gd name="T7" fmla="*/ 1 h 808"/>
                <a:gd name="T8" fmla="*/ 1 w 500"/>
                <a:gd name="T9" fmla="*/ 1 h 808"/>
                <a:gd name="T10" fmla="*/ 1 w 500"/>
                <a:gd name="T11" fmla="*/ 1 h 808"/>
                <a:gd name="T12" fmla="*/ 1 w 500"/>
                <a:gd name="T13" fmla="*/ 1 h 808"/>
                <a:gd name="T14" fmla="*/ 1 w 500"/>
                <a:gd name="T15" fmla="*/ 1 h 808"/>
                <a:gd name="T16" fmla="*/ 1 w 500"/>
                <a:gd name="T17" fmla="*/ 1 h 808"/>
                <a:gd name="T18" fmla="*/ 1 w 500"/>
                <a:gd name="T19" fmla="*/ 1 h 808"/>
                <a:gd name="T20" fmla="*/ 1 w 500"/>
                <a:gd name="T21" fmla="*/ 1 h 808"/>
                <a:gd name="T22" fmla="*/ 1 w 500"/>
                <a:gd name="T23" fmla="*/ 1 h 808"/>
                <a:gd name="T24" fmla="*/ 1 w 500"/>
                <a:gd name="T25" fmla="*/ 1 h 808"/>
                <a:gd name="T26" fmla="*/ 1 w 500"/>
                <a:gd name="T27" fmla="*/ 1 h 808"/>
                <a:gd name="T28" fmla="*/ 1 w 500"/>
                <a:gd name="T29" fmla="*/ 1 h 808"/>
                <a:gd name="T30" fmla="*/ 1 w 500"/>
                <a:gd name="T31" fmla="*/ 1 h 808"/>
                <a:gd name="T32" fmla="*/ 1 w 500"/>
                <a:gd name="T33" fmla="*/ 1 h 808"/>
                <a:gd name="T34" fmla="*/ 1 w 500"/>
                <a:gd name="T35" fmla="*/ 1 h 808"/>
                <a:gd name="T36" fmla="*/ 1 w 500"/>
                <a:gd name="T37" fmla="*/ 1 h 808"/>
                <a:gd name="T38" fmla="*/ 1 w 500"/>
                <a:gd name="T39" fmla="*/ 1 h 808"/>
                <a:gd name="T40" fmla="*/ 1 w 500"/>
                <a:gd name="T41" fmla="*/ 1 h 808"/>
                <a:gd name="T42" fmla="*/ 1 w 500"/>
                <a:gd name="T43" fmla="*/ 1 h 808"/>
                <a:gd name="T44" fmla="*/ 1 w 500"/>
                <a:gd name="T45" fmla="*/ 1 h 808"/>
                <a:gd name="T46" fmla="*/ 1 w 500"/>
                <a:gd name="T47" fmla="*/ 1 h 808"/>
                <a:gd name="T48" fmla="*/ 1 w 500"/>
                <a:gd name="T49" fmla="*/ 1 h 808"/>
                <a:gd name="T50" fmla="*/ 1 w 500"/>
                <a:gd name="T51" fmla="*/ 1 h 808"/>
                <a:gd name="T52" fmla="*/ 1 w 500"/>
                <a:gd name="T53" fmla="*/ 1 h 808"/>
                <a:gd name="T54" fmla="*/ 1 w 500"/>
                <a:gd name="T55" fmla="*/ 1 h 808"/>
                <a:gd name="T56" fmla="*/ 1 w 500"/>
                <a:gd name="T57" fmla="*/ 1 h 808"/>
                <a:gd name="T58" fmla="*/ 1 w 500"/>
                <a:gd name="T59" fmla="*/ 1 h 808"/>
                <a:gd name="T60" fmla="*/ 1 w 500"/>
                <a:gd name="T61" fmla="*/ 1 h 808"/>
                <a:gd name="T62" fmla="*/ 1 w 500"/>
                <a:gd name="T63" fmla="*/ 1 h 808"/>
                <a:gd name="T64" fmla="*/ 1 w 500"/>
                <a:gd name="T65" fmla="*/ 1 h 808"/>
                <a:gd name="T66" fmla="*/ 1 w 500"/>
                <a:gd name="T67" fmla="*/ 1 h 808"/>
                <a:gd name="T68" fmla="*/ 0 w 500"/>
                <a:gd name="T69" fmla="*/ 0 h 808"/>
                <a:gd name="T70" fmla="*/ 0 w 500"/>
                <a:gd name="T71" fmla="*/ 0 h 808"/>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500"/>
                <a:gd name="T109" fmla="*/ 0 h 808"/>
                <a:gd name="T110" fmla="*/ 500 w 500"/>
                <a:gd name="T111" fmla="*/ 808 h 808"/>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500" h="808">
                  <a:moveTo>
                    <a:pt x="0" y="0"/>
                  </a:moveTo>
                  <a:lnTo>
                    <a:pt x="108" y="48"/>
                  </a:lnTo>
                  <a:lnTo>
                    <a:pt x="188" y="164"/>
                  </a:lnTo>
                  <a:lnTo>
                    <a:pt x="260" y="224"/>
                  </a:lnTo>
                  <a:lnTo>
                    <a:pt x="165" y="179"/>
                  </a:lnTo>
                  <a:lnTo>
                    <a:pt x="209" y="299"/>
                  </a:lnTo>
                  <a:lnTo>
                    <a:pt x="311" y="428"/>
                  </a:lnTo>
                  <a:lnTo>
                    <a:pt x="214" y="384"/>
                  </a:lnTo>
                  <a:lnTo>
                    <a:pt x="254" y="504"/>
                  </a:lnTo>
                  <a:lnTo>
                    <a:pt x="247" y="622"/>
                  </a:lnTo>
                  <a:lnTo>
                    <a:pt x="313" y="544"/>
                  </a:lnTo>
                  <a:lnTo>
                    <a:pt x="325" y="618"/>
                  </a:lnTo>
                  <a:lnTo>
                    <a:pt x="370" y="559"/>
                  </a:lnTo>
                  <a:lnTo>
                    <a:pt x="431" y="599"/>
                  </a:lnTo>
                  <a:lnTo>
                    <a:pt x="389" y="468"/>
                  </a:lnTo>
                  <a:lnTo>
                    <a:pt x="500" y="559"/>
                  </a:lnTo>
                  <a:lnTo>
                    <a:pt x="483" y="652"/>
                  </a:lnTo>
                  <a:lnTo>
                    <a:pt x="500" y="726"/>
                  </a:lnTo>
                  <a:lnTo>
                    <a:pt x="467" y="772"/>
                  </a:lnTo>
                  <a:lnTo>
                    <a:pt x="471" y="677"/>
                  </a:lnTo>
                  <a:lnTo>
                    <a:pt x="450" y="639"/>
                  </a:lnTo>
                  <a:lnTo>
                    <a:pt x="416" y="664"/>
                  </a:lnTo>
                  <a:lnTo>
                    <a:pt x="374" y="673"/>
                  </a:lnTo>
                  <a:lnTo>
                    <a:pt x="319" y="741"/>
                  </a:lnTo>
                  <a:lnTo>
                    <a:pt x="319" y="808"/>
                  </a:lnTo>
                  <a:lnTo>
                    <a:pt x="256" y="778"/>
                  </a:lnTo>
                  <a:lnTo>
                    <a:pt x="220" y="648"/>
                  </a:lnTo>
                  <a:lnTo>
                    <a:pt x="211" y="517"/>
                  </a:lnTo>
                  <a:lnTo>
                    <a:pt x="175" y="376"/>
                  </a:lnTo>
                  <a:lnTo>
                    <a:pt x="116" y="293"/>
                  </a:lnTo>
                  <a:lnTo>
                    <a:pt x="152" y="287"/>
                  </a:lnTo>
                  <a:lnTo>
                    <a:pt x="97" y="223"/>
                  </a:lnTo>
                  <a:lnTo>
                    <a:pt x="117" y="198"/>
                  </a:lnTo>
                  <a:lnTo>
                    <a:pt x="72" y="99"/>
                  </a:lnTo>
                  <a:lnTo>
                    <a:pt x="0" y="0"/>
                  </a:lnTo>
                  <a:close/>
                </a:path>
              </a:pathLst>
            </a:custGeom>
            <a:solidFill>
              <a:srgbClr val="000000"/>
            </a:solidFill>
            <a:ln w="9525">
              <a:noFill/>
              <a:round/>
              <a:headEnd/>
              <a:tailEnd/>
            </a:ln>
          </p:spPr>
          <p:txBody>
            <a:bodyPr/>
            <a:lstStyle/>
            <a:p>
              <a:endParaRPr lang="en-US"/>
            </a:p>
          </p:txBody>
        </p:sp>
        <p:sp>
          <p:nvSpPr>
            <p:cNvPr id="51256" name="Freeform 56"/>
            <p:cNvSpPr>
              <a:spLocks/>
            </p:cNvSpPr>
            <p:nvPr/>
          </p:nvSpPr>
          <p:spPr bwMode="auto">
            <a:xfrm>
              <a:off x="2258" y="2389"/>
              <a:ext cx="229" cy="243"/>
            </a:xfrm>
            <a:custGeom>
              <a:avLst/>
              <a:gdLst>
                <a:gd name="T0" fmla="*/ 0 w 458"/>
                <a:gd name="T1" fmla="*/ 0 h 487"/>
                <a:gd name="T2" fmla="*/ 1 w 458"/>
                <a:gd name="T3" fmla="*/ 0 h 487"/>
                <a:gd name="T4" fmla="*/ 1 w 458"/>
                <a:gd name="T5" fmla="*/ 0 h 487"/>
                <a:gd name="T6" fmla="*/ 1 w 458"/>
                <a:gd name="T7" fmla="*/ 0 h 487"/>
                <a:gd name="T8" fmla="*/ 1 w 458"/>
                <a:gd name="T9" fmla="*/ 0 h 487"/>
                <a:gd name="T10" fmla="*/ 1 w 458"/>
                <a:gd name="T11" fmla="*/ 0 h 487"/>
                <a:gd name="T12" fmla="*/ 1 w 458"/>
                <a:gd name="T13" fmla="*/ 0 h 487"/>
                <a:gd name="T14" fmla="*/ 1 w 458"/>
                <a:gd name="T15" fmla="*/ 0 h 487"/>
                <a:gd name="T16" fmla="*/ 1 w 458"/>
                <a:gd name="T17" fmla="*/ 0 h 487"/>
                <a:gd name="T18" fmla="*/ 1 w 458"/>
                <a:gd name="T19" fmla="*/ 0 h 487"/>
                <a:gd name="T20" fmla="*/ 1 w 458"/>
                <a:gd name="T21" fmla="*/ 0 h 487"/>
                <a:gd name="T22" fmla="*/ 1 w 458"/>
                <a:gd name="T23" fmla="*/ 0 h 487"/>
                <a:gd name="T24" fmla="*/ 1 w 458"/>
                <a:gd name="T25" fmla="*/ 0 h 487"/>
                <a:gd name="T26" fmla="*/ 1 w 458"/>
                <a:gd name="T27" fmla="*/ 0 h 487"/>
                <a:gd name="T28" fmla="*/ 1 w 458"/>
                <a:gd name="T29" fmla="*/ 0 h 487"/>
                <a:gd name="T30" fmla="*/ 1 w 458"/>
                <a:gd name="T31" fmla="*/ 0 h 487"/>
                <a:gd name="T32" fmla="*/ 1 w 458"/>
                <a:gd name="T33" fmla="*/ 0 h 487"/>
                <a:gd name="T34" fmla="*/ 1 w 458"/>
                <a:gd name="T35" fmla="*/ 0 h 487"/>
                <a:gd name="T36" fmla="*/ 1 w 458"/>
                <a:gd name="T37" fmla="*/ 0 h 487"/>
                <a:gd name="T38" fmla="*/ 1 w 458"/>
                <a:gd name="T39" fmla="*/ 0 h 487"/>
                <a:gd name="T40" fmla="*/ 0 w 458"/>
                <a:gd name="T41" fmla="*/ 0 h 487"/>
                <a:gd name="T42" fmla="*/ 0 w 458"/>
                <a:gd name="T43" fmla="*/ 0 h 48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58"/>
                <a:gd name="T67" fmla="*/ 0 h 487"/>
                <a:gd name="T68" fmla="*/ 458 w 458"/>
                <a:gd name="T69" fmla="*/ 487 h 487"/>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58" h="487">
                  <a:moveTo>
                    <a:pt x="0" y="0"/>
                  </a:moveTo>
                  <a:lnTo>
                    <a:pt x="57" y="52"/>
                  </a:lnTo>
                  <a:lnTo>
                    <a:pt x="130" y="148"/>
                  </a:lnTo>
                  <a:lnTo>
                    <a:pt x="217" y="223"/>
                  </a:lnTo>
                  <a:lnTo>
                    <a:pt x="137" y="232"/>
                  </a:lnTo>
                  <a:lnTo>
                    <a:pt x="166" y="302"/>
                  </a:lnTo>
                  <a:lnTo>
                    <a:pt x="232" y="382"/>
                  </a:lnTo>
                  <a:lnTo>
                    <a:pt x="356" y="432"/>
                  </a:lnTo>
                  <a:lnTo>
                    <a:pt x="362" y="487"/>
                  </a:lnTo>
                  <a:lnTo>
                    <a:pt x="417" y="432"/>
                  </a:lnTo>
                  <a:lnTo>
                    <a:pt x="417" y="377"/>
                  </a:lnTo>
                  <a:lnTo>
                    <a:pt x="458" y="327"/>
                  </a:lnTo>
                  <a:lnTo>
                    <a:pt x="449" y="301"/>
                  </a:lnTo>
                  <a:lnTo>
                    <a:pt x="381" y="287"/>
                  </a:lnTo>
                  <a:lnTo>
                    <a:pt x="362" y="238"/>
                  </a:lnTo>
                  <a:lnTo>
                    <a:pt x="297" y="207"/>
                  </a:lnTo>
                  <a:lnTo>
                    <a:pt x="314" y="133"/>
                  </a:lnTo>
                  <a:lnTo>
                    <a:pt x="253" y="95"/>
                  </a:lnTo>
                  <a:lnTo>
                    <a:pt x="247" y="27"/>
                  </a:lnTo>
                  <a:lnTo>
                    <a:pt x="137" y="0"/>
                  </a:lnTo>
                  <a:lnTo>
                    <a:pt x="0" y="0"/>
                  </a:lnTo>
                  <a:close/>
                </a:path>
              </a:pathLst>
            </a:custGeom>
            <a:solidFill>
              <a:srgbClr val="000000"/>
            </a:solidFill>
            <a:ln w="9525">
              <a:noFill/>
              <a:round/>
              <a:headEnd/>
              <a:tailEnd/>
            </a:ln>
          </p:spPr>
          <p:txBody>
            <a:bodyPr/>
            <a:lstStyle/>
            <a:p>
              <a:endParaRPr lang="en-US"/>
            </a:p>
          </p:txBody>
        </p:sp>
        <p:sp>
          <p:nvSpPr>
            <p:cNvPr id="51257" name="Freeform 57"/>
            <p:cNvSpPr>
              <a:spLocks/>
            </p:cNvSpPr>
            <p:nvPr/>
          </p:nvSpPr>
          <p:spPr bwMode="auto">
            <a:xfrm>
              <a:off x="1647" y="2239"/>
              <a:ext cx="222" cy="258"/>
            </a:xfrm>
            <a:custGeom>
              <a:avLst/>
              <a:gdLst>
                <a:gd name="T0" fmla="*/ 1 w 443"/>
                <a:gd name="T1" fmla="*/ 1 h 515"/>
                <a:gd name="T2" fmla="*/ 1 w 443"/>
                <a:gd name="T3" fmla="*/ 1 h 515"/>
                <a:gd name="T4" fmla="*/ 1 w 443"/>
                <a:gd name="T5" fmla="*/ 1 h 515"/>
                <a:gd name="T6" fmla="*/ 1 w 443"/>
                <a:gd name="T7" fmla="*/ 1 h 515"/>
                <a:gd name="T8" fmla="*/ 1 w 443"/>
                <a:gd name="T9" fmla="*/ 1 h 515"/>
                <a:gd name="T10" fmla="*/ 1 w 443"/>
                <a:gd name="T11" fmla="*/ 1 h 515"/>
                <a:gd name="T12" fmla="*/ 1 w 443"/>
                <a:gd name="T13" fmla="*/ 1 h 515"/>
                <a:gd name="T14" fmla="*/ 1 w 443"/>
                <a:gd name="T15" fmla="*/ 0 h 515"/>
                <a:gd name="T16" fmla="*/ 1 w 443"/>
                <a:gd name="T17" fmla="*/ 1 h 515"/>
                <a:gd name="T18" fmla="*/ 1 w 443"/>
                <a:gd name="T19" fmla="*/ 1 h 515"/>
                <a:gd name="T20" fmla="*/ 1 w 443"/>
                <a:gd name="T21" fmla="*/ 1 h 515"/>
                <a:gd name="T22" fmla="*/ 1 w 443"/>
                <a:gd name="T23" fmla="*/ 1 h 515"/>
                <a:gd name="T24" fmla="*/ 1 w 443"/>
                <a:gd name="T25" fmla="*/ 1 h 515"/>
                <a:gd name="T26" fmla="*/ 1 w 443"/>
                <a:gd name="T27" fmla="*/ 1 h 515"/>
                <a:gd name="T28" fmla="*/ 0 w 443"/>
                <a:gd name="T29" fmla="*/ 1 h 515"/>
                <a:gd name="T30" fmla="*/ 1 w 443"/>
                <a:gd name="T31" fmla="*/ 1 h 515"/>
                <a:gd name="T32" fmla="*/ 1 w 443"/>
                <a:gd name="T33" fmla="*/ 1 h 515"/>
                <a:gd name="T34" fmla="*/ 1 w 443"/>
                <a:gd name="T35" fmla="*/ 1 h 515"/>
                <a:gd name="T36" fmla="*/ 1 w 443"/>
                <a:gd name="T37" fmla="*/ 1 h 515"/>
                <a:gd name="T38" fmla="*/ 1 w 443"/>
                <a:gd name="T39" fmla="*/ 1 h 515"/>
                <a:gd name="T40" fmla="*/ 1 w 443"/>
                <a:gd name="T41" fmla="*/ 1 h 515"/>
                <a:gd name="T42" fmla="*/ 1 w 443"/>
                <a:gd name="T43" fmla="*/ 1 h 515"/>
                <a:gd name="T44" fmla="*/ 1 w 443"/>
                <a:gd name="T45" fmla="*/ 1 h 515"/>
                <a:gd name="T46" fmla="*/ 1 w 443"/>
                <a:gd name="T47" fmla="*/ 1 h 515"/>
                <a:gd name="T48" fmla="*/ 1 w 443"/>
                <a:gd name="T49" fmla="*/ 1 h 515"/>
                <a:gd name="T50" fmla="*/ 1 w 443"/>
                <a:gd name="T51" fmla="*/ 1 h 515"/>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443"/>
                <a:gd name="T79" fmla="*/ 0 h 515"/>
                <a:gd name="T80" fmla="*/ 443 w 443"/>
                <a:gd name="T81" fmla="*/ 515 h 515"/>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443" h="515">
                  <a:moveTo>
                    <a:pt x="443" y="329"/>
                  </a:moveTo>
                  <a:lnTo>
                    <a:pt x="317" y="325"/>
                  </a:lnTo>
                  <a:lnTo>
                    <a:pt x="235" y="273"/>
                  </a:lnTo>
                  <a:lnTo>
                    <a:pt x="159" y="184"/>
                  </a:lnTo>
                  <a:lnTo>
                    <a:pt x="144" y="270"/>
                  </a:lnTo>
                  <a:lnTo>
                    <a:pt x="123" y="184"/>
                  </a:lnTo>
                  <a:lnTo>
                    <a:pt x="165" y="85"/>
                  </a:lnTo>
                  <a:lnTo>
                    <a:pt x="247" y="0"/>
                  </a:lnTo>
                  <a:lnTo>
                    <a:pt x="148" y="55"/>
                  </a:lnTo>
                  <a:lnTo>
                    <a:pt x="78" y="165"/>
                  </a:lnTo>
                  <a:lnTo>
                    <a:pt x="49" y="140"/>
                  </a:lnTo>
                  <a:lnTo>
                    <a:pt x="24" y="241"/>
                  </a:lnTo>
                  <a:lnTo>
                    <a:pt x="42" y="321"/>
                  </a:lnTo>
                  <a:lnTo>
                    <a:pt x="106" y="399"/>
                  </a:lnTo>
                  <a:lnTo>
                    <a:pt x="0" y="374"/>
                  </a:lnTo>
                  <a:lnTo>
                    <a:pt x="36" y="414"/>
                  </a:lnTo>
                  <a:lnTo>
                    <a:pt x="108" y="445"/>
                  </a:lnTo>
                  <a:lnTo>
                    <a:pt x="36" y="465"/>
                  </a:lnTo>
                  <a:lnTo>
                    <a:pt x="51" y="515"/>
                  </a:lnTo>
                  <a:lnTo>
                    <a:pt x="138" y="446"/>
                  </a:lnTo>
                  <a:lnTo>
                    <a:pt x="253" y="416"/>
                  </a:lnTo>
                  <a:lnTo>
                    <a:pt x="241" y="380"/>
                  </a:lnTo>
                  <a:lnTo>
                    <a:pt x="317" y="384"/>
                  </a:lnTo>
                  <a:lnTo>
                    <a:pt x="395" y="361"/>
                  </a:lnTo>
                  <a:lnTo>
                    <a:pt x="443" y="329"/>
                  </a:lnTo>
                  <a:close/>
                </a:path>
              </a:pathLst>
            </a:custGeom>
            <a:solidFill>
              <a:srgbClr val="000000"/>
            </a:solidFill>
            <a:ln w="9525">
              <a:noFill/>
              <a:round/>
              <a:headEnd/>
              <a:tailEnd/>
            </a:ln>
          </p:spPr>
          <p:txBody>
            <a:bodyPr/>
            <a:lstStyle/>
            <a:p>
              <a:endParaRPr lang="en-US"/>
            </a:p>
          </p:txBody>
        </p:sp>
        <p:sp>
          <p:nvSpPr>
            <p:cNvPr id="51258" name="Freeform 58"/>
            <p:cNvSpPr>
              <a:spLocks/>
            </p:cNvSpPr>
            <p:nvPr/>
          </p:nvSpPr>
          <p:spPr bwMode="auto">
            <a:xfrm>
              <a:off x="1650" y="2112"/>
              <a:ext cx="707" cy="256"/>
            </a:xfrm>
            <a:custGeom>
              <a:avLst/>
              <a:gdLst>
                <a:gd name="T0" fmla="*/ 0 w 1415"/>
                <a:gd name="T1" fmla="*/ 1 h 511"/>
                <a:gd name="T2" fmla="*/ 0 w 1415"/>
                <a:gd name="T3" fmla="*/ 1 h 511"/>
                <a:gd name="T4" fmla="*/ 0 w 1415"/>
                <a:gd name="T5" fmla="*/ 1 h 511"/>
                <a:gd name="T6" fmla="*/ 0 w 1415"/>
                <a:gd name="T7" fmla="*/ 1 h 511"/>
                <a:gd name="T8" fmla="*/ 0 w 1415"/>
                <a:gd name="T9" fmla="*/ 1 h 511"/>
                <a:gd name="T10" fmla="*/ 0 w 1415"/>
                <a:gd name="T11" fmla="*/ 1 h 511"/>
                <a:gd name="T12" fmla="*/ 0 w 1415"/>
                <a:gd name="T13" fmla="*/ 1 h 511"/>
                <a:gd name="T14" fmla="*/ 0 w 1415"/>
                <a:gd name="T15" fmla="*/ 1 h 511"/>
                <a:gd name="T16" fmla="*/ 0 w 1415"/>
                <a:gd name="T17" fmla="*/ 1 h 511"/>
                <a:gd name="T18" fmla="*/ 0 w 1415"/>
                <a:gd name="T19" fmla="*/ 1 h 511"/>
                <a:gd name="T20" fmla="*/ 0 w 1415"/>
                <a:gd name="T21" fmla="*/ 1 h 511"/>
                <a:gd name="T22" fmla="*/ 0 w 1415"/>
                <a:gd name="T23" fmla="*/ 1 h 511"/>
                <a:gd name="T24" fmla="*/ 0 w 1415"/>
                <a:gd name="T25" fmla="*/ 1 h 511"/>
                <a:gd name="T26" fmla="*/ 0 w 1415"/>
                <a:gd name="T27" fmla="*/ 1 h 511"/>
                <a:gd name="T28" fmla="*/ 0 w 1415"/>
                <a:gd name="T29" fmla="*/ 1 h 511"/>
                <a:gd name="T30" fmla="*/ 0 w 1415"/>
                <a:gd name="T31" fmla="*/ 1 h 511"/>
                <a:gd name="T32" fmla="*/ 0 w 1415"/>
                <a:gd name="T33" fmla="*/ 1 h 511"/>
                <a:gd name="T34" fmla="*/ 0 w 1415"/>
                <a:gd name="T35" fmla="*/ 1 h 511"/>
                <a:gd name="T36" fmla="*/ 0 w 1415"/>
                <a:gd name="T37" fmla="*/ 1 h 511"/>
                <a:gd name="T38" fmla="*/ 0 w 1415"/>
                <a:gd name="T39" fmla="*/ 1 h 511"/>
                <a:gd name="T40" fmla="*/ 0 w 1415"/>
                <a:gd name="T41" fmla="*/ 1 h 511"/>
                <a:gd name="T42" fmla="*/ 0 w 1415"/>
                <a:gd name="T43" fmla="*/ 1 h 511"/>
                <a:gd name="T44" fmla="*/ 0 w 1415"/>
                <a:gd name="T45" fmla="*/ 1 h 511"/>
                <a:gd name="T46" fmla="*/ 0 w 1415"/>
                <a:gd name="T47" fmla="*/ 1 h 511"/>
                <a:gd name="T48" fmla="*/ 0 w 1415"/>
                <a:gd name="T49" fmla="*/ 1 h 511"/>
                <a:gd name="T50" fmla="*/ 0 w 1415"/>
                <a:gd name="T51" fmla="*/ 1 h 511"/>
                <a:gd name="T52" fmla="*/ 0 w 1415"/>
                <a:gd name="T53" fmla="*/ 0 h 511"/>
                <a:gd name="T54" fmla="*/ 0 w 1415"/>
                <a:gd name="T55" fmla="*/ 1 h 511"/>
                <a:gd name="T56" fmla="*/ 0 w 1415"/>
                <a:gd name="T57" fmla="*/ 1 h 511"/>
                <a:gd name="T58" fmla="*/ 0 w 1415"/>
                <a:gd name="T59" fmla="*/ 1 h 511"/>
                <a:gd name="T60" fmla="*/ 0 w 1415"/>
                <a:gd name="T61" fmla="*/ 1 h 511"/>
                <a:gd name="T62" fmla="*/ 0 w 1415"/>
                <a:gd name="T63" fmla="*/ 1 h 511"/>
                <a:gd name="T64" fmla="*/ 0 w 1415"/>
                <a:gd name="T65" fmla="*/ 1 h 511"/>
                <a:gd name="T66" fmla="*/ 0 w 1415"/>
                <a:gd name="T67" fmla="*/ 1 h 511"/>
                <a:gd name="T68" fmla="*/ 0 w 1415"/>
                <a:gd name="T69" fmla="*/ 1 h 511"/>
                <a:gd name="T70" fmla="*/ 0 w 1415"/>
                <a:gd name="T71" fmla="*/ 1 h 511"/>
                <a:gd name="T72" fmla="*/ 0 w 1415"/>
                <a:gd name="T73" fmla="*/ 1 h 511"/>
                <a:gd name="T74" fmla="*/ 0 w 1415"/>
                <a:gd name="T75" fmla="*/ 1 h 511"/>
                <a:gd name="T76" fmla="*/ 0 w 1415"/>
                <a:gd name="T77" fmla="*/ 1 h 511"/>
                <a:gd name="T78" fmla="*/ 0 w 1415"/>
                <a:gd name="T79" fmla="*/ 1 h 511"/>
                <a:gd name="T80" fmla="*/ 0 w 1415"/>
                <a:gd name="T81" fmla="*/ 1 h 511"/>
                <a:gd name="T82" fmla="*/ 0 w 1415"/>
                <a:gd name="T83" fmla="*/ 1 h 511"/>
                <a:gd name="T84" fmla="*/ 0 w 1415"/>
                <a:gd name="T85" fmla="*/ 1 h 511"/>
                <a:gd name="T86" fmla="*/ 0 w 1415"/>
                <a:gd name="T87" fmla="*/ 1 h 511"/>
                <a:gd name="T88" fmla="*/ 0 w 1415"/>
                <a:gd name="T89" fmla="*/ 1 h 511"/>
                <a:gd name="T90" fmla="*/ 0 w 1415"/>
                <a:gd name="T91" fmla="*/ 1 h 511"/>
                <a:gd name="T92" fmla="*/ 0 w 1415"/>
                <a:gd name="T93" fmla="*/ 1 h 511"/>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1415"/>
                <a:gd name="T142" fmla="*/ 0 h 511"/>
                <a:gd name="T143" fmla="*/ 1415 w 1415"/>
                <a:gd name="T144" fmla="*/ 511 h 511"/>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1415" h="511">
                  <a:moveTo>
                    <a:pt x="643" y="240"/>
                  </a:moveTo>
                  <a:lnTo>
                    <a:pt x="700" y="257"/>
                  </a:lnTo>
                  <a:lnTo>
                    <a:pt x="822" y="304"/>
                  </a:lnTo>
                  <a:lnTo>
                    <a:pt x="797" y="350"/>
                  </a:lnTo>
                  <a:lnTo>
                    <a:pt x="873" y="376"/>
                  </a:lnTo>
                  <a:lnTo>
                    <a:pt x="966" y="376"/>
                  </a:lnTo>
                  <a:lnTo>
                    <a:pt x="1019" y="340"/>
                  </a:lnTo>
                  <a:lnTo>
                    <a:pt x="1061" y="276"/>
                  </a:lnTo>
                  <a:lnTo>
                    <a:pt x="1075" y="327"/>
                  </a:lnTo>
                  <a:lnTo>
                    <a:pt x="1120" y="276"/>
                  </a:lnTo>
                  <a:lnTo>
                    <a:pt x="1107" y="202"/>
                  </a:lnTo>
                  <a:lnTo>
                    <a:pt x="1069" y="232"/>
                  </a:lnTo>
                  <a:lnTo>
                    <a:pt x="1044" y="152"/>
                  </a:lnTo>
                  <a:lnTo>
                    <a:pt x="1143" y="137"/>
                  </a:lnTo>
                  <a:lnTo>
                    <a:pt x="1204" y="184"/>
                  </a:lnTo>
                  <a:lnTo>
                    <a:pt x="1204" y="257"/>
                  </a:lnTo>
                  <a:lnTo>
                    <a:pt x="1170" y="300"/>
                  </a:lnTo>
                  <a:lnTo>
                    <a:pt x="1257" y="312"/>
                  </a:lnTo>
                  <a:lnTo>
                    <a:pt x="1318" y="371"/>
                  </a:lnTo>
                  <a:lnTo>
                    <a:pt x="1288" y="405"/>
                  </a:lnTo>
                  <a:lnTo>
                    <a:pt x="1415" y="511"/>
                  </a:lnTo>
                  <a:lnTo>
                    <a:pt x="1390" y="435"/>
                  </a:lnTo>
                  <a:lnTo>
                    <a:pt x="1367" y="331"/>
                  </a:lnTo>
                  <a:lnTo>
                    <a:pt x="1270" y="184"/>
                  </a:lnTo>
                  <a:lnTo>
                    <a:pt x="1113" y="86"/>
                  </a:lnTo>
                  <a:lnTo>
                    <a:pt x="890" y="15"/>
                  </a:lnTo>
                  <a:lnTo>
                    <a:pt x="740" y="0"/>
                  </a:lnTo>
                  <a:lnTo>
                    <a:pt x="582" y="21"/>
                  </a:lnTo>
                  <a:lnTo>
                    <a:pt x="365" y="42"/>
                  </a:lnTo>
                  <a:lnTo>
                    <a:pt x="236" y="116"/>
                  </a:lnTo>
                  <a:lnTo>
                    <a:pt x="147" y="207"/>
                  </a:lnTo>
                  <a:lnTo>
                    <a:pt x="65" y="236"/>
                  </a:lnTo>
                  <a:lnTo>
                    <a:pt x="0" y="346"/>
                  </a:lnTo>
                  <a:lnTo>
                    <a:pt x="10" y="395"/>
                  </a:lnTo>
                  <a:lnTo>
                    <a:pt x="76" y="327"/>
                  </a:lnTo>
                  <a:lnTo>
                    <a:pt x="183" y="251"/>
                  </a:lnTo>
                  <a:lnTo>
                    <a:pt x="282" y="200"/>
                  </a:lnTo>
                  <a:lnTo>
                    <a:pt x="286" y="226"/>
                  </a:lnTo>
                  <a:lnTo>
                    <a:pt x="369" y="171"/>
                  </a:lnTo>
                  <a:lnTo>
                    <a:pt x="386" y="202"/>
                  </a:lnTo>
                  <a:lnTo>
                    <a:pt x="504" y="177"/>
                  </a:lnTo>
                  <a:lnTo>
                    <a:pt x="616" y="175"/>
                  </a:lnTo>
                  <a:lnTo>
                    <a:pt x="698" y="146"/>
                  </a:lnTo>
                  <a:lnTo>
                    <a:pt x="689" y="190"/>
                  </a:lnTo>
                  <a:lnTo>
                    <a:pt x="757" y="194"/>
                  </a:lnTo>
                  <a:lnTo>
                    <a:pt x="643" y="240"/>
                  </a:lnTo>
                  <a:close/>
                </a:path>
              </a:pathLst>
            </a:custGeom>
            <a:solidFill>
              <a:srgbClr val="000000"/>
            </a:solidFill>
            <a:ln w="9525">
              <a:noFill/>
              <a:round/>
              <a:headEnd/>
              <a:tailEnd/>
            </a:ln>
          </p:spPr>
          <p:txBody>
            <a:bodyPr/>
            <a:lstStyle/>
            <a:p>
              <a:endParaRPr lang="en-US"/>
            </a:p>
          </p:txBody>
        </p:sp>
        <p:sp>
          <p:nvSpPr>
            <p:cNvPr id="51259" name="Freeform 59"/>
            <p:cNvSpPr>
              <a:spLocks/>
            </p:cNvSpPr>
            <p:nvPr/>
          </p:nvSpPr>
          <p:spPr bwMode="auto">
            <a:xfrm>
              <a:off x="1542" y="2264"/>
              <a:ext cx="118" cy="208"/>
            </a:xfrm>
            <a:custGeom>
              <a:avLst/>
              <a:gdLst>
                <a:gd name="T0" fmla="*/ 1 w 235"/>
                <a:gd name="T1" fmla="*/ 1 h 416"/>
                <a:gd name="T2" fmla="*/ 1 w 235"/>
                <a:gd name="T3" fmla="*/ 1 h 416"/>
                <a:gd name="T4" fmla="*/ 1 w 235"/>
                <a:gd name="T5" fmla="*/ 1 h 416"/>
                <a:gd name="T6" fmla="*/ 1 w 235"/>
                <a:gd name="T7" fmla="*/ 1 h 416"/>
                <a:gd name="T8" fmla="*/ 1 w 235"/>
                <a:gd name="T9" fmla="*/ 1 h 416"/>
                <a:gd name="T10" fmla="*/ 1 w 235"/>
                <a:gd name="T11" fmla="*/ 1 h 416"/>
                <a:gd name="T12" fmla="*/ 1 w 235"/>
                <a:gd name="T13" fmla="*/ 1 h 416"/>
                <a:gd name="T14" fmla="*/ 1 w 235"/>
                <a:gd name="T15" fmla="*/ 1 h 416"/>
                <a:gd name="T16" fmla="*/ 1 w 235"/>
                <a:gd name="T17" fmla="*/ 1 h 416"/>
                <a:gd name="T18" fmla="*/ 1 w 235"/>
                <a:gd name="T19" fmla="*/ 1 h 416"/>
                <a:gd name="T20" fmla="*/ 0 w 235"/>
                <a:gd name="T21" fmla="*/ 1 h 416"/>
                <a:gd name="T22" fmla="*/ 1 w 235"/>
                <a:gd name="T23" fmla="*/ 1 h 416"/>
                <a:gd name="T24" fmla="*/ 1 w 235"/>
                <a:gd name="T25" fmla="*/ 1 h 416"/>
                <a:gd name="T26" fmla="*/ 1 w 235"/>
                <a:gd name="T27" fmla="*/ 1 h 416"/>
                <a:gd name="T28" fmla="*/ 1 w 235"/>
                <a:gd name="T29" fmla="*/ 0 h 416"/>
                <a:gd name="T30" fmla="*/ 1 w 235"/>
                <a:gd name="T31" fmla="*/ 1 h 416"/>
                <a:gd name="T32" fmla="*/ 1 w 235"/>
                <a:gd name="T33" fmla="*/ 1 h 41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35"/>
                <a:gd name="T52" fmla="*/ 0 h 416"/>
                <a:gd name="T53" fmla="*/ 235 w 235"/>
                <a:gd name="T54" fmla="*/ 416 h 41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35" h="416">
                  <a:moveTo>
                    <a:pt x="209" y="118"/>
                  </a:moveTo>
                  <a:lnTo>
                    <a:pt x="203" y="217"/>
                  </a:lnTo>
                  <a:lnTo>
                    <a:pt x="235" y="301"/>
                  </a:lnTo>
                  <a:lnTo>
                    <a:pt x="169" y="240"/>
                  </a:lnTo>
                  <a:lnTo>
                    <a:pt x="157" y="156"/>
                  </a:lnTo>
                  <a:lnTo>
                    <a:pt x="148" y="263"/>
                  </a:lnTo>
                  <a:lnTo>
                    <a:pt x="199" y="340"/>
                  </a:lnTo>
                  <a:lnTo>
                    <a:pt x="137" y="337"/>
                  </a:lnTo>
                  <a:lnTo>
                    <a:pt x="214" y="416"/>
                  </a:lnTo>
                  <a:lnTo>
                    <a:pt x="91" y="375"/>
                  </a:lnTo>
                  <a:lnTo>
                    <a:pt x="0" y="230"/>
                  </a:lnTo>
                  <a:lnTo>
                    <a:pt x="19" y="162"/>
                  </a:lnTo>
                  <a:lnTo>
                    <a:pt x="66" y="175"/>
                  </a:lnTo>
                  <a:lnTo>
                    <a:pt x="91" y="88"/>
                  </a:lnTo>
                  <a:lnTo>
                    <a:pt x="188" y="0"/>
                  </a:lnTo>
                  <a:lnTo>
                    <a:pt x="209" y="118"/>
                  </a:lnTo>
                  <a:close/>
                </a:path>
              </a:pathLst>
            </a:custGeom>
            <a:solidFill>
              <a:srgbClr val="000000"/>
            </a:solidFill>
            <a:ln w="9525">
              <a:noFill/>
              <a:round/>
              <a:headEnd/>
              <a:tailEnd/>
            </a:ln>
          </p:spPr>
          <p:txBody>
            <a:bodyPr/>
            <a:lstStyle/>
            <a:p>
              <a:endParaRPr lang="en-US"/>
            </a:p>
          </p:txBody>
        </p:sp>
        <p:sp>
          <p:nvSpPr>
            <p:cNvPr id="51260" name="Freeform 60"/>
            <p:cNvSpPr>
              <a:spLocks/>
            </p:cNvSpPr>
            <p:nvPr/>
          </p:nvSpPr>
          <p:spPr bwMode="auto">
            <a:xfrm>
              <a:off x="1520" y="2417"/>
              <a:ext cx="140" cy="464"/>
            </a:xfrm>
            <a:custGeom>
              <a:avLst/>
              <a:gdLst>
                <a:gd name="T0" fmla="*/ 1 w 279"/>
                <a:gd name="T1" fmla="*/ 0 h 928"/>
                <a:gd name="T2" fmla="*/ 1 w 279"/>
                <a:gd name="T3" fmla="*/ 1 h 928"/>
                <a:gd name="T4" fmla="*/ 1 w 279"/>
                <a:gd name="T5" fmla="*/ 1 h 928"/>
                <a:gd name="T6" fmla="*/ 1 w 279"/>
                <a:gd name="T7" fmla="*/ 1 h 928"/>
                <a:gd name="T8" fmla="*/ 0 w 279"/>
                <a:gd name="T9" fmla="*/ 1 h 928"/>
                <a:gd name="T10" fmla="*/ 1 w 279"/>
                <a:gd name="T11" fmla="*/ 1 h 928"/>
                <a:gd name="T12" fmla="*/ 1 w 279"/>
                <a:gd name="T13" fmla="*/ 1 h 928"/>
                <a:gd name="T14" fmla="*/ 1 w 279"/>
                <a:gd name="T15" fmla="*/ 1 h 928"/>
                <a:gd name="T16" fmla="*/ 1 w 279"/>
                <a:gd name="T17" fmla="*/ 1 h 928"/>
                <a:gd name="T18" fmla="*/ 1 w 279"/>
                <a:gd name="T19" fmla="*/ 1 h 928"/>
                <a:gd name="T20" fmla="*/ 1 w 279"/>
                <a:gd name="T21" fmla="*/ 1 h 928"/>
                <a:gd name="T22" fmla="*/ 1 w 279"/>
                <a:gd name="T23" fmla="*/ 1 h 928"/>
                <a:gd name="T24" fmla="*/ 1 w 279"/>
                <a:gd name="T25" fmla="*/ 1 h 928"/>
                <a:gd name="T26" fmla="*/ 1 w 279"/>
                <a:gd name="T27" fmla="*/ 1 h 928"/>
                <a:gd name="T28" fmla="*/ 1 w 279"/>
                <a:gd name="T29" fmla="*/ 1 h 928"/>
                <a:gd name="T30" fmla="*/ 1 w 279"/>
                <a:gd name="T31" fmla="*/ 1 h 928"/>
                <a:gd name="T32" fmla="*/ 1 w 279"/>
                <a:gd name="T33" fmla="*/ 1 h 928"/>
                <a:gd name="T34" fmla="*/ 1 w 279"/>
                <a:gd name="T35" fmla="*/ 1 h 928"/>
                <a:gd name="T36" fmla="*/ 1 w 279"/>
                <a:gd name="T37" fmla="*/ 1 h 928"/>
                <a:gd name="T38" fmla="*/ 1 w 279"/>
                <a:gd name="T39" fmla="*/ 1 h 928"/>
                <a:gd name="T40" fmla="*/ 1 w 279"/>
                <a:gd name="T41" fmla="*/ 1 h 928"/>
                <a:gd name="T42" fmla="*/ 1 w 279"/>
                <a:gd name="T43" fmla="*/ 1 h 928"/>
                <a:gd name="T44" fmla="*/ 1 w 279"/>
                <a:gd name="T45" fmla="*/ 1 h 928"/>
                <a:gd name="T46" fmla="*/ 1 w 279"/>
                <a:gd name="T47" fmla="*/ 1 h 928"/>
                <a:gd name="T48" fmla="*/ 1 w 279"/>
                <a:gd name="T49" fmla="*/ 1 h 928"/>
                <a:gd name="T50" fmla="*/ 1 w 279"/>
                <a:gd name="T51" fmla="*/ 1 h 928"/>
                <a:gd name="T52" fmla="*/ 1 w 279"/>
                <a:gd name="T53" fmla="*/ 1 h 928"/>
                <a:gd name="T54" fmla="*/ 1 w 279"/>
                <a:gd name="T55" fmla="*/ 1 h 928"/>
                <a:gd name="T56" fmla="*/ 1 w 279"/>
                <a:gd name="T57" fmla="*/ 1 h 928"/>
                <a:gd name="T58" fmla="*/ 1 w 279"/>
                <a:gd name="T59" fmla="*/ 1 h 928"/>
                <a:gd name="T60" fmla="*/ 1 w 279"/>
                <a:gd name="T61" fmla="*/ 1 h 928"/>
                <a:gd name="T62" fmla="*/ 1 w 279"/>
                <a:gd name="T63" fmla="*/ 1 h 928"/>
                <a:gd name="T64" fmla="*/ 1 w 279"/>
                <a:gd name="T65" fmla="*/ 1 h 928"/>
                <a:gd name="T66" fmla="*/ 1 w 279"/>
                <a:gd name="T67" fmla="*/ 0 h 928"/>
                <a:gd name="T68" fmla="*/ 1 w 279"/>
                <a:gd name="T69" fmla="*/ 0 h 92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279"/>
                <a:gd name="T106" fmla="*/ 0 h 928"/>
                <a:gd name="T107" fmla="*/ 279 w 279"/>
                <a:gd name="T108" fmla="*/ 928 h 92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279" h="928">
                  <a:moveTo>
                    <a:pt x="120" y="0"/>
                  </a:moveTo>
                  <a:lnTo>
                    <a:pt x="47" y="53"/>
                  </a:lnTo>
                  <a:lnTo>
                    <a:pt x="53" y="166"/>
                  </a:lnTo>
                  <a:lnTo>
                    <a:pt x="6" y="289"/>
                  </a:lnTo>
                  <a:lnTo>
                    <a:pt x="0" y="354"/>
                  </a:lnTo>
                  <a:lnTo>
                    <a:pt x="44" y="403"/>
                  </a:lnTo>
                  <a:lnTo>
                    <a:pt x="42" y="523"/>
                  </a:lnTo>
                  <a:lnTo>
                    <a:pt x="80" y="597"/>
                  </a:lnTo>
                  <a:lnTo>
                    <a:pt x="78" y="707"/>
                  </a:lnTo>
                  <a:lnTo>
                    <a:pt x="108" y="738"/>
                  </a:lnTo>
                  <a:lnTo>
                    <a:pt x="129" y="859"/>
                  </a:lnTo>
                  <a:lnTo>
                    <a:pt x="217" y="928"/>
                  </a:lnTo>
                  <a:lnTo>
                    <a:pt x="173" y="837"/>
                  </a:lnTo>
                  <a:lnTo>
                    <a:pt x="173" y="723"/>
                  </a:lnTo>
                  <a:lnTo>
                    <a:pt x="232" y="572"/>
                  </a:lnTo>
                  <a:lnTo>
                    <a:pt x="228" y="738"/>
                  </a:lnTo>
                  <a:lnTo>
                    <a:pt x="276" y="590"/>
                  </a:lnTo>
                  <a:lnTo>
                    <a:pt x="260" y="458"/>
                  </a:lnTo>
                  <a:lnTo>
                    <a:pt x="224" y="483"/>
                  </a:lnTo>
                  <a:lnTo>
                    <a:pt x="249" y="379"/>
                  </a:lnTo>
                  <a:lnTo>
                    <a:pt x="268" y="230"/>
                  </a:lnTo>
                  <a:lnTo>
                    <a:pt x="279" y="181"/>
                  </a:lnTo>
                  <a:lnTo>
                    <a:pt x="209" y="259"/>
                  </a:lnTo>
                  <a:lnTo>
                    <a:pt x="188" y="477"/>
                  </a:lnTo>
                  <a:lnTo>
                    <a:pt x="156" y="603"/>
                  </a:lnTo>
                  <a:lnTo>
                    <a:pt x="124" y="658"/>
                  </a:lnTo>
                  <a:lnTo>
                    <a:pt x="135" y="559"/>
                  </a:lnTo>
                  <a:lnTo>
                    <a:pt x="84" y="529"/>
                  </a:lnTo>
                  <a:lnTo>
                    <a:pt x="141" y="409"/>
                  </a:lnTo>
                  <a:lnTo>
                    <a:pt x="89" y="418"/>
                  </a:lnTo>
                  <a:lnTo>
                    <a:pt x="150" y="320"/>
                  </a:lnTo>
                  <a:lnTo>
                    <a:pt x="186" y="213"/>
                  </a:lnTo>
                  <a:lnTo>
                    <a:pt x="279" y="126"/>
                  </a:lnTo>
                  <a:lnTo>
                    <a:pt x="120" y="0"/>
                  </a:lnTo>
                  <a:close/>
                </a:path>
              </a:pathLst>
            </a:custGeom>
            <a:solidFill>
              <a:srgbClr val="000000"/>
            </a:solidFill>
            <a:ln w="9525">
              <a:noFill/>
              <a:round/>
              <a:headEnd/>
              <a:tailEnd/>
            </a:ln>
          </p:spPr>
          <p:txBody>
            <a:bodyPr/>
            <a:lstStyle/>
            <a:p>
              <a:endParaRPr lang="en-US"/>
            </a:p>
          </p:txBody>
        </p:sp>
        <p:sp>
          <p:nvSpPr>
            <p:cNvPr id="51261" name="Freeform 61"/>
            <p:cNvSpPr>
              <a:spLocks/>
            </p:cNvSpPr>
            <p:nvPr/>
          </p:nvSpPr>
          <p:spPr bwMode="auto">
            <a:xfrm>
              <a:off x="1630" y="2840"/>
              <a:ext cx="725" cy="645"/>
            </a:xfrm>
            <a:custGeom>
              <a:avLst/>
              <a:gdLst>
                <a:gd name="T0" fmla="*/ 1 w 1449"/>
                <a:gd name="T1" fmla="*/ 0 h 1291"/>
                <a:gd name="T2" fmla="*/ 1 w 1449"/>
                <a:gd name="T3" fmla="*/ 0 h 1291"/>
                <a:gd name="T4" fmla="*/ 1 w 1449"/>
                <a:gd name="T5" fmla="*/ 0 h 1291"/>
                <a:gd name="T6" fmla="*/ 1 w 1449"/>
                <a:gd name="T7" fmla="*/ 0 h 1291"/>
                <a:gd name="T8" fmla="*/ 1 w 1449"/>
                <a:gd name="T9" fmla="*/ 0 h 1291"/>
                <a:gd name="T10" fmla="*/ 1 w 1449"/>
                <a:gd name="T11" fmla="*/ 0 h 1291"/>
                <a:gd name="T12" fmla="*/ 1 w 1449"/>
                <a:gd name="T13" fmla="*/ 0 h 1291"/>
                <a:gd name="T14" fmla="*/ 1 w 1449"/>
                <a:gd name="T15" fmla="*/ 0 h 1291"/>
                <a:gd name="T16" fmla="*/ 1 w 1449"/>
                <a:gd name="T17" fmla="*/ 0 h 1291"/>
                <a:gd name="T18" fmla="*/ 1 w 1449"/>
                <a:gd name="T19" fmla="*/ 0 h 1291"/>
                <a:gd name="T20" fmla="*/ 1 w 1449"/>
                <a:gd name="T21" fmla="*/ 0 h 1291"/>
                <a:gd name="T22" fmla="*/ 1 w 1449"/>
                <a:gd name="T23" fmla="*/ 0 h 1291"/>
                <a:gd name="T24" fmla="*/ 1 w 1449"/>
                <a:gd name="T25" fmla="*/ 0 h 1291"/>
                <a:gd name="T26" fmla="*/ 1 w 1449"/>
                <a:gd name="T27" fmla="*/ 0 h 1291"/>
                <a:gd name="T28" fmla="*/ 1 w 1449"/>
                <a:gd name="T29" fmla="*/ 0 h 1291"/>
                <a:gd name="T30" fmla="*/ 1 w 1449"/>
                <a:gd name="T31" fmla="*/ 0 h 1291"/>
                <a:gd name="T32" fmla="*/ 1 w 1449"/>
                <a:gd name="T33" fmla="*/ 0 h 1291"/>
                <a:gd name="T34" fmla="*/ 1 w 1449"/>
                <a:gd name="T35" fmla="*/ 0 h 1291"/>
                <a:gd name="T36" fmla="*/ 1 w 1449"/>
                <a:gd name="T37" fmla="*/ 0 h 1291"/>
                <a:gd name="T38" fmla="*/ 1 w 1449"/>
                <a:gd name="T39" fmla="*/ 0 h 1291"/>
                <a:gd name="T40" fmla="*/ 1 w 1449"/>
                <a:gd name="T41" fmla="*/ 0 h 1291"/>
                <a:gd name="T42" fmla="*/ 1 w 1449"/>
                <a:gd name="T43" fmla="*/ 0 h 1291"/>
                <a:gd name="T44" fmla="*/ 1 w 1449"/>
                <a:gd name="T45" fmla="*/ 0 h 1291"/>
                <a:gd name="T46" fmla="*/ 1 w 1449"/>
                <a:gd name="T47" fmla="*/ 0 h 1291"/>
                <a:gd name="T48" fmla="*/ 1 w 1449"/>
                <a:gd name="T49" fmla="*/ 0 h 1291"/>
                <a:gd name="T50" fmla="*/ 1 w 1449"/>
                <a:gd name="T51" fmla="*/ 0 h 1291"/>
                <a:gd name="T52" fmla="*/ 1 w 1449"/>
                <a:gd name="T53" fmla="*/ 0 h 1291"/>
                <a:gd name="T54" fmla="*/ 1 w 1449"/>
                <a:gd name="T55" fmla="*/ 0 h 1291"/>
                <a:gd name="T56" fmla="*/ 1 w 1449"/>
                <a:gd name="T57" fmla="*/ 0 h 1291"/>
                <a:gd name="T58" fmla="*/ 1 w 1449"/>
                <a:gd name="T59" fmla="*/ 0 h 1291"/>
                <a:gd name="T60" fmla="*/ 1 w 1449"/>
                <a:gd name="T61" fmla="*/ 0 h 1291"/>
                <a:gd name="T62" fmla="*/ 1 w 1449"/>
                <a:gd name="T63" fmla="*/ 0 h 1291"/>
                <a:gd name="T64" fmla="*/ 1 w 1449"/>
                <a:gd name="T65" fmla="*/ 0 h 1291"/>
                <a:gd name="T66" fmla="*/ 1 w 1449"/>
                <a:gd name="T67" fmla="*/ 0 h 1291"/>
                <a:gd name="T68" fmla="*/ 1 w 1449"/>
                <a:gd name="T69" fmla="*/ 0 h 1291"/>
                <a:gd name="T70" fmla="*/ 1 w 1449"/>
                <a:gd name="T71" fmla="*/ 0 h 1291"/>
                <a:gd name="T72" fmla="*/ 1 w 1449"/>
                <a:gd name="T73" fmla="*/ 0 h 1291"/>
                <a:gd name="T74" fmla="*/ 0 w 1449"/>
                <a:gd name="T75" fmla="*/ 0 h 1291"/>
                <a:gd name="T76" fmla="*/ 1 w 1449"/>
                <a:gd name="T77" fmla="*/ 0 h 1291"/>
                <a:gd name="T78" fmla="*/ 1 w 1449"/>
                <a:gd name="T79" fmla="*/ 0 h 1291"/>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1449"/>
                <a:gd name="T121" fmla="*/ 0 h 1291"/>
                <a:gd name="T122" fmla="*/ 1449 w 1449"/>
                <a:gd name="T123" fmla="*/ 1291 h 1291"/>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1449" h="1291">
                  <a:moveTo>
                    <a:pt x="88" y="0"/>
                  </a:moveTo>
                  <a:lnTo>
                    <a:pt x="128" y="249"/>
                  </a:lnTo>
                  <a:lnTo>
                    <a:pt x="191" y="378"/>
                  </a:lnTo>
                  <a:lnTo>
                    <a:pt x="251" y="616"/>
                  </a:lnTo>
                  <a:lnTo>
                    <a:pt x="337" y="700"/>
                  </a:lnTo>
                  <a:lnTo>
                    <a:pt x="284" y="580"/>
                  </a:lnTo>
                  <a:lnTo>
                    <a:pt x="240" y="356"/>
                  </a:lnTo>
                  <a:lnTo>
                    <a:pt x="187" y="188"/>
                  </a:lnTo>
                  <a:lnTo>
                    <a:pt x="267" y="356"/>
                  </a:lnTo>
                  <a:lnTo>
                    <a:pt x="337" y="532"/>
                  </a:lnTo>
                  <a:lnTo>
                    <a:pt x="364" y="624"/>
                  </a:lnTo>
                  <a:lnTo>
                    <a:pt x="442" y="704"/>
                  </a:lnTo>
                  <a:lnTo>
                    <a:pt x="504" y="660"/>
                  </a:lnTo>
                  <a:lnTo>
                    <a:pt x="601" y="871"/>
                  </a:lnTo>
                  <a:lnTo>
                    <a:pt x="706" y="905"/>
                  </a:lnTo>
                  <a:lnTo>
                    <a:pt x="1012" y="861"/>
                  </a:lnTo>
                  <a:lnTo>
                    <a:pt x="1194" y="711"/>
                  </a:lnTo>
                  <a:lnTo>
                    <a:pt x="1284" y="660"/>
                  </a:lnTo>
                  <a:lnTo>
                    <a:pt x="1392" y="502"/>
                  </a:lnTo>
                  <a:lnTo>
                    <a:pt x="1449" y="359"/>
                  </a:lnTo>
                  <a:lnTo>
                    <a:pt x="1404" y="513"/>
                  </a:lnTo>
                  <a:lnTo>
                    <a:pt x="1265" y="730"/>
                  </a:lnTo>
                  <a:lnTo>
                    <a:pt x="1039" y="953"/>
                  </a:lnTo>
                  <a:lnTo>
                    <a:pt x="942" y="1129"/>
                  </a:lnTo>
                  <a:lnTo>
                    <a:pt x="841" y="1023"/>
                  </a:lnTo>
                  <a:lnTo>
                    <a:pt x="702" y="1011"/>
                  </a:lnTo>
                  <a:lnTo>
                    <a:pt x="799" y="1240"/>
                  </a:lnTo>
                  <a:lnTo>
                    <a:pt x="694" y="1181"/>
                  </a:lnTo>
                  <a:lnTo>
                    <a:pt x="706" y="1291"/>
                  </a:lnTo>
                  <a:lnTo>
                    <a:pt x="601" y="1165"/>
                  </a:lnTo>
                  <a:lnTo>
                    <a:pt x="500" y="975"/>
                  </a:lnTo>
                  <a:lnTo>
                    <a:pt x="438" y="818"/>
                  </a:lnTo>
                  <a:lnTo>
                    <a:pt x="248" y="639"/>
                  </a:lnTo>
                  <a:lnTo>
                    <a:pt x="187" y="477"/>
                  </a:lnTo>
                  <a:lnTo>
                    <a:pt x="94" y="443"/>
                  </a:lnTo>
                  <a:lnTo>
                    <a:pt x="46" y="359"/>
                  </a:lnTo>
                  <a:lnTo>
                    <a:pt x="8" y="209"/>
                  </a:lnTo>
                  <a:lnTo>
                    <a:pt x="0" y="82"/>
                  </a:lnTo>
                  <a:lnTo>
                    <a:pt x="88" y="0"/>
                  </a:lnTo>
                  <a:close/>
                </a:path>
              </a:pathLst>
            </a:custGeom>
            <a:solidFill>
              <a:srgbClr val="000000"/>
            </a:solidFill>
            <a:ln w="9525">
              <a:noFill/>
              <a:round/>
              <a:headEnd/>
              <a:tailEnd/>
            </a:ln>
          </p:spPr>
          <p:txBody>
            <a:bodyPr/>
            <a:lstStyle/>
            <a:p>
              <a:endParaRPr lang="en-US"/>
            </a:p>
          </p:txBody>
        </p:sp>
        <p:sp>
          <p:nvSpPr>
            <p:cNvPr id="51262" name="Freeform 62"/>
            <p:cNvSpPr>
              <a:spLocks/>
            </p:cNvSpPr>
            <p:nvPr/>
          </p:nvSpPr>
          <p:spPr bwMode="auto">
            <a:xfrm>
              <a:off x="1913" y="3146"/>
              <a:ext cx="163" cy="50"/>
            </a:xfrm>
            <a:custGeom>
              <a:avLst/>
              <a:gdLst>
                <a:gd name="T0" fmla="*/ 0 w 327"/>
                <a:gd name="T1" fmla="*/ 0 h 99"/>
                <a:gd name="T2" fmla="*/ 0 w 327"/>
                <a:gd name="T3" fmla="*/ 1 h 99"/>
                <a:gd name="T4" fmla="*/ 0 w 327"/>
                <a:gd name="T5" fmla="*/ 1 h 99"/>
                <a:gd name="T6" fmla="*/ 0 w 327"/>
                <a:gd name="T7" fmla="*/ 1 h 99"/>
                <a:gd name="T8" fmla="*/ 0 w 327"/>
                <a:gd name="T9" fmla="*/ 1 h 99"/>
                <a:gd name="T10" fmla="*/ 0 w 327"/>
                <a:gd name="T11" fmla="*/ 1 h 99"/>
                <a:gd name="T12" fmla="*/ 0 w 327"/>
                <a:gd name="T13" fmla="*/ 1 h 99"/>
                <a:gd name="T14" fmla="*/ 0 w 327"/>
                <a:gd name="T15" fmla="*/ 1 h 99"/>
                <a:gd name="T16" fmla="*/ 0 w 327"/>
                <a:gd name="T17" fmla="*/ 0 h 99"/>
                <a:gd name="T18" fmla="*/ 0 w 327"/>
                <a:gd name="T19" fmla="*/ 0 h 9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27"/>
                <a:gd name="T31" fmla="*/ 0 h 99"/>
                <a:gd name="T32" fmla="*/ 327 w 327"/>
                <a:gd name="T33" fmla="*/ 99 h 9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27" h="99">
                  <a:moveTo>
                    <a:pt x="21" y="0"/>
                  </a:moveTo>
                  <a:lnTo>
                    <a:pt x="97" y="31"/>
                  </a:lnTo>
                  <a:lnTo>
                    <a:pt x="202" y="12"/>
                  </a:lnTo>
                  <a:lnTo>
                    <a:pt x="327" y="27"/>
                  </a:lnTo>
                  <a:lnTo>
                    <a:pt x="301" y="73"/>
                  </a:lnTo>
                  <a:lnTo>
                    <a:pt x="152" y="74"/>
                  </a:lnTo>
                  <a:lnTo>
                    <a:pt x="59" y="99"/>
                  </a:lnTo>
                  <a:lnTo>
                    <a:pt x="0" y="34"/>
                  </a:lnTo>
                  <a:lnTo>
                    <a:pt x="21" y="0"/>
                  </a:lnTo>
                  <a:close/>
                </a:path>
              </a:pathLst>
            </a:custGeom>
            <a:solidFill>
              <a:srgbClr val="000000"/>
            </a:solidFill>
            <a:ln w="9525">
              <a:noFill/>
              <a:round/>
              <a:headEnd/>
              <a:tailEnd/>
            </a:ln>
          </p:spPr>
          <p:txBody>
            <a:bodyPr/>
            <a:lstStyle/>
            <a:p>
              <a:endParaRPr lang="en-US"/>
            </a:p>
          </p:txBody>
        </p:sp>
        <p:sp>
          <p:nvSpPr>
            <p:cNvPr id="51263" name="Freeform 63"/>
            <p:cNvSpPr>
              <a:spLocks/>
            </p:cNvSpPr>
            <p:nvPr/>
          </p:nvSpPr>
          <p:spPr bwMode="auto">
            <a:xfrm>
              <a:off x="1851" y="3069"/>
              <a:ext cx="339" cy="46"/>
            </a:xfrm>
            <a:custGeom>
              <a:avLst/>
              <a:gdLst>
                <a:gd name="T0" fmla="*/ 0 w 678"/>
                <a:gd name="T1" fmla="*/ 1 h 92"/>
                <a:gd name="T2" fmla="*/ 1 w 678"/>
                <a:gd name="T3" fmla="*/ 1 h 92"/>
                <a:gd name="T4" fmla="*/ 1 w 678"/>
                <a:gd name="T5" fmla="*/ 1 h 92"/>
                <a:gd name="T6" fmla="*/ 1 w 678"/>
                <a:gd name="T7" fmla="*/ 1 h 92"/>
                <a:gd name="T8" fmla="*/ 1 w 678"/>
                <a:gd name="T9" fmla="*/ 1 h 92"/>
                <a:gd name="T10" fmla="*/ 1 w 678"/>
                <a:gd name="T11" fmla="*/ 1 h 92"/>
                <a:gd name="T12" fmla="*/ 1 w 678"/>
                <a:gd name="T13" fmla="*/ 0 h 92"/>
                <a:gd name="T14" fmla="*/ 1 w 678"/>
                <a:gd name="T15" fmla="*/ 1 h 92"/>
                <a:gd name="T16" fmla="*/ 1 w 678"/>
                <a:gd name="T17" fmla="*/ 1 h 92"/>
                <a:gd name="T18" fmla="*/ 1 w 678"/>
                <a:gd name="T19" fmla="*/ 1 h 92"/>
                <a:gd name="T20" fmla="*/ 1 w 678"/>
                <a:gd name="T21" fmla="*/ 1 h 92"/>
                <a:gd name="T22" fmla="*/ 1 w 678"/>
                <a:gd name="T23" fmla="*/ 1 h 92"/>
                <a:gd name="T24" fmla="*/ 1 w 678"/>
                <a:gd name="T25" fmla="*/ 1 h 92"/>
                <a:gd name="T26" fmla="*/ 1 w 678"/>
                <a:gd name="T27" fmla="*/ 1 h 92"/>
                <a:gd name="T28" fmla="*/ 1 w 678"/>
                <a:gd name="T29" fmla="*/ 1 h 92"/>
                <a:gd name="T30" fmla="*/ 1 w 678"/>
                <a:gd name="T31" fmla="*/ 1 h 92"/>
                <a:gd name="T32" fmla="*/ 0 w 678"/>
                <a:gd name="T33" fmla="*/ 1 h 92"/>
                <a:gd name="T34" fmla="*/ 0 w 678"/>
                <a:gd name="T35" fmla="*/ 1 h 9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678"/>
                <a:gd name="T55" fmla="*/ 0 h 92"/>
                <a:gd name="T56" fmla="*/ 678 w 678"/>
                <a:gd name="T57" fmla="*/ 92 h 9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678" h="92">
                  <a:moveTo>
                    <a:pt x="0" y="52"/>
                  </a:moveTo>
                  <a:lnTo>
                    <a:pt x="95" y="59"/>
                  </a:lnTo>
                  <a:lnTo>
                    <a:pt x="245" y="23"/>
                  </a:lnTo>
                  <a:lnTo>
                    <a:pt x="321" y="29"/>
                  </a:lnTo>
                  <a:lnTo>
                    <a:pt x="391" y="12"/>
                  </a:lnTo>
                  <a:lnTo>
                    <a:pt x="551" y="23"/>
                  </a:lnTo>
                  <a:lnTo>
                    <a:pt x="612" y="0"/>
                  </a:lnTo>
                  <a:lnTo>
                    <a:pt x="678" y="44"/>
                  </a:lnTo>
                  <a:lnTo>
                    <a:pt x="644" y="59"/>
                  </a:lnTo>
                  <a:lnTo>
                    <a:pt x="589" y="40"/>
                  </a:lnTo>
                  <a:lnTo>
                    <a:pt x="503" y="52"/>
                  </a:lnTo>
                  <a:lnTo>
                    <a:pt x="403" y="52"/>
                  </a:lnTo>
                  <a:lnTo>
                    <a:pt x="309" y="74"/>
                  </a:lnTo>
                  <a:lnTo>
                    <a:pt x="220" y="63"/>
                  </a:lnTo>
                  <a:lnTo>
                    <a:pt x="123" y="82"/>
                  </a:lnTo>
                  <a:lnTo>
                    <a:pt x="58" y="92"/>
                  </a:lnTo>
                  <a:lnTo>
                    <a:pt x="0" y="52"/>
                  </a:lnTo>
                  <a:close/>
                </a:path>
              </a:pathLst>
            </a:custGeom>
            <a:solidFill>
              <a:srgbClr val="000000"/>
            </a:solidFill>
            <a:ln w="9525">
              <a:noFill/>
              <a:round/>
              <a:headEnd/>
              <a:tailEnd/>
            </a:ln>
          </p:spPr>
          <p:txBody>
            <a:bodyPr/>
            <a:lstStyle/>
            <a:p>
              <a:endParaRPr lang="en-US"/>
            </a:p>
          </p:txBody>
        </p:sp>
        <p:sp>
          <p:nvSpPr>
            <p:cNvPr id="51264" name="Freeform 64"/>
            <p:cNvSpPr>
              <a:spLocks/>
            </p:cNvSpPr>
            <p:nvPr/>
          </p:nvSpPr>
          <p:spPr bwMode="auto">
            <a:xfrm>
              <a:off x="2045" y="2701"/>
              <a:ext cx="27" cy="53"/>
            </a:xfrm>
            <a:custGeom>
              <a:avLst/>
              <a:gdLst>
                <a:gd name="T0" fmla="*/ 0 w 56"/>
                <a:gd name="T1" fmla="*/ 0 h 104"/>
                <a:gd name="T2" fmla="*/ 0 w 56"/>
                <a:gd name="T3" fmla="*/ 1 h 104"/>
                <a:gd name="T4" fmla="*/ 0 w 56"/>
                <a:gd name="T5" fmla="*/ 1 h 104"/>
                <a:gd name="T6" fmla="*/ 0 w 56"/>
                <a:gd name="T7" fmla="*/ 1 h 104"/>
                <a:gd name="T8" fmla="*/ 0 w 56"/>
                <a:gd name="T9" fmla="*/ 0 h 104"/>
                <a:gd name="T10" fmla="*/ 0 w 56"/>
                <a:gd name="T11" fmla="*/ 0 h 104"/>
                <a:gd name="T12" fmla="*/ 0 60000 65536"/>
                <a:gd name="T13" fmla="*/ 0 60000 65536"/>
                <a:gd name="T14" fmla="*/ 0 60000 65536"/>
                <a:gd name="T15" fmla="*/ 0 60000 65536"/>
                <a:gd name="T16" fmla="*/ 0 60000 65536"/>
                <a:gd name="T17" fmla="*/ 0 60000 65536"/>
                <a:gd name="T18" fmla="*/ 0 w 56"/>
                <a:gd name="T19" fmla="*/ 0 h 104"/>
                <a:gd name="T20" fmla="*/ 56 w 56"/>
                <a:gd name="T21" fmla="*/ 104 h 104"/>
              </a:gdLst>
              <a:ahLst/>
              <a:cxnLst>
                <a:cxn ang="T12">
                  <a:pos x="T0" y="T1"/>
                </a:cxn>
                <a:cxn ang="T13">
                  <a:pos x="T2" y="T3"/>
                </a:cxn>
                <a:cxn ang="T14">
                  <a:pos x="T4" y="T5"/>
                </a:cxn>
                <a:cxn ang="T15">
                  <a:pos x="T6" y="T7"/>
                </a:cxn>
                <a:cxn ang="T16">
                  <a:pos x="T8" y="T9"/>
                </a:cxn>
                <a:cxn ang="T17">
                  <a:pos x="T10" y="T11"/>
                </a:cxn>
              </a:cxnLst>
              <a:rect l="T18" t="T19" r="T20" b="T21"/>
              <a:pathLst>
                <a:path w="56" h="104">
                  <a:moveTo>
                    <a:pt x="38" y="0"/>
                  </a:moveTo>
                  <a:lnTo>
                    <a:pt x="4" y="55"/>
                  </a:lnTo>
                  <a:lnTo>
                    <a:pt x="0" y="104"/>
                  </a:lnTo>
                  <a:lnTo>
                    <a:pt x="56" y="40"/>
                  </a:lnTo>
                  <a:lnTo>
                    <a:pt x="38" y="0"/>
                  </a:lnTo>
                  <a:close/>
                </a:path>
              </a:pathLst>
            </a:custGeom>
            <a:solidFill>
              <a:srgbClr val="000000"/>
            </a:solidFill>
            <a:ln w="9525">
              <a:noFill/>
              <a:round/>
              <a:headEnd/>
              <a:tailEnd/>
            </a:ln>
          </p:spPr>
          <p:txBody>
            <a:bodyPr/>
            <a:lstStyle/>
            <a:p>
              <a:endParaRPr lang="en-US"/>
            </a:p>
          </p:txBody>
        </p:sp>
        <p:sp>
          <p:nvSpPr>
            <p:cNvPr id="51265" name="Freeform 65"/>
            <p:cNvSpPr>
              <a:spLocks/>
            </p:cNvSpPr>
            <p:nvPr/>
          </p:nvSpPr>
          <p:spPr bwMode="auto">
            <a:xfrm>
              <a:off x="2357" y="2802"/>
              <a:ext cx="37" cy="164"/>
            </a:xfrm>
            <a:custGeom>
              <a:avLst/>
              <a:gdLst>
                <a:gd name="T0" fmla="*/ 1 w 74"/>
                <a:gd name="T1" fmla="*/ 0 h 329"/>
                <a:gd name="T2" fmla="*/ 1 w 74"/>
                <a:gd name="T3" fmla="*/ 0 h 329"/>
                <a:gd name="T4" fmla="*/ 0 w 74"/>
                <a:gd name="T5" fmla="*/ 0 h 329"/>
                <a:gd name="T6" fmla="*/ 1 w 74"/>
                <a:gd name="T7" fmla="*/ 0 h 329"/>
                <a:gd name="T8" fmla="*/ 1 w 74"/>
                <a:gd name="T9" fmla="*/ 0 h 329"/>
                <a:gd name="T10" fmla="*/ 1 w 74"/>
                <a:gd name="T11" fmla="*/ 0 h 329"/>
                <a:gd name="T12" fmla="*/ 1 w 74"/>
                <a:gd name="T13" fmla="*/ 0 h 329"/>
                <a:gd name="T14" fmla="*/ 1 w 74"/>
                <a:gd name="T15" fmla="*/ 0 h 329"/>
                <a:gd name="T16" fmla="*/ 1 w 74"/>
                <a:gd name="T17" fmla="*/ 0 h 3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4"/>
                <a:gd name="T28" fmla="*/ 0 h 329"/>
                <a:gd name="T29" fmla="*/ 74 w 74"/>
                <a:gd name="T30" fmla="*/ 329 h 32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4" h="329">
                  <a:moveTo>
                    <a:pt x="4" y="0"/>
                  </a:moveTo>
                  <a:lnTo>
                    <a:pt x="10" y="215"/>
                  </a:lnTo>
                  <a:lnTo>
                    <a:pt x="0" y="329"/>
                  </a:lnTo>
                  <a:lnTo>
                    <a:pt x="29" y="183"/>
                  </a:lnTo>
                  <a:lnTo>
                    <a:pt x="70" y="124"/>
                  </a:lnTo>
                  <a:lnTo>
                    <a:pt x="74" y="55"/>
                  </a:lnTo>
                  <a:lnTo>
                    <a:pt x="51" y="15"/>
                  </a:lnTo>
                  <a:lnTo>
                    <a:pt x="4" y="0"/>
                  </a:lnTo>
                  <a:close/>
                </a:path>
              </a:pathLst>
            </a:custGeom>
            <a:solidFill>
              <a:srgbClr val="000000"/>
            </a:solidFill>
            <a:ln w="9525">
              <a:noFill/>
              <a:round/>
              <a:headEnd/>
              <a:tailEnd/>
            </a:ln>
          </p:spPr>
          <p:txBody>
            <a:bodyPr/>
            <a:lstStyle/>
            <a:p>
              <a:endParaRPr lang="en-US"/>
            </a:p>
          </p:txBody>
        </p:sp>
        <p:sp>
          <p:nvSpPr>
            <p:cNvPr id="51266" name="Freeform 66"/>
            <p:cNvSpPr>
              <a:spLocks/>
            </p:cNvSpPr>
            <p:nvPr/>
          </p:nvSpPr>
          <p:spPr bwMode="auto">
            <a:xfrm>
              <a:off x="2367" y="2701"/>
              <a:ext cx="56" cy="93"/>
            </a:xfrm>
            <a:custGeom>
              <a:avLst/>
              <a:gdLst>
                <a:gd name="T0" fmla="*/ 0 w 112"/>
                <a:gd name="T1" fmla="*/ 1 h 186"/>
                <a:gd name="T2" fmla="*/ 1 w 112"/>
                <a:gd name="T3" fmla="*/ 1 h 186"/>
                <a:gd name="T4" fmla="*/ 1 w 112"/>
                <a:gd name="T5" fmla="*/ 1 h 186"/>
                <a:gd name="T6" fmla="*/ 1 w 112"/>
                <a:gd name="T7" fmla="*/ 0 h 186"/>
                <a:gd name="T8" fmla="*/ 0 w 112"/>
                <a:gd name="T9" fmla="*/ 1 h 186"/>
                <a:gd name="T10" fmla="*/ 0 w 112"/>
                <a:gd name="T11" fmla="*/ 1 h 186"/>
                <a:gd name="T12" fmla="*/ 0 60000 65536"/>
                <a:gd name="T13" fmla="*/ 0 60000 65536"/>
                <a:gd name="T14" fmla="*/ 0 60000 65536"/>
                <a:gd name="T15" fmla="*/ 0 60000 65536"/>
                <a:gd name="T16" fmla="*/ 0 60000 65536"/>
                <a:gd name="T17" fmla="*/ 0 60000 65536"/>
                <a:gd name="T18" fmla="*/ 0 w 112"/>
                <a:gd name="T19" fmla="*/ 0 h 186"/>
                <a:gd name="T20" fmla="*/ 112 w 112"/>
                <a:gd name="T21" fmla="*/ 186 h 186"/>
              </a:gdLst>
              <a:ahLst/>
              <a:cxnLst>
                <a:cxn ang="T12">
                  <a:pos x="T0" y="T1"/>
                </a:cxn>
                <a:cxn ang="T13">
                  <a:pos x="T2" y="T3"/>
                </a:cxn>
                <a:cxn ang="T14">
                  <a:pos x="T4" y="T5"/>
                </a:cxn>
                <a:cxn ang="T15">
                  <a:pos x="T6" y="T7"/>
                </a:cxn>
                <a:cxn ang="T16">
                  <a:pos x="T8" y="T9"/>
                </a:cxn>
                <a:cxn ang="T17">
                  <a:pos x="T10" y="T11"/>
                </a:cxn>
              </a:cxnLst>
              <a:rect l="T18" t="T19" r="T20" b="T21"/>
              <a:pathLst>
                <a:path w="112" h="186">
                  <a:moveTo>
                    <a:pt x="0" y="70"/>
                  </a:moveTo>
                  <a:lnTo>
                    <a:pt x="97" y="186"/>
                  </a:lnTo>
                  <a:lnTo>
                    <a:pt x="112" y="150"/>
                  </a:lnTo>
                  <a:lnTo>
                    <a:pt x="42" y="0"/>
                  </a:lnTo>
                  <a:lnTo>
                    <a:pt x="0" y="70"/>
                  </a:lnTo>
                  <a:close/>
                </a:path>
              </a:pathLst>
            </a:custGeom>
            <a:solidFill>
              <a:srgbClr val="000000"/>
            </a:solidFill>
            <a:ln w="9525">
              <a:noFill/>
              <a:round/>
              <a:headEnd/>
              <a:tailEnd/>
            </a:ln>
          </p:spPr>
          <p:txBody>
            <a:bodyPr/>
            <a:lstStyle/>
            <a:p>
              <a:endParaRPr lang="en-US"/>
            </a:p>
          </p:txBody>
        </p:sp>
        <p:sp>
          <p:nvSpPr>
            <p:cNvPr id="51267" name="Freeform 67"/>
            <p:cNvSpPr>
              <a:spLocks/>
            </p:cNvSpPr>
            <p:nvPr/>
          </p:nvSpPr>
          <p:spPr bwMode="auto">
            <a:xfrm>
              <a:off x="2361" y="2776"/>
              <a:ext cx="87" cy="281"/>
            </a:xfrm>
            <a:custGeom>
              <a:avLst/>
              <a:gdLst>
                <a:gd name="T0" fmla="*/ 1 w 173"/>
                <a:gd name="T1" fmla="*/ 0 h 561"/>
                <a:gd name="T2" fmla="*/ 1 w 173"/>
                <a:gd name="T3" fmla="*/ 1 h 561"/>
                <a:gd name="T4" fmla="*/ 1 w 173"/>
                <a:gd name="T5" fmla="*/ 1 h 561"/>
                <a:gd name="T6" fmla="*/ 1 w 173"/>
                <a:gd name="T7" fmla="*/ 1 h 561"/>
                <a:gd name="T8" fmla="*/ 1 w 173"/>
                <a:gd name="T9" fmla="*/ 1 h 561"/>
                <a:gd name="T10" fmla="*/ 1 w 173"/>
                <a:gd name="T11" fmla="*/ 1 h 561"/>
                <a:gd name="T12" fmla="*/ 1 w 173"/>
                <a:gd name="T13" fmla="*/ 1 h 561"/>
                <a:gd name="T14" fmla="*/ 0 w 173"/>
                <a:gd name="T15" fmla="*/ 1 h 561"/>
                <a:gd name="T16" fmla="*/ 1 w 173"/>
                <a:gd name="T17" fmla="*/ 1 h 561"/>
                <a:gd name="T18" fmla="*/ 1 w 173"/>
                <a:gd name="T19" fmla="*/ 1 h 561"/>
                <a:gd name="T20" fmla="*/ 1 w 173"/>
                <a:gd name="T21" fmla="*/ 1 h 561"/>
                <a:gd name="T22" fmla="*/ 1 w 173"/>
                <a:gd name="T23" fmla="*/ 0 h 561"/>
                <a:gd name="T24" fmla="*/ 1 w 173"/>
                <a:gd name="T25" fmla="*/ 0 h 56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73"/>
                <a:gd name="T40" fmla="*/ 0 h 561"/>
                <a:gd name="T41" fmla="*/ 173 w 173"/>
                <a:gd name="T42" fmla="*/ 561 h 56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73" h="561">
                  <a:moveTo>
                    <a:pt x="173" y="0"/>
                  </a:moveTo>
                  <a:lnTo>
                    <a:pt x="154" y="175"/>
                  </a:lnTo>
                  <a:lnTo>
                    <a:pt x="119" y="296"/>
                  </a:lnTo>
                  <a:lnTo>
                    <a:pt x="95" y="380"/>
                  </a:lnTo>
                  <a:lnTo>
                    <a:pt x="34" y="467"/>
                  </a:lnTo>
                  <a:lnTo>
                    <a:pt x="53" y="513"/>
                  </a:lnTo>
                  <a:lnTo>
                    <a:pt x="7" y="561"/>
                  </a:lnTo>
                  <a:lnTo>
                    <a:pt x="0" y="454"/>
                  </a:lnTo>
                  <a:lnTo>
                    <a:pt x="60" y="388"/>
                  </a:lnTo>
                  <a:lnTo>
                    <a:pt x="108" y="274"/>
                  </a:lnTo>
                  <a:lnTo>
                    <a:pt x="146" y="118"/>
                  </a:lnTo>
                  <a:lnTo>
                    <a:pt x="173" y="0"/>
                  </a:lnTo>
                  <a:close/>
                </a:path>
              </a:pathLst>
            </a:custGeom>
            <a:solidFill>
              <a:srgbClr val="000000"/>
            </a:solidFill>
            <a:ln w="9525">
              <a:noFill/>
              <a:round/>
              <a:headEnd/>
              <a:tailEnd/>
            </a:ln>
          </p:spPr>
          <p:txBody>
            <a:bodyPr/>
            <a:lstStyle/>
            <a:p>
              <a:endParaRPr lang="en-US"/>
            </a:p>
          </p:txBody>
        </p:sp>
        <p:sp>
          <p:nvSpPr>
            <p:cNvPr id="51268" name="Freeform 68"/>
            <p:cNvSpPr>
              <a:spLocks/>
            </p:cNvSpPr>
            <p:nvPr/>
          </p:nvSpPr>
          <p:spPr bwMode="auto">
            <a:xfrm>
              <a:off x="1772" y="2569"/>
              <a:ext cx="284" cy="69"/>
            </a:xfrm>
            <a:custGeom>
              <a:avLst/>
              <a:gdLst>
                <a:gd name="T0" fmla="*/ 0 w 568"/>
                <a:gd name="T1" fmla="*/ 1 h 137"/>
                <a:gd name="T2" fmla="*/ 1 w 568"/>
                <a:gd name="T3" fmla="*/ 1 h 137"/>
                <a:gd name="T4" fmla="*/ 1 w 568"/>
                <a:gd name="T5" fmla="*/ 1 h 137"/>
                <a:gd name="T6" fmla="*/ 1 w 568"/>
                <a:gd name="T7" fmla="*/ 1 h 137"/>
                <a:gd name="T8" fmla="*/ 1 w 568"/>
                <a:gd name="T9" fmla="*/ 0 h 137"/>
                <a:gd name="T10" fmla="*/ 1 w 568"/>
                <a:gd name="T11" fmla="*/ 1 h 137"/>
                <a:gd name="T12" fmla="*/ 1 w 568"/>
                <a:gd name="T13" fmla="*/ 1 h 137"/>
                <a:gd name="T14" fmla="*/ 1 w 568"/>
                <a:gd name="T15" fmla="*/ 1 h 137"/>
                <a:gd name="T16" fmla="*/ 1 w 568"/>
                <a:gd name="T17" fmla="*/ 1 h 137"/>
                <a:gd name="T18" fmla="*/ 0 w 568"/>
                <a:gd name="T19" fmla="*/ 1 h 137"/>
                <a:gd name="T20" fmla="*/ 0 w 568"/>
                <a:gd name="T21" fmla="*/ 1 h 13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68"/>
                <a:gd name="T34" fmla="*/ 0 h 137"/>
                <a:gd name="T35" fmla="*/ 568 w 568"/>
                <a:gd name="T36" fmla="*/ 137 h 13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68" h="137">
                  <a:moveTo>
                    <a:pt x="0" y="137"/>
                  </a:moveTo>
                  <a:lnTo>
                    <a:pt x="87" y="114"/>
                  </a:lnTo>
                  <a:lnTo>
                    <a:pt x="239" y="103"/>
                  </a:lnTo>
                  <a:lnTo>
                    <a:pt x="399" y="67"/>
                  </a:lnTo>
                  <a:lnTo>
                    <a:pt x="568" y="0"/>
                  </a:lnTo>
                  <a:lnTo>
                    <a:pt x="378" y="59"/>
                  </a:lnTo>
                  <a:lnTo>
                    <a:pt x="285" y="78"/>
                  </a:lnTo>
                  <a:lnTo>
                    <a:pt x="108" y="82"/>
                  </a:lnTo>
                  <a:lnTo>
                    <a:pt x="42" y="99"/>
                  </a:lnTo>
                  <a:lnTo>
                    <a:pt x="0" y="137"/>
                  </a:lnTo>
                  <a:close/>
                </a:path>
              </a:pathLst>
            </a:custGeom>
            <a:solidFill>
              <a:srgbClr val="000000"/>
            </a:solidFill>
            <a:ln w="9525">
              <a:noFill/>
              <a:round/>
              <a:headEnd/>
              <a:tailEnd/>
            </a:ln>
          </p:spPr>
          <p:txBody>
            <a:bodyPr/>
            <a:lstStyle/>
            <a:p>
              <a:endParaRPr lang="en-US"/>
            </a:p>
          </p:txBody>
        </p:sp>
        <p:sp>
          <p:nvSpPr>
            <p:cNvPr id="51269" name="Freeform 69"/>
            <p:cNvSpPr>
              <a:spLocks/>
            </p:cNvSpPr>
            <p:nvPr/>
          </p:nvSpPr>
          <p:spPr bwMode="auto">
            <a:xfrm>
              <a:off x="2058" y="3093"/>
              <a:ext cx="313" cy="436"/>
            </a:xfrm>
            <a:custGeom>
              <a:avLst/>
              <a:gdLst>
                <a:gd name="T0" fmla="*/ 1 w 626"/>
                <a:gd name="T1" fmla="*/ 0 h 872"/>
                <a:gd name="T2" fmla="*/ 1 w 626"/>
                <a:gd name="T3" fmla="*/ 1 h 872"/>
                <a:gd name="T4" fmla="*/ 1 w 626"/>
                <a:gd name="T5" fmla="*/ 1 h 872"/>
                <a:gd name="T6" fmla="*/ 1 w 626"/>
                <a:gd name="T7" fmla="*/ 1 h 872"/>
                <a:gd name="T8" fmla="*/ 1 w 626"/>
                <a:gd name="T9" fmla="*/ 1 h 872"/>
                <a:gd name="T10" fmla="*/ 0 w 626"/>
                <a:gd name="T11" fmla="*/ 1 h 872"/>
                <a:gd name="T12" fmla="*/ 1 w 626"/>
                <a:gd name="T13" fmla="*/ 1 h 872"/>
                <a:gd name="T14" fmla="*/ 1 w 626"/>
                <a:gd name="T15" fmla="*/ 1 h 872"/>
                <a:gd name="T16" fmla="*/ 1 w 626"/>
                <a:gd name="T17" fmla="*/ 1 h 872"/>
                <a:gd name="T18" fmla="*/ 1 w 626"/>
                <a:gd name="T19" fmla="*/ 1 h 872"/>
                <a:gd name="T20" fmla="*/ 1 w 626"/>
                <a:gd name="T21" fmla="*/ 1 h 872"/>
                <a:gd name="T22" fmla="*/ 1 w 626"/>
                <a:gd name="T23" fmla="*/ 0 h 872"/>
                <a:gd name="T24" fmla="*/ 1 w 626"/>
                <a:gd name="T25" fmla="*/ 0 h 8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26"/>
                <a:gd name="T40" fmla="*/ 0 h 872"/>
                <a:gd name="T41" fmla="*/ 626 w 626"/>
                <a:gd name="T42" fmla="*/ 872 h 87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26" h="872">
                  <a:moveTo>
                    <a:pt x="614" y="0"/>
                  </a:moveTo>
                  <a:lnTo>
                    <a:pt x="582" y="247"/>
                  </a:lnTo>
                  <a:lnTo>
                    <a:pt x="506" y="403"/>
                  </a:lnTo>
                  <a:lnTo>
                    <a:pt x="388" y="542"/>
                  </a:lnTo>
                  <a:lnTo>
                    <a:pt x="122" y="751"/>
                  </a:lnTo>
                  <a:lnTo>
                    <a:pt x="0" y="872"/>
                  </a:lnTo>
                  <a:lnTo>
                    <a:pt x="156" y="743"/>
                  </a:lnTo>
                  <a:lnTo>
                    <a:pt x="405" y="549"/>
                  </a:lnTo>
                  <a:lnTo>
                    <a:pt x="510" y="437"/>
                  </a:lnTo>
                  <a:lnTo>
                    <a:pt x="593" y="304"/>
                  </a:lnTo>
                  <a:lnTo>
                    <a:pt x="626" y="165"/>
                  </a:lnTo>
                  <a:lnTo>
                    <a:pt x="614" y="0"/>
                  </a:lnTo>
                  <a:close/>
                </a:path>
              </a:pathLst>
            </a:custGeom>
            <a:solidFill>
              <a:srgbClr val="000000"/>
            </a:solidFill>
            <a:ln w="9525">
              <a:noFill/>
              <a:round/>
              <a:headEnd/>
              <a:tailEnd/>
            </a:ln>
          </p:spPr>
          <p:txBody>
            <a:bodyPr/>
            <a:lstStyle/>
            <a:p>
              <a:endParaRPr lang="en-US"/>
            </a:p>
          </p:txBody>
        </p:sp>
        <p:sp>
          <p:nvSpPr>
            <p:cNvPr id="51270" name="Freeform 70"/>
            <p:cNvSpPr>
              <a:spLocks/>
            </p:cNvSpPr>
            <p:nvPr/>
          </p:nvSpPr>
          <p:spPr bwMode="auto">
            <a:xfrm>
              <a:off x="2369" y="3069"/>
              <a:ext cx="979" cy="1054"/>
            </a:xfrm>
            <a:custGeom>
              <a:avLst/>
              <a:gdLst>
                <a:gd name="T0" fmla="*/ 0 w 1958"/>
                <a:gd name="T1" fmla="*/ 0 h 2108"/>
                <a:gd name="T2" fmla="*/ 1 w 1958"/>
                <a:gd name="T3" fmla="*/ 1 h 2108"/>
                <a:gd name="T4" fmla="*/ 1 w 1958"/>
                <a:gd name="T5" fmla="*/ 1 h 2108"/>
                <a:gd name="T6" fmla="*/ 1 w 1958"/>
                <a:gd name="T7" fmla="*/ 1 h 2108"/>
                <a:gd name="T8" fmla="*/ 1 w 1958"/>
                <a:gd name="T9" fmla="*/ 1 h 2108"/>
                <a:gd name="T10" fmla="*/ 1 w 1958"/>
                <a:gd name="T11" fmla="*/ 1 h 2108"/>
                <a:gd name="T12" fmla="*/ 1 w 1958"/>
                <a:gd name="T13" fmla="*/ 1 h 2108"/>
                <a:gd name="T14" fmla="*/ 1 w 1958"/>
                <a:gd name="T15" fmla="*/ 1 h 2108"/>
                <a:gd name="T16" fmla="*/ 1 w 1958"/>
                <a:gd name="T17" fmla="*/ 1 h 2108"/>
                <a:gd name="T18" fmla="*/ 1 w 1958"/>
                <a:gd name="T19" fmla="*/ 1 h 2108"/>
                <a:gd name="T20" fmla="*/ 1 w 1958"/>
                <a:gd name="T21" fmla="*/ 1 h 2108"/>
                <a:gd name="T22" fmla="*/ 1 w 1958"/>
                <a:gd name="T23" fmla="*/ 1 h 2108"/>
                <a:gd name="T24" fmla="*/ 1 w 1958"/>
                <a:gd name="T25" fmla="*/ 1 h 2108"/>
                <a:gd name="T26" fmla="*/ 1 w 1958"/>
                <a:gd name="T27" fmla="*/ 1 h 2108"/>
                <a:gd name="T28" fmla="*/ 1 w 1958"/>
                <a:gd name="T29" fmla="*/ 1 h 2108"/>
                <a:gd name="T30" fmla="*/ 1 w 1958"/>
                <a:gd name="T31" fmla="*/ 1 h 2108"/>
                <a:gd name="T32" fmla="*/ 1 w 1958"/>
                <a:gd name="T33" fmla="*/ 1 h 2108"/>
                <a:gd name="T34" fmla="*/ 1 w 1958"/>
                <a:gd name="T35" fmla="*/ 1 h 2108"/>
                <a:gd name="T36" fmla="*/ 1 w 1958"/>
                <a:gd name="T37" fmla="*/ 1 h 2108"/>
                <a:gd name="T38" fmla="*/ 1 w 1958"/>
                <a:gd name="T39" fmla="*/ 1 h 2108"/>
                <a:gd name="T40" fmla="*/ 1 w 1958"/>
                <a:gd name="T41" fmla="*/ 1 h 2108"/>
                <a:gd name="T42" fmla="*/ 1 w 1958"/>
                <a:gd name="T43" fmla="*/ 1 h 2108"/>
                <a:gd name="T44" fmla="*/ 1 w 1958"/>
                <a:gd name="T45" fmla="*/ 1 h 2108"/>
                <a:gd name="T46" fmla="*/ 1 w 1958"/>
                <a:gd name="T47" fmla="*/ 1 h 2108"/>
                <a:gd name="T48" fmla="*/ 1 w 1958"/>
                <a:gd name="T49" fmla="*/ 1 h 2108"/>
                <a:gd name="T50" fmla="*/ 1 w 1958"/>
                <a:gd name="T51" fmla="*/ 1 h 2108"/>
                <a:gd name="T52" fmla="*/ 1 w 1958"/>
                <a:gd name="T53" fmla="*/ 1 h 2108"/>
                <a:gd name="T54" fmla="*/ 1 w 1958"/>
                <a:gd name="T55" fmla="*/ 1 h 2108"/>
                <a:gd name="T56" fmla="*/ 1 w 1958"/>
                <a:gd name="T57" fmla="*/ 1 h 2108"/>
                <a:gd name="T58" fmla="*/ 0 w 1958"/>
                <a:gd name="T59" fmla="*/ 0 h 2108"/>
                <a:gd name="T60" fmla="*/ 0 w 1958"/>
                <a:gd name="T61" fmla="*/ 0 h 2108"/>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958"/>
                <a:gd name="T94" fmla="*/ 0 h 2108"/>
                <a:gd name="T95" fmla="*/ 1958 w 1958"/>
                <a:gd name="T96" fmla="*/ 2108 h 2108"/>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958" h="2108">
                  <a:moveTo>
                    <a:pt x="0" y="0"/>
                  </a:moveTo>
                  <a:lnTo>
                    <a:pt x="97" y="44"/>
                  </a:lnTo>
                  <a:lnTo>
                    <a:pt x="266" y="278"/>
                  </a:lnTo>
                  <a:lnTo>
                    <a:pt x="338" y="369"/>
                  </a:lnTo>
                  <a:lnTo>
                    <a:pt x="407" y="420"/>
                  </a:lnTo>
                  <a:lnTo>
                    <a:pt x="517" y="474"/>
                  </a:lnTo>
                  <a:lnTo>
                    <a:pt x="1205" y="732"/>
                  </a:lnTo>
                  <a:lnTo>
                    <a:pt x="1745" y="953"/>
                  </a:lnTo>
                  <a:lnTo>
                    <a:pt x="1783" y="1023"/>
                  </a:lnTo>
                  <a:lnTo>
                    <a:pt x="1884" y="1359"/>
                  </a:lnTo>
                  <a:lnTo>
                    <a:pt x="1935" y="1755"/>
                  </a:lnTo>
                  <a:lnTo>
                    <a:pt x="1958" y="2108"/>
                  </a:lnTo>
                  <a:lnTo>
                    <a:pt x="1869" y="2108"/>
                  </a:lnTo>
                  <a:lnTo>
                    <a:pt x="1842" y="1736"/>
                  </a:lnTo>
                  <a:lnTo>
                    <a:pt x="1804" y="1382"/>
                  </a:lnTo>
                  <a:lnTo>
                    <a:pt x="1741" y="1074"/>
                  </a:lnTo>
                  <a:lnTo>
                    <a:pt x="1724" y="1027"/>
                  </a:lnTo>
                  <a:lnTo>
                    <a:pt x="1659" y="1213"/>
                  </a:lnTo>
                  <a:lnTo>
                    <a:pt x="1549" y="1637"/>
                  </a:lnTo>
                  <a:lnTo>
                    <a:pt x="1507" y="1827"/>
                  </a:lnTo>
                  <a:lnTo>
                    <a:pt x="1536" y="1525"/>
                  </a:lnTo>
                  <a:lnTo>
                    <a:pt x="1587" y="1213"/>
                  </a:lnTo>
                  <a:lnTo>
                    <a:pt x="1635" y="975"/>
                  </a:lnTo>
                  <a:lnTo>
                    <a:pt x="1332" y="837"/>
                  </a:lnTo>
                  <a:lnTo>
                    <a:pt x="853" y="624"/>
                  </a:lnTo>
                  <a:lnTo>
                    <a:pt x="399" y="474"/>
                  </a:lnTo>
                  <a:lnTo>
                    <a:pt x="300" y="396"/>
                  </a:lnTo>
                  <a:lnTo>
                    <a:pt x="165" y="187"/>
                  </a:lnTo>
                  <a:lnTo>
                    <a:pt x="76" y="71"/>
                  </a:lnTo>
                  <a:lnTo>
                    <a:pt x="0" y="0"/>
                  </a:lnTo>
                  <a:close/>
                </a:path>
              </a:pathLst>
            </a:custGeom>
            <a:solidFill>
              <a:srgbClr val="000000"/>
            </a:solidFill>
            <a:ln w="9525">
              <a:noFill/>
              <a:round/>
              <a:headEnd/>
              <a:tailEnd/>
            </a:ln>
          </p:spPr>
          <p:txBody>
            <a:bodyPr/>
            <a:lstStyle/>
            <a:p>
              <a:endParaRPr lang="en-US"/>
            </a:p>
          </p:txBody>
        </p:sp>
        <p:sp>
          <p:nvSpPr>
            <p:cNvPr id="51271" name="Freeform 71"/>
            <p:cNvSpPr>
              <a:spLocks/>
            </p:cNvSpPr>
            <p:nvPr/>
          </p:nvSpPr>
          <p:spPr bwMode="auto">
            <a:xfrm>
              <a:off x="2369" y="3216"/>
              <a:ext cx="252" cy="912"/>
            </a:xfrm>
            <a:custGeom>
              <a:avLst/>
              <a:gdLst>
                <a:gd name="T0" fmla="*/ 0 w 504"/>
                <a:gd name="T1" fmla="*/ 1 h 1823"/>
                <a:gd name="T2" fmla="*/ 1 w 504"/>
                <a:gd name="T3" fmla="*/ 1 h 1823"/>
                <a:gd name="T4" fmla="*/ 1 w 504"/>
                <a:gd name="T5" fmla="*/ 1 h 1823"/>
                <a:gd name="T6" fmla="*/ 1 w 504"/>
                <a:gd name="T7" fmla="*/ 1 h 1823"/>
                <a:gd name="T8" fmla="*/ 1 w 504"/>
                <a:gd name="T9" fmla="*/ 1 h 1823"/>
                <a:gd name="T10" fmla="*/ 1 w 504"/>
                <a:gd name="T11" fmla="*/ 1 h 1823"/>
                <a:gd name="T12" fmla="*/ 1 w 504"/>
                <a:gd name="T13" fmla="*/ 1 h 1823"/>
                <a:gd name="T14" fmla="*/ 1 w 504"/>
                <a:gd name="T15" fmla="*/ 0 h 1823"/>
                <a:gd name="T16" fmla="*/ 1 w 504"/>
                <a:gd name="T17" fmla="*/ 1 h 1823"/>
                <a:gd name="T18" fmla="*/ 1 w 504"/>
                <a:gd name="T19" fmla="*/ 1 h 1823"/>
                <a:gd name="T20" fmla="*/ 1 w 504"/>
                <a:gd name="T21" fmla="*/ 1 h 1823"/>
                <a:gd name="T22" fmla="*/ 1 w 504"/>
                <a:gd name="T23" fmla="*/ 1 h 1823"/>
                <a:gd name="T24" fmla="*/ 1 w 504"/>
                <a:gd name="T25" fmla="*/ 1 h 1823"/>
                <a:gd name="T26" fmla="*/ 1 w 504"/>
                <a:gd name="T27" fmla="*/ 1 h 1823"/>
                <a:gd name="T28" fmla="*/ 1 w 504"/>
                <a:gd name="T29" fmla="*/ 1 h 1823"/>
                <a:gd name="T30" fmla="*/ 1 w 504"/>
                <a:gd name="T31" fmla="*/ 1 h 1823"/>
                <a:gd name="T32" fmla="*/ 1 w 504"/>
                <a:gd name="T33" fmla="*/ 1 h 1823"/>
                <a:gd name="T34" fmla="*/ 1 w 504"/>
                <a:gd name="T35" fmla="*/ 1 h 1823"/>
                <a:gd name="T36" fmla="*/ 1 w 504"/>
                <a:gd name="T37" fmla="*/ 1 h 1823"/>
                <a:gd name="T38" fmla="*/ 1 w 504"/>
                <a:gd name="T39" fmla="*/ 1 h 1823"/>
                <a:gd name="T40" fmla="*/ 1 w 504"/>
                <a:gd name="T41" fmla="*/ 1 h 1823"/>
                <a:gd name="T42" fmla="*/ 1 w 504"/>
                <a:gd name="T43" fmla="*/ 1 h 1823"/>
                <a:gd name="T44" fmla="*/ 0 w 504"/>
                <a:gd name="T45" fmla="*/ 1 h 1823"/>
                <a:gd name="T46" fmla="*/ 0 w 504"/>
                <a:gd name="T47" fmla="*/ 1 h 1823"/>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504"/>
                <a:gd name="T73" fmla="*/ 0 h 1823"/>
                <a:gd name="T74" fmla="*/ 504 w 504"/>
                <a:gd name="T75" fmla="*/ 1823 h 1823"/>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504" h="1823">
                  <a:moveTo>
                    <a:pt x="0" y="922"/>
                  </a:moveTo>
                  <a:lnTo>
                    <a:pt x="144" y="1169"/>
                  </a:lnTo>
                  <a:lnTo>
                    <a:pt x="235" y="1120"/>
                  </a:lnTo>
                  <a:lnTo>
                    <a:pt x="460" y="956"/>
                  </a:lnTo>
                  <a:lnTo>
                    <a:pt x="410" y="736"/>
                  </a:lnTo>
                  <a:lnTo>
                    <a:pt x="389" y="359"/>
                  </a:lnTo>
                  <a:lnTo>
                    <a:pt x="327" y="194"/>
                  </a:lnTo>
                  <a:lnTo>
                    <a:pt x="241" y="0"/>
                  </a:lnTo>
                  <a:lnTo>
                    <a:pt x="365" y="135"/>
                  </a:lnTo>
                  <a:lnTo>
                    <a:pt x="424" y="346"/>
                  </a:lnTo>
                  <a:lnTo>
                    <a:pt x="466" y="800"/>
                  </a:lnTo>
                  <a:lnTo>
                    <a:pt x="504" y="1000"/>
                  </a:lnTo>
                  <a:lnTo>
                    <a:pt x="386" y="1061"/>
                  </a:lnTo>
                  <a:lnTo>
                    <a:pt x="173" y="1217"/>
                  </a:lnTo>
                  <a:lnTo>
                    <a:pt x="310" y="1481"/>
                  </a:lnTo>
                  <a:lnTo>
                    <a:pt x="300" y="1536"/>
                  </a:lnTo>
                  <a:lnTo>
                    <a:pt x="139" y="1823"/>
                  </a:lnTo>
                  <a:lnTo>
                    <a:pt x="72" y="1819"/>
                  </a:lnTo>
                  <a:lnTo>
                    <a:pt x="237" y="1545"/>
                  </a:lnTo>
                  <a:lnTo>
                    <a:pt x="249" y="1488"/>
                  </a:lnTo>
                  <a:lnTo>
                    <a:pt x="234" y="1424"/>
                  </a:lnTo>
                  <a:lnTo>
                    <a:pt x="118" y="1177"/>
                  </a:lnTo>
                  <a:lnTo>
                    <a:pt x="0" y="922"/>
                  </a:lnTo>
                  <a:close/>
                </a:path>
              </a:pathLst>
            </a:custGeom>
            <a:solidFill>
              <a:srgbClr val="000099"/>
            </a:solidFill>
            <a:ln w="9525">
              <a:noFill/>
              <a:round/>
              <a:headEnd/>
              <a:tailEnd/>
            </a:ln>
          </p:spPr>
          <p:txBody>
            <a:bodyPr/>
            <a:lstStyle/>
            <a:p>
              <a:endParaRPr lang="en-US"/>
            </a:p>
          </p:txBody>
        </p:sp>
        <p:sp>
          <p:nvSpPr>
            <p:cNvPr id="51272" name="Freeform 72"/>
            <p:cNvSpPr>
              <a:spLocks/>
            </p:cNvSpPr>
            <p:nvPr/>
          </p:nvSpPr>
          <p:spPr bwMode="auto">
            <a:xfrm>
              <a:off x="2094" y="3113"/>
              <a:ext cx="332" cy="1013"/>
            </a:xfrm>
            <a:custGeom>
              <a:avLst/>
              <a:gdLst>
                <a:gd name="T0" fmla="*/ 1 w 664"/>
                <a:gd name="T1" fmla="*/ 0 h 2026"/>
                <a:gd name="T2" fmla="*/ 1 w 664"/>
                <a:gd name="T3" fmla="*/ 1 h 2026"/>
                <a:gd name="T4" fmla="*/ 1 w 664"/>
                <a:gd name="T5" fmla="*/ 1 h 2026"/>
                <a:gd name="T6" fmla="*/ 1 w 664"/>
                <a:gd name="T7" fmla="*/ 1 h 2026"/>
                <a:gd name="T8" fmla="*/ 1 w 664"/>
                <a:gd name="T9" fmla="*/ 1 h 2026"/>
                <a:gd name="T10" fmla="*/ 1 w 664"/>
                <a:gd name="T11" fmla="*/ 1 h 2026"/>
                <a:gd name="T12" fmla="*/ 0 w 664"/>
                <a:gd name="T13" fmla="*/ 1 h 2026"/>
                <a:gd name="T14" fmla="*/ 1 w 664"/>
                <a:gd name="T15" fmla="*/ 1 h 2026"/>
                <a:gd name="T16" fmla="*/ 1 w 664"/>
                <a:gd name="T17" fmla="*/ 1 h 2026"/>
                <a:gd name="T18" fmla="*/ 1 w 664"/>
                <a:gd name="T19" fmla="*/ 1 h 2026"/>
                <a:gd name="T20" fmla="*/ 1 w 664"/>
                <a:gd name="T21" fmla="*/ 1 h 2026"/>
                <a:gd name="T22" fmla="*/ 1 w 664"/>
                <a:gd name="T23" fmla="*/ 1 h 2026"/>
                <a:gd name="T24" fmla="*/ 1 w 664"/>
                <a:gd name="T25" fmla="*/ 1 h 2026"/>
                <a:gd name="T26" fmla="*/ 1 w 664"/>
                <a:gd name="T27" fmla="*/ 1 h 2026"/>
                <a:gd name="T28" fmla="*/ 1 w 664"/>
                <a:gd name="T29" fmla="*/ 1 h 2026"/>
                <a:gd name="T30" fmla="*/ 1 w 664"/>
                <a:gd name="T31" fmla="*/ 0 h 2026"/>
                <a:gd name="T32" fmla="*/ 1 w 664"/>
                <a:gd name="T33" fmla="*/ 0 h 202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664"/>
                <a:gd name="T52" fmla="*/ 0 h 2026"/>
                <a:gd name="T53" fmla="*/ 664 w 664"/>
                <a:gd name="T54" fmla="*/ 2026 h 202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664" h="2026">
                  <a:moveTo>
                    <a:pt x="592" y="0"/>
                  </a:moveTo>
                  <a:lnTo>
                    <a:pt x="630" y="159"/>
                  </a:lnTo>
                  <a:lnTo>
                    <a:pt x="616" y="346"/>
                  </a:lnTo>
                  <a:lnTo>
                    <a:pt x="557" y="536"/>
                  </a:lnTo>
                  <a:lnTo>
                    <a:pt x="382" y="960"/>
                  </a:lnTo>
                  <a:lnTo>
                    <a:pt x="168" y="1511"/>
                  </a:lnTo>
                  <a:lnTo>
                    <a:pt x="0" y="2026"/>
                  </a:lnTo>
                  <a:lnTo>
                    <a:pt x="78" y="2026"/>
                  </a:lnTo>
                  <a:lnTo>
                    <a:pt x="183" y="1597"/>
                  </a:lnTo>
                  <a:lnTo>
                    <a:pt x="327" y="1176"/>
                  </a:lnTo>
                  <a:lnTo>
                    <a:pt x="485" y="810"/>
                  </a:lnTo>
                  <a:lnTo>
                    <a:pt x="609" y="481"/>
                  </a:lnTo>
                  <a:lnTo>
                    <a:pt x="660" y="268"/>
                  </a:lnTo>
                  <a:lnTo>
                    <a:pt x="664" y="125"/>
                  </a:lnTo>
                  <a:lnTo>
                    <a:pt x="630" y="34"/>
                  </a:lnTo>
                  <a:lnTo>
                    <a:pt x="592" y="0"/>
                  </a:lnTo>
                  <a:close/>
                </a:path>
              </a:pathLst>
            </a:custGeom>
            <a:solidFill>
              <a:srgbClr val="000000"/>
            </a:solidFill>
            <a:ln w="9525">
              <a:noFill/>
              <a:round/>
              <a:headEnd/>
              <a:tailEnd/>
            </a:ln>
          </p:spPr>
          <p:txBody>
            <a:bodyPr/>
            <a:lstStyle/>
            <a:p>
              <a:endParaRPr lang="en-US"/>
            </a:p>
          </p:txBody>
        </p:sp>
        <p:sp>
          <p:nvSpPr>
            <p:cNvPr id="51273" name="Freeform 73"/>
            <p:cNvSpPr>
              <a:spLocks/>
            </p:cNvSpPr>
            <p:nvPr/>
          </p:nvSpPr>
          <p:spPr bwMode="auto">
            <a:xfrm>
              <a:off x="1844" y="3535"/>
              <a:ext cx="187" cy="580"/>
            </a:xfrm>
            <a:custGeom>
              <a:avLst/>
              <a:gdLst>
                <a:gd name="T0" fmla="*/ 0 w 375"/>
                <a:gd name="T1" fmla="*/ 1 h 1159"/>
                <a:gd name="T2" fmla="*/ 0 w 375"/>
                <a:gd name="T3" fmla="*/ 1 h 1159"/>
                <a:gd name="T4" fmla="*/ 0 w 375"/>
                <a:gd name="T5" fmla="*/ 1 h 1159"/>
                <a:gd name="T6" fmla="*/ 0 w 375"/>
                <a:gd name="T7" fmla="*/ 1 h 1159"/>
                <a:gd name="T8" fmla="*/ 0 w 375"/>
                <a:gd name="T9" fmla="*/ 1 h 1159"/>
                <a:gd name="T10" fmla="*/ 0 w 375"/>
                <a:gd name="T11" fmla="*/ 0 h 1159"/>
                <a:gd name="T12" fmla="*/ 0 w 375"/>
                <a:gd name="T13" fmla="*/ 1 h 1159"/>
                <a:gd name="T14" fmla="*/ 0 w 375"/>
                <a:gd name="T15" fmla="*/ 1 h 1159"/>
                <a:gd name="T16" fmla="*/ 0 w 375"/>
                <a:gd name="T17" fmla="*/ 1 h 1159"/>
                <a:gd name="T18" fmla="*/ 0 w 375"/>
                <a:gd name="T19" fmla="*/ 1 h 1159"/>
                <a:gd name="T20" fmla="*/ 0 w 375"/>
                <a:gd name="T21" fmla="*/ 1 h 1159"/>
                <a:gd name="T22" fmla="*/ 0 w 375"/>
                <a:gd name="T23" fmla="*/ 1 h 1159"/>
                <a:gd name="T24" fmla="*/ 0 w 375"/>
                <a:gd name="T25" fmla="*/ 1 h 1159"/>
                <a:gd name="T26" fmla="*/ 0 w 375"/>
                <a:gd name="T27" fmla="*/ 1 h 1159"/>
                <a:gd name="T28" fmla="*/ 0 w 375"/>
                <a:gd name="T29" fmla="*/ 1 h 1159"/>
                <a:gd name="T30" fmla="*/ 0 w 375"/>
                <a:gd name="T31" fmla="*/ 1 h 1159"/>
                <a:gd name="T32" fmla="*/ 0 w 375"/>
                <a:gd name="T33" fmla="*/ 1 h 1159"/>
                <a:gd name="T34" fmla="*/ 0 w 375"/>
                <a:gd name="T35" fmla="*/ 1 h 1159"/>
                <a:gd name="T36" fmla="*/ 0 w 375"/>
                <a:gd name="T37" fmla="*/ 1 h 1159"/>
                <a:gd name="T38" fmla="*/ 0 w 375"/>
                <a:gd name="T39" fmla="*/ 1 h 1159"/>
                <a:gd name="T40" fmla="*/ 0 w 375"/>
                <a:gd name="T41" fmla="*/ 1 h 1159"/>
                <a:gd name="T42" fmla="*/ 0 w 375"/>
                <a:gd name="T43" fmla="*/ 1 h 1159"/>
                <a:gd name="T44" fmla="*/ 0 w 375"/>
                <a:gd name="T45" fmla="*/ 1 h 115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375"/>
                <a:gd name="T70" fmla="*/ 0 h 1159"/>
                <a:gd name="T71" fmla="*/ 375 w 375"/>
                <a:gd name="T72" fmla="*/ 1159 h 115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375" h="1159">
                  <a:moveTo>
                    <a:pt x="69" y="350"/>
                  </a:moveTo>
                  <a:lnTo>
                    <a:pt x="76" y="277"/>
                  </a:lnTo>
                  <a:lnTo>
                    <a:pt x="90" y="190"/>
                  </a:lnTo>
                  <a:lnTo>
                    <a:pt x="139" y="85"/>
                  </a:lnTo>
                  <a:lnTo>
                    <a:pt x="217" y="17"/>
                  </a:lnTo>
                  <a:lnTo>
                    <a:pt x="318" y="0"/>
                  </a:lnTo>
                  <a:lnTo>
                    <a:pt x="375" y="34"/>
                  </a:lnTo>
                  <a:lnTo>
                    <a:pt x="276" y="30"/>
                  </a:lnTo>
                  <a:lnTo>
                    <a:pt x="196" y="64"/>
                  </a:lnTo>
                  <a:lnTo>
                    <a:pt x="152" y="135"/>
                  </a:lnTo>
                  <a:lnTo>
                    <a:pt x="200" y="264"/>
                  </a:lnTo>
                  <a:lnTo>
                    <a:pt x="200" y="338"/>
                  </a:lnTo>
                  <a:lnTo>
                    <a:pt x="272" y="372"/>
                  </a:lnTo>
                  <a:lnTo>
                    <a:pt x="169" y="389"/>
                  </a:lnTo>
                  <a:lnTo>
                    <a:pt x="149" y="545"/>
                  </a:lnTo>
                  <a:lnTo>
                    <a:pt x="69" y="813"/>
                  </a:lnTo>
                  <a:lnTo>
                    <a:pt x="0" y="1159"/>
                  </a:lnTo>
                  <a:lnTo>
                    <a:pt x="42" y="792"/>
                  </a:lnTo>
                  <a:lnTo>
                    <a:pt x="149" y="359"/>
                  </a:lnTo>
                  <a:lnTo>
                    <a:pt x="124" y="294"/>
                  </a:lnTo>
                  <a:lnTo>
                    <a:pt x="42" y="467"/>
                  </a:lnTo>
                  <a:lnTo>
                    <a:pt x="69" y="350"/>
                  </a:lnTo>
                  <a:close/>
                </a:path>
              </a:pathLst>
            </a:custGeom>
            <a:solidFill>
              <a:srgbClr val="000000"/>
            </a:solidFill>
            <a:ln w="9525">
              <a:noFill/>
              <a:round/>
              <a:headEnd/>
              <a:tailEnd/>
            </a:ln>
          </p:spPr>
          <p:txBody>
            <a:bodyPr/>
            <a:lstStyle/>
            <a:p>
              <a:endParaRPr lang="en-US"/>
            </a:p>
          </p:txBody>
        </p:sp>
        <p:sp>
          <p:nvSpPr>
            <p:cNvPr id="51274" name="Freeform 74"/>
            <p:cNvSpPr>
              <a:spLocks/>
            </p:cNvSpPr>
            <p:nvPr/>
          </p:nvSpPr>
          <p:spPr bwMode="auto">
            <a:xfrm>
              <a:off x="2048" y="3556"/>
              <a:ext cx="170" cy="215"/>
            </a:xfrm>
            <a:custGeom>
              <a:avLst/>
              <a:gdLst>
                <a:gd name="T0" fmla="*/ 1 w 340"/>
                <a:gd name="T1" fmla="*/ 1 h 429"/>
                <a:gd name="T2" fmla="*/ 1 w 340"/>
                <a:gd name="T3" fmla="*/ 1 h 429"/>
                <a:gd name="T4" fmla="*/ 1 w 340"/>
                <a:gd name="T5" fmla="*/ 1 h 429"/>
                <a:gd name="T6" fmla="*/ 1 w 340"/>
                <a:gd name="T7" fmla="*/ 1 h 429"/>
                <a:gd name="T8" fmla="*/ 1 w 340"/>
                <a:gd name="T9" fmla="*/ 1 h 429"/>
                <a:gd name="T10" fmla="*/ 1 w 340"/>
                <a:gd name="T11" fmla="*/ 1 h 429"/>
                <a:gd name="T12" fmla="*/ 1 w 340"/>
                <a:gd name="T13" fmla="*/ 1 h 429"/>
                <a:gd name="T14" fmla="*/ 1 w 340"/>
                <a:gd name="T15" fmla="*/ 1 h 429"/>
                <a:gd name="T16" fmla="*/ 1 w 340"/>
                <a:gd name="T17" fmla="*/ 1 h 429"/>
                <a:gd name="T18" fmla="*/ 0 w 340"/>
                <a:gd name="T19" fmla="*/ 0 h 429"/>
                <a:gd name="T20" fmla="*/ 1 w 340"/>
                <a:gd name="T21" fmla="*/ 1 h 429"/>
                <a:gd name="T22" fmla="*/ 1 w 340"/>
                <a:gd name="T23" fmla="*/ 1 h 42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40"/>
                <a:gd name="T37" fmla="*/ 0 h 429"/>
                <a:gd name="T38" fmla="*/ 340 w 340"/>
                <a:gd name="T39" fmla="*/ 429 h 42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40" h="429">
                  <a:moveTo>
                    <a:pt x="105" y="89"/>
                  </a:moveTo>
                  <a:lnTo>
                    <a:pt x="162" y="178"/>
                  </a:lnTo>
                  <a:lnTo>
                    <a:pt x="243" y="325"/>
                  </a:lnTo>
                  <a:lnTo>
                    <a:pt x="340" y="429"/>
                  </a:lnTo>
                  <a:lnTo>
                    <a:pt x="217" y="325"/>
                  </a:lnTo>
                  <a:lnTo>
                    <a:pt x="110" y="209"/>
                  </a:lnTo>
                  <a:lnTo>
                    <a:pt x="21" y="296"/>
                  </a:lnTo>
                  <a:lnTo>
                    <a:pt x="86" y="165"/>
                  </a:lnTo>
                  <a:lnTo>
                    <a:pt x="63" y="83"/>
                  </a:lnTo>
                  <a:lnTo>
                    <a:pt x="0" y="0"/>
                  </a:lnTo>
                  <a:lnTo>
                    <a:pt x="105" y="89"/>
                  </a:lnTo>
                  <a:close/>
                </a:path>
              </a:pathLst>
            </a:custGeom>
            <a:solidFill>
              <a:srgbClr val="000000"/>
            </a:solidFill>
            <a:ln w="9525">
              <a:noFill/>
              <a:round/>
              <a:headEnd/>
              <a:tailEnd/>
            </a:ln>
          </p:spPr>
          <p:txBody>
            <a:bodyPr/>
            <a:lstStyle/>
            <a:p>
              <a:endParaRPr lang="en-US"/>
            </a:p>
          </p:txBody>
        </p:sp>
        <p:sp>
          <p:nvSpPr>
            <p:cNvPr id="51275" name="Freeform 75"/>
            <p:cNvSpPr>
              <a:spLocks/>
            </p:cNvSpPr>
            <p:nvPr/>
          </p:nvSpPr>
          <p:spPr bwMode="auto">
            <a:xfrm>
              <a:off x="2052" y="3736"/>
              <a:ext cx="42" cy="387"/>
            </a:xfrm>
            <a:custGeom>
              <a:avLst/>
              <a:gdLst>
                <a:gd name="T0" fmla="*/ 0 w 83"/>
                <a:gd name="T1" fmla="*/ 0 h 773"/>
                <a:gd name="T2" fmla="*/ 1 w 83"/>
                <a:gd name="T3" fmla="*/ 1 h 773"/>
                <a:gd name="T4" fmla="*/ 1 w 83"/>
                <a:gd name="T5" fmla="*/ 1 h 773"/>
                <a:gd name="T6" fmla="*/ 1 w 83"/>
                <a:gd name="T7" fmla="*/ 1 h 773"/>
                <a:gd name="T8" fmla="*/ 1 w 83"/>
                <a:gd name="T9" fmla="*/ 1 h 773"/>
                <a:gd name="T10" fmla="*/ 1 w 83"/>
                <a:gd name="T11" fmla="*/ 1 h 773"/>
                <a:gd name="T12" fmla="*/ 1 w 83"/>
                <a:gd name="T13" fmla="*/ 1 h 773"/>
                <a:gd name="T14" fmla="*/ 1 w 83"/>
                <a:gd name="T15" fmla="*/ 1 h 773"/>
                <a:gd name="T16" fmla="*/ 1 w 83"/>
                <a:gd name="T17" fmla="*/ 1 h 773"/>
                <a:gd name="T18" fmla="*/ 1 w 83"/>
                <a:gd name="T19" fmla="*/ 1 h 773"/>
                <a:gd name="T20" fmla="*/ 1 w 83"/>
                <a:gd name="T21" fmla="*/ 1 h 773"/>
                <a:gd name="T22" fmla="*/ 0 w 83"/>
                <a:gd name="T23" fmla="*/ 0 h 773"/>
                <a:gd name="T24" fmla="*/ 0 w 83"/>
                <a:gd name="T25" fmla="*/ 0 h 7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3"/>
                <a:gd name="T40" fmla="*/ 0 h 773"/>
                <a:gd name="T41" fmla="*/ 83 w 83"/>
                <a:gd name="T42" fmla="*/ 773 h 77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3" h="773">
                  <a:moveTo>
                    <a:pt x="0" y="0"/>
                  </a:moveTo>
                  <a:lnTo>
                    <a:pt x="55" y="194"/>
                  </a:lnTo>
                  <a:lnTo>
                    <a:pt x="68" y="275"/>
                  </a:lnTo>
                  <a:lnTo>
                    <a:pt x="72" y="376"/>
                  </a:lnTo>
                  <a:lnTo>
                    <a:pt x="72" y="610"/>
                  </a:lnTo>
                  <a:lnTo>
                    <a:pt x="83" y="773"/>
                  </a:lnTo>
                  <a:lnTo>
                    <a:pt x="28" y="770"/>
                  </a:lnTo>
                  <a:lnTo>
                    <a:pt x="34" y="587"/>
                  </a:lnTo>
                  <a:lnTo>
                    <a:pt x="51" y="336"/>
                  </a:lnTo>
                  <a:lnTo>
                    <a:pt x="41" y="207"/>
                  </a:lnTo>
                  <a:lnTo>
                    <a:pt x="17" y="85"/>
                  </a:lnTo>
                  <a:lnTo>
                    <a:pt x="0" y="0"/>
                  </a:lnTo>
                  <a:close/>
                </a:path>
              </a:pathLst>
            </a:custGeom>
            <a:solidFill>
              <a:srgbClr val="000000"/>
            </a:solidFill>
            <a:ln w="9525">
              <a:noFill/>
              <a:round/>
              <a:headEnd/>
              <a:tailEnd/>
            </a:ln>
          </p:spPr>
          <p:txBody>
            <a:bodyPr/>
            <a:lstStyle/>
            <a:p>
              <a:endParaRPr lang="en-US"/>
            </a:p>
          </p:txBody>
        </p:sp>
        <p:sp>
          <p:nvSpPr>
            <p:cNvPr id="51276" name="Freeform 76"/>
            <p:cNvSpPr>
              <a:spLocks/>
            </p:cNvSpPr>
            <p:nvPr/>
          </p:nvSpPr>
          <p:spPr bwMode="auto">
            <a:xfrm>
              <a:off x="1829" y="3225"/>
              <a:ext cx="46" cy="881"/>
            </a:xfrm>
            <a:custGeom>
              <a:avLst/>
              <a:gdLst>
                <a:gd name="T0" fmla="*/ 0 w 93"/>
                <a:gd name="T1" fmla="*/ 1 h 1762"/>
                <a:gd name="T2" fmla="*/ 0 w 93"/>
                <a:gd name="T3" fmla="*/ 1 h 1762"/>
                <a:gd name="T4" fmla="*/ 0 w 93"/>
                <a:gd name="T5" fmla="*/ 1 h 1762"/>
                <a:gd name="T6" fmla="*/ 0 w 93"/>
                <a:gd name="T7" fmla="*/ 1 h 1762"/>
                <a:gd name="T8" fmla="*/ 0 w 93"/>
                <a:gd name="T9" fmla="*/ 1 h 1762"/>
                <a:gd name="T10" fmla="*/ 0 w 93"/>
                <a:gd name="T11" fmla="*/ 1 h 1762"/>
                <a:gd name="T12" fmla="*/ 0 w 93"/>
                <a:gd name="T13" fmla="*/ 1 h 1762"/>
                <a:gd name="T14" fmla="*/ 0 w 93"/>
                <a:gd name="T15" fmla="*/ 1 h 1762"/>
                <a:gd name="T16" fmla="*/ 0 w 93"/>
                <a:gd name="T17" fmla="*/ 1 h 1762"/>
                <a:gd name="T18" fmla="*/ 0 w 93"/>
                <a:gd name="T19" fmla="*/ 1 h 1762"/>
                <a:gd name="T20" fmla="*/ 0 w 93"/>
                <a:gd name="T21" fmla="*/ 1 h 1762"/>
                <a:gd name="T22" fmla="*/ 0 w 93"/>
                <a:gd name="T23" fmla="*/ 0 h 1762"/>
                <a:gd name="T24" fmla="*/ 0 w 93"/>
                <a:gd name="T25" fmla="*/ 1 h 1762"/>
                <a:gd name="T26" fmla="*/ 0 w 93"/>
                <a:gd name="T27" fmla="*/ 1 h 176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93"/>
                <a:gd name="T43" fmla="*/ 0 h 1762"/>
                <a:gd name="T44" fmla="*/ 93 w 93"/>
                <a:gd name="T45" fmla="*/ 1762 h 176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93" h="1762">
                  <a:moveTo>
                    <a:pt x="59" y="40"/>
                  </a:moveTo>
                  <a:lnTo>
                    <a:pt x="72" y="251"/>
                  </a:lnTo>
                  <a:lnTo>
                    <a:pt x="93" y="559"/>
                  </a:lnTo>
                  <a:lnTo>
                    <a:pt x="72" y="770"/>
                  </a:lnTo>
                  <a:lnTo>
                    <a:pt x="38" y="1135"/>
                  </a:lnTo>
                  <a:lnTo>
                    <a:pt x="21" y="1464"/>
                  </a:lnTo>
                  <a:lnTo>
                    <a:pt x="21" y="1762"/>
                  </a:lnTo>
                  <a:lnTo>
                    <a:pt x="0" y="1420"/>
                  </a:lnTo>
                  <a:lnTo>
                    <a:pt x="0" y="1047"/>
                  </a:lnTo>
                  <a:lnTo>
                    <a:pt x="47" y="599"/>
                  </a:lnTo>
                  <a:lnTo>
                    <a:pt x="34" y="196"/>
                  </a:lnTo>
                  <a:lnTo>
                    <a:pt x="47" y="0"/>
                  </a:lnTo>
                  <a:lnTo>
                    <a:pt x="59" y="40"/>
                  </a:lnTo>
                  <a:close/>
                </a:path>
              </a:pathLst>
            </a:custGeom>
            <a:solidFill>
              <a:srgbClr val="000000"/>
            </a:solidFill>
            <a:ln w="9525">
              <a:noFill/>
              <a:round/>
              <a:headEnd/>
              <a:tailEnd/>
            </a:ln>
          </p:spPr>
          <p:txBody>
            <a:bodyPr/>
            <a:lstStyle/>
            <a:p>
              <a:endParaRPr lang="en-US"/>
            </a:p>
          </p:txBody>
        </p:sp>
        <p:sp>
          <p:nvSpPr>
            <p:cNvPr id="51277" name="Freeform 77"/>
            <p:cNvSpPr>
              <a:spLocks/>
            </p:cNvSpPr>
            <p:nvPr/>
          </p:nvSpPr>
          <p:spPr bwMode="auto">
            <a:xfrm>
              <a:off x="1547" y="3236"/>
              <a:ext cx="311" cy="891"/>
            </a:xfrm>
            <a:custGeom>
              <a:avLst/>
              <a:gdLst>
                <a:gd name="T0" fmla="*/ 0 w 624"/>
                <a:gd name="T1" fmla="*/ 1 h 1781"/>
                <a:gd name="T2" fmla="*/ 0 w 624"/>
                <a:gd name="T3" fmla="*/ 1 h 1781"/>
                <a:gd name="T4" fmla="*/ 0 w 624"/>
                <a:gd name="T5" fmla="*/ 1 h 1781"/>
                <a:gd name="T6" fmla="*/ 0 w 624"/>
                <a:gd name="T7" fmla="*/ 1 h 1781"/>
                <a:gd name="T8" fmla="*/ 0 w 624"/>
                <a:gd name="T9" fmla="*/ 1 h 1781"/>
                <a:gd name="T10" fmla="*/ 0 w 624"/>
                <a:gd name="T11" fmla="*/ 1 h 1781"/>
                <a:gd name="T12" fmla="*/ 0 w 624"/>
                <a:gd name="T13" fmla="*/ 1 h 1781"/>
                <a:gd name="T14" fmla="*/ 0 w 624"/>
                <a:gd name="T15" fmla="*/ 1 h 1781"/>
                <a:gd name="T16" fmla="*/ 0 w 624"/>
                <a:gd name="T17" fmla="*/ 1 h 1781"/>
                <a:gd name="T18" fmla="*/ 0 w 624"/>
                <a:gd name="T19" fmla="*/ 1 h 1781"/>
                <a:gd name="T20" fmla="*/ 0 w 624"/>
                <a:gd name="T21" fmla="*/ 1 h 1781"/>
                <a:gd name="T22" fmla="*/ 0 w 624"/>
                <a:gd name="T23" fmla="*/ 1 h 1781"/>
                <a:gd name="T24" fmla="*/ 0 w 624"/>
                <a:gd name="T25" fmla="*/ 1 h 1781"/>
                <a:gd name="T26" fmla="*/ 0 w 624"/>
                <a:gd name="T27" fmla="*/ 1 h 1781"/>
                <a:gd name="T28" fmla="*/ 0 w 624"/>
                <a:gd name="T29" fmla="*/ 1 h 1781"/>
                <a:gd name="T30" fmla="*/ 0 w 624"/>
                <a:gd name="T31" fmla="*/ 1 h 1781"/>
                <a:gd name="T32" fmla="*/ 0 w 624"/>
                <a:gd name="T33" fmla="*/ 1 h 1781"/>
                <a:gd name="T34" fmla="*/ 0 w 624"/>
                <a:gd name="T35" fmla="*/ 1 h 1781"/>
                <a:gd name="T36" fmla="*/ 0 w 624"/>
                <a:gd name="T37" fmla="*/ 0 h 1781"/>
                <a:gd name="T38" fmla="*/ 0 w 624"/>
                <a:gd name="T39" fmla="*/ 1 h 1781"/>
                <a:gd name="T40" fmla="*/ 0 w 624"/>
                <a:gd name="T41" fmla="*/ 1 h 17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24"/>
                <a:gd name="T64" fmla="*/ 0 h 1781"/>
                <a:gd name="T65" fmla="*/ 624 w 624"/>
                <a:gd name="T66" fmla="*/ 1781 h 17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24" h="1781">
                  <a:moveTo>
                    <a:pt x="572" y="21"/>
                  </a:moveTo>
                  <a:lnTo>
                    <a:pt x="489" y="108"/>
                  </a:lnTo>
                  <a:lnTo>
                    <a:pt x="293" y="525"/>
                  </a:lnTo>
                  <a:lnTo>
                    <a:pt x="139" y="802"/>
                  </a:lnTo>
                  <a:lnTo>
                    <a:pt x="217" y="990"/>
                  </a:lnTo>
                  <a:lnTo>
                    <a:pt x="6" y="1272"/>
                  </a:lnTo>
                  <a:lnTo>
                    <a:pt x="0" y="1329"/>
                  </a:lnTo>
                  <a:lnTo>
                    <a:pt x="48" y="1781"/>
                  </a:lnTo>
                  <a:lnTo>
                    <a:pt x="84" y="1777"/>
                  </a:lnTo>
                  <a:lnTo>
                    <a:pt x="42" y="1357"/>
                  </a:lnTo>
                  <a:lnTo>
                    <a:pt x="46" y="1294"/>
                  </a:lnTo>
                  <a:lnTo>
                    <a:pt x="71" y="1247"/>
                  </a:lnTo>
                  <a:lnTo>
                    <a:pt x="255" y="994"/>
                  </a:lnTo>
                  <a:lnTo>
                    <a:pt x="247" y="948"/>
                  </a:lnTo>
                  <a:lnTo>
                    <a:pt x="175" y="810"/>
                  </a:lnTo>
                  <a:lnTo>
                    <a:pt x="181" y="781"/>
                  </a:lnTo>
                  <a:lnTo>
                    <a:pt x="369" y="439"/>
                  </a:lnTo>
                  <a:lnTo>
                    <a:pt x="510" y="139"/>
                  </a:lnTo>
                  <a:lnTo>
                    <a:pt x="624" y="0"/>
                  </a:lnTo>
                  <a:lnTo>
                    <a:pt x="572" y="21"/>
                  </a:lnTo>
                  <a:close/>
                </a:path>
              </a:pathLst>
            </a:custGeom>
            <a:solidFill>
              <a:srgbClr val="000000"/>
            </a:solidFill>
            <a:ln w="9525">
              <a:noFill/>
              <a:round/>
              <a:headEnd/>
              <a:tailEnd/>
            </a:ln>
          </p:spPr>
          <p:txBody>
            <a:bodyPr/>
            <a:lstStyle/>
            <a:p>
              <a:endParaRPr lang="en-US"/>
            </a:p>
          </p:txBody>
        </p:sp>
        <p:sp>
          <p:nvSpPr>
            <p:cNvPr id="51278" name="Freeform 78"/>
            <p:cNvSpPr>
              <a:spLocks/>
            </p:cNvSpPr>
            <p:nvPr/>
          </p:nvSpPr>
          <p:spPr bwMode="auto">
            <a:xfrm>
              <a:off x="1223" y="3216"/>
              <a:ext cx="650" cy="513"/>
            </a:xfrm>
            <a:custGeom>
              <a:avLst/>
              <a:gdLst>
                <a:gd name="T0" fmla="*/ 1 w 1298"/>
                <a:gd name="T1" fmla="*/ 0 h 1025"/>
                <a:gd name="T2" fmla="*/ 1 w 1298"/>
                <a:gd name="T3" fmla="*/ 1 h 1025"/>
                <a:gd name="T4" fmla="*/ 1 w 1298"/>
                <a:gd name="T5" fmla="*/ 1 h 1025"/>
                <a:gd name="T6" fmla="*/ 1 w 1298"/>
                <a:gd name="T7" fmla="*/ 1 h 1025"/>
                <a:gd name="T8" fmla="*/ 1 w 1298"/>
                <a:gd name="T9" fmla="*/ 1 h 1025"/>
                <a:gd name="T10" fmla="*/ 1 w 1298"/>
                <a:gd name="T11" fmla="*/ 1 h 1025"/>
                <a:gd name="T12" fmla="*/ 1 w 1298"/>
                <a:gd name="T13" fmla="*/ 1 h 1025"/>
                <a:gd name="T14" fmla="*/ 1 w 1298"/>
                <a:gd name="T15" fmla="*/ 1 h 1025"/>
                <a:gd name="T16" fmla="*/ 1 w 1298"/>
                <a:gd name="T17" fmla="*/ 1 h 1025"/>
                <a:gd name="T18" fmla="*/ 0 w 1298"/>
                <a:gd name="T19" fmla="*/ 1 h 1025"/>
                <a:gd name="T20" fmla="*/ 1 w 1298"/>
                <a:gd name="T21" fmla="*/ 1 h 1025"/>
                <a:gd name="T22" fmla="*/ 1 w 1298"/>
                <a:gd name="T23" fmla="*/ 1 h 1025"/>
                <a:gd name="T24" fmla="*/ 1 w 1298"/>
                <a:gd name="T25" fmla="*/ 1 h 1025"/>
                <a:gd name="T26" fmla="*/ 1 w 1298"/>
                <a:gd name="T27" fmla="*/ 1 h 1025"/>
                <a:gd name="T28" fmla="*/ 1 w 1298"/>
                <a:gd name="T29" fmla="*/ 1 h 1025"/>
                <a:gd name="T30" fmla="*/ 1 w 1298"/>
                <a:gd name="T31" fmla="*/ 1 h 1025"/>
                <a:gd name="T32" fmla="*/ 1 w 1298"/>
                <a:gd name="T33" fmla="*/ 1 h 1025"/>
                <a:gd name="T34" fmla="*/ 1 w 1298"/>
                <a:gd name="T35" fmla="*/ 1 h 1025"/>
                <a:gd name="T36" fmla="*/ 1 w 1298"/>
                <a:gd name="T37" fmla="*/ 1 h 1025"/>
                <a:gd name="T38" fmla="*/ 1 w 1298"/>
                <a:gd name="T39" fmla="*/ 1 h 1025"/>
                <a:gd name="T40" fmla="*/ 1 w 1298"/>
                <a:gd name="T41" fmla="*/ 1 h 1025"/>
                <a:gd name="T42" fmla="*/ 1 w 1298"/>
                <a:gd name="T43" fmla="*/ 1 h 1025"/>
                <a:gd name="T44" fmla="*/ 1 w 1298"/>
                <a:gd name="T45" fmla="*/ 1 h 1025"/>
                <a:gd name="T46" fmla="*/ 1 w 1298"/>
                <a:gd name="T47" fmla="*/ 1 h 1025"/>
                <a:gd name="T48" fmla="*/ 1 w 1298"/>
                <a:gd name="T49" fmla="*/ 1 h 1025"/>
                <a:gd name="T50" fmla="*/ 1 w 1298"/>
                <a:gd name="T51" fmla="*/ 1 h 1025"/>
                <a:gd name="T52" fmla="*/ 1 w 1298"/>
                <a:gd name="T53" fmla="*/ 1 h 1025"/>
                <a:gd name="T54" fmla="*/ 1 w 1298"/>
                <a:gd name="T55" fmla="*/ 1 h 1025"/>
                <a:gd name="T56" fmla="*/ 1 w 1298"/>
                <a:gd name="T57" fmla="*/ 1 h 1025"/>
                <a:gd name="T58" fmla="*/ 1 w 1298"/>
                <a:gd name="T59" fmla="*/ 0 h 1025"/>
                <a:gd name="T60" fmla="*/ 1 w 1298"/>
                <a:gd name="T61" fmla="*/ 0 h 1025"/>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298"/>
                <a:gd name="T94" fmla="*/ 0 h 1025"/>
                <a:gd name="T95" fmla="*/ 1298 w 1298"/>
                <a:gd name="T96" fmla="*/ 1025 h 1025"/>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298" h="1025">
                  <a:moveTo>
                    <a:pt x="1211" y="0"/>
                  </a:moveTo>
                  <a:lnTo>
                    <a:pt x="1023" y="53"/>
                  </a:lnTo>
                  <a:lnTo>
                    <a:pt x="713" y="110"/>
                  </a:lnTo>
                  <a:lnTo>
                    <a:pt x="475" y="175"/>
                  </a:lnTo>
                  <a:lnTo>
                    <a:pt x="380" y="217"/>
                  </a:lnTo>
                  <a:lnTo>
                    <a:pt x="272" y="236"/>
                  </a:lnTo>
                  <a:lnTo>
                    <a:pt x="203" y="298"/>
                  </a:lnTo>
                  <a:lnTo>
                    <a:pt x="59" y="597"/>
                  </a:lnTo>
                  <a:lnTo>
                    <a:pt x="28" y="747"/>
                  </a:lnTo>
                  <a:lnTo>
                    <a:pt x="0" y="804"/>
                  </a:lnTo>
                  <a:lnTo>
                    <a:pt x="78" y="922"/>
                  </a:lnTo>
                  <a:lnTo>
                    <a:pt x="95" y="793"/>
                  </a:lnTo>
                  <a:lnTo>
                    <a:pt x="99" y="620"/>
                  </a:lnTo>
                  <a:lnTo>
                    <a:pt x="129" y="490"/>
                  </a:lnTo>
                  <a:lnTo>
                    <a:pt x="234" y="306"/>
                  </a:lnTo>
                  <a:lnTo>
                    <a:pt x="304" y="266"/>
                  </a:lnTo>
                  <a:lnTo>
                    <a:pt x="209" y="540"/>
                  </a:lnTo>
                  <a:lnTo>
                    <a:pt x="178" y="736"/>
                  </a:lnTo>
                  <a:lnTo>
                    <a:pt x="178" y="1025"/>
                  </a:lnTo>
                  <a:lnTo>
                    <a:pt x="213" y="715"/>
                  </a:lnTo>
                  <a:lnTo>
                    <a:pt x="270" y="506"/>
                  </a:lnTo>
                  <a:lnTo>
                    <a:pt x="346" y="342"/>
                  </a:lnTo>
                  <a:lnTo>
                    <a:pt x="395" y="266"/>
                  </a:lnTo>
                  <a:lnTo>
                    <a:pt x="433" y="228"/>
                  </a:lnTo>
                  <a:lnTo>
                    <a:pt x="713" y="160"/>
                  </a:lnTo>
                  <a:lnTo>
                    <a:pt x="952" y="118"/>
                  </a:lnTo>
                  <a:lnTo>
                    <a:pt x="1068" y="85"/>
                  </a:lnTo>
                  <a:lnTo>
                    <a:pt x="1165" y="49"/>
                  </a:lnTo>
                  <a:lnTo>
                    <a:pt x="1298" y="32"/>
                  </a:lnTo>
                  <a:lnTo>
                    <a:pt x="1211" y="0"/>
                  </a:lnTo>
                  <a:close/>
                </a:path>
              </a:pathLst>
            </a:custGeom>
            <a:solidFill>
              <a:srgbClr val="000000"/>
            </a:solidFill>
            <a:ln w="9525">
              <a:noFill/>
              <a:round/>
              <a:headEnd/>
              <a:tailEnd/>
            </a:ln>
          </p:spPr>
          <p:txBody>
            <a:bodyPr/>
            <a:lstStyle/>
            <a:p>
              <a:endParaRPr lang="en-US"/>
            </a:p>
          </p:txBody>
        </p:sp>
        <p:sp>
          <p:nvSpPr>
            <p:cNvPr id="51279" name="Freeform 79"/>
            <p:cNvSpPr>
              <a:spLocks/>
            </p:cNvSpPr>
            <p:nvPr/>
          </p:nvSpPr>
          <p:spPr bwMode="auto">
            <a:xfrm>
              <a:off x="1072" y="3261"/>
              <a:ext cx="335" cy="635"/>
            </a:xfrm>
            <a:custGeom>
              <a:avLst/>
              <a:gdLst>
                <a:gd name="T0" fmla="*/ 1 w 670"/>
                <a:gd name="T1" fmla="*/ 1 h 1270"/>
                <a:gd name="T2" fmla="*/ 1 w 670"/>
                <a:gd name="T3" fmla="*/ 1 h 1270"/>
                <a:gd name="T4" fmla="*/ 1 w 670"/>
                <a:gd name="T5" fmla="*/ 1 h 1270"/>
                <a:gd name="T6" fmla="*/ 1 w 670"/>
                <a:gd name="T7" fmla="*/ 1 h 1270"/>
                <a:gd name="T8" fmla="*/ 1 w 670"/>
                <a:gd name="T9" fmla="*/ 1 h 1270"/>
                <a:gd name="T10" fmla="*/ 0 w 670"/>
                <a:gd name="T11" fmla="*/ 1 h 1270"/>
                <a:gd name="T12" fmla="*/ 1 w 670"/>
                <a:gd name="T13" fmla="*/ 1 h 1270"/>
                <a:gd name="T14" fmla="*/ 1 w 670"/>
                <a:gd name="T15" fmla="*/ 1 h 1270"/>
                <a:gd name="T16" fmla="*/ 1 w 670"/>
                <a:gd name="T17" fmla="*/ 0 h 1270"/>
                <a:gd name="T18" fmla="*/ 1 w 670"/>
                <a:gd name="T19" fmla="*/ 1 h 1270"/>
                <a:gd name="T20" fmla="*/ 1 w 670"/>
                <a:gd name="T21" fmla="*/ 1 h 1270"/>
                <a:gd name="T22" fmla="*/ 1 w 670"/>
                <a:gd name="T23" fmla="*/ 1 h 1270"/>
                <a:gd name="T24" fmla="*/ 1 w 670"/>
                <a:gd name="T25" fmla="*/ 1 h 1270"/>
                <a:gd name="T26" fmla="*/ 1 w 670"/>
                <a:gd name="T27" fmla="*/ 1 h 1270"/>
                <a:gd name="T28" fmla="*/ 1 w 670"/>
                <a:gd name="T29" fmla="*/ 1 h 1270"/>
                <a:gd name="T30" fmla="*/ 1 w 670"/>
                <a:gd name="T31" fmla="*/ 1 h 1270"/>
                <a:gd name="T32" fmla="*/ 1 w 670"/>
                <a:gd name="T33" fmla="*/ 1 h 1270"/>
                <a:gd name="T34" fmla="*/ 1 w 670"/>
                <a:gd name="T35" fmla="*/ 1 h 1270"/>
                <a:gd name="T36" fmla="*/ 1 w 670"/>
                <a:gd name="T37" fmla="*/ 1 h 1270"/>
                <a:gd name="T38" fmla="*/ 1 w 670"/>
                <a:gd name="T39" fmla="*/ 1 h 1270"/>
                <a:gd name="T40" fmla="*/ 1 w 670"/>
                <a:gd name="T41" fmla="*/ 1 h 127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70"/>
                <a:gd name="T64" fmla="*/ 0 h 1270"/>
                <a:gd name="T65" fmla="*/ 670 w 670"/>
                <a:gd name="T66" fmla="*/ 1270 h 127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70" h="1270">
                  <a:moveTo>
                    <a:pt x="565" y="1247"/>
                  </a:moveTo>
                  <a:lnTo>
                    <a:pt x="561" y="1188"/>
                  </a:lnTo>
                  <a:lnTo>
                    <a:pt x="582" y="1169"/>
                  </a:lnTo>
                  <a:lnTo>
                    <a:pt x="135" y="515"/>
                  </a:lnTo>
                  <a:lnTo>
                    <a:pt x="105" y="515"/>
                  </a:lnTo>
                  <a:lnTo>
                    <a:pt x="0" y="287"/>
                  </a:lnTo>
                  <a:lnTo>
                    <a:pt x="21" y="107"/>
                  </a:lnTo>
                  <a:lnTo>
                    <a:pt x="6" y="57"/>
                  </a:lnTo>
                  <a:lnTo>
                    <a:pt x="23" y="0"/>
                  </a:lnTo>
                  <a:lnTo>
                    <a:pt x="56" y="14"/>
                  </a:lnTo>
                  <a:lnTo>
                    <a:pt x="77" y="57"/>
                  </a:lnTo>
                  <a:lnTo>
                    <a:pt x="21" y="274"/>
                  </a:lnTo>
                  <a:lnTo>
                    <a:pt x="35" y="320"/>
                  </a:lnTo>
                  <a:lnTo>
                    <a:pt x="565" y="1095"/>
                  </a:lnTo>
                  <a:lnTo>
                    <a:pt x="670" y="1084"/>
                  </a:lnTo>
                  <a:lnTo>
                    <a:pt x="645" y="1137"/>
                  </a:lnTo>
                  <a:lnTo>
                    <a:pt x="603" y="1190"/>
                  </a:lnTo>
                  <a:lnTo>
                    <a:pt x="603" y="1234"/>
                  </a:lnTo>
                  <a:lnTo>
                    <a:pt x="575" y="1270"/>
                  </a:lnTo>
                  <a:lnTo>
                    <a:pt x="565" y="1247"/>
                  </a:lnTo>
                  <a:close/>
                </a:path>
              </a:pathLst>
            </a:custGeom>
            <a:solidFill>
              <a:srgbClr val="000000"/>
            </a:solidFill>
            <a:ln w="9525">
              <a:noFill/>
              <a:round/>
              <a:headEnd/>
              <a:tailEnd/>
            </a:ln>
          </p:spPr>
          <p:txBody>
            <a:bodyPr/>
            <a:lstStyle/>
            <a:p>
              <a:endParaRPr lang="en-US"/>
            </a:p>
          </p:txBody>
        </p:sp>
        <p:sp>
          <p:nvSpPr>
            <p:cNvPr id="51280" name="Freeform 80"/>
            <p:cNvSpPr>
              <a:spLocks/>
            </p:cNvSpPr>
            <p:nvPr/>
          </p:nvSpPr>
          <p:spPr bwMode="auto">
            <a:xfrm>
              <a:off x="1123" y="3531"/>
              <a:ext cx="228" cy="395"/>
            </a:xfrm>
            <a:custGeom>
              <a:avLst/>
              <a:gdLst>
                <a:gd name="T0" fmla="*/ 0 w 457"/>
                <a:gd name="T1" fmla="*/ 0 h 789"/>
                <a:gd name="T2" fmla="*/ 0 w 457"/>
                <a:gd name="T3" fmla="*/ 1 h 789"/>
                <a:gd name="T4" fmla="*/ 0 w 457"/>
                <a:gd name="T5" fmla="*/ 1 h 789"/>
                <a:gd name="T6" fmla="*/ 0 w 457"/>
                <a:gd name="T7" fmla="*/ 1 h 789"/>
                <a:gd name="T8" fmla="*/ 0 w 457"/>
                <a:gd name="T9" fmla="*/ 1 h 789"/>
                <a:gd name="T10" fmla="*/ 0 w 457"/>
                <a:gd name="T11" fmla="*/ 1 h 789"/>
                <a:gd name="T12" fmla="*/ 0 w 457"/>
                <a:gd name="T13" fmla="*/ 1 h 789"/>
                <a:gd name="T14" fmla="*/ 0 w 457"/>
                <a:gd name="T15" fmla="*/ 1 h 789"/>
                <a:gd name="T16" fmla="*/ 0 w 457"/>
                <a:gd name="T17" fmla="*/ 1 h 789"/>
                <a:gd name="T18" fmla="*/ 0 w 457"/>
                <a:gd name="T19" fmla="*/ 1 h 789"/>
                <a:gd name="T20" fmla="*/ 0 w 457"/>
                <a:gd name="T21" fmla="*/ 1 h 789"/>
                <a:gd name="T22" fmla="*/ 0 w 457"/>
                <a:gd name="T23" fmla="*/ 1 h 789"/>
                <a:gd name="T24" fmla="*/ 0 w 457"/>
                <a:gd name="T25" fmla="*/ 1 h 789"/>
                <a:gd name="T26" fmla="*/ 0 w 457"/>
                <a:gd name="T27" fmla="*/ 1 h 789"/>
                <a:gd name="T28" fmla="*/ 0 w 457"/>
                <a:gd name="T29" fmla="*/ 1 h 789"/>
                <a:gd name="T30" fmla="*/ 0 w 457"/>
                <a:gd name="T31" fmla="*/ 1 h 789"/>
                <a:gd name="T32" fmla="*/ 0 w 457"/>
                <a:gd name="T33" fmla="*/ 1 h 789"/>
                <a:gd name="T34" fmla="*/ 0 w 457"/>
                <a:gd name="T35" fmla="*/ 1 h 789"/>
                <a:gd name="T36" fmla="*/ 0 w 457"/>
                <a:gd name="T37" fmla="*/ 1 h 789"/>
                <a:gd name="T38" fmla="*/ 0 w 457"/>
                <a:gd name="T39" fmla="*/ 1 h 789"/>
                <a:gd name="T40" fmla="*/ 0 w 457"/>
                <a:gd name="T41" fmla="*/ 1 h 789"/>
                <a:gd name="T42" fmla="*/ 0 w 457"/>
                <a:gd name="T43" fmla="*/ 1 h 789"/>
                <a:gd name="T44" fmla="*/ 0 w 457"/>
                <a:gd name="T45" fmla="*/ 0 h 789"/>
                <a:gd name="T46" fmla="*/ 0 w 457"/>
                <a:gd name="T47" fmla="*/ 0 h 789"/>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457"/>
                <a:gd name="T73" fmla="*/ 0 h 789"/>
                <a:gd name="T74" fmla="*/ 457 w 457"/>
                <a:gd name="T75" fmla="*/ 789 h 789"/>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457" h="789">
                  <a:moveTo>
                    <a:pt x="27" y="0"/>
                  </a:moveTo>
                  <a:lnTo>
                    <a:pt x="457" y="650"/>
                  </a:lnTo>
                  <a:lnTo>
                    <a:pt x="428" y="690"/>
                  </a:lnTo>
                  <a:lnTo>
                    <a:pt x="356" y="747"/>
                  </a:lnTo>
                  <a:lnTo>
                    <a:pt x="301" y="783"/>
                  </a:lnTo>
                  <a:lnTo>
                    <a:pt x="261" y="789"/>
                  </a:lnTo>
                  <a:lnTo>
                    <a:pt x="0" y="755"/>
                  </a:lnTo>
                  <a:lnTo>
                    <a:pt x="126" y="755"/>
                  </a:lnTo>
                  <a:lnTo>
                    <a:pt x="261" y="666"/>
                  </a:lnTo>
                  <a:lnTo>
                    <a:pt x="344" y="612"/>
                  </a:lnTo>
                  <a:lnTo>
                    <a:pt x="322" y="580"/>
                  </a:lnTo>
                  <a:lnTo>
                    <a:pt x="276" y="584"/>
                  </a:lnTo>
                  <a:lnTo>
                    <a:pt x="213" y="608"/>
                  </a:lnTo>
                  <a:lnTo>
                    <a:pt x="192" y="591"/>
                  </a:lnTo>
                  <a:lnTo>
                    <a:pt x="200" y="555"/>
                  </a:lnTo>
                  <a:lnTo>
                    <a:pt x="185" y="531"/>
                  </a:lnTo>
                  <a:lnTo>
                    <a:pt x="126" y="506"/>
                  </a:lnTo>
                  <a:lnTo>
                    <a:pt x="34" y="498"/>
                  </a:lnTo>
                  <a:lnTo>
                    <a:pt x="91" y="487"/>
                  </a:lnTo>
                  <a:lnTo>
                    <a:pt x="109" y="428"/>
                  </a:lnTo>
                  <a:lnTo>
                    <a:pt x="147" y="321"/>
                  </a:lnTo>
                  <a:lnTo>
                    <a:pt x="168" y="249"/>
                  </a:lnTo>
                  <a:lnTo>
                    <a:pt x="27" y="0"/>
                  </a:lnTo>
                  <a:close/>
                </a:path>
              </a:pathLst>
            </a:custGeom>
            <a:solidFill>
              <a:srgbClr val="000000"/>
            </a:solidFill>
            <a:ln w="9525">
              <a:noFill/>
              <a:round/>
              <a:headEnd/>
              <a:tailEnd/>
            </a:ln>
          </p:spPr>
          <p:txBody>
            <a:bodyPr/>
            <a:lstStyle/>
            <a:p>
              <a:endParaRPr lang="en-US"/>
            </a:p>
          </p:txBody>
        </p:sp>
        <p:sp>
          <p:nvSpPr>
            <p:cNvPr id="51281" name="Freeform 81"/>
            <p:cNvSpPr>
              <a:spLocks/>
            </p:cNvSpPr>
            <p:nvPr/>
          </p:nvSpPr>
          <p:spPr bwMode="auto">
            <a:xfrm>
              <a:off x="1288" y="3802"/>
              <a:ext cx="150" cy="164"/>
            </a:xfrm>
            <a:custGeom>
              <a:avLst/>
              <a:gdLst>
                <a:gd name="T0" fmla="*/ 0 w 300"/>
                <a:gd name="T1" fmla="*/ 0 h 329"/>
                <a:gd name="T2" fmla="*/ 1 w 300"/>
                <a:gd name="T3" fmla="*/ 0 h 329"/>
                <a:gd name="T4" fmla="*/ 1 w 300"/>
                <a:gd name="T5" fmla="*/ 0 h 329"/>
                <a:gd name="T6" fmla="*/ 1 w 300"/>
                <a:gd name="T7" fmla="*/ 0 h 329"/>
                <a:gd name="T8" fmla="*/ 1 w 300"/>
                <a:gd name="T9" fmla="*/ 0 h 329"/>
                <a:gd name="T10" fmla="*/ 1 w 300"/>
                <a:gd name="T11" fmla="*/ 0 h 329"/>
                <a:gd name="T12" fmla="*/ 1 w 300"/>
                <a:gd name="T13" fmla="*/ 0 h 329"/>
                <a:gd name="T14" fmla="*/ 1 w 300"/>
                <a:gd name="T15" fmla="*/ 0 h 329"/>
                <a:gd name="T16" fmla="*/ 1 w 300"/>
                <a:gd name="T17" fmla="*/ 0 h 329"/>
                <a:gd name="T18" fmla="*/ 1 w 300"/>
                <a:gd name="T19" fmla="*/ 0 h 329"/>
                <a:gd name="T20" fmla="*/ 1 w 300"/>
                <a:gd name="T21" fmla="*/ 0 h 329"/>
                <a:gd name="T22" fmla="*/ 1 w 300"/>
                <a:gd name="T23" fmla="*/ 0 h 329"/>
                <a:gd name="T24" fmla="*/ 0 w 300"/>
                <a:gd name="T25" fmla="*/ 0 h 329"/>
                <a:gd name="T26" fmla="*/ 0 w 300"/>
                <a:gd name="T27" fmla="*/ 0 h 32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00"/>
                <a:gd name="T43" fmla="*/ 0 h 329"/>
                <a:gd name="T44" fmla="*/ 300 w 300"/>
                <a:gd name="T45" fmla="*/ 329 h 329"/>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00" h="329">
                  <a:moveTo>
                    <a:pt x="0" y="247"/>
                  </a:moveTo>
                  <a:lnTo>
                    <a:pt x="87" y="194"/>
                  </a:lnTo>
                  <a:lnTo>
                    <a:pt x="164" y="141"/>
                  </a:lnTo>
                  <a:lnTo>
                    <a:pt x="230" y="78"/>
                  </a:lnTo>
                  <a:lnTo>
                    <a:pt x="272" y="27"/>
                  </a:lnTo>
                  <a:lnTo>
                    <a:pt x="287" y="0"/>
                  </a:lnTo>
                  <a:lnTo>
                    <a:pt x="300" y="27"/>
                  </a:lnTo>
                  <a:lnTo>
                    <a:pt x="230" y="108"/>
                  </a:lnTo>
                  <a:lnTo>
                    <a:pt x="179" y="163"/>
                  </a:lnTo>
                  <a:lnTo>
                    <a:pt x="78" y="230"/>
                  </a:lnTo>
                  <a:lnTo>
                    <a:pt x="70" y="329"/>
                  </a:lnTo>
                  <a:lnTo>
                    <a:pt x="29" y="266"/>
                  </a:lnTo>
                  <a:lnTo>
                    <a:pt x="0" y="247"/>
                  </a:lnTo>
                  <a:close/>
                </a:path>
              </a:pathLst>
            </a:custGeom>
            <a:solidFill>
              <a:srgbClr val="000000"/>
            </a:solidFill>
            <a:ln w="9525">
              <a:noFill/>
              <a:round/>
              <a:headEnd/>
              <a:tailEnd/>
            </a:ln>
          </p:spPr>
          <p:txBody>
            <a:bodyPr/>
            <a:lstStyle/>
            <a:p>
              <a:endParaRPr lang="en-US"/>
            </a:p>
          </p:txBody>
        </p:sp>
        <p:sp>
          <p:nvSpPr>
            <p:cNvPr id="51282" name="Freeform 82"/>
            <p:cNvSpPr>
              <a:spLocks/>
            </p:cNvSpPr>
            <p:nvPr/>
          </p:nvSpPr>
          <p:spPr bwMode="auto">
            <a:xfrm>
              <a:off x="1201" y="3833"/>
              <a:ext cx="72" cy="55"/>
            </a:xfrm>
            <a:custGeom>
              <a:avLst/>
              <a:gdLst>
                <a:gd name="T0" fmla="*/ 0 w 145"/>
                <a:gd name="T1" fmla="*/ 1 h 110"/>
                <a:gd name="T2" fmla="*/ 0 w 145"/>
                <a:gd name="T3" fmla="*/ 1 h 110"/>
                <a:gd name="T4" fmla="*/ 0 w 145"/>
                <a:gd name="T5" fmla="*/ 0 h 110"/>
                <a:gd name="T6" fmla="*/ 0 w 145"/>
                <a:gd name="T7" fmla="*/ 1 h 110"/>
                <a:gd name="T8" fmla="*/ 0 w 145"/>
                <a:gd name="T9" fmla="*/ 1 h 110"/>
                <a:gd name="T10" fmla="*/ 0 w 145"/>
                <a:gd name="T11" fmla="*/ 1 h 110"/>
                <a:gd name="T12" fmla="*/ 0 w 145"/>
                <a:gd name="T13" fmla="*/ 1 h 110"/>
                <a:gd name="T14" fmla="*/ 0 60000 65536"/>
                <a:gd name="T15" fmla="*/ 0 60000 65536"/>
                <a:gd name="T16" fmla="*/ 0 60000 65536"/>
                <a:gd name="T17" fmla="*/ 0 60000 65536"/>
                <a:gd name="T18" fmla="*/ 0 60000 65536"/>
                <a:gd name="T19" fmla="*/ 0 60000 65536"/>
                <a:gd name="T20" fmla="*/ 0 60000 65536"/>
                <a:gd name="T21" fmla="*/ 0 w 145"/>
                <a:gd name="T22" fmla="*/ 0 h 110"/>
                <a:gd name="T23" fmla="*/ 145 w 145"/>
                <a:gd name="T24" fmla="*/ 110 h 11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5" h="110">
                  <a:moveTo>
                    <a:pt x="0" y="110"/>
                  </a:moveTo>
                  <a:lnTo>
                    <a:pt x="145" y="19"/>
                  </a:lnTo>
                  <a:lnTo>
                    <a:pt x="141" y="0"/>
                  </a:lnTo>
                  <a:lnTo>
                    <a:pt x="91" y="3"/>
                  </a:lnTo>
                  <a:lnTo>
                    <a:pt x="36" y="49"/>
                  </a:lnTo>
                  <a:lnTo>
                    <a:pt x="0" y="110"/>
                  </a:lnTo>
                  <a:close/>
                </a:path>
              </a:pathLst>
            </a:custGeom>
            <a:solidFill>
              <a:srgbClr val="000000"/>
            </a:solidFill>
            <a:ln w="9525">
              <a:noFill/>
              <a:round/>
              <a:headEnd/>
              <a:tailEnd/>
            </a:ln>
          </p:spPr>
          <p:txBody>
            <a:bodyPr/>
            <a:lstStyle/>
            <a:p>
              <a:endParaRPr lang="en-US"/>
            </a:p>
          </p:txBody>
        </p:sp>
        <p:sp>
          <p:nvSpPr>
            <p:cNvPr id="51283" name="Freeform 83"/>
            <p:cNvSpPr>
              <a:spLocks/>
            </p:cNvSpPr>
            <p:nvPr/>
          </p:nvSpPr>
          <p:spPr bwMode="auto">
            <a:xfrm>
              <a:off x="1063" y="3787"/>
              <a:ext cx="139" cy="111"/>
            </a:xfrm>
            <a:custGeom>
              <a:avLst/>
              <a:gdLst>
                <a:gd name="T0" fmla="*/ 0 w 280"/>
                <a:gd name="T1" fmla="*/ 1 h 222"/>
                <a:gd name="T2" fmla="*/ 0 w 280"/>
                <a:gd name="T3" fmla="*/ 1 h 222"/>
                <a:gd name="T4" fmla="*/ 0 w 280"/>
                <a:gd name="T5" fmla="*/ 1 h 222"/>
                <a:gd name="T6" fmla="*/ 0 w 280"/>
                <a:gd name="T7" fmla="*/ 1 h 222"/>
                <a:gd name="T8" fmla="*/ 0 w 280"/>
                <a:gd name="T9" fmla="*/ 1 h 222"/>
                <a:gd name="T10" fmla="*/ 0 w 280"/>
                <a:gd name="T11" fmla="*/ 1 h 222"/>
                <a:gd name="T12" fmla="*/ 0 w 280"/>
                <a:gd name="T13" fmla="*/ 1 h 222"/>
                <a:gd name="T14" fmla="*/ 0 w 280"/>
                <a:gd name="T15" fmla="*/ 1 h 222"/>
                <a:gd name="T16" fmla="*/ 0 w 280"/>
                <a:gd name="T17" fmla="*/ 1 h 222"/>
                <a:gd name="T18" fmla="*/ 0 w 280"/>
                <a:gd name="T19" fmla="*/ 1 h 222"/>
                <a:gd name="T20" fmla="*/ 0 w 280"/>
                <a:gd name="T21" fmla="*/ 1 h 222"/>
                <a:gd name="T22" fmla="*/ 0 w 280"/>
                <a:gd name="T23" fmla="*/ 0 h 222"/>
                <a:gd name="T24" fmla="*/ 0 w 280"/>
                <a:gd name="T25" fmla="*/ 1 h 222"/>
                <a:gd name="T26" fmla="*/ 0 w 280"/>
                <a:gd name="T27" fmla="*/ 1 h 222"/>
                <a:gd name="T28" fmla="*/ 0 w 280"/>
                <a:gd name="T29" fmla="*/ 1 h 222"/>
                <a:gd name="T30" fmla="*/ 0 w 280"/>
                <a:gd name="T31" fmla="*/ 1 h 22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80"/>
                <a:gd name="T49" fmla="*/ 0 h 222"/>
                <a:gd name="T50" fmla="*/ 280 w 280"/>
                <a:gd name="T51" fmla="*/ 222 h 222"/>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80" h="222">
                  <a:moveTo>
                    <a:pt x="0" y="79"/>
                  </a:moveTo>
                  <a:lnTo>
                    <a:pt x="50" y="47"/>
                  </a:lnTo>
                  <a:lnTo>
                    <a:pt x="82" y="68"/>
                  </a:lnTo>
                  <a:lnTo>
                    <a:pt x="141" y="100"/>
                  </a:lnTo>
                  <a:lnTo>
                    <a:pt x="179" y="167"/>
                  </a:lnTo>
                  <a:lnTo>
                    <a:pt x="158" y="222"/>
                  </a:lnTo>
                  <a:lnTo>
                    <a:pt x="217" y="150"/>
                  </a:lnTo>
                  <a:lnTo>
                    <a:pt x="276" y="81"/>
                  </a:lnTo>
                  <a:lnTo>
                    <a:pt x="280" y="51"/>
                  </a:lnTo>
                  <a:lnTo>
                    <a:pt x="263" y="32"/>
                  </a:lnTo>
                  <a:lnTo>
                    <a:pt x="213" y="11"/>
                  </a:lnTo>
                  <a:lnTo>
                    <a:pt x="137" y="0"/>
                  </a:lnTo>
                  <a:lnTo>
                    <a:pt x="78" y="11"/>
                  </a:lnTo>
                  <a:lnTo>
                    <a:pt x="25" y="36"/>
                  </a:lnTo>
                  <a:lnTo>
                    <a:pt x="0" y="79"/>
                  </a:lnTo>
                  <a:close/>
                </a:path>
              </a:pathLst>
            </a:custGeom>
            <a:solidFill>
              <a:srgbClr val="000000"/>
            </a:solidFill>
            <a:ln w="9525">
              <a:noFill/>
              <a:round/>
              <a:headEnd/>
              <a:tailEnd/>
            </a:ln>
          </p:spPr>
          <p:txBody>
            <a:bodyPr/>
            <a:lstStyle/>
            <a:p>
              <a:endParaRPr lang="en-US"/>
            </a:p>
          </p:txBody>
        </p:sp>
        <p:sp>
          <p:nvSpPr>
            <p:cNvPr id="51284" name="Freeform 84"/>
            <p:cNvSpPr>
              <a:spLocks/>
            </p:cNvSpPr>
            <p:nvPr/>
          </p:nvSpPr>
          <p:spPr bwMode="auto">
            <a:xfrm>
              <a:off x="1334" y="3787"/>
              <a:ext cx="94" cy="15"/>
            </a:xfrm>
            <a:custGeom>
              <a:avLst/>
              <a:gdLst>
                <a:gd name="T0" fmla="*/ 0 w 189"/>
                <a:gd name="T1" fmla="*/ 1 h 30"/>
                <a:gd name="T2" fmla="*/ 0 w 189"/>
                <a:gd name="T3" fmla="*/ 1 h 30"/>
                <a:gd name="T4" fmla="*/ 0 w 189"/>
                <a:gd name="T5" fmla="*/ 1 h 30"/>
                <a:gd name="T6" fmla="*/ 0 w 189"/>
                <a:gd name="T7" fmla="*/ 0 h 30"/>
                <a:gd name="T8" fmla="*/ 0 w 189"/>
                <a:gd name="T9" fmla="*/ 0 h 30"/>
                <a:gd name="T10" fmla="*/ 0 w 189"/>
                <a:gd name="T11" fmla="*/ 1 h 30"/>
                <a:gd name="T12" fmla="*/ 0 w 189"/>
                <a:gd name="T13" fmla="*/ 1 h 30"/>
                <a:gd name="T14" fmla="*/ 0 w 189"/>
                <a:gd name="T15" fmla="*/ 1 h 30"/>
                <a:gd name="T16" fmla="*/ 0 w 189"/>
                <a:gd name="T17" fmla="*/ 1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9"/>
                <a:gd name="T28" fmla="*/ 0 h 30"/>
                <a:gd name="T29" fmla="*/ 189 w 189"/>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9" h="30">
                  <a:moveTo>
                    <a:pt x="52" y="22"/>
                  </a:moveTo>
                  <a:lnTo>
                    <a:pt x="133" y="19"/>
                  </a:lnTo>
                  <a:lnTo>
                    <a:pt x="189" y="26"/>
                  </a:lnTo>
                  <a:lnTo>
                    <a:pt x="150" y="0"/>
                  </a:lnTo>
                  <a:lnTo>
                    <a:pt x="46" y="0"/>
                  </a:lnTo>
                  <a:lnTo>
                    <a:pt x="0" y="3"/>
                  </a:lnTo>
                  <a:lnTo>
                    <a:pt x="14" y="30"/>
                  </a:lnTo>
                  <a:lnTo>
                    <a:pt x="52" y="22"/>
                  </a:lnTo>
                  <a:close/>
                </a:path>
              </a:pathLst>
            </a:custGeom>
            <a:solidFill>
              <a:srgbClr val="000000"/>
            </a:solidFill>
            <a:ln w="9525">
              <a:noFill/>
              <a:round/>
              <a:headEnd/>
              <a:tailEnd/>
            </a:ln>
          </p:spPr>
          <p:txBody>
            <a:bodyPr/>
            <a:lstStyle/>
            <a:p>
              <a:endParaRPr lang="en-US"/>
            </a:p>
          </p:txBody>
        </p:sp>
        <p:sp>
          <p:nvSpPr>
            <p:cNvPr id="51285" name="Freeform 85"/>
            <p:cNvSpPr>
              <a:spLocks/>
            </p:cNvSpPr>
            <p:nvPr/>
          </p:nvSpPr>
          <p:spPr bwMode="auto">
            <a:xfrm>
              <a:off x="2086" y="3428"/>
              <a:ext cx="41" cy="80"/>
            </a:xfrm>
            <a:custGeom>
              <a:avLst/>
              <a:gdLst>
                <a:gd name="T0" fmla="*/ 0 w 84"/>
                <a:gd name="T1" fmla="*/ 1 h 160"/>
                <a:gd name="T2" fmla="*/ 0 w 84"/>
                <a:gd name="T3" fmla="*/ 1 h 160"/>
                <a:gd name="T4" fmla="*/ 0 w 84"/>
                <a:gd name="T5" fmla="*/ 0 h 160"/>
                <a:gd name="T6" fmla="*/ 0 w 84"/>
                <a:gd name="T7" fmla="*/ 1 h 160"/>
                <a:gd name="T8" fmla="*/ 0 w 84"/>
                <a:gd name="T9" fmla="*/ 1 h 160"/>
                <a:gd name="T10" fmla="*/ 0 w 84"/>
                <a:gd name="T11" fmla="*/ 1 h 160"/>
                <a:gd name="T12" fmla="*/ 0 60000 65536"/>
                <a:gd name="T13" fmla="*/ 0 60000 65536"/>
                <a:gd name="T14" fmla="*/ 0 60000 65536"/>
                <a:gd name="T15" fmla="*/ 0 60000 65536"/>
                <a:gd name="T16" fmla="*/ 0 60000 65536"/>
                <a:gd name="T17" fmla="*/ 0 60000 65536"/>
                <a:gd name="T18" fmla="*/ 0 w 84"/>
                <a:gd name="T19" fmla="*/ 0 h 160"/>
                <a:gd name="T20" fmla="*/ 84 w 84"/>
                <a:gd name="T21" fmla="*/ 160 h 160"/>
              </a:gdLst>
              <a:ahLst/>
              <a:cxnLst>
                <a:cxn ang="T12">
                  <a:pos x="T0" y="T1"/>
                </a:cxn>
                <a:cxn ang="T13">
                  <a:pos x="T2" y="T3"/>
                </a:cxn>
                <a:cxn ang="T14">
                  <a:pos x="T4" y="T5"/>
                </a:cxn>
                <a:cxn ang="T15">
                  <a:pos x="T6" y="T7"/>
                </a:cxn>
                <a:cxn ang="T16">
                  <a:pos x="T8" y="T9"/>
                </a:cxn>
                <a:cxn ang="T17">
                  <a:pos x="T10" y="T11"/>
                </a:cxn>
              </a:cxnLst>
              <a:rect l="T18" t="T19" r="T20" b="T21"/>
              <a:pathLst>
                <a:path w="84" h="160">
                  <a:moveTo>
                    <a:pt x="0" y="160"/>
                  </a:moveTo>
                  <a:lnTo>
                    <a:pt x="17" y="42"/>
                  </a:lnTo>
                  <a:lnTo>
                    <a:pt x="34" y="0"/>
                  </a:lnTo>
                  <a:lnTo>
                    <a:pt x="84" y="74"/>
                  </a:lnTo>
                  <a:lnTo>
                    <a:pt x="0" y="160"/>
                  </a:lnTo>
                  <a:close/>
                </a:path>
              </a:pathLst>
            </a:custGeom>
            <a:solidFill>
              <a:srgbClr val="000000"/>
            </a:solidFill>
            <a:ln w="9525">
              <a:noFill/>
              <a:round/>
              <a:headEnd/>
              <a:tailEnd/>
            </a:ln>
          </p:spPr>
          <p:txBody>
            <a:bodyPr/>
            <a:lstStyle/>
            <a:p>
              <a:endParaRPr lang="en-US"/>
            </a:p>
          </p:txBody>
        </p:sp>
        <p:sp>
          <p:nvSpPr>
            <p:cNvPr id="51286" name="Freeform 86"/>
            <p:cNvSpPr>
              <a:spLocks/>
            </p:cNvSpPr>
            <p:nvPr/>
          </p:nvSpPr>
          <p:spPr bwMode="auto">
            <a:xfrm>
              <a:off x="1996" y="3504"/>
              <a:ext cx="67" cy="35"/>
            </a:xfrm>
            <a:custGeom>
              <a:avLst/>
              <a:gdLst>
                <a:gd name="T0" fmla="*/ 0 w 134"/>
                <a:gd name="T1" fmla="*/ 0 h 68"/>
                <a:gd name="T2" fmla="*/ 1 w 134"/>
                <a:gd name="T3" fmla="*/ 1 h 68"/>
                <a:gd name="T4" fmla="*/ 1 w 134"/>
                <a:gd name="T5" fmla="*/ 1 h 68"/>
                <a:gd name="T6" fmla="*/ 1 w 134"/>
                <a:gd name="T7" fmla="*/ 1 h 68"/>
                <a:gd name="T8" fmla="*/ 1 w 134"/>
                <a:gd name="T9" fmla="*/ 1 h 68"/>
                <a:gd name="T10" fmla="*/ 0 w 134"/>
                <a:gd name="T11" fmla="*/ 0 h 68"/>
                <a:gd name="T12" fmla="*/ 0 w 134"/>
                <a:gd name="T13" fmla="*/ 0 h 68"/>
                <a:gd name="T14" fmla="*/ 0 60000 65536"/>
                <a:gd name="T15" fmla="*/ 0 60000 65536"/>
                <a:gd name="T16" fmla="*/ 0 60000 65536"/>
                <a:gd name="T17" fmla="*/ 0 60000 65536"/>
                <a:gd name="T18" fmla="*/ 0 60000 65536"/>
                <a:gd name="T19" fmla="*/ 0 60000 65536"/>
                <a:gd name="T20" fmla="*/ 0 60000 65536"/>
                <a:gd name="T21" fmla="*/ 0 w 134"/>
                <a:gd name="T22" fmla="*/ 0 h 68"/>
                <a:gd name="T23" fmla="*/ 134 w 134"/>
                <a:gd name="T24" fmla="*/ 68 h 6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4" h="68">
                  <a:moveTo>
                    <a:pt x="0" y="0"/>
                  </a:moveTo>
                  <a:lnTo>
                    <a:pt x="63" y="32"/>
                  </a:lnTo>
                  <a:lnTo>
                    <a:pt x="134" y="40"/>
                  </a:lnTo>
                  <a:lnTo>
                    <a:pt x="88" y="68"/>
                  </a:lnTo>
                  <a:lnTo>
                    <a:pt x="46" y="53"/>
                  </a:lnTo>
                  <a:lnTo>
                    <a:pt x="0" y="0"/>
                  </a:lnTo>
                  <a:close/>
                </a:path>
              </a:pathLst>
            </a:custGeom>
            <a:solidFill>
              <a:srgbClr val="000000"/>
            </a:solidFill>
            <a:ln w="9525">
              <a:noFill/>
              <a:round/>
              <a:headEnd/>
              <a:tailEnd/>
            </a:ln>
          </p:spPr>
          <p:txBody>
            <a:bodyPr/>
            <a:lstStyle/>
            <a:p>
              <a:endParaRPr lang="en-US"/>
            </a:p>
          </p:txBody>
        </p:sp>
        <p:sp>
          <p:nvSpPr>
            <p:cNvPr id="51287" name="Freeform 87"/>
            <p:cNvSpPr>
              <a:spLocks/>
            </p:cNvSpPr>
            <p:nvPr/>
          </p:nvSpPr>
          <p:spPr bwMode="auto">
            <a:xfrm>
              <a:off x="480" y="3196"/>
              <a:ext cx="600" cy="707"/>
            </a:xfrm>
            <a:custGeom>
              <a:avLst/>
              <a:gdLst>
                <a:gd name="T0" fmla="*/ 1 w 1200"/>
                <a:gd name="T1" fmla="*/ 1 h 1414"/>
                <a:gd name="T2" fmla="*/ 1 w 1200"/>
                <a:gd name="T3" fmla="*/ 1 h 1414"/>
                <a:gd name="T4" fmla="*/ 1 w 1200"/>
                <a:gd name="T5" fmla="*/ 1 h 1414"/>
                <a:gd name="T6" fmla="*/ 1 w 1200"/>
                <a:gd name="T7" fmla="*/ 1 h 1414"/>
                <a:gd name="T8" fmla="*/ 1 w 1200"/>
                <a:gd name="T9" fmla="*/ 1 h 1414"/>
                <a:gd name="T10" fmla="*/ 1 w 1200"/>
                <a:gd name="T11" fmla="*/ 1 h 1414"/>
                <a:gd name="T12" fmla="*/ 1 w 1200"/>
                <a:gd name="T13" fmla="*/ 1 h 1414"/>
                <a:gd name="T14" fmla="*/ 1 w 1200"/>
                <a:gd name="T15" fmla="*/ 1 h 1414"/>
                <a:gd name="T16" fmla="*/ 1 w 1200"/>
                <a:gd name="T17" fmla="*/ 1 h 1414"/>
                <a:gd name="T18" fmla="*/ 1 w 1200"/>
                <a:gd name="T19" fmla="*/ 1 h 1414"/>
                <a:gd name="T20" fmla="*/ 1 w 1200"/>
                <a:gd name="T21" fmla="*/ 1 h 1414"/>
                <a:gd name="T22" fmla="*/ 1 w 1200"/>
                <a:gd name="T23" fmla="*/ 1 h 1414"/>
                <a:gd name="T24" fmla="*/ 1 w 1200"/>
                <a:gd name="T25" fmla="*/ 0 h 1414"/>
                <a:gd name="T26" fmla="*/ 1 w 1200"/>
                <a:gd name="T27" fmla="*/ 1 h 1414"/>
                <a:gd name="T28" fmla="*/ 1 w 1200"/>
                <a:gd name="T29" fmla="*/ 1 h 1414"/>
                <a:gd name="T30" fmla="*/ 1 w 1200"/>
                <a:gd name="T31" fmla="*/ 1 h 1414"/>
                <a:gd name="T32" fmla="*/ 1 w 1200"/>
                <a:gd name="T33" fmla="*/ 1 h 1414"/>
                <a:gd name="T34" fmla="*/ 1 w 1200"/>
                <a:gd name="T35" fmla="*/ 1 h 1414"/>
                <a:gd name="T36" fmla="*/ 1 w 1200"/>
                <a:gd name="T37" fmla="*/ 1 h 1414"/>
                <a:gd name="T38" fmla="*/ 1 w 1200"/>
                <a:gd name="T39" fmla="*/ 1 h 1414"/>
                <a:gd name="T40" fmla="*/ 1 w 1200"/>
                <a:gd name="T41" fmla="*/ 1 h 1414"/>
                <a:gd name="T42" fmla="*/ 1 w 1200"/>
                <a:gd name="T43" fmla="*/ 1 h 1414"/>
                <a:gd name="T44" fmla="*/ 1 w 1200"/>
                <a:gd name="T45" fmla="*/ 1 h 1414"/>
                <a:gd name="T46" fmla="*/ 1 w 1200"/>
                <a:gd name="T47" fmla="*/ 1 h 1414"/>
                <a:gd name="T48" fmla="*/ 1 w 1200"/>
                <a:gd name="T49" fmla="*/ 1 h 1414"/>
                <a:gd name="T50" fmla="*/ 1 w 1200"/>
                <a:gd name="T51" fmla="*/ 1 h 1414"/>
                <a:gd name="T52" fmla="*/ 1 w 1200"/>
                <a:gd name="T53" fmla="*/ 1 h 1414"/>
                <a:gd name="T54" fmla="*/ 1 w 1200"/>
                <a:gd name="T55" fmla="*/ 1 h 1414"/>
                <a:gd name="T56" fmla="*/ 1 w 1200"/>
                <a:gd name="T57" fmla="*/ 1 h 1414"/>
                <a:gd name="T58" fmla="*/ 1 w 1200"/>
                <a:gd name="T59" fmla="*/ 1 h 1414"/>
                <a:gd name="T60" fmla="*/ 0 w 1200"/>
                <a:gd name="T61" fmla="*/ 1 h 1414"/>
                <a:gd name="T62" fmla="*/ 1 w 1200"/>
                <a:gd name="T63" fmla="*/ 1 h 1414"/>
                <a:gd name="T64" fmla="*/ 1 w 1200"/>
                <a:gd name="T65" fmla="*/ 1 h 1414"/>
                <a:gd name="T66" fmla="*/ 1 w 1200"/>
                <a:gd name="T67" fmla="*/ 1 h 1414"/>
                <a:gd name="T68" fmla="*/ 1 w 1200"/>
                <a:gd name="T69" fmla="*/ 1 h 1414"/>
                <a:gd name="T70" fmla="*/ 1 w 1200"/>
                <a:gd name="T71" fmla="*/ 1 h 1414"/>
                <a:gd name="T72" fmla="*/ 1 w 1200"/>
                <a:gd name="T73" fmla="*/ 1 h 1414"/>
                <a:gd name="T74" fmla="*/ 1 w 1200"/>
                <a:gd name="T75" fmla="*/ 1 h 1414"/>
                <a:gd name="T76" fmla="*/ 1 w 1200"/>
                <a:gd name="T77" fmla="*/ 1 h 1414"/>
                <a:gd name="T78" fmla="*/ 1 w 1200"/>
                <a:gd name="T79" fmla="*/ 1 h 1414"/>
                <a:gd name="T80" fmla="*/ 1 w 1200"/>
                <a:gd name="T81" fmla="*/ 1 h 1414"/>
                <a:gd name="T82" fmla="*/ 1 w 1200"/>
                <a:gd name="T83" fmla="*/ 1 h 1414"/>
                <a:gd name="T84" fmla="*/ 1 w 1200"/>
                <a:gd name="T85" fmla="*/ 1 h 1414"/>
                <a:gd name="T86" fmla="*/ 1 w 1200"/>
                <a:gd name="T87" fmla="*/ 1 h 1414"/>
                <a:gd name="T88" fmla="*/ 1 w 1200"/>
                <a:gd name="T89" fmla="*/ 1 h 1414"/>
                <a:gd name="T90" fmla="*/ 1 w 1200"/>
                <a:gd name="T91" fmla="*/ 1 h 1414"/>
                <a:gd name="T92" fmla="*/ 1 w 1200"/>
                <a:gd name="T93" fmla="*/ 1 h 1414"/>
                <a:gd name="T94" fmla="*/ 1 w 1200"/>
                <a:gd name="T95" fmla="*/ 1 h 1414"/>
                <a:gd name="T96" fmla="*/ 1 w 1200"/>
                <a:gd name="T97" fmla="*/ 1 h 1414"/>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1200"/>
                <a:gd name="T148" fmla="*/ 0 h 1414"/>
                <a:gd name="T149" fmla="*/ 1200 w 1200"/>
                <a:gd name="T150" fmla="*/ 1414 h 1414"/>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1200" h="1414">
                  <a:moveTo>
                    <a:pt x="808" y="1078"/>
                  </a:moveTo>
                  <a:lnTo>
                    <a:pt x="867" y="1072"/>
                  </a:lnTo>
                  <a:lnTo>
                    <a:pt x="899" y="1084"/>
                  </a:lnTo>
                  <a:lnTo>
                    <a:pt x="1074" y="1183"/>
                  </a:lnTo>
                  <a:lnTo>
                    <a:pt x="1008" y="1122"/>
                  </a:lnTo>
                  <a:lnTo>
                    <a:pt x="812" y="538"/>
                  </a:lnTo>
                  <a:lnTo>
                    <a:pt x="812" y="489"/>
                  </a:lnTo>
                  <a:lnTo>
                    <a:pt x="776" y="386"/>
                  </a:lnTo>
                  <a:lnTo>
                    <a:pt x="774" y="337"/>
                  </a:lnTo>
                  <a:lnTo>
                    <a:pt x="781" y="281"/>
                  </a:lnTo>
                  <a:lnTo>
                    <a:pt x="922" y="34"/>
                  </a:lnTo>
                  <a:lnTo>
                    <a:pt x="916" y="6"/>
                  </a:lnTo>
                  <a:lnTo>
                    <a:pt x="888" y="0"/>
                  </a:lnTo>
                  <a:lnTo>
                    <a:pt x="840" y="53"/>
                  </a:lnTo>
                  <a:lnTo>
                    <a:pt x="837" y="107"/>
                  </a:lnTo>
                  <a:lnTo>
                    <a:pt x="762" y="243"/>
                  </a:lnTo>
                  <a:lnTo>
                    <a:pt x="741" y="291"/>
                  </a:lnTo>
                  <a:lnTo>
                    <a:pt x="738" y="327"/>
                  </a:lnTo>
                  <a:lnTo>
                    <a:pt x="743" y="384"/>
                  </a:lnTo>
                  <a:lnTo>
                    <a:pt x="776" y="521"/>
                  </a:lnTo>
                  <a:lnTo>
                    <a:pt x="797" y="557"/>
                  </a:lnTo>
                  <a:lnTo>
                    <a:pt x="960" y="1093"/>
                  </a:lnTo>
                  <a:lnTo>
                    <a:pt x="884" y="1057"/>
                  </a:lnTo>
                  <a:lnTo>
                    <a:pt x="808" y="1063"/>
                  </a:lnTo>
                  <a:lnTo>
                    <a:pt x="747" y="1106"/>
                  </a:lnTo>
                  <a:lnTo>
                    <a:pt x="726" y="1179"/>
                  </a:lnTo>
                  <a:lnTo>
                    <a:pt x="764" y="1262"/>
                  </a:lnTo>
                  <a:lnTo>
                    <a:pt x="717" y="1297"/>
                  </a:lnTo>
                  <a:lnTo>
                    <a:pt x="686" y="1331"/>
                  </a:lnTo>
                  <a:lnTo>
                    <a:pt x="262" y="1260"/>
                  </a:lnTo>
                  <a:lnTo>
                    <a:pt x="0" y="1219"/>
                  </a:lnTo>
                  <a:lnTo>
                    <a:pt x="112" y="1384"/>
                  </a:lnTo>
                  <a:lnTo>
                    <a:pt x="25" y="1236"/>
                  </a:lnTo>
                  <a:lnTo>
                    <a:pt x="308" y="1283"/>
                  </a:lnTo>
                  <a:lnTo>
                    <a:pt x="741" y="1357"/>
                  </a:lnTo>
                  <a:lnTo>
                    <a:pt x="1200" y="1414"/>
                  </a:lnTo>
                  <a:lnTo>
                    <a:pt x="747" y="1344"/>
                  </a:lnTo>
                  <a:lnTo>
                    <a:pt x="791" y="1287"/>
                  </a:lnTo>
                  <a:lnTo>
                    <a:pt x="831" y="1278"/>
                  </a:lnTo>
                  <a:lnTo>
                    <a:pt x="916" y="1325"/>
                  </a:lnTo>
                  <a:lnTo>
                    <a:pt x="1008" y="1367"/>
                  </a:lnTo>
                  <a:lnTo>
                    <a:pt x="895" y="1293"/>
                  </a:lnTo>
                  <a:lnTo>
                    <a:pt x="814" y="1200"/>
                  </a:lnTo>
                  <a:lnTo>
                    <a:pt x="806" y="1230"/>
                  </a:lnTo>
                  <a:lnTo>
                    <a:pt x="762" y="1203"/>
                  </a:lnTo>
                  <a:lnTo>
                    <a:pt x="753" y="1150"/>
                  </a:lnTo>
                  <a:lnTo>
                    <a:pt x="781" y="1095"/>
                  </a:lnTo>
                  <a:lnTo>
                    <a:pt x="808" y="1078"/>
                  </a:lnTo>
                  <a:close/>
                </a:path>
              </a:pathLst>
            </a:custGeom>
            <a:solidFill>
              <a:srgbClr val="000000"/>
            </a:solidFill>
            <a:ln w="9525">
              <a:noFill/>
              <a:round/>
              <a:headEnd/>
              <a:tailEnd/>
            </a:ln>
          </p:spPr>
          <p:txBody>
            <a:bodyPr/>
            <a:lstStyle/>
            <a:p>
              <a:endParaRPr lang="en-US"/>
            </a:p>
          </p:txBody>
        </p:sp>
        <p:sp>
          <p:nvSpPr>
            <p:cNvPr id="51288" name="Freeform 88"/>
            <p:cNvSpPr>
              <a:spLocks/>
            </p:cNvSpPr>
            <p:nvPr/>
          </p:nvSpPr>
          <p:spPr bwMode="auto">
            <a:xfrm>
              <a:off x="1029" y="3800"/>
              <a:ext cx="44" cy="97"/>
            </a:xfrm>
            <a:custGeom>
              <a:avLst/>
              <a:gdLst>
                <a:gd name="T0" fmla="*/ 0 w 89"/>
                <a:gd name="T1" fmla="*/ 0 h 194"/>
                <a:gd name="T2" fmla="*/ 0 w 89"/>
                <a:gd name="T3" fmla="*/ 1 h 194"/>
                <a:gd name="T4" fmla="*/ 0 w 89"/>
                <a:gd name="T5" fmla="*/ 1 h 194"/>
                <a:gd name="T6" fmla="*/ 0 w 89"/>
                <a:gd name="T7" fmla="*/ 1 h 194"/>
                <a:gd name="T8" fmla="*/ 0 w 89"/>
                <a:gd name="T9" fmla="*/ 1 h 194"/>
                <a:gd name="T10" fmla="*/ 0 w 89"/>
                <a:gd name="T11" fmla="*/ 1 h 194"/>
                <a:gd name="T12" fmla="*/ 0 w 89"/>
                <a:gd name="T13" fmla="*/ 1 h 194"/>
                <a:gd name="T14" fmla="*/ 0 w 89"/>
                <a:gd name="T15" fmla="*/ 1 h 194"/>
                <a:gd name="T16" fmla="*/ 0 w 89"/>
                <a:gd name="T17" fmla="*/ 1 h 194"/>
                <a:gd name="T18" fmla="*/ 0 w 89"/>
                <a:gd name="T19" fmla="*/ 0 h 194"/>
                <a:gd name="T20" fmla="*/ 0 w 89"/>
                <a:gd name="T21" fmla="*/ 0 h 19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89"/>
                <a:gd name="T34" fmla="*/ 0 h 194"/>
                <a:gd name="T35" fmla="*/ 89 w 89"/>
                <a:gd name="T36" fmla="*/ 194 h 19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89" h="194">
                  <a:moveTo>
                    <a:pt x="0" y="0"/>
                  </a:moveTo>
                  <a:lnTo>
                    <a:pt x="89" y="89"/>
                  </a:lnTo>
                  <a:lnTo>
                    <a:pt x="82" y="137"/>
                  </a:lnTo>
                  <a:lnTo>
                    <a:pt x="68" y="179"/>
                  </a:lnTo>
                  <a:lnTo>
                    <a:pt x="48" y="194"/>
                  </a:lnTo>
                  <a:lnTo>
                    <a:pt x="10" y="190"/>
                  </a:lnTo>
                  <a:lnTo>
                    <a:pt x="49" y="152"/>
                  </a:lnTo>
                  <a:lnTo>
                    <a:pt x="65" y="114"/>
                  </a:lnTo>
                  <a:lnTo>
                    <a:pt x="63" y="84"/>
                  </a:lnTo>
                  <a:lnTo>
                    <a:pt x="0" y="0"/>
                  </a:lnTo>
                  <a:close/>
                </a:path>
              </a:pathLst>
            </a:custGeom>
            <a:solidFill>
              <a:srgbClr val="000000"/>
            </a:solidFill>
            <a:ln w="9525">
              <a:noFill/>
              <a:round/>
              <a:headEnd/>
              <a:tailEnd/>
            </a:ln>
          </p:spPr>
          <p:txBody>
            <a:bodyPr/>
            <a:lstStyle/>
            <a:p>
              <a:endParaRPr lang="en-US"/>
            </a:p>
          </p:txBody>
        </p:sp>
        <p:sp>
          <p:nvSpPr>
            <p:cNvPr id="51289" name="Freeform 89"/>
            <p:cNvSpPr>
              <a:spLocks/>
            </p:cNvSpPr>
            <p:nvPr/>
          </p:nvSpPr>
          <p:spPr bwMode="auto">
            <a:xfrm>
              <a:off x="954" y="3714"/>
              <a:ext cx="145" cy="89"/>
            </a:xfrm>
            <a:custGeom>
              <a:avLst/>
              <a:gdLst>
                <a:gd name="T0" fmla="*/ 1 w 289"/>
                <a:gd name="T1" fmla="*/ 0 h 179"/>
                <a:gd name="T2" fmla="*/ 1 w 289"/>
                <a:gd name="T3" fmla="*/ 0 h 179"/>
                <a:gd name="T4" fmla="*/ 1 w 289"/>
                <a:gd name="T5" fmla="*/ 0 h 179"/>
                <a:gd name="T6" fmla="*/ 1 w 289"/>
                <a:gd name="T7" fmla="*/ 0 h 179"/>
                <a:gd name="T8" fmla="*/ 1 w 289"/>
                <a:gd name="T9" fmla="*/ 0 h 179"/>
                <a:gd name="T10" fmla="*/ 1 w 289"/>
                <a:gd name="T11" fmla="*/ 0 h 179"/>
                <a:gd name="T12" fmla="*/ 1 w 289"/>
                <a:gd name="T13" fmla="*/ 0 h 179"/>
                <a:gd name="T14" fmla="*/ 1 w 289"/>
                <a:gd name="T15" fmla="*/ 0 h 179"/>
                <a:gd name="T16" fmla="*/ 1 w 289"/>
                <a:gd name="T17" fmla="*/ 0 h 179"/>
                <a:gd name="T18" fmla="*/ 1 w 289"/>
                <a:gd name="T19" fmla="*/ 0 h 179"/>
                <a:gd name="T20" fmla="*/ 1 w 289"/>
                <a:gd name="T21" fmla="*/ 0 h 179"/>
                <a:gd name="T22" fmla="*/ 1 w 289"/>
                <a:gd name="T23" fmla="*/ 0 h 179"/>
                <a:gd name="T24" fmla="*/ 1 w 289"/>
                <a:gd name="T25" fmla="*/ 0 h 179"/>
                <a:gd name="T26" fmla="*/ 0 w 289"/>
                <a:gd name="T27" fmla="*/ 0 h 179"/>
                <a:gd name="T28" fmla="*/ 1 w 289"/>
                <a:gd name="T29" fmla="*/ 0 h 179"/>
                <a:gd name="T30" fmla="*/ 1 w 289"/>
                <a:gd name="T31" fmla="*/ 0 h 17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89"/>
                <a:gd name="T49" fmla="*/ 0 h 179"/>
                <a:gd name="T50" fmla="*/ 289 w 289"/>
                <a:gd name="T51" fmla="*/ 179 h 17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89" h="179">
                  <a:moveTo>
                    <a:pt x="32" y="25"/>
                  </a:moveTo>
                  <a:lnTo>
                    <a:pt x="76" y="0"/>
                  </a:lnTo>
                  <a:lnTo>
                    <a:pt x="97" y="10"/>
                  </a:lnTo>
                  <a:lnTo>
                    <a:pt x="123" y="48"/>
                  </a:lnTo>
                  <a:lnTo>
                    <a:pt x="175" y="95"/>
                  </a:lnTo>
                  <a:lnTo>
                    <a:pt x="254" y="147"/>
                  </a:lnTo>
                  <a:lnTo>
                    <a:pt x="289" y="179"/>
                  </a:lnTo>
                  <a:lnTo>
                    <a:pt x="234" y="152"/>
                  </a:lnTo>
                  <a:lnTo>
                    <a:pt x="142" y="93"/>
                  </a:lnTo>
                  <a:lnTo>
                    <a:pt x="102" y="51"/>
                  </a:lnTo>
                  <a:lnTo>
                    <a:pt x="81" y="25"/>
                  </a:lnTo>
                  <a:lnTo>
                    <a:pt x="40" y="51"/>
                  </a:lnTo>
                  <a:lnTo>
                    <a:pt x="26" y="80"/>
                  </a:lnTo>
                  <a:lnTo>
                    <a:pt x="0" y="67"/>
                  </a:lnTo>
                  <a:lnTo>
                    <a:pt x="32" y="25"/>
                  </a:lnTo>
                  <a:close/>
                </a:path>
              </a:pathLst>
            </a:custGeom>
            <a:solidFill>
              <a:srgbClr val="000000"/>
            </a:solidFill>
            <a:ln w="9525">
              <a:noFill/>
              <a:round/>
              <a:headEnd/>
              <a:tailEnd/>
            </a:ln>
          </p:spPr>
          <p:txBody>
            <a:bodyPr/>
            <a:lstStyle/>
            <a:p>
              <a:endParaRPr lang="en-US"/>
            </a:p>
          </p:txBody>
        </p:sp>
        <p:sp>
          <p:nvSpPr>
            <p:cNvPr id="51290" name="Freeform 90"/>
            <p:cNvSpPr>
              <a:spLocks/>
            </p:cNvSpPr>
            <p:nvPr/>
          </p:nvSpPr>
          <p:spPr bwMode="auto">
            <a:xfrm>
              <a:off x="1327" y="3976"/>
              <a:ext cx="144" cy="149"/>
            </a:xfrm>
            <a:custGeom>
              <a:avLst/>
              <a:gdLst>
                <a:gd name="T0" fmla="*/ 1 w 287"/>
                <a:gd name="T1" fmla="*/ 1 h 298"/>
                <a:gd name="T2" fmla="*/ 0 w 287"/>
                <a:gd name="T3" fmla="*/ 0 h 298"/>
                <a:gd name="T4" fmla="*/ 1 w 287"/>
                <a:gd name="T5" fmla="*/ 1 h 298"/>
                <a:gd name="T6" fmla="*/ 1 w 287"/>
                <a:gd name="T7" fmla="*/ 1 h 298"/>
                <a:gd name="T8" fmla="*/ 1 w 287"/>
                <a:gd name="T9" fmla="*/ 1 h 298"/>
                <a:gd name="T10" fmla="*/ 0 60000 65536"/>
                <a:gd name="T11" fmla="*/ 0 60000 65536"/>
                <a:gd name="T12" fmla="*/ 0 60000 65536"/>
                <a:gd name="T13" fmla="*/ 0 60000 65536"/>
                <a:gd name="T14" fmla="*/ 0 60000 65536"/>
                <a:gd name="T15" fmla="*/ 0 w 287"/>
                <a:gd name="T16" fmla="*/ 0 h 298"/>
                <a:gd name="T17" fmla="*/ 287 w 287"/>
                <a:gd name="T18" fmla="*/ 298 h 298"/>
              </a:gdLst>
              <a:ahLst/>
              <a:cxnLst>
                <a:cxn ang="T10">
                  <a:pos x="T0" y="T1"/>
                </a:cxn>
                <a:cxn ang="T11">
                  <a:pos x="T2" y="T3"/>
                </a:cxn>
                <a:cxn ang="T12">
                  <a:pos x="T4" y="T5"/>
                </a:cxn>
                <a:cxn ang="T13">
                  <a:pos x="T6" y="T7"/>
                </a:cxn>
                <a:cxn ang="T14">
                  <a:pos x="T8" y="T9"/>
                </a:cxn>
              </a:cxnLst>
              <a:rect l="T15" t="T16" r="T17" b="T18"/>
              <a:pathLst>
                <a:path w="287" h="298">
                  <a:moveTo>
                    <a:pt x="238" y="298"/>
                  </a:moveTo>
                  <a:lnTo>
                    <a:pt x="0" y="0"/>
                  </a:lnTo>
                  <a:lnTo>
                    <a:pt x="287" y="291"/>
                  </a:lnTo>
                  <a:lnTo>
                    <a:pt x="238" y="298"/>
                  </a:lnTo>
                  <a:close/>
                </a:path>
              </a:pathLst>
            </a:custGeom>
            <a:solidFill>
              <a:srgbClr val="000000"/>
            </a:solidFill>
            <a:ln w="9525">
              <a:noFill/>
              <a:round/>
              <a:headEnd/>
              <a:tailEnd/>
            </a:ln>
          </p:spPr>
          <p:txBody>
            <a:bodyPr/>
            <a:lstStyle/>
            <a:p>
              <a:endParaRPr lang="en-US"/>
            </a:p>
          </p:txBody>
        </p:sp>
        <p:sp>
          <p:nvSpPr>
            <p:cNvPr id="51291" name="Freeform 91"/>
            <p:cNvSpPr>
              <a:spLocks/>
            </p:cNvSpPr>
            <p:nvPr/>
          </p:nvSpPr>
          <p:spPr bwMode="auto">
            <a:xfrm>
              <a:off x="552" y="3919"/>
              <a:ext cx="196" cy="206"/>
            </a:xfrm>
            <a:custGeom>
              <a:avLst/>
              <a:gdLst>
                <a:gd name="T0" fmla="*/ 0 w 392"/>
                <a:gd name="T1" fmla="*/ 0 h 412"/>
                <a:gd name="T2" fmla="*/ 1 w 392"/>
                <a:gd name="T3" fmla="*/ 1 h 412"/>
                <a:gd name="T4" fmla="*/ 1 w 392"/>
                <a:gd name="T5" fmla="*/ 1 h 412"/>
                <a:gd name="T6" fmla="*/ 1 w 392"/>
                <a:gd name="T7" fmla="*/ 1 h 412"/>
                <a:gd name="T8" fmla="*/ 1 w 392"/>
                <a:gd name="T9" fmla="*/ 1 h 412"/>
                <a:gd name="T10" fmla="*/ 0 w 392"/>
                <a:gd name="T11" fmla="*/ 0 h 412"/>
                <a:gd name="T12" fmla="*/ 0 w 392"/>
                <a:gd name="T13" fmla="*/ 0 h 412"/>
                <a:gd name="T14" fmla="*/ 0 60000 65536"/>
                <a:gd name="T15" fmla="*/ 0 60000 65536"/>
                <a:gd name="T16" fmla="*/ 0 60000 65536"/>
                <a:gd name="T17" fmla="*/ 0 60000 65536"/>
                <a:gd name="T18" fmla="*/ 0 60000 65536"/>
                <a:gd name="T19" fmla="*/ 0 60000 65536"/>
                <a:gd name="T20" fmla="*/ 0 60000 65536"/>
                <a:gd name="T21" fmla="*/ 0 w 392"/>
                <a:gd name="T22" fmla="*/ 0 h 412"/>
                <a:gd name="T23" fmla="*/ 392 w 392"/>
                <a:gd name="T24" fmla="*/ 412 h 4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92" h="412">
                  <a:moveTo>
                    <a:pt x="0" y="0"/>
                  </a:moveTo>
                  <a:lnTo>
                    <a:pt x="141" y="220"/>
                  </a:lnTo>
                  <a:lnTo>
                    <a:pt x="392" y="412"/>
                  </a:lnTo>
                  <a:lnTo>
                    <a:pt x="293" y="405"/>
                  </a:lnTo>
                  <a:lnTo>
                    <a:pt x="105" y="213"/>
                  </a:lnTo>
                  <a:lnTo>
                    <a:pt x="0" y="0"/>
                  </a:lnTo>
                  <a:close/>
                </a:path>
              </a:pathLst>
            </a:custGeom>
            <a:solidFill>
              <a:srgbClr val="000000"/>
            </a:solidFill>
            <a:ln w="9525">
              <a:noFill/>
              <a:round/>
              <a:headEnd/>
              <a:tailEnd/>
            </a:ln>
          </p:spPr>
          <p:txBody>
            <a:bodyPr/>
            <a:lstStyle/>
            <a:p>
              <a:endParaRPr lang="en-US"/>
            </a:p>
          </p:txBody>
        </p:sp>
        <p:sp>
          <p:nvSpPr>
            <p:cNvPr id="51292" name="Freeform 92"/>
            <p:cNvSpPr>
              <a:spLocks/>
            </p:cNvSpPr>
            <p:nvPr/>
          </p:nvSpPr>
          <p:spPr bwMode="auto">
            <a:xfrm>
              <a:off x="2081" y="2937"/>
              <a:ext cx="153" cy="128"/>
            </a:xfrm>
            <a:custGeom>
              <a:avLst/>
              <a:gdLst>
                <a:gd name="T0" fmla="*/ 0 w 306"/>
                <a:gd name="T1" fmla="*/ 0 h 257"/>
                <a:gd name="T2" fmla="*/ 1 w 306"/>
                <a:gd name="T3" fmla="*/ 0 h 257"/>
                <a:gd name="T4" fmla="*/ 1 w 306"/>
                <a:gd name="T5" fmla="*/ 0 h 257"/>
                <a:gd name="T6" fmla="*/ 1 w 306"/>
                <a:gd name="T7" fmla="*/ 0 h 257"/>
                <a:gd name="T8" fmla="*/ 1 w 306"/>
                <a:gd name="T9" fmla="*/ 0 h 257"/>
                <a:gd name="T10" fmla="*/ 1 w 306"/>
                <a:gd name="T11" fmla="*/ 0 h 257"/>
                <a:gd name="T12" fmla="*/ 1 w 306"/>
                <a:gd name="T13" fmla="*/ 0 h 257"/>
                <a:gd name="T14" fmla="*/ 1 w 306"/>
                <a:gd name="T15" fmla="*/ 0 h 257"/>
                <a:gd name="T16" fmla="*/ 0 w 306"/>
                <a:gd name="T17" fmla="*/ 0 h 257"/>
                <a:gd name="T18" fmla="*/ 0 w 306"/>
                <a:gd name="T19" fmla="*/ 0 h 25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06"/>
                <a:gd name="T31" fmla="*/ 0 h 257"/>
                <a:gd name="T32" fmla="*/ 306 w 306"/>
                <a:gd name="T33" fmla="*/ 257 h 25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06" h="257">
                  <a:moveTo>
                    <a:pt x="0" y="0"/>
                  </a:moveTo>
                  <a:lnTo>
                    <a:pt x="49" y="51"/>
                  </a:lnTo>
                  <a:lnTo>
                    <a:pt x="161" y="122"/>
                  </a:lnTo>
                  <a:lnTo>
                    <a:pt x="222" y="200"/>
                  </a:lnTo>
                  <a:lnTo>
                    <a:pt x="306" y="257"/>
                  </a:lnTo>
                  <a:lnTo>
                    <a:pt x="195" y="221"/>
                  </a:lnTo>
                  <a:lnTo>
                    <a:pt x="125" y="143"/>
                  </a:lnTo>
                  <a:lnTo>
                    <a:pt x="21" y="57"/>
                  </a:lnTo>
                  <a:lnTo>
                    <a:pt x="0" y="0"/>
                  </a:lnTo>
                  <a:close/>
                </a:path>
              </a:pathLst>
            </a:custGeom>
            <a:solidFill>
              <a:srgbClr val="000000"/>
            </a:solidFill>
            <a:ln w="9525">
              <a:noFill/>
              <a:round/>
              <a:headEnd/>
              <a:tailEnd/>
            </a:ln>
          </p:spPr>
          <p:txBody>
            <a:bodyPr/>
            <a:lstStyle/>
            <a:p>
              <a:endParaRPr lang="en-US"/>
            </a:p>
          </p:txBody>
        </p:sp>
        <p:sp>
          <p:nvSpPr>
            <p:cNvPr id="51293" name="Freeform 93"/>
            <p:cNvSpPr>
              <a:spLocks/>
            </p:cNvSpPr>
            <p:nvPr/>
          </p:nvSpPr>
          <p:spPr bwMode="auto">
            <a:xfrm>
              <a:off x="1791" y="2752"/>
              <a:ext cx="63" cy="55"/>
            </a:xfrm>
            <a:custGeom>
              <a:avLst/>
              <a:gdLst>
                <a:gd name="T0" fmla="*/ 1 w 125"/>
                <a:gd name="T1" fmla="*/ 0 h 111"/>
                <a:gd name="T2" fmla="*/ 0 w 125"/>
                <a:gd name="T3" fmla="*/ 0 h 111"/>
                <a:gd name="T4" fmla="*/ 1 w 125"/>
                <a:gd name="T5" fmla="*/ 0 h 111"/>
                <a:gd name="T6" fmla="*/ 1 w 125"/>
                <a:gd name="T7" fmla="*/ 0 h 111"/>
                <a:gd name="T8" fmla="*/ 1 w 125"/>
                <a:gd name="T9" fmla="*/ 0 h 111"/>
                <a:gd name="T10" fmla="*/ 1 w 125"/>
                <a:gd name="T11" fmla="*/ 0 h 111"/>
                <a:gd name="T12" fmla="*/ 1 w 125"/>
                <a:gd name="T13" fmla="*/ 0 h 111"/>
                <a:gd name="T14" fmla="*/ 1 w 125"/>
                <a:gd name="T15" fmla="*/ 0 h 111"/>
                <a:gd name="T16" fmla="*/ 1 w 125"/>
                <a:gd name="T17" fmla="*/ 0 h 111"/>
                <a:gd name="T18" fmla="*/ 1 w 125"/>
                <a:gd name="T19" fmla="*/ 0 h 111"/>
                <a:gd name="T20" fmla="*/ 1 w 125"/>
                <a:gd name="T21" fmla="*/ 0 h 111"/>
                <a:gd name="T22" fmla="*/ 1 w 125"/>
                <a:gd name="T23" fmla="*/ 0 h 111"/>
                <a:gd name="T24" fmla="*/ 1 w 125"/>
                <a:gd name="T25" fmla="*/ 0 h 111"/>
                <a:gd name="T26" fmla="*/ 1 w 125"/>
                <a:gd name="T27" fmla="*/ 0 h 111"/>
                <a:gd name="T28" fmla="*/ 1 w 125"/>
                <a:gd name="T29" fmla="*/ 0 h 111"/>
                <a:gd name="T30" fmla="*/ 1 w 125"/>
                <a:gd name="T31" fmla="*/ 0 h 111"/>
                <a:gd name="T32" fmla="*/ 1 w 125"/>
                <a:gd name="T33" fmla="*/ 0 h 111"/>
                <a:gd name="T34" fmla="*/ 1 w 125"/>
                <a:gd name="T35" fmla="*/ 0 h 11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25"/>
                <a:gd name="T55" fmla="*/ 0 h 111"/>
                <a:gd name="T56" fmla="*/ 125 w 125"/>
                <a:gd name="T57" fmla="*/ 111 h 11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25" h="111">
                  <a:moveTo>
                    <a:pt x="9" y="19"/>
                  </a:moveTo>
                  <a:lnTo>
                    <a:pt x="0" y="40"/>
                  </a:lnTo>
                  <a:lnTo>
                    <a:pt x="4" y="76"/>
                  </a:lnTo>
                  <a:lnTo>
                    <a:pt x="17" y="103"/>
                  </a:lnTo>
                  <a:lnTo>
                    <a:pt x="40" y="111"/>
                  </a:lnTo>
                  <a:lnTo>
                    <a:pt x="97" y="103"/>
                  </a:lnTo>
                  <a:lnTo>
                    <a:pt x="125" y="76"/>
                  </a:lnTo>
                  <a:lnTo>
                    <a:pt x="108" y="59"/>
                  </a:lnTo>
                  <a:lnTo>
                    <a:pt x="83" y="75"/>
                  </a:lnTo>
                  <a:lnTo>
                    <a:pt x="53" y="80"/>
                  </a:lnTo>
                  <a:lnTo>
                    <a:pt x="42" y="54"/>
                  </a:lnTo>
                  <a:lnTo>
                    <a:pt x="70" y="63"/>
                  </a:lnTo>
                  <a:lnTo>
                    <a:pt x="91" y="50"/>
                  </a:lnTo>
                  <a:lnTo>
                    <a:pt x="83" y="27"/>
                  </a:lnTo>
                  <a:lnTo>
                    <a:pt x="95" y="6"/>
                  </a:lnTo>
                  <a:lnTo>
                    <a:pt x="32" y="0"/>
                  </a:lnTo>
                  <a:lnTo>
                    <a:pt x="9" y="19"/>
                  </a:lnTo>
                  <a:close/>
                </a:path>
              </a:pathLst>
            </a:custGeom>
            <a:solidFill>
              <a:srgbClr val="000000"/>
            </a:solidFill>
            <a:ln w="9525">
              <a:noFill/>
              <a:round/>
              <a:headEnd/>
              <a:tailEnd/>
            </a:ln>
          </p:spPr>
          <p:txBody>
            <a:bodyPr/>
            <a:lstStyle/>
            <a:p>
              <a:endParaRPr lang="en-US"/>
            </a:p>
          </p:txBody>
        </p:sp>
        <p:sp>
          <p:nvSpPr>
            <p:cNvPr id="51294" name="Freeform 94"/>
            <p:cNvSpPr>
              <a:spLocks/>
            </p:cNvSpPr>
            <p:nvPr/>
          </p:nvSpPr>
          <p:spPr bwMode="auto">
            <a:xfrm>
              <a:off x="1851" y="2756"/>
              <a:ext cx="15" cy="22"/>
            </a:xfrm>
            <a:custGeom>
              <a:avLst/>
              <a:gdLst>
                <a:gd name="T0" fmla="*/ 0 w 30"/>
                <a:gd name="T1" fmla="*/ 0 h 44"/>
                <a:gd name="T2" fmla="*/ 0 w 30"/>
                <a:gd name="T3" fmla="*/ 1 h 44"/>
                <a:gd name="T4" fmla="*/ 1 w 30"/>
                <a:gd name="T5" fmla="*/ 1 h 44"/>
                <a:gd name="T6" fmla="*/ 1 w 30"/>
                <a:gd name="T7" fmla="*/ 1 h 44"/>
                <a:gd name="T8" fmla="*/ 0 w 30"/>
                <a:gd name="T9" fmla="*/ 0 h 44"/>
                <a:gd name="T10" fmla="*/ 0 w 30"/>
                <a:gd name="T11" fmla="*/ 0 h 44"/>
                <a:gd name="T12" fmla="*/ 0 60000 65536"/>
                <a:gd name="T13" fmla="*/ 0 60000 65536"/>
                <a:gd name="T14" fmla="*/ 0 60000 65536"/>
                <a:gd name="T15" fmla="*/ 0 60000 65536"/>
                <a:gd name="T16" fmla="*/ 0 60000 65536"/>
                <a:gd name="T17" fmla="*/ 0 60000 65536"/>
                <a:gd name="T18" fmla="*/ 0 w 30"/>
                <a:gd name="T19" fmla="*/ 0 h 44"/>
                <a:gd name="T20" fmla="*/ 30 w 30"/>
                <a:gd name="T21" fmla="*/ 44 h 44"/>
              </a:gdLst>
              <a:ahLst/>
              <a:cxnLst>
                <a:cxn ang="T12">
                  <a:pos x="T0" y="T1"/>
                </a:cxn>
                <a:cxn ang="T13">
                  <a:pos x="T2" y="T3"/>
                </a:cxn>
                <a:cxn ang="T14">
                  <a:pos x="T4" y="T5"/>
                </a:cxn>
                <a:cxn ang="T15">
                  <a:pos x="T6" y="T7"/>
                </a:cxn>
                <a:cxn ang="T16">
                  <a:pos x="T8" y="T9"/>
                </a:cxn>
                <a:cxn ang="T17">
                  <a:pos x="T10" y="T11"/>
                </a:cxn>
              </a:cxnLst>
              <a:rect l="T18" t="T19" r="T20" b="T21"/>
              <a:pathLst>
                <a:path w="30" h="44">
                  <a:moveTo>
                    <a:pt x="0" y="0"/>
                  </a:moveTo>
                  <a:lnTo>
                    <a:pt x="0" y="36"/>
                  </a:lnTo>
                  <a:lnTo>
                    <a:pt x="17" y="44"/>
                  </a:lnTo>
                  <a:lnTo>
                    <a:pt x="30" y="9"/>
                  </a:lnTo>
                  <a:lnTo>
                    <a:pt x="0" y="0"/>
                  </a:lnTo>
                  <a:close/>
                </a:path>
              </a:pathLst>
            </a:custGeom>
            <a:solidFill>
              <a:srgbClr val="000000"/>
            </a:solidFill>
            <a:ln w="9525">
              <a:noFill/>
              <a:round/>
              <a:headEnd/>
              <a:tailEnd/>
            </a:ln>
          </p:spPr>
          <p:txBody>
            <a:bodyPr/>
            <a:lstStyle/>
            <a:p>
              <a:endParaRPr lang="en-US"/>
            </a:p>
          </p:txBody>
        </p:sp>
        <p:sp>
          <p:nvSpPr>
            <p:cNvPr id="51295" name="Freeform 95"/>
            <p:cNvSpPr>
              <a:spLocks/>
            </p:cNvSpPr>
            <p:nvPr/>
          </p:nvSpPr>
          <p:spPr bwMode="auto">
            <a:xfrm>
              <a:off x="2099" y="2712"/>
              <a:ext cx="63" cy="55"/>
            </a:xfrm>
            <a:custGeom>
              <a:avLst/>
              <a:gdLst>
                <a:gd name="T0" fmla="*/ 1 w 125"/>
                <a:gd name="T1" fmla="*/ 1 h 110"/>
                <a:gd name="T2" fmla="*/ 0 w 125"/>
                <a:gd name="T3" fmla="*/ 1 h 110"/>
                <a:gd name="T4" fmla="*/ 1 w 125"/>
                <a:gd name="T5" fmla="*/ 1 h 110"/>
                <a:gd name="T6" fmla="*/ 1 w 125"/>
                <a:gd name="T7" fmla="*/ 1 h 110"/>
                <a:gd name="T8" fmla="*/ 1 w 125"/>
                <a:gd name="T9" fmla="*/ 1 h 110"/>
                <a:gd name="T10" fmla="*/ 1 w 125"/>
                <a:gd name="T11" fmla="*/ 1 h 110"/>
                <a:gd name="T12" fmla="*/ 1 w 125"/>
                <a:gd name="T13" fmla="*/ 1 h 110"/>
                <a:gd name="T14" fmla="*/ 1 w 125"/>
                <a:gd name="T15" fmla="*/ 1 h 110"/>
                <a:gd name="T16" fmla="*/ 1 w 125"/>
                <a:gd name="T17" fmla="*/ 1 h 110"/>
                <a:gd name="T18" fmla="*/ 1 w 125"/>
                <a:gd name="T19" fmla="*/ 1 h 110"/>
                <a:gd name="T20" fmla="*/ 1 w 125"/>
                <a:gd name="T21" fmla="*/ 1 h 110"/>
                <a:gd name="T22" fmla="*/ 1 w 125"/>
                <a:gd name="T23" fmla="*/ 1 h 110"/>
                <a:gd name="T24" fmla="*/ 1 w 125"/>
                <a:gd name="T25" fmla="*/ 1 h 110"/>
                <a:gd name="T26" fmla="*/ 1 w 125"/>
                <a:gd name="T27" fmla="*/ 1 h 110"/>
                <a:gd name="T28" fmla="*/ 1 w 125"/>
                <a:gd name="T29" fmla="*/ 1 h 110"/>
                <a:gd name="T30" fmla="*/ 1 w 125"/>
                <a:gd name="T31" fmla="*/ 0 h 110"/>
                <a:gd name="T32" fmla="*/ 1 w 125"/>
                <a:gd name="T33" fmla="*/ 1 h 110"/>
                <a:gd name="T34" fmla="*/ 1 w 125"/>
                <a:gd name="T35" fmla="*/ 1 h 11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25"/>
                <a:gd name="T55" fmla="*/ 0 h 110"/>
                <a:gd name="T56" fmla="*/ 125 w 125"/>
                <a:gd name="T57" fmla="*/ 110 h 110"/>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25" h="110">
                  <a:moveTo>
                    <a:pt x="9" y="19"/>
                  </a:moveTo>
                  <a:lnTo>
                    <a:pt x="0" y="41"/>
                  </a:lnTo>
                  <a:lnTo>
                    <a:pt x="4" y="76"/>
                  </a:lnTo>
                  <a:lnTo>
                    <a:pt x="19" y="102"/>
                  </a:lnTo>
                  <a:lnTo>
                    <a:pt x="40" y="110"/>
                  </a:lnTo>
                  <a:lnTo>
                    <a:pt x="97" y="102"/>
                  </a:lnTo>
                  <a:lnTo>
                    <a:pt x="125" y="76"/>
                  </a:lnTo>
                  <a:lnTo>
                    <a:pt x="110" y="58"/>
                  </a:lnTo>
                  <a:lnTo>
                    <a:pt x="85" y="76"/>
                  </a:lnTo>
                  <a:lnTo>
                    <a:pt x="53" y="79"/>
                  </a:lnTo>
                  <a:lnTo>
                    <a:pt x="44" y="53"/>
                  </a:lnTo>
                  <a:lnTo>
                    <a:pt x="70" y="62"/>
                  </a:lnTo>
                  <a:lnTo>
                    <a:pt x="91" y="49"/>
                  </a:lnTo>
                  <a:lnTo>
                    <a:pt x="85" y="26"/>
                  </a:lnTo>
                  <a:lnTo>
                    <a:pt x="95" y="5"/>
                  </a:lnTo>
                  <a:lnTo>
                    <a:pt x="32" y="0"/>
                  </a:lnTo>
                  <a:lnTo>
                    <a:pt x="9" y="19"/>
                  </a:lnTo>
                  <a:close/>
                </a:path>
              </a:pathLst>
            </a:custGeom>
            <a:solidFill>
              <a:srgbClr val="000000"/>
            </a:solidFill>
            <a:ln w="9525">
              <a:noFill/>
              <a:round/>
              <a:headEnd/>
              <a:tailEnd/>
            </a:ln>
          </p:spPr>
          <p:txBody>
            <a:bodyPr/>
            <a:lstStyle/>
            <a:p>
              <a:endParaRPr lang="en-US"/>
            </a:p>
          </p:txBody>
        </p:sp>
        <p:sp>
          <p:nvSpPr>
            <p:cNvPr id="51296" name="Freeform 96"/>
            <p:cNvSpPr>
              <a:spLocks/>
            </p:cNvSpPr>
            <p:nvPr/>
          </p:nvSpPr>
          <p:spPr bwMode="auto">
            <a:xfrm>
              <a:off x="2159" y="2717"/>
              <a:ext cx="15" cy="21"/>
            </a:xfrm>
            <a:custGeom>
              <a:avLst/>
              <a:gdLst>
                <a:gd name="T0" fmla="*/ 0 w 30"/>
                <a:gd name="T1" fmla="*/ 0 h 44"/>
                <a:gd name="T2" fmla="*/ 0 w 30"/>
                <a:gd name="T3" fmla="*/ 0 h 44"/>
                <a:gd name="T4" fmla="*/ 1 w 30"/>
                <a:gd name="T5" fmla="*/ 0 h 44"/>
                <a:gd name="T6" fmla="*/ 1 w 30"/>
                <a:gd name="T7" fmla="*/ 0 h 44"/>
                <a:gd name="T8" fmla="*/ 0 w 30"/>
                <a:gd name="T9" fmla="*/ 0 h 44"/>
                <a:gd name="T10" fmla="*/ 0 w 30"/>
                <a:gd name="T11" fmla="*/ 0 h 44"/>
                <a:gd name="T12" fmla="*/ 0 60000 65536"/>
                <a:gd name="T13" fmla="*/ 0 60000 65536"/>
                <a:gd name="T14" fmla="*/ 0 60000 65536"/>
                <a:gd name="T15" fmla="*/ 0 60000 65536"/>
                <a:gd name="T16" fmla="*/ 0 60000 65536"/>
                <a:gd name="T17" fmla="*/ 0 60000 65536"/>
                <a:gd name="T18" fmla="*/ 0 w 30"/>
                <a:gd name="T19" fmla="*/ 0 h 44"/>
                <a:gd name="T20" fmla="*/ 30 w 30"/>
                <a:gd name="T21" fmla="*/ 44 h 44"/>
              </a:gdLst>
              <a:ahLst/>
              <a:cxnLst>
                <a:cxn ang="T12">
                  <a:pos x="T0" y="T1"/>
                </a:cxn>
                <a:cxn ang="T13">
                  <a:pos x="T2" y="T3"/>
                </a:cxn>
                <a:cxn ang="T14">
                  <a:pos x="T4" y="T5"/>
                </a:cxn>
                <a:cxn ang="T15">
                  <a:pos x="T6" y="T7"/>
                </a:cxn>
                <a:cxn ang="T16">
                  <a:pos x="T8" y="T9"/>
                </a:cxn>
                <a:cxn ang="T17">
                  <a:pos x="T10" y="T11"/>
                </a:cxn>
              </a:cxnLst>
              <a:rect l="T18" t="T19" r="T20" b="T21"/>
              <a:pathLst>
                <a:path w="30" h="44">
                  <a:moveTo>
                    <a:pt x="0" y="0"/>
                  </a:moveTo>
                  <a:lnTo>
                    <a:pt x="0" y="36"/>
                  </a:lnTo>
                  <a:lnTo>
                    <a:pt x="17" y="44"/>
                  </a:lnTo>
                  <a:lnTo>
                    <a:pt x="30" y="10"/>
                  </a:lnTo>
                  <a:lnTo>
                    <a:pt x="0" y="0"/>
                  </a:lnTo>
                  <a:close/>
                </a:path>
              </a:pathLst>
            </a:custGeom>
            <a:solidFill>
              <a:srgbClr val="000000"/>
            </a:solidFill>
            <a:ln w="9525">
              <a:noFill/>
              <a:round/>
              <a:headEnd/>
              <a:tailEnd/>
            </a:ln>
          </p:spPr>
          <p:txBody>
            <a:bodyPr/>
            <a:lstStyle/>
            <a:p>
              <a:endParaRPr lang="en-US"/>
            </a:p>
          </p:txBody>
        </p:sp>
        <p:sp>
          <p:nvSpPr>
            <p:cNvPr id="51297" name="Freeform 97"/>
            <p:cNvSpPr>
              <a:spLocks/>
            </p:cNvSpPr>
            <p:nvPr/>
          </p:nvSpPr>
          <p:spPr bwMode="auto">
            <a:xfrm>
              <a:off x="1716" y="2668"/>
              <a:ext cx="213" cy="88"/>
            </a:xfrm>
            <a:custGeom>
              <a:avLst/>
              <a:gdLst>
                <a:gd name="T0" fmla="*/ 1 w 425"/>
                <a:gd name="T1" fmla="*/ 0 h 177"/>
                <a:gd name="T2" fmla="*/ 1 w 425"/>
                <a:gd name="T3" fmla="*/ 0 h 177"/>
                <a:gd name="T4" fmla="*/ 1 w 425"/>
                <a:gd name="T5" fmla="*/ 0 h 177"/>
                <a:gd name="T6" fmla="*/ 1 w 425"/>
                <a:gd name="T7" fmla="*/ 0 h 177"/>
                <a:gd name="T8" fmla="*/ 1 w 425"/>
                <a:gd name="T9" fmla="*/ 0 h 177"/>
                <a:gd name="T10" fmla="*/ 1 w 425"/>
                <a:gd name="T11" fmla="*/ 0 h 177"/>
                <a:gd name="T12" fmla="*/ 1 w 425"/>
                <a:gd name="T13" fmla="*/ 0 h 177"/>
                <a:gd name="T14" fmla="*/ 1 w 425"/>
                <a:gd name="T15" fmla="*/ 0 h 177"/>
                <a:gd name="T16" fmla="*/ 1 w 425"/>
                <a:gd name="T17" fmla="*/ 0 h 177"/>
                <a:gd name="T18" fmla="*/ 1 w 425"/>
                <a:gd name="T19" fmla="*/ 0 h 177"/>
                <a:gd name="T20" fmla="*/ 1 w 425"/>
                <a:gd name="T21" fmla="*/ 0 h 177"/>
                <a:gd name="T22" fmla="*/ 1 w 425"/>
                <a:gd name="T23" fmla="*/ 0 h 177"/>
                <a:gd name="T24" fmla="*/ 1 w 425"/>
                <a:gd name="T25" fmla="*/ 0 h 177"/>
                <a:gd name="T26" fmla="*/ 1 w 425"/>
                <a:gd name="T27" fmla="*/ 0 h 177"/>
                <a:gd name="T28" fmla="*/ 1 w 425"/>
                <a:gd name="T29" fmla="*/ 0 h 177"/>
                <a:gd name="T30" fmla="*/ 1 w 425"/>
                <a:gd name="T31" fmla="*/ 0 h 177"/>
                <a:gd name="T32" fmla="*/ 1 w 425"/>
                <a:gd name="T33" fmla="*/ 0 h 177"/>
                <a:gd name="T34" fmla="*/ 0 w 425"/>
                <a:gd name="T35" fmla="*/ 0 h 177"/>
                <a:gd name="T36" fmla="*/ 1 w 425"/>
                <a:gd name="T37" fmla="*/ 0 h 177"/>
                <a:gd name="T38" fmla="*/ 1 w 425"/>
                <a:gd name="T39" fmla="*/ 0 h 177"/>
                <a:gd name="T40" fmla="*/ 1 w 425"/>
                <a:gd name="T41" fmla="*/ 0 h 17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25"/>
                <a:gd name="T64" fmla="*/ 0 h 177"/>
                <a:gd name="T65" fmla="*/ 425 w 425"/>
                <a:gd name="T66" fmla="*/ 177 h 17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25" h="177">
                  <a:moveTo>
                    <a:pt x="5" y="135"/>
                  </a:moveTo>
                  <a:lnTo>
                    <a:pt x="108" y="91"/>
                  </a:lnTo>
                  <a:lnTo>
                    <a:pt x="195" y="101"/>
                  </a:lnTo>
                  <a:lnTo>
                    <a:pt x="273" y="82"/>
                  </a:lnTo>
                  <a:lnTo>
                    <a:pt x="351" y="105"/>
                  </a:lnTo>
                  <a:lnTo>
                    <a:pt x="425" y="177"/>
                  </a:lnTo>
                  <a:lnTo>
                    <a:pt x="399" y="76"/>
                  </a:lnTo>
                  <a:lnTo>
                    <a:pt x="370" y="17"/>
                  </a:lnTo>
                  <a:lnTo>
                    <a:pt x="363" y="63"/>
                  </a:lnTo>
                  <a:lnTo>
                    <a:pt x="311" y="0"/>
                  </a:lnTo>
                  <a:lnTo>
                    <a:pt x="321" y="36"/>
                  </a:lnTo>
                  <a:lnTo>
                    <a:pt x="277" y="21"/>
                  </a:lnTo>
                  <a:lnTo>
                    <a:pt x="277" y="44"/>
                  </a:lnTo>
                  <a:lnTo>
                    <a:pt x="214" y="8"/>
                  </a:lnTo>
                  <a:lnTo>
                    <a:pt x="76" y="29"/>
                  </a:lnTo>
                  <a:lnTo>
                    <a:pt x="98" y="50"/>
                  </a:lnTo>
                  <a:lnTo>
                    <a:pt x="32" y="55"/>
                  </a:lnTo>
                  <a:lnTo>
                    <a:pt x="0" y="88"/>
                  </a:lnTo>
                  <a:lnTo>
                    <a:pt x="26" y="82"/>
                  </a:lnTo>
                  <a:lnTo>
                    <a:pt x="5" y="135"/>
                  </a:lnTo>
                  <a:close/>
                </a:path>
              </a:pathLst>
            </a:custGeom>
            <a:solidFill>
              <a:srgbClr val="000000"/>
            </a:solidFill>
            <a:ln w="9525">
              <a:noFill/>
              <a:round/>
              <a:headEnd/>
              <a:tailEnd/>
            </a:ln>
          </p:spPr>
          <p:txBody>
            <a:bodyPr/>
            <a:lstStyle/>
            <a:p>
              <a:endParaRPr lang="en-US"/>
            </a:p>
          </p:txBody>
        </p:sp>
        <p:sp>
          <p:nvSpPr>
            <p:cNvPr id="51298" name="Freeform 98"/>
            <p:cNvSpPr>
              <a:spLocks/>
            </p:cNvSpPr>
            <p:nvPr/>
          </p:nvSpPr>
          <p:spPr bwMode="auto">
            <a:xfrm>
              <a:off x="2006" y="2604"/>
              <a:ext cx="252" cy="132"/>
            </a:xfrm>
            <a:custGeom>
              <a:avLst/>
              <a:gdLst>
                <a:gd name="T0" fmla="*/ 0 w 504"/>
                <a:gd name="T1" fmla="*/ 1 h 264"/>
                <a:gd name="T2" fmla="*/ 1 w 504"/>
                <a:gd name="T3" fmla="*/ 1 h 264"/>
                <a:gd name="T4" fmla="*/ 1 w 504"/>
                <a:gd name="T5" fmla="*/ 1 h 264"/>
                <a:gd name="T6" fmla="*/ 1 w 504"/>
                <a:gd name="T7" fmla="*/ 1 h 264"/>
                <a:gd name="T8" fmla="*/ 1 w 504"/>
                <a:gd name="T9" fmla="*/ 1 h 264"/>
                <a:gd name="T10" fmla="*/ 1 w 504"/>
                <a:gd name="T11" fmla="*/ 1 h 264"/>
                <a:gd name="T12" fmla="*/ 1 w 504"/>
                <a:gd name="T13" fmla="*/ 1 h 264"/>
                <a:gd name="T14" fmla="*/ 1 w 504"/>
                <a:gd name="T15" fmla="*/ 1 h 264"/>
                <a:gd name="T16" fmla="*/ 1 w 504"/>
                <a:gd name="T17" fmla="*/ 0 h 264"/>
                <a:gd name="T18" fmla="*/ 1 w 504"/>
                <a:gd name="T19" fmla="*/ 1 h 264"/>
                <a:gd name="T20" fmla="*/ 1 w 504"/>
                <a:gd name="T21" fmla="*/ 1 h 264"/>
                <a:gd name="T22" fmla="*/ 1 w 504"/>
                <a:gd name="T23" fmla="*/ 1 h 264"/>
                <a:gd name="T24" fmla="*/ 1 w 504"/>
                <a:gd name="T25" fmla="*/ 1 h 264"/>
                <a:gd name="T26" fmla="*/ 1 w 504"/>
                <a:gd name="T27" fmla="*/ 1 h 264"/>
                <a:gd name="T28" fmla="*/ 1 w 504"/>
                <a:gd name="T29" fmla="*/ 1 h 264"/>
                <a:gd name="T30" fmla="*/ 1 w 504"/>
                <a:gd name="T31" fmla="*/ 1 h 264"/>
                <a:gd name="T32" fmla="*/ 1 w 504"/>
                <a:gd name="T33" fmla="*/ 1 h 264"/>
                <a:gd name="T34" fmla="*/ 1 w 504"/>
                <a:gd name="T35" fmla="*/ 1 h 264"/>
                <a:gd name="T36" fmla="*/ 1 w 504"/>
                <a:gd name="T37" fmla="*/ 1 h 264"/>
                <a:gd name="T38" fmla="*/ 1 w 504"/>
                <a:gd name="T39" fmla="*/ 1 h 264"/>
                <a:gd name="T40" fmla="*/ 1 w 504"/>
                <a:gd name="T41" fmla="*/ 1 h 264"/>
                <a:gd name="T42" fmla="*/ 0 w 504"/>
                <a:gd name="T43" fmla="*/ 1 h 264"/>
                <a:gd name="T44" fmla="*/ 0 w 504"/>
                <a:gd name="T45" fmla="*/ 1 h 26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504"/>
                <a:gd name="T70" fmla="*/ 0 h 264"/>
                <a:gd name="T71" fmla="*/ 504 w 504"/>
                <a:gd name="T72" fmla="*/ 264 h 264"/>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504" h="264">
                  <a:moveTo>
                    <a:pt x="0" y="201"/>
                  </a:moveTo>
                  <a:lnTo>
                    <a:pt x="21" y="123"/>
                  </a:lnTo>
                  <a:lnTo>
                    <a:pt x="31" y="156"/>
                  </a:lnTo>
                  <a:lnTo>
                    <a:pt x="61" y="95"/>
                  </a:lnTo>
                  <a:lnTo>
                    <a:pt x="84" y="114"/>
                  </a:lnTo>
                  <a:lnTo>
                    <a:pt x="126" y="78"/>
                  </a:lnTo>
                  <a:lnTo>
                    <a:pt x="191" y="45"/>
                  </a:lnTo>
                  <a:lnTo>
                    <a:pt x="289" y="11"/>
                  </a:lnTo>
                  <a:lnTo>
                    <a:pt x="358" y="0"/>
                  </a:lnTo>
                  <a:lnTo>
                    <a:pt x="424" y="49"/>
                  </a:lnTo>
                  <a:lnTo>
                    <a:pt x="504" y="121"/>
                  </a:lnTo>
                  <a:lnTo>
                    <a:pt x="396" y="78"/>
                  </a:lnTo>
                  <a:lnTo>
                    <a:pt x="430" y="110"/>
                  </a:lnTo>
                  <a:lnTo>
                    <a:pt x="356" y="80"/>
                  </a:lnTo>
                  <a:lnTo>
                    <a:pt x="375" y="110"/>
                  </a:lnTo>
                  <a:lnTo>
                    <a:pt x="295" y="87"/>
                  </a:lnTo>
                  <a:lnTo>
                    <a:pt x="158" y="135"/>
                  </a:lnTo>
                  <a:lnTo>
                    <a:pt x="92" y="159"/>
                  </a:lnTo>
                  <a:lnTo>
                    <a:pt x="128" y="173"/>
                  </a:lnTo>
                  <a:lnTo>
                    <a:pt x="50" y="199"/>
                  </a:lnTo>
                  <a:lnTo>
                    <a:pt x="35" y="264"/>
                  </a:lnTo>
                  <a:lnTo>
                    <a:pt x="0" y="201"/>
                  </a:lnTo>
                  <a:close/>
                </a:path>
              </a:pathLst>
            </a:custGeom>
            <a:solidFill>
              <a:srgbClr val="000000"/>
            </a:solidFill>
            <a:ln w="9525">
              <a:noFill/>
              <a:round/>
              <a:headEnd/>
              <a:tailEnd/>
            </a:ln>
          </p:spPr>
          <p:txBody>
            <a:bodyPr/>
            <a:lstStyle/>
            <a:p>
              <a:endParaRPr lang="en-US"/>
            </a:p>
          </p:txBody>
        </p:sp>
        <p:sp>
          <p:nvSpPr>
            <p:cNvPr id="51299" name="Freeform 99"/>
            <p:cNvSpPr>
              <a:spLocks/>
            </p:cNvSpPr>
            <p:nvPr/>
          </p:nvSpPr>
          <p:spPr bwMode="auto">
            <a:xfrm>
              <a:off x="1634" y="2747"/>
              <a:ext cx="32" cy="136"/>
            </a:xfrm>
            <a:custGeom>
              <a:avLst/>
              <a:gdLst>
                <a:gd name="T0" fmla="*/ 0 w 65"/>
                <a:gd name="T1" fmla="*/ 0 h 272"/>
                <a:gd name="T2" fmla="*/ 0 w 65"/>
                <a:gd name="T3" fmla="*/ 1 h 272"/>
                <a:gd name="T4" fmla="*/ 0 w 65"/>
                <a:gd name="T5" fmla="*/ 1 h 272"/>
                <a:gd name="T6" fmla="*/ 0 w 65"/>
                <a:gd name="T7" fmla="*/ 1 h 272"/>
                <a:gd name="T8" fmla="*/ 0 w 65"/>
                <a:gd name="T9" fmla="*/ 1 h 272"/>
                <a:gd name="T10" fmla="*/ 0 w 65"/>
                <a:gd name="T11" fmla="*/ 0 h 272"/>
                <a:gd name="T12" fmla="*/ 0 w 65"/>
                <a:gd name="T13" fmla="*/ 0 h 272"/>
                <a:gd name="T14" fmla="*/ 0 60000 65536"/>
                <a:gd name="T15" fmla="*/ 0 60000 65536"/>
                <a:gd name="T16" fmla="*/ 0 60000 65536"/>
                <a:gd name="T17" fmla="*/ 0 60000 65536"/>
                <a:gd name="T18" fmla="*/ 0 60000 65536"/>
                <a:gd name="T19" fmla="*/ 0 60000 65536"/>
                <a:gd name="T20" fmla="*/ 0 60000 65536"/>
                <a:gd name="T21" fmla="*/ 0 w 65"/>
                <a:gd name="T22" fmla="*/ 0 h 272"/>
                <a:gd name="T23" fmla="*/ 65 w 65"/>
                <a:gd name="T24" fmla="*/ 272 h 27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5" h="272">
                  <a:moveTo>
                    <a:pt x="53" y="0"/>
                  </a:moveTo>
                  <a:lnTo>
                    <a:pt x="65" y="135"/>
                  </a:lnTo>
                  <a:lnTo>
                    <a:pt x="23" y="272"/>
                  </a:lnTo>
                  <a:lnTo>
                    <a:pt x="0" y="194"/>
                  </a:lnTo>
                  <a:lnTo>
                    <a:pt x="19" y="91"/>
                  </a:lnTo>
                  <a:lnTo>
                    <a:pt x="53" y="0"/>
                  </a:lnTo>
                  <a:close/>
                </a:path>
              </a:pathLst>
            </a:custGeom>
            <a:solidFill>
              <a:srgbClr val="000000"/>
            </a:solidFill>
            <a:ln w="9525">
              <a:noFill/>
              <a:round/>
              <a:headEnd/>
              <a:tailEnd/>
            </a:ln>
          </p:spPr>
          <p:txBody>
            <a:bodyPr/>
            <a:lstStyle/>
            <a:p>
              <a:endParaRPr lang="en-US"/>
            </a:p>
          </p:txBody>
        </p:sp>
      </p:grpSp>
    </p:spTree>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idx="4294967295"/>
          </p:nvPr>
        </p:nvSpPr>
        <p:spPr>
          <a:xfrm>
            <a:off x="330200" y="533400"/>
            <a:ext cx="8915400" cy="990600"/>
          </a:xfrm>
        </p:spPr>
        <p:txBody>
          <a:bodyPr/>
          <a:lstStyle/>
          <a:p>
            <a:pPr eaLnBrk="1" hangingPunct="1"/>
            <a:r>
              <a:rPr lang="en-US" sz="4000" smtClean="0"/>
              <a:t>Jenis-jenis kecurangan</a:t>
            </a:r>
            <a:br>
              <a:rPr lang="en-US" sz="4000" smtClean="0"/>
            </a:br>
            <a:endParaRPr lang="en-US" sz="2000" smtClean="0"/>
          </a:p>
        </p:txBody>
      </p:sp>
      <p:sp>
        <p:nvSpPr>
          <p:cNvPr id="52227" name="Rectangle 3"/>
          <p:cNvSpPr>
            <a:spLocks noGrp="1" noChangeArrowheads="1"/>
          </p:cNvSpPr>
          <p:nvPr>
            <p:ph type="body" idx="4294967295"/>
          </p:nvPr>
        </p:nvSpPr>
        <p:spPr>
          <a:xfrm>
            <a:off x="495300" y="1600200"/>
            <a:ext cx="9163050" cy="4800600"/>
          </a:xfrm>
        </p:spPr>
        <p:txBody>
          <a:bodyPr/>
          <a:lstStyle/>
          <a:p>
            <a:pPr eaLnBrk="1" hangingPunct="1">
              <a:lnSpc>
                <a:spcPct val="80000"/>
              </a:lnSpc>
              <a:buClr>
                <a:schemeClr val="tx1"/>
              </a:buClr>
              <a:buSzTx/>
            </a:pPr>
            <a:r>
              <a:rPr lang="en-US" sz="2000" smtClean="0"/>
              <a:t>PwC : “The Emerging Role of Internal Audit in Mitigating Fraud and Reputation Risk” :</a:t>
            </a:r>
          </a:p>
          <a:p>
            <a:pPr lvl="1" eaLnBrk="1" hangingPunct="1">
              <a:lnSpc>
                <a:spcPct val="80000"/>
              </a:lnSpc>
              <a:buClr>
                <a:schemeClr val="tx1"/>
              </a:buClr>
              <a:buSzTx/>
            </a:pPr>
            <a:r>
              <a:rPr lang="en-US" sz="2500" smtClean="0"/>
              <a:t>Kecurangan laporan keuangan </a:t>
            </a:r>
          </a:p>
          <a:p>
            <a:pPr lvl="2" eaLnBrk="1" hangingPunct="1">
              <a:lnSpc>
                <a:spcPct val="80000"/>
              </a:lnSpc>
              <a:buClr>
                <a:schemeClr val="tx1"/>
              </a:buClr>
              <a:buSzTx/>
            </a:pPr>
            <a:r>
              <a:rPr lang="en-US" sz="2200" smtClean="0"/>
              <a:t>Menyajikan kesalahan dalam laporan keuangan dengan tujuan tertentu</a:t>
            </a:r>
          </a:p>
          <a:p>
            <a:pPr lvl="2" eaLnBrk="1" hangingPunct="1">
              <a:lnSpc>
                <a:spcPct val="80000"/>
              </a:lnSpc>
              <a:buClr>
                <a:schemeClr val="tx1"/>
              </a:buClr>
              <a:buSzTx/>
            </a:pPr>
            <a:r>
              <a:rPr lang="en-US" sz="2200" smtClean="0"/>
              <a:t>Lebih saji (overstatement) aktiva</a:t>
            </a:r>
          </a:p>
          <a:p>
            <a:pPr lvl="2" eaLnBrk="1" hangingPunct="1">
              <a:lnSpc>
                <a:spcPct val="80000"/>
              </a:lnSpc>
              <a:buClr>
                <a:schemeClr val="tx1"/>
              </a:buClr>
              <a:buSzTx/>
            </a:pPr>
            <a:r>
              <a:rPr lang="en-US" sz="2200" smtClean="0"/>
              <a:t>Kurang saji (understatement) hutang dan biaya</a:t>
            </a:r>
          </a:p>
          <a:p>
            <a:pPr lvl="1" eaLnBrk="1" hangingPunct="1">
              <a:lnSpc>
                <a:spcPct val="80000"/>
              </a:lnSpc>
              <a:buClr>
                <a:schemeClr val="tx1"/>
              </a:buClr>
              <a:buSzTx/>
            </a:pPr>
            <a:r>
              <a:rPr lang="en-US" sz="2500" smtClean="0"/>
              <a:t>Penyalahgunaan Asset </a:t>
            </a:r>
          </a:p>
          <a:p>
            <a:pPr lvl="2" eaLnBrk="1" hangingPunct="1">
              <a:lnSpc>
                <a:spcPct val="80000"/>
              </a:lnSpc>
              <a:buClr>
                <a:schemeClr val="tx1"/>
              </a:buClr>
              <a:buSzTx/>
            </a:pPr>
            <a:r>
              <a:rPr lang="en-US" sz="2200" smtClean="0"/>
              <a:t>Kecurangan terhadap kas dan kecurangan terhadap inventory dan asset lainnya</a:t>
            </a:r>
          </a:p>
          <a:p>
            <a:pPr lvl="2" eaLnBrk="1" hangingPunct="1">
              <a:lnSpc>
                <a:spcPct val="80000"/>
              </a:lnSpc>
              <a:buClr>
                <a:schemeClr val="tx1"/>
              </a:buClr>
              <a:buSzTx/>
            </a:pPr>
            <a:r>
              <a:rPr lang="en-US" sz="2200" smtClean="0"/>
              <a:t>Pemalsuan dan pengalihan produk</a:t>
            </a:r>
          </a:p>
          <a:p>
            <a:pPr lvl="1" eaLnBrk="1" hangingPunct="1">
              <a:lnSpc>
                <a:spcPct val="80000"/>
              </a:lnSpc>
              <a:buClr>
                <a:schemeClr val="tx1"/>
              </a:buClr>
              <a:buSzTx/>
            </a:pPr>
            <a:r>
              <a:rPr lang="en-US" sz="2500" smtClean="0"/>
              <a:t>Pengeluaran atau timbulnya kewajiban yang tidak pada tempatnya</a:t>
            </a:r>
          </a:p>
          <a:p>
            <a:pPr lvl="2" eaLnBrk="1" hangingPunct="1">
              <a:lnSpc>
                <a:spcPct val="80000"/>
              </a:lnSpc>
              <a:buClr>
                <a:schemeClr val="tx1"/>
              </a:buClr>
              <a:buSzTx/>
            </a:pPr>
            <a:r>
              <a:rPr lang="en-US" sz="2200" smtClean="0"/>
              <a:t>Conflict of interest, Suap (bribery) pemberian ilegal dan pemerasan</a:t>
            </a:r>
          </a:p>
        </p:txBody>
      </p:sp>
    </p:spTree>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Text Box 3"/>
          <p:cNvSpPr txBox="1">
            <a:spLocks noChangeArrowheads="1"/>
          </p:cNvSpPr>
          <p:nvPr/>
        </p:nvSpPr>
        <p:spPr bwMode="auto">
          <a:xfrm>
            <a:off x="6122459" y="1916113"/>
            <a:ext cx="423514" cy="461665"/>
          </a:xfrm>
          <a:prstGeom prst="rect">
            <a:avLst/>
          </a:prstGeom>
          <a:noFill/>
          <a:ln w="9525">
            <a:noFill/>
            <a:miter lim="800000"/>
            <a:headEnd/>
            <a:tailEnd/>
          </a:ln>
          <a:effectLst/>
        </p:spPr>
        <p:txBody>
          <a:bodyPr wrap="none">
            <a:spAutoFit/>
          </a:bodyPr>
          <a:lstStyle/>
          <a:p>
            <a:pPr>
              <a:defRPr/>
            </a:pPr>
            <a:r>
              <a:rPr lang="en-US" sz="2400" b="1">
                <a:effectLst>
                  <a:outerShdw blurRad="38100" dist="38100" dir="2700000" algn="tl">
                    <a:srgbClr val="C0C0C0"/>
                  </a:outerShdw>
                </a:effectLst>
                <a:cs typeface="Times New Roman" pitchFamily="18" charset="0"/>
              </a:rPr>
              <a:t>G</a:t>
            </a:r>
            <a:endParaRPr lang="en-US" sz="2400" b="1" noProof="1">
              <a:effectLst>
                <a:outerShdw blurRad="38100" dist="38100" dir="2700000" algn="tl">
                  <a:srgbClr val="C0C0C0"/>
                </a:outerShdw>
              </a:effectLst>
              <a:cs typeface="Times New Roman" pitchFamily="18" charset="0"/>
            </a:endParaRPr>
          </a:p>
        </p:txBody>
      </p:sp>
      <p:sp>
        <p:nvSpPr>
          <p:cNvPr id="26628" name="Text Box 4"/>
          <p:cNvSpPr txBox="1">
            <a:spLocks noChangeArrowheads="1"/>
          </p:cNvSpPr>
          <p:nvPr/>
        </p:nvSpPr>
        <p:spPr bwMode="auto">
          <a:xfrm>
            <a:off x="6158575" y="2728913"/>
            <a:ext cx="423514" cy="461665"/>
          </a:xfrm>
          <a:prstGeom prst="rect">
            <a:avLst/>
          </a:prstGeom>
          <a:noFill/>
          <a:ln w="9525">
            <a:noFill/>
            <a:miter lim="800000"/>
            <a:headEnd/>
            <a:tailEnd/>
          </a:ln>
          <a:effectLst/>
        </p:spPr>
        <p:txBody>
          <a:bodyPr wrap="none">
            <a:spAutoFit/>
          </a:bodyPr>
          <a:lstStyle/>
          <a:p>
            <a:pPr>
              <a:defRPr/>
            </a:pPr>
            <a:r>
              <a:rPr lang="en-US" sz="2400" b="1">
                <a:effectLst>
                  <a:outerShdw blurRad="38100" dist="38100" dir="2700000" algn="tl">
                    <a:srgbClr val="C0C0C0"/>
                  </a:outerShdw>
                </a:effectLst>
                <a:cs typeface="Times New Roman" pitchFamily="18" charset="0"/>
              </a:rPr>
              <a:t>O</a:t>
            </a:r>
            <a:endParaRPr lang="en-US" sz="2400" b="1" noProof="1">
              <a:effectLst>
                <a:outerShdw blurRad="38100" dist="38100" dir="2700000" algn="tl">
                  <a:srgbClr val="C0C0C0"/>
                </a:outerShdw>
              </a:effectLst>
              <a:cs typeface="Times New Roman" pitchFamily="18" charset="0"/>
            </a:endParaRPr>
          </a:p>
        </p:txBody>
      </p:sp>
      <p:sp>
        <p:nvSpPr>
          <p:cNvPr id="26629" name="Text Box 5"/>
          <p:cNvSpPr txBox="1">
            <a:spLocks noChangeArrowheads="1"/>
          </p:cNvSpPr>
          <p:nvPr/>
        </p:nvSpPr>
        <p:spPr bwMode="auto">
          <a:xfrm>
            <a:off x="6122459" y="3500438"/>
            <a:ext cx="438547" cy="457200"/>
          </a:xfrm>
          <a:prstGeom prst="rect">
            <a:avLst/>
          </a:prstGeom>
          <a:noFill/>
          <a:ln w="9525">
            <a:noFill/>
            <a:miter lim="800000"/>
            <a:headEnd/>
            <a:tailEnd/>
          </a:ln>
          <a:effectLst/>
        </p:spPr>
        <p:txBody>
          <a:bodyPr>
            <a:spAutoFit/>
          </a:bodyPr>
          <a:lstStyle/>
          <a:p>
            <a:pPr>
              <a:defRPr/>
            </a:pPr>
            <a:r>
              <a:rPr lang="en-US" sz="2400" b="1">
                <a:effectLst>
                  <a:outerShdw blurRad="38100" dist="38100" dir="2700000" algn="tl">
                    <a:srgbClr val="C0C0C0"/>
                  </a:outerShdw>
                </a:effectLst>
                <a:cs typeface="Times New Roman" pitchFamily="18" charset="0"/>
              </a:rPr>
              <a:t>N</a:t>
            </a:r>
            <a:endParaRPr lang="en-US" sz="2400" b="1" noProof="1">
              <a:effectLst>
                <a:outerShdw blurRad="38100" dist="38100" dir="2700000" algn="tl">
                  <a:srgbClr val="C0C0C0"/>
                </a:outerShdw>
              </a:effectLst>
              <a:cs typeface="Times New Roman" pitchFamily="18" charset="0"/>
            </a:endParaRPr>
          </a:p>
        </p:txBody>
      </p:sp>
      <p:sp>
        <p:nvSpPr>
          <p:cNvPr id="26630" name="Text Box 6"/>
          <p:cNvSpPr txBox="1">
            <a:spLocks noChangeArrowheads="1"/>
          </p:cNvSpPr>
          <p:nvPr/>
        </p:nvSpPr>
        <p:spPr bwMode="auto">
          <a:xfrm>
            <a:off x="6158575" y="4314825"/>
            <a:ext cx="389850" cy="461665"/>
          </a:xfrm>
          <a:prstGeom prst="rect">
            <a:avLst/>
          </a:prstGeom>
          <a:noFill/>
          <a:ln w="9525">
            <a:noFill/>
            <a:miter lim="800000"/>
            <a:headEnd/>
            <a:tailEnd/>
          </a:ln>
          <a:effectLst/>
        </p:spPr>
        <p:txBody>
          <a:bodyPr wrap="none">
            <a:spAutoFit/>
          </a:bodyPr>
          <a:lstStyle/>
          <a:p>
            <a:pPr>
              <a:defRPr/>
            </a:pPr>
            <a:r>
              <a:rPr lang="en-US" sz="2400" b="1">
                <a:effectLst>
                  <a:outerShdw blurRad="38100" dist="38100" dir="2700000" algn="tl">
                    <a:srgbClr val="C0C0C0"/>
                  </a:outerShdw>
                </a:effectLst>
                <a:cs typeface="Times New Roman" pitchFamily="18" charset="0"/>
              </a:rPr>
              <a:t>E</a:t>
            </a:r>
            <a:endParaRPr lang="en-US" sz="2400" b="1" noProof="1">
              <a:effectLst>
                <a:outerShdw blurRad="38100" dist="38100" dir="2700000" algn="tl">
                  <a:srgbClr val="C0C0C0"/>
                </a:outerShdw>
              </a:effectLst>
              <a:cs typeface="Times New Roman" pitchFamily="18" charset="0"/>
            </a:endParaRPr>
          </a:p>
        </p:txBody>
      </p:sp>
      <p:sp>
        <p:nvSpPr>
          <p:cNvPr id="26631" name="Text Box 7"/>
          <p:cNvSpPr txBox="1">
            <a:spLocks noChangeArrowheads="1"/>
          </p:cNvSpPr>
          <p:nvPr/>
        </p:nvSpPr>
        <p:spPr bwMode="auto">
          <a:xfrm>
            <a:off x="1248569" y="1909763"/>
            <a:ext cx="1685846" cy="523220"/>
          </a:xfrm>
          <a:prstGeom prst="rect">
            <a:avLst/>
          </a:prstGeom>
          <a:noFill/>
          <a:ln w="9525">
            <a:noFill/>
            <a:miter lim="800000"/>
            <a:headEnd/>
            <a:tailEnd/>
          </a:ln>
          <a:effectLst/>
        </p:spPr>
        <p:txBody>
          <a:bodyPr wrap="none">
            <a:spAutoFit/>
          </a:bodyPr>
          <a:lstStyle/>
          <a:p>
            <a:pPr fontAlgn="auto">
              <a:spcBef>
                <a:spcPts val="0"/>
              </a:spcBef>
              <a:spcAft>
                <a:spcPts val="0"/>
              </a:spcAft>
              <a:defRPr/>
            </a:pPr>
            <a:r>
              <a:rPr lang="en-US" sz="2800" b="1">
                <a:effectLst>
                  <a:outerShdw blurRad="38100" dist="38100" dir="2700000" algn="tl">
                    <a:srgbClr val="C0C0C0"/>
                  </a:outerShdw>
                </a:effectLst>
                <a:latin typeface="Arial Rounded MT Bold" pitchFamily="34" charset="0"/>
                <a:cs typeface="Times New Roman" pitchFamily="18" charset="0"/>
              </a:rPr>
              <a:t>GREEDY</a:t>
            </a:r>
            <a:endParaRPr lang="en-US" sz="2800" b="1" noProof="1">
              <a:effectLst>
                <a:outerShdw blurRad="38100" dist="38100" dir="2700000" algn="tl">
                  <a:srgbClr val="C0C0C0"/>
                </a:outerShdw>
              </a:effectLst>
              <a:latin typeface="Arial Rounded MT Bold" pitchFamily="34" charset="0"/>
              <a:cs typeface="Times New Roman" pitchFamily="18" charset="0"/>
            </a:endParaRPr>
          </a:p>
        </p:txBody>
      </p:sp>
      <p:sp>
        <p:nvSpPr>
          <p:cNvPr id="26632" name="Text Box 8"/>
          <p:cNvSpPr txBox="1">
            <a:spLocks noChangeArrowheads="1"/>
          </p:cNvSpPr>
          <p:nvPr/>
        </p:nvSpPr>
        <p:spPr bwMode="auto">
          <a:xfrm>
            <a:off x="1363796" y="2708276"/>
            <a:ext cx="2806922" cy="523220"/>
          </a:xfrm>
          <a:prstGeom prst="rect">
            <a:avLst/>
          </a:prstGeom>
          <a:noFill/>
          <a:ln w="9525">
            <a:noFill/>
            <a:miter lim="800000"/>
            <a:headEnd/>
            <a:tailEnd/>
          </a:ln>
          <a:effectLst/>
        </p:spPr>
        <p:txBody>
          <a:bodyPr wrap="none">
            <a:spAutoFit/>
          </a:bodyPr>
          <a:lstStyle/>
          <a:p>
            <a:pPr fontAlgn="auto">
              <a:spcBef>
                <a:spcPts val="0"/>
              </a:spcBef>
              <a:spcAft>
                <a:spcPts val="0"/>
              </a:spcAft>
              <a:defRPr/>
            </a:pPr>
            <a:r>
              <a:rPr lang="en-US" sz="2800" b="1">
                <a:effectLst>
                  <a:outerShdw blurRad="38100" dist="38100" dir="2700000" algn="tl">
                    <a:srgbClr val="C0C0C0"/>
                  </a:outerShdw>
                </a:effectLst>
                <a:latin typeface="Arial Rounded MT Bold" pitchFamily="34" charset="0"/>
                <a:cs typeface="Times New Roman" pitchFamily="18" charset="0"/>
              </a:rPr>
              <a:t>OPPORTUNITY</a:t>
            </a:r>
            <a:endParaRPr lang="en-US" sz="2800" b="1" noProof="1">
              <a:effectLst>
                <a:outerShdw blurRad="38100" dist="38100" dir="2700000" algn="tl">
                  <a:srgbClr val="C0C0C0"/>
                </a:outerShdw>
              </a:effectLst>
              <a:latin typeface="Arial Rounded MT Bold" pitchFamily="34" charset="0"/>
              <a:cs typeface="Times New Roman" pitchFamily="18" charset="0"/>
            </a:endParaRPr>
          </a:p>
        </p:txBody>
      </p:sp>
      <p:sp>
        <p:nvSpPr>
          <p:cNvPr id="26633" name="Text Box 9"/>
          <p:cNvSpPr txBox="1">
            <a:spLocks noChangeArrowheads="1"/>
          </p:cNvSpPr>
          <p:nvPr/>
        </p:nvSpPr>
        <p:spPr bwMode="auto">
          <a:xfrm>
            <a:off x="1442906" y="3357563"/>
            <a:ext cx="1444626" cy="523220"/>
          </a:xfrm>
          <a:prstGeom prst="rect">
            <a:avLst/>
          </a:prstGeom>
          <a:noFill/>
          <a:ln w="9525">
            <a:noFill/>
            <a:miter lim="800000"/>
            <a:headEnd/>
            <a:tailEnd/>
          </a:ln>
          <a:effectLst/>
        </p:spPr>
        <p:txBody>
          <a:bodyPr wrap="none">
            <a:spAutoFit/>
          </a:bodyPr>
          <a:lstStyle/>
          <a:p>
            <a:pPr fontAlgn="auto">
              <a:spcBef>
                <a:spcPts val="0"/>
              </a:spcBef>
              <a:spcAft>
                <a:spcPts val="0"/>
              </a:spcAft>
              <a:defRPr/>
            </a:pPr>
            <a:r>
              <a:rPr lang="en-US" sz="2800" b="1">
                <a:effectLst>
                  <a:outerShdw blurRad="38100" dist="38100" dir="2700000" algn="tl">
                    <a:srgbClr val="C0C0C0"/>
                  </a:outerShdw>
                </a:effectLst>
                <a:latin typeface="Arial Rounded MT Bold" pitchFamily="34" charset="0"/>
                <a:cs typeface="Times New Roman" pitchFamily="18" charset="0"/>
              </a:rPr>
              <a:t>NEEDS</a:t>
            </a:r>
            <a:endParaRPr lang="en-US" sz="2800" b="1" noProof="1">
              <a:effectLst>
                <a:outerShdw blurRad="38100" dist="38100" dir="2700000" algn="tl">
                  <a:srgbClr val="C0C0C0"/>
                </a:outerShdw>
              </a:effectLst>
              <a:latin typeface="Arial Rounded MT Bold" pitchFamily="34" charset="0"/>
              <a:cs typeface="Times New Roman" pitchFamily="18" charset="0"/>
            </a:endParaRPr>
          </a:p>
        </p:txBody>
      </p:sp>
      <p:sp>
        <p:nvSpPr>
          <p:cNvPr id="26634" name="Text Box 10"/>
          <p:cNvSpPr txBox="1">
            <a:spLocks noChangeArrowheads="1"/>
          </p:cNvSpPr>
          <p:nvPr/>
        </p:nvSpPr>
        <p:spPr bwMode="auto">
          <a:xfrm>
            <a:off x="1442906" y="4076701"/>
            <a:ext cx="2178802" cy="523220"/>
          </a:xfrm>
          <a:prstGeom prst="rect">
            <a:avLst/>
          </a:prstGeom>
          <a:noFill/>
          <a:ln w="9525">
            <a:noFill/>
            <a:miter lim="800000"/>
            <a:headEnd/>
            <a:tailEnd/>
          </a:ln>
          <a:effectLst/>
        </p:spPr>
        <p:txBody>
          <a:bodyPr wrap="none">
            <a:spAutoFit/>
          </a:bodyPr>
          <a:lstStyle/>
          <a:p>
            <a:pPr fontAlgn="auto">
              <a:spcBef>
                <a:spcPts val="0"/>
              </a:spcBef>
              <a:spcAft>
                <a:spcPts val="0"/>
              </a:spcAft>
              <a:defRPr/>
            </a:pPr>
            <a:r>
              <a:rPr lang="en-US" sz="2800" b="1">
                <a:effectLst>
                  <a:outerShdw blurRad="38100" dist="38100" dir="2700000" algn="tl">
                    <a:srgbClr val="C0C0C0"/>
                  </a:outerShdw>
                </a:effectLst>
                <a:latin typeface="Arial Rounded MT Bold" pitchFamily="34" charset="0"/>
                <a:cs typeface="Times New Roman" pitchFamily="18" charset="0"/>
              </a:rPr>
              <a:t>EXPOSURE</a:t>
            </a:r>
            <a:endParaRPr lang="en-US" sz="2800" b="1" noProof="1">
              <a:effectLst>
                <a:outerShdw blurRad="38100" dist="38100" dir="2700000" algn="tl">
                  <a:srgbClr val="C0C0C0"/>
                </a:outerShdw>
              </a:effectLst>
              <a:latin typeface="Arial Rounded MT Bold" pitchFamily="34" charset="0"/>
              <a:cs typeface="Times New Roman" pitchFamily="18" charset="0"/>
            </a:endParaRPr>
          </a:p>
        </p:txBody>
      </p:sp>
      <p:sp>
        <p:nvSpPr>
          <p:cNvPr id="26635" name="Rectangle 11"/>
          <p:cNvSpPr>
            <a:spLocks noGrp="1" noChangeArrowheads="1"/>
          </p:cNvSpPr>
          <p:nvPr>
            <p:ph type="title" idx="4294967295"/>
          </p:nvPr>
        </p:nvSpPr>
        <p:spPr bwMode="auto">
          <a:xfrm>
            <a:off x="0" y="457200"/>
            <a:ext cx="8915400" cy="1371600"/>
          </a:xfrm>
          <a:noFill/>
        </p:spPr>
        <p:txBody>
          <a:bodyPr wrap="square" lIns="91440" tIns="45720" rIns="91440" bIns="45720" numCol="1" anchorCtr="0" compatLnSpc="1">
            <a:prstTxWarp prst="textNoShape">
              <a:avLst/>
            </a:prstTxWarp>
          </a:bodyPr>
          <a:lstStyle/>
          <a:p>
            <a:pPr eaLnBrk="1" hangingPunct="1"/>
            <a:r>
              <a:rPr lang="en-US" cap="none" smtClean="0">
                <a:effectLst/>
              </a:rPr>
              <a:t>GONE Theory…???</a:t>
            </a:r>
          </a:p>
        </p:txBody>
      </p:sp>
      <p:pic>
        <p:nvPicPr>
          <p:cNvPr id="126987" name="Picture 5" descr="3"/>
          <p:cNvPicPr>
            <a:picLocks noChangeAspect="1" noChangeArrowheads="1" noCrop="1"/>
          </p:cNvPicPr>
          <p:nvPr/>
        </p:nvPicPr>
        <p:blipFill>
          <a:blip r:embed="rId3"/>
          <a:srcRect/>
          <a:stretch>
            <a:fillRect/>
          </a:stretch>
        </p:blipFill>
        <p:spPr bwMode="auto">
          <a:xfrm>
            <a:off x="7543007" y="3429000"/>
            <a:ext cx="1525456" cy="2057400"/>
          </a:xfrm>
          <a:prstGeom prst="rect">
            <a:avLst/>
          </a:prstGeom>
          <a:noFill/>
          <a:ln w="9525">
            <a:noFill/>
            <a:miter lim="800000"/>
            <a:headEnd/>
            <a:tailEnd/>
          </a:ln>
        </p:spPr>
      </p:pic>
    </p:spTree>
  </p:cSld>
  <p:clrMapOvr>
    <a:masterClrMapping/>
  </p:clrMapOvr>
  <p:transition>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6635"/>
                                        </p:tgtEl>
                                        <p:attrNameLst>
                                          <p:attrName>style.visibility</p:attrName>
                                        </p:attrNameLst>
                                      </p:cBhvr>
                                      <p:to>
                                        <p:strVal val="visible"/>
                                      </p:to>
                                    </p:set>
                                    <p:animEffect transition="in" filter="dissolve">
                                      <p:cBhvr>
                                        <p:cTn id="7" dur="500"/>
                                        <p:tgtEl>
                                          <p:spTgt spid="26635"/>
                                        </p:tgtEl>
                                      </p:cBhvr>
                                    </p:animEffect>
                                  </p:childTnLst>
                                </p:cTn>
                              </p:par>
                              <p:par>
                                <p:cTn id="8" presetID="31" presetClass="entr" presetSubtype="0" fill="hold" grpId="0" nodeType="withEffect">
                                  <p:stCondLst>
                                    <p:cond delay="0"/>
                                  </p:stCondLst>
                                  <p:iterate type="lt">
                                    <p:tmPct val="5000"/>
                                  </p:iterate>
                                  <p:childTnLst>
                                    <p:set>
                                      <p:cBhvr>
                                        <p:cTn id="9" dur="1" fill="hold">
                                          <p:stCondLst>
                                            <p:cond delay="0"/>
                                          </p:stCondLst>
                                        </p:cTn>
                                        <p:tgtEl>
                                          <p:spTgt spid="26627"/>
                                        </p:tgtEl>
                                        <p:attrNameLst>
                                          <p:attrName>style.visibility</p:attrName>
                                        </p:attrNameLst>
                                      </p:cBhvr>
                                      <p:to>
                                        <p:strVal val="visible"/>
                                      </p:to>
                                    </p:set>
                                    <p:anim calcmode="lin" valueType="num">
                                      <p:cBhvr>
                                        <p:cTn id="10" dur="1000" fill="hold"/>
                                        <p:tgtEl>
                                          <p:spTgt spid="26627"/>
                                        </p:tgtEl>
                                        <p:attrNameLst>
                                          <p:attrName>ppt_w</p:attrName>
                                        </p:attrNameLst>
                                      </p:cBhvr>
                                      <p:tavLst>
                                        <p:tav tm="0">
                                          <p:val>
                                            <p:fltVal val="0"/>
                                          </p:val>
                                        </p:tav>
                                        <p:tav tm="100000">
                                          <p:val>
                                            <p:strVal val="#ppt_w"/>
                                          </p:val>
                                        </p:tav>
                                      </p:tavLst>
                                    </p:anim>
                                    <p:anim calcmode="lin" valueType="num">
                                      <p:cBhvr>
                                        <p:cTn id="11" dur="1000" fill="hold"/>
                                        <p:tgtEl>
                                          <p:spTgt spid="26627"/>
                                        </p:tgtEl>
                                        <p:attrNameLst>
                                          <p:attrName>ppt_h</p:attrName>
                                        </p:attrNameLst>
                                      </p:cBhvr>
                                      <p:tavLst>
                                        <p:tav tm="0">
                                          <p:val>
                                            <p:fltVal val="0"/>
                                          </p:val>
                                        </p:tav>
                                        <p:tav tm="100000">
                                          <p:val>
                                            <p:strVal val="#ppt_h"/>
                                          </p:val>
                                        </p:tav>
                                      </p:tavLst>
                                    </p:anim>
                                    <p:anim calcmode="lin" valueType="num">
                                      <p:cBhvr>
                                        <p:cTn id="12" dur="1000" fill="hold"/>
                                        <p:tgtEl>
                                          <p:spTgt spid="26627"/>
                                        </p:tgtEl>
                                        <p:attrNameLst>
                                          <p:attrName>style.rotation</p:attrName>
                                        </p:attrNameLst>
                                      </p:cBhvr>
                                      <p:tavLst>
                                        <p:tav tm="0">
                                          <p:val>
                                            <p:fltVal val="90"/>
                                          </p:val>
                                        </p:tav>
                                        <p:tav tm="100000">
                                          <p:val>
                                            <p:fltVal val="0"/>
                                          </p:val>
                                        </p:tav>
                                      </p:tavLst>
                                    </p:anim>
                                    <p:animEffect transition="in" filter="fade">
                                      <p:cBhvr>
                                        <p:cTn id="13" dur="1000"/>
                                        <p:tgtEl>
                                          <p:spTgt spid="26627"/>
                                        </p:tgtEl>
                                      </p:cBhvr>
                                    </p:animEffect>
                                  </p:childTnLst>
                                </p:cTn>
                              </p:par>
                              <p:par>
                                <p:cTn id="14" presetID="31" presetClass="entr" presetSubtype="0" fill="hold" grpId="0" nodeType="withEffect">
                                  <p:stCondLst>
                                    <p:cond delay="0"/>
                                  </p:stCondLst>
                                  <p:iterate type="lt">
                                    <p:tmPct val="5000"/>
                                  </p:iterate>
                                  <p:childTnLst>
                                    <p:set>
                                      <p:cBhvr>
                                        <p:cTn id="15" dur="1" fill="hold">
                                          <p:stCondLst>
                                            <p:cond delay="0"/>
                                          </p:stCondLst>
                                        </p:cTn>
                                        <p:tgtEl>
                                          <p:spTgt spid="26629"/>
                                        </p:tgtEl>
                                        <p:attrNameLst>
                                          <p:attrName>style.visibility</p:attrName>
                                        </p:attrNameLst>
                                      </p:cBhvr>
                                      <p:to>
                                        <p:strVal val="visible"/>
                                      </p:to>
                                    </p:set>
                                    <p:anim calcmode="lin" valueType="num">
                                      <p:cBhvr>
                                        <p:cTn id="16" dur="1000" fill="hold"/>
                                        <p:tgtEl>
                                          <p:spTgt spid="26629"/>
                                        </p:tgtEl>
                                        <p:attrNameLst>
                                          <p:attrName>ppt_w</p:attrName>
                                        </p:attrNameLst>
                                      </p:cBhvr>
                                      <p:tavLst>
                                        <p:tav tm="0">
                                          <p:val>
                                            <p:fltVal val="0"/>
                                          </p:val>
                                        </p:tav>
                                        <p:tav tm="100000">
                                          <p:val>
                                            <p:strVal val="#ppt_w"/>
                                          </p:val>
                                        </p:tav>
                                      </p:tavLst>
                                    </p:anim>
                                    <p:anim calcmode="lin" valueType="num">
                                      <p:cBhvr>
                                        <p:cTn id="17" dur="1000" fill="hold"/>
                                        <p:tgtEl>
                                          <p:spTgt spid="26629"/>
                                        </p:tgtEl>
                                        <p:attrNameLst>
                                          <p:attrName>ppt_h</p:attrName>
                                        </p:attrNameLst>
                                      </p:cBhvr>
                                      <p:tavLst>
                                        <p:tav tm="0">
                                          <p:val>
                                            <p:fltVal val="0"/>
                                          </p:val>
                                        </p:tav>
                                        <p:tav tm="100000">
                                          <p:val>
                                            <p:strVal val="#ppt_h"/>
                                          </p:val>
                                        </p:tav>
                                      </p:tavLst>
                                    </p:anim>
                                    <p:anim calcmode="lin" valueType="num">
                                      <p:cBhvr>
                                        <p:cTn id="18" dur="1000" fill="hold"/>
                                        <p:tgtEl>
                                          <p:spTgt spid="26629"/>
                                        </p:tgtEl>
                                        <p:attrNameLst>
                                          <p:attrName>style.rotation</p:attrName>
                                        </p:attrNameLst>
                                      </p:cBhvr>
                                      <p:tavLst>
                                        <p:tav tm="0">
                                          <p:val>
                                            <p:fltVal val="90"/>
                                          </p:val>
                                        </p:tav>
                                        <p:tav tm="100000">
                                          <p:val>
                                            <p:fltVal val="0"/>
                                          </p:val>
                                        </p:tav>
                                      </p:tavLst>
                                    </p:anim>
                                    <p:animEffect transition="in" filter="fade">
                                      <p:cBhvr>
                                        <p:cTn id="19" dur="1000"/>
                                        <p:tgtEl>
                                          <p:spTgt spid="26629"/>
                                        </p:tgtEl>
                                      </p:cBhvr>
                                    </p:animEffect>
                                  </p:childTnLst>
                                </p:cTn>
                              </p:par>
                              <p:par>
                                <p:cTn id="20" presetID="31" presetClass="entr" presetSubtype="0" fill="hold" grpId="0" nodeType="withEffect">
                                  <p:stCondLst>
                                    <p:cond delay="0"/>
                                  </p:stCondLst>
                                  <p:iterate type="lt">
                                    <p:tmPct val="5000"/>
                                  </p:iterate>
                                  <p:childTnLst>
                                    <p:set>
                                      <p:cBhvr>
                                        <p:cTn id="21" dur="1" fill="hold">
                                          <p:stCondLst>
                                            <p:cond delay="0"/>
                                          </p:stCondLst>
                                        </p:cTn>
                                        <p:tgtEl>
                                          <p:spTgt spid="26630"/>
                                        </p:tgtEl>
                                        <p:attrNameLst>
                                          <p:attrName>style.visibility</p:attrName>
                                        </p:attrNameLst>
                                      </p:cBhvr>
                                      <p:to>
                                        <p:strVal val="visible"/>
                                      </p:to>
                                    </p:set>
                                    <p:anim calcmode="lin" valueType="num">
                                      <p:cBhvr>
                                        <p:cTn id="22" dur="1000" fill="hold"/>
                                        <p:tgtEl>
                                          <p:spTgt spid="26630"/>
                                        </p:tgtEl>
                                        <p:attrNameLst>
                                          <p:attrName>ppt_w</p:attrName>
                                        </p:attrNameLst>
                                      </p:cBhvr>
                                      <p:tavLst>
                                        <p:tav tm="0">
                                          <p:val>
                                            <p:fltVal val="0"/>
                                          </p:val>
                                        </p:tav>
                                        <p:tav tm="100000">
                                          <p:val>
                                            <p:strVal val="#ppt_w"/>
                                          </p:val>
                                        </p:tav>
                                      </p:tavLst>
                                    </p:anim>
                                    <p:anim calcmode="lin" valueType="num">
                                      <p:cBhvr>
                                        <p:cTn id="23" dur="1000" fill="hold"/>
                                        <p:tgtEl>
                                          <p:spTgt spid="26630"/>
                                        </p:tgtEl>
                                        <p:attrNameLst>
                                          <p:attrName>ppt_h</p:attrName>
                                        </p:attrNameLst>
                                      </p:cBhvr>
                                      <p:tavLst>
                                        <p:tav tm="0">
                                          <p:val>
                                            <p:fltVal val="0"/>
                                          </p:val>
                                        </p:tav>
                                        <p:tav tm="100000">
                                          <p:val>
                                            <p:strVal val="#ppt_h"/>
                                          </p:val>
                                        </p:tav>
                                      </p:tavLst>
                                    </p:anim>
                                    <p:anim calcmode="lin" valueType="num">
                                      <p:cBhvr>
                                        <p:cTn id="24" dur="1000" fill="hold"/>
                                        <p:tgtEl>
                                          <p:spTgt spid="26630"/>
                                        </p:tgtEl>
                                        <p:attrNameLst>
                                          <p:attrName>style.rotation</p:attrName>
                                        </p:attrNameLst>
                                      </p:cBhvr>
                                      <p:tavLst>
                                        <p:tav tm="0">
                                          <p:val>
                                            <p:fltVal val="90"/>
                                          </p:val>
                                        </p:tav>
                                        <p:tav tm="100000">
                                          <p:val>
                                            <p:fltVal val="0"/>
                                          </p:val>
                                        </p:tav>
                                      </p:tavLst>
                                    </p:anim>
                                    <p:animEffect transition="in" filter="fade">
                                      <p:cBhvr>
                                        <p:cTn id="25" dur="1000"/>
                                        <p:tgtEl>
                                          <p:spTgt spid="26630"/>
                                        </p:tgtEl>
                                      </p:cBhvr>
                                    </p:animEffect>
                                  </p:childTnLst>
                                </p:cTn>
                              </p:par>
                              <p:par>
                                <p:cTn id="26" presetID="31" presetClass="entr" presetSubtype="0" fill="hold" grpId="0" nodeType="withEffect">
                                  <p:stCondLst>
                                    <p:cond delay="0"/>
                                  </p:stCondLst>
                                  <p:iterate type="lt">
                                    <p:tmPct val="5000"/>
                                  </p:iterate>
                                  <p:childTnLst>
                                    <p:set>
                                      <p:cBhvr>
                                        <p:cTn id="27" dur="1" fill="hold">
                                          <p:stCondLst>
                                            <p:cond delay="0"/>
                                          </p:stCondLst>
                                        </p:cTn>
                                        <p:tgtEl>
                                          <p:spTgt spid="26628"/>
                                        </p:tgtEl>
                                        <p:attrNameLst>
                                          <p:attrName>style.visibility</p:attrName>
                                        </p:attrNameLst>
                                      </p:cBhvr>
                                      <p:to>
                                        <p:strVal val="visible"/>
                                      </p:to>
                                    </p:set>
                                    <p:anim calcmode="lin" valueType="num">
                                      <p:cBhvr>
                                        <p:cTn id="28" dur="1000" fill="hold"/>
                                        <p:tgtEl>
                                          <p:spTgt spid="26628"/>
                                        </p:tgtEl>
                                        <p:attrNameLst>
                                          <p:attrName>ppt_w</p:attrName>
                                        </p:attrNameLst>
                                      </p:cBhvr>
                                      <p:tavLst>
                                        <p:tav tm="0">
                                          <p:val>
                                            <p:fltVal val="0"/>
                                          </p:val>
                                        </p:tav>
                                        <p:tav tm="100000">
                                          <p:val>
                                            <p:strVal val="#ppt_w"/>
                                          </p:val>
                                        </p:tav>
                                      </p:tavLst>
                                    </p:anim>
                                    <p:anim calcmode="lin" valueType="num">
                                      <p:cBhvr>
                                        <p:cTn id="29" dur="1000" fill="hold"/>
                                        <p:tgtEl>
                                          <p:spTgt spid="26628"/>
                                        </p:tgtEl>
                                        <p:attrNameLst>
                                          <p:attrName>ppt_h</p:attrName>
                                        </p:attrNameLst>
                                      </p:cBhvr>
                                      <p:tavLst>
                                        <p:tav tm="0">
                                          <p:val>
                                            <p:fltVal val="0"/>
                                          </p:val>
                                        </p:tav>
                                        <p:tav tm="100000">
                                          <p:val>
                                            <p:strVal val="#ppt_h"/>
                                          </p:val>
                                        </p:tav>
                                      </p:tavLst>
                                    </p:anim>
                                    <p:anim calcmode="lin" valueType="num">
                                      <p:cBhvr>
                                        <p:cTn id="30" dur="1000" fill="hold"/>
                                        <p:tgtEl>
                                          <p:spTgt spid="26628"/>
                                        </p:tgtEl>
                                        <p:attrNameLst>
                                          <p:attrName>style.rotation</p:attrName>
                                        </p:attrNameLst>
                                      </p:cBhvr>
                                      <p:tavLst>
                                        <p:tav tm="0">
                                          <p:val>
                                            <p:fltVal val="90"/>
                                          </p:val>
                                        </p:tav>
                                        <p:tav tm="100000">
                                          <p:val>
                                            <p:fltVal val="0"/>
                                          </p:val>
                                        </p:tav>
                                      </p:tavLst>
                                    </p:anim>
                                    <p:animEffect transition="in" filter="fade">
                                      <p:cBhvr>
                                        <p:cTn id="31" dur="1000"/>
                                        <p:tgtEl>
                                          <p:spTgt spid="26628"/>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26631"/>
                                        </p:tgtEl>
                                        <p:attrNameLst>
                                          <p:attrName>style.visibility</p:attrName>
                                        </p:attrNameLst>
                                      </p:cBhvr>
                                      <p:to>
                                        <p:strVal val="visible"/>
                                      </p:to>
                                    </p:set>
                                    <p:animEffect transition="in" filter="fade">
                                      <p:cBhvr>
                                        <p:cTn id="36" dur="2000"/>
                                        <p:tgtEl>
                                          <p:spTgt spid="26631"/>
                                        </p:tgtEl>
                                      </p:cBhvr>
                                    </p:animEffect>
                                  </p:childTnLst>
                                </p:cTn>
                              </p:par>
                            </p:childTnLst>
                          </p:cTn>
                        </p:par>
                        <p:par>
                          <p:cTn id="37" fill="hold">
                            <p:stCondLst>
                              <p:cond delay="2000"/>
                            </p:stCondLst>
                            <p:childTnLst>
                              <p:par>
                                <p:cTn id="38" presetID="10" presetClass="entr" presetSubtype="0" fill="hold" grpId="0" nodeType="afterEffect">
                                  <p:stCondLst>
                                    <p:cond delay="0"/>
                                  </p:stCondLst>
                                  <p:childTnLst>
                                    <p:set>
                                      <p:cBhvr>
                                        <p:cTn id="39" dur="1" fill="hold">
                                          <p:stCondLst>
                                            <p:cond delay="0"/>
                                          </p:stCondLst>
                                        </p:cTn>
                                        <p:tgtEl>
                                          <p:spTgt spid="26632"/>
                                        </p:tgtEl>
                                        <p:attrNameLst>
                                          <p:attrName>style.visibility</p:attrName>
                                        </p:attrNameLst>
                                      </p:cBhvr>
                                      <p:to>
                                        <p:strVal val="visible"/>
                                      </p:to>
                                    </p:set>
                                    <p:animEffect transition="in" filter="fade">
                                      <p:cBhvr>
                                        <p:cTn id="40" dur="2000"/>
                                        <p:tgtEl>
                                          <p:spTgt spid="26632"/>
                                        </p:tgtEl>
                                      </p:cBhvr>
                                    </p:animEffect>
                                  </p:childTnLst>
                                </p:cTn>
                              </p:par>
                            </p:childTnLst>
                          </p:cTn>
                        </p:par>
                        <p:par>
                          <p:cTn id="41" fill="hold">
                            <p:stCondLst>
                              <p:cond delay="4000"/>
                            </p:stCondLst>
                            <p:childTnLst>
                              <p:par>
                                <p:cTn id="42" presetID="10" presetClass="entr" presetSubtype="0" fill="hold" grpId="0" nodeType="afterEffect">
                                  <p:stCondLst>
                                    <p:cond delay="0"/>
                                  </p:stCondLst>
                                  <p:childTnLst>
                                    <p:set>
                                      <p:cBhvr>
                                        <p:cTn id="43" dur="1" fill="hold">
                                          <p:stCondLst>
                                            <p:cond delay="0"/>
                                          </p:stCondLst>
                                        </p:cTn>
                                        <p:tgtEl>
                                          <p:spTgt spid="26633"/>
                                        </p:tgtEl>
                                        <p:attrNameLst>
                                          <p:attrName>style.visibility</p:attrName>
                                        </p:attrNameLst>
                                      </p:cBhvr>
                                      <p:to>
                                        <p:strVal val="visible"/>
                                      </p:to>
                                    </p:set>
                                    <p:animEffect transition="in" filter="fade">
                                      <p:cBhvr>
                                        <p:cTn id="44" dur="2000"/>
                                        <p:tgtEl>
                                          <p:spTgt spid="26633"/>
                                        </p:tgtEl>
                                      </p:cBhvr>
                                    </p:animEffect>
                                  </p:childTnLst>
                                </p:cTn>
                              </p:par>
                            </p:childTnLst>
                          </p:cTn>
                        </p:par>
                        <p:par>
                          <p:cTn id="45" fill="hold">
                            <p:stCondLst>
                              <p:cond delay="6000"/>
                            </p:stCondLst>
                            <p:childTnLst>
                              <p:par>
                                <p:cTn id="46" presetID="10" presetClass="entr" presetSubtype="0" fill="hold" grpId="0" nodeType="afterEffect">
                                  <p:stCondLst>
                                    <p:cond delay="0"/>
                                  </p:stCondLst>
                                  <p:childTnLst>
                                    <p:set>
                                      <p:cBhvr>
                                        <p:cTn id="47" dur="1" fill="hold">
                                          <p:stCondLst>
                                            <p:cond delay="0"/>
                                          </p:stCondLst>
                                        </p:cTn>
                                        <p:tgtEl>
                                          <p:spTgt spid="26634"/>
                                        </p:tgtEl>
                                        <p:attrNameLst>
                                          <p:attrName>style.visibility</p:attrName>
                                        </p:attrNameLst>
                                      </p:cBhvr>
                                      <p:to>
                                        <p:strVal val="visible"/>
                                      </p:to>
                                    </p:set>
                                    <p:animEffect transition="in" filter="fade">
                                      <p:cBhvr>
                                        <p:cTn id="48" dur="2000"/>
                                        <p:tgtEl>
                                          <p:spTgt spid="266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7" grpId="0"/>
      <p:bldP spid="26628" grpId="0"/>
      <p:bldP spid="26629" grpId="0"/>
      <p:bldP spid="26630" grpId="0"/>
      <p:bldP spid="26631" grpId="0"/>
      <p:bldP spid="26632" grpId="0"/>
      <p:bldP spid="26633" grpId="0"/>
      <p:bldP spid="26634" grpId="0"/>
      <p:bldP spid="26635" grpId="0"/>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err="1" smtClean="0"/>
              <a:t>Distribusi</a:t>
            </a:r>
            <a:r>
              <a:rPr lang="en-US" dirty="0" smtClean="0"/>
              <a:t> </a:t>
            </a:r>
            <a:r>
              <a:rPr lang="en-US" dirty="0" err="1" smtClean="0"/>
              <a:t>Kerugian</a:t>
            </a:r>
            <a:endParaRPr lang="en-US" dirty="0"/>
          </a:p>
        </p:txBody>
      </p:sp>
      <p:graphicFrame>
        <p:nvGraphicFramePr>
          <p:cNvPr id="18435" name="Object 3"/>
          <p:cNvGraphicFramePr>
            <a:graphicFrameLocks noChangeAspect="1"/>
          </p:cNvGraphicFramePr>
          <p:nvPr/>
        </p:nvGraphicFramePr>
        <p:xfrm>
          <a:off x="1659600" y="1531938"/>
          <a:ext cx="6452658" cy="3929062"/>
        </p:xfrm>
        <a:graphic>
          <a:graphicData uri="http://schemas.openxmlformats.org/presentationml/2006/ole">
            <p:oleObj spid="_x0000_s670722" name="Document" r:id="rId3" imgW="6366290" imgH="4113850" progId="Word.Document.12">
              <p:embed/>
            </p:oleObj>
          </a:graphicData>
        </a:graphic>
      </p:graphicFrame>
    </p:spTree>
  </p:cSld>
  <p:clrMapOvr>
    <a:masterClrMapping/>
  </p:clrMapOvr>
  <p:transition/>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dirty="0" err="1" smtClean="0"/>
              <a:t>Kerugian</a:t>
            </a:r>
            <a:r>
              <a:rPr lang="en-US" dirty="0" smtClean="0"/>
              <a:t> </a:t>
            </a:r>
            <a:r>
              <a:rPr lang="en-US" dirty="0" err="1" smtClean="0"/>
              <a:t>Akibat</a:t>
            </a:r>
            <a:r>
              <a:rPr lang="en-US" dirty="0" smtClean="0"/>
              <a:t> </a:t>
            </a:r>
            <a:r>
              <a:rPr lang="en-US" dirty="0" err="1" smtClean="0"/>
              <a:t>Penipuan</a:t>
            </a:r>
            <a:r>
              <a:rPr lang="en-US" dirty="0" smtClean="0"/>
              <a:t> </a:t>
            </a:r>
            <a:r>
              <a:rPr lang="en-US" dirty="0" err="1" smtClean="0"/>
              <a:t>Berdasarkan</a:t>
            </a:r>
            <a:r>
              <a:rPr lang="en-US" dirty="0" smtClean="0"/>
              <a:t> </a:t>
            </a:r>
            <a:r>
              <a:rPr lang="en-US" dirty="0" err="1" smtClean="0"/>
              <a:t>Posisi</a:t>
            </a:r>
            <a:endParaRPr lang="en-US" dirty="0"/>
          </a:p>
        </p:txBody>
      </p:sp>
      <p:graphicFrame>
        <p:nvGraphicFramePr>
          <p:cNvPr id="19458" name="Object 2"/>
          <p:cNvGraphicFramePr>
            <a:graphicFrameLocks noChangeAspect="1"/>
          </p:cNvGraphicFramePr>
          <p:nvPr/>
        </p:nvGraphicFramePr>
        <p:xfrm>
          <a:off x="1403350" y="1676401"/>
          <a:ext cx="7594600" cy="2633663"/>
        </p:xfrm>
        <a:graphic>
          <a:graphicData uri="http://schemas.openxmlformats.org/presentationml/2006/ole">
            <p:oleObj spid="_x0000_s671746" name="Document" r:id="rId3" imgW="6229369" imgH="1567136" progId="Word.Document.12">
              <p:embed/>
            </p:oleObj>
          </a:graphicData>
        </a:graphic>
      </p:graphicFrame>
    </p:spTree>
  </p:cSld>
  <p:clrMapOvr>
    <a:masterClrMapping/>
  </p:clrMapOvr>
  <p:transition/>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dirty="0" err="1" smtClean="0"/>
              <a:t>Kerugian</a:t>
            </a:r>
            <a:r>
              <a:rPr lang="en-US" dirty="0" smtClean="0"/>
              <a:t> </a:t>
            </a:r>
            <a:r>
              <a:rPr lang="en-US" dirty="0" err="1" smtClean="0"/>
              <a:t>Akibat</a:t>
            </a:r>
            <a:r>
              <a:rPr lang="en-US" dirty="0" smtClean="0"/>
              <a:t> </a:t>
            </a:r>
            <a:r>
              <a:rPr lang="en-US" dirty="0" err="1" smtClean="0"/>
              <a:t>Penipuan</a:t>
            </a:r>
            <a:r>
              <a:rPr lang="en-US" dirty="0" smtClean="0"/>
              <a:t> </a:t>
            </a:r>
            <a:r>
              <a:rPr lang="en-US" dirty="0" err="1" smtClean="0"/>
              <a:t>Berdasarkan</a:t>
            </a:r>
            <a:r>
              <a:rPr lang="en-US" dirty="0" smtClean="0"/>
              <a:t> </a:t>
            </a:r>
            <a:r>
              <a:rPr lang="en-US" dirty="0" err="1" smtClean="0"/>
              <a:t>Kolusi</a:t>
            </a:r>
            <a:endParaRPr lang="en-US" dirty="0"/>
          </a:p>
        </p:txBody>
      </p:sp>
      <p:graphicFrame>
        <p:nvGraphicFramePr>
          <p:cNvPr id="20482" name="Object 2"/>
          <p:cNvGraphicFramePr>
            <a:graphicFrameLocks noChangeAspect="1"/>
          </p:cNvGraphicFramePr>
          <p:nvPr/>
        </p:nvGraphicFramePr>
        <p:xfrm>
          <a:off x="1568451" y="1752601"/>
          <a:ext cx="7011590" cy="2176463"/>
        </p:xfrm>
        <a:graphic>
          <a:graphicData uri="http://schemas.openxmlformats.org/presentationml/2006/ole">
            <p:oleObj spid="_x0000_s672770" name="Document" r:id="rId3" imgW="6229369" imgH="1611418" progId="Word.Document.12">
              <p:embed/>
            </p:oleObj>
          </a:graphicData>
        </a:graphic>
      </p:graphicFrame>
    </p:spTree>
  </p:cSld>
  <p:clrMapOvr>
    <a:masterClrMapping/>
  </p:clrMapOvr>
  <p:transition/>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dirty="0" err="1" smtClean="0"/>
              <a:t>Kerugian</a:t>
            </a:r>
            <a:r>
              <a:rPr lang="en-US" dirty="0" smtClean="0"/>
              <a:t> </a:t>
            </a:r>
            <a:r>
              <a:rPr lang="en-US" dirty="0" err="1" smtClean="0"/>
              <a:t>Akibat</a:t>
            </a:r>
            <a:r>
              <a:rPr lang="en-US" dirty="0" smtClean="0"/>
              <a:t> </a:t>
            </a:r>
            <a:r>
              <a:rPr lang="en-US" dirty="0" err="1" smtClean="0"/>
              <a:t>Penipuan</a:t>
            </a:r>
            <a:r>
              <a:rPr lang="en-US" dirty="0" smtClean="0"/>
              <a:t> </a:t>
            </a:r>
            <a:r>
              <a:rPr lang="en-US" dirty="0" err="1" smtClean="0"/>
              <a:t>Berdasarkan</a:t>
            </a:r>
            <a:r>
              <a:rPr lang="en-US" dirty="0" smtClean="0"/>
              <a:t> Gender</a:t>
            </a:r>
            <a:endParaRPr lang="en-US" dirty="0"/>
          </a:p>
        </p:txBody>
      </p:sp>
      <p:graphicFrame>
        <p:nvGraphicFramePr>
          <p:cNvPr id="21506" name="Object 2"/>
          <p:cNvGraphicFramePr>
            <a:graphicFrameLocks noChangeAspect="1"/>
          </p:cNvGraphicFramePr>
          <p:nvPr/>
        </p:nvGraphicFramePr>
        <p:xfrm>
          <a:off x="1485901" y="1828801"/>
          <a:ext cx="7424340" cy="2035175"/>
        </p:xfrm>
        <a:graphic>
          <a:graphicData uri="http://schemas.openxmlformats.org/presentationml/2006/ole">
            <p:oleObj spid="_x0000_s673794" name="Document" r:id="rId3" imgW="6229369" imgH="1479653" progId="Word.Document.12">
              <p:embed/>
            </p:oleObj>
          </a:graphicData>
        </a:graphic>
      </p:graphicFrame>
    </p:spTree>
  </p:cSld>
  <p:clrMapOvr>
    <a:masterClrMapping/>
  </p:clrMapOvr>
  <p:transition/>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dirty="0" err="1" smtClean="0"/>
              <a:t>Kerugian</a:t>
            </a:r>
            <a:r>
              <a:rPr lang="en-US" dirty="0" smtClean="0"/>
              <a:t> </a:t>
            </a:r>
            <a:r>
              <a:rPr lang="en-US" dirty="0" err="1" smtClean="0"/>
              <a:t>Akibat</a:t>
            </a:r>
            <a:r>
              <a:rPr lang="en-US" dirty="0" smtClean="0"/>
              <a:t> </a:t>
            </a:r>
            <a:r>
              <a:rPr lang="en-US" dirty="0" err="1" smtClean="0"/>
              <a:t>Penipuan</a:t>
            </a:r>
            <a:r>
              <a:rPr lang="en-US" dirty="0" smtClean="0"/>
              <a:t> </a:t>
            </a:r>
            <a:r>
              <a:rPr lang="en-US" dirty="0" err="1" smtClean="0"/>
              <a:t>Berdasarkan</a:t>
            </a:r>
            <a:r>
              <a:rPr lang="en-US" dirty="0" smtClean="0"/>
              <a:t> </a:t>
            </a:r>
            <a:r>
              <a:rPr lang="en-US" dirty="0" err="1" smtClean="0"/>
              <a:t>Umur</a:t>
            </a:r>
            <a:endParaRPr lang="en-US" dirty="0"/>
          </a:p>
        </p:txBody>
      </p:sp>
      <p:graphicFrame>
        <p:nvGraphicFramePr>
          <p:cNvPr id="22530" name="Object 2"/>
          <p:cNvGraphicFramePr>
            <a:graphicFrameLocks noChangeAspect="1"/>
          </p:cNvGraphicFramePr>
          <p:nvPr/>
        </p:nvGraphicFramePr>
        <p:xfrm>
          <a:off x="1656161" y="1593850"/>
          <a:ext cx="6593681" cy="3670300"/>
        </p:xfrm>
        <a:graphic>
          <a:graphicData uri="http://schemas.openxmlformats.org/presentationml/2006/ole">
            <p:oleObj spid="_x0000_s674818" name="Document" r:id="rId3" imgW="6229369" imgH="3670332" progId="Word.Document.12">
              <p:embed/>
            </p:oleObj>
          </a:graphicData>
        </a:graphic>
      </p:graphicFrame>
    </p:spTree>
  </p:cSld>
  <p:clrMapOvr>
    <a:masterClrMapping/>
  </p:clrMapOvr>
  <p:transition/>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200" dirty="0" err="1" smtClean="0"/>
              <a:t>Kerugian</a:t>
            </a:r>
            <a:r>
              <a:rPr lang="en-US" sz="3200" dirty="0" smtClean="0"/>
              <a:t> </a:t>
            </a:r>
            <a:r>
              <a:rPr lang="en-US" sz="3200" dirty="0" err="1" smtClean="0"/>
              <a:t>Akibat</a:t>
            </a:r>
            <a:r>
              <a:rPr lang="en-US" sz="3200" dirty="0" smtClean="0"/>
              <a:t> </a:t>
            </a:r>
            <a:r>
              <a:rPr lang="en-US" sz="3200" dirty="0" err="1" smtClean="0"/>
              <a:t>Penipuan</a:t>
            </a:r>
            <a:r>
              <a:rPr lang="en-US" sz="3200" dirty="0" smtClean="0"/>
              <a:t> </a:t>
            </a:r>
            <a:r>
              <a:rPr lang="en-US" sz="3200" dirty="0" err="1" smtClean="0"/>
              <a:t>Berdasarkan</a:t>
            </a:r>
            <a:r>
              <a:rPr lang="en-US" sz="3200" dirty="0" smtClean="0"/>
              <a:t> Tingkat </a:t>
            </a:r>
            <a:r>
              <a:rPr lang="en-US" sz="3200" dirty="0" err="1" smtClean="0"/>
              <a:t>Pendidikan</a:t>
            </a:r>
            <a:endParaRPr lang="en-US" sz="3200" dirty="0"/>
          </a:p>
        </p:txBody>
      </p:sp>
      <p:graphicFrame>
        <p:nvGraphicFramePr>
          <p:cNvPr id="23554" name="Object 2"/>
          <p:cNvGraphicFramePr>
            <a:graphicFrameLocks noChangeAspect="1"/>
          </p:cNvGraphicFramePr>
          <p:nvPr/>
        </p:nvGraphicFramePr>
        <p:xfrm>
          <a:off x="1568451" y="1676400"/>
          <a:ext cx="7006431" cy="2971800"/>
        </p:xfrm>
        <a:graphic>
          <a:graphicData uri="http://schemas.openxmlformats.org/presentationml/2006/ole">
            <p:oleObj spid="_x0000_s675842" name="Document" r:id="rId3" imgW="6229369" imgH="1917789" progId="Word.Document.12">
              <p:embed/>
            </p:oleObj>
          </a:graphicData>
        </a:graphic>
      </p:graphicFrame>
    </p:spTree>
  </p:cSld>
  <p:clrMapOvr>
    <a:masterClrMapping/>
  </p:clrMapOvr>
  <p:transition/>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dirty="0" err="1" smtClean="0"/>
              <a:t>Kerugian</a:t>
            </a:r>
            <a:r>
              <a:rPr lang="en-US" dirty="0" smtClean="0"/>
              <a:t> </a:t>
            </a:r>
            <a:r>
              <a:rPr lang="en-US" dirty="0" err="1" smtClean="0"/>
              <a:t>Akibat</a:t>
            </a:r>
            <a:r>
              <a:rPr lang="en-US" dirty="0" smtClean="0"/>
              <a:t> </a:t>
            </a:r>
            <a:r>
              <a:rPr lang="en-US" dirty="0" err="1" smtClean="0"/>
              <a:t>dari</a:t>
            </a:r>
            <a:r>
              <a:rPr lang="en-US" dirty="0" smtClean="0"/>
              <a:t> </a:t>
            </a:r>
            <a:r>
              <a:rPr lang="en-US" dirty="0" err="1" smtClean="0"/>
              <a:t>Penipuan</a:t>
            </a:r>
            <a:r>
              <a:rPr lang="en-US" dirty="0" smtClean="0"/>
              <a:t> </a:t>
            </a:r>
            <a:r>
              <a:rPr lang="en-US" dirty="0" err="1" smtClean="0"/>
              <a:t>Berdasarkan</a:t>
            </a:r>
            <a:r>
              <a:rPr lang="en-US" dirty="0" smtClean="0"/>
              <a:t> </a:t>
            </a:r>
            <a:r>
              <a:rPr lang="en-US" dirty="0" err="1" smtClean="0"/>
              <a:t>Jenisnya</a:t>
            </a:r>
            <a:endParaRPr lang="en-US" dirty="0"/>
          </a:p>
        </p:txBody>
      </p:sp>
      <p:graphicFrame>
        <p:nvGraphicFramePr>
          <p:cNvPr id="24578" name="Object 2"/>
          <p:cNvGraphicFramePr>
            <a:graphicFrameLocks noChangeAspect="1"/>
          </p:cNvGraphicFramePr>
          <p:nvPr/>
        </p:nvGraphicFramePr>
        <p:xfrm>
          <a:off x="1073151" y="1600200"/>
          <a:ext cx="8172449" cy="3124200"/>
        </p:xfrm>
        <a:graphic>
          <a:graphicData uri="http://schemas.openxmlformats.org/presentationml/2006/ole">
            <p:oleObj spid="_x0000_s676866" name="Document" r:id="rId3" imgW="6366290" imgH="1628091" progId="Word.Document.12">
              <p:embed/>
            </p:oleObj>
          </a:graphicData>
        </a:graphic>
      </p:graphicFrame>
    </p:spTree>
  </p:cSld>
  <p:clrMapOvr>
    <a:masterClrMapping/>
  </p:clrMapOvr>
  <p:transition/>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idx="4294967295"/>
          </p:nvPr>
        </p:nvSpPr>
        <p:spPr/>
        <p:txBody>
          <a:bodyPr/>
          <a:lstStyle/>
          <a:p>
            <a:pPr eaLnBrk="1" hangingPunct="1"/>
            <a:r>
              <a:rPr lang="en-US" sz="4000" smtClean="0"/>
              <a:t>KAPAN DAN DIMANA FRAUD TERJADI</a:t>
            </a:r>
          </a:p>
        </p:txBody>
      </p:sp>
      <p:sp>
        <p:nvSpPr>
          <p:cNvPr id="57347" name="Rectangle 3"/>
          <p:cNvSpPr>
            <a:spLocks noGrp="1" noChangeArrowheads="1"/>
          </p:cNvSpPr>
          <p:nvPr>
            <p:ph type="body" idx="4294967295"/>
          </p:nvPr>
        </p:nvSpPr>
        <p:spPr/>
        <p:txBody>
          <a:bodyPr/>
          <a:lstStyle/>
          <a:p>
            <a:pPr eaLnBrk="1" hangingPunct="1">
              <a:lnSpc>
                <a:spcPct val="90000"/>
              </a:lnSpc>
              <a:buClr>
                <a:schemeClr val="tx1"/>
              </a:buClr>
              <a:buSzTx/>
            </a:pPr>
            <a:r>
              <a:rPr lang="en-US" sz="2400" smtClean="0"/>
              <a:t>Sering terjadi bila :</a:t>
            </a:r>
          </a:p>
          <a:p>
            <a:pPr lvl="2" eaLnBrk="1" hangingPunct="1">
              <a:lnSpc>
                <a:spcPct val="90000"/>
              </a:lnSpc>
              <a:buClr>
                <a:schemeClr val="tx1"/>
              </a:buClr>
              <a:buSzTx/>
            </a:pPr>
            <a:r>
              <a:rPr lang="en-US" sz="1800" smtClean="0"/>
              <a:t>Internal control tidak ada, lemah, dilakukan dengan longgar</a:t>
            </a:r>
          </a:p>
          <a:p>
            <a:pPr lvl="2" eaLnBrk="1" hangingPunct="1">
              <a:lnSpc>
                <a:spcPct val="90000"/>
              </a:lnSpc>
              <a:buClr>
                <a:schemeClr val="tx1"/>
              </a:buClr>
              <a:buSzTx/>
            </a:pPr>
            <a:r>
              <a:rPr lang="en-US" sz="1800" smtClean="0"/>
              <a:t>Pegawai dipilih tanpa memikirkan kejujuran, dan integritas</a:t>
            </a:r>
          </a:p>
          <a:p>
            <a:pPr lvl="2" eaLnBrk="1" hangingPunct="1">
              <a:lnSpc>
                <a:spcPct val="90000"/>
              </a:lnSpc>
              <a:buClr>
                <a:schemeClr val="tx1"/>
              </a:buClr>
              <a:buSzTx/>
            </a:pPr>
            <a:r>
              <a:rPr lang="en-US" sz="1800" smtClean="0"/>
              <a:t>Eksploitasi pegawai demi mencapai profit yang tinggi</a:t>
            </a:r>
          </a:p>
          <a:p>
            <a:pPr lvl="2" eaLnBrk="1" hangingPunct="1">
              <a:lnSpc>
                <a:spcPct val="90000"/>
              </a:lnSpc>
              <a:buClr>
                <a:schemeClr val="tx1"/>
              </a:buClr>
              <a:buSzTx/>
            </a:pPr>
            <a:r>
              <a:rPr lang="en-US" sz="1800" smtClean="0"/>
              <a:t>Model management yang koruptif, tidak efisien dan tidak cakap</a:t>
            </a:r>
          </a:p>
          <a:p>
            <a:pPr lvl="2" eaLnBrk="1" hangingPunct="1">
              <a:lnSpc>
                <a:spcPct val="90000"/>
              </a:lnSpc>
              <a:buClr>
                <a:schemeClr val="tx1"/>
              </a:buClr>
              <a:buSzTx/>
            </a:pPr>
            <a:r>
              <a:rPr lang="en-US" sz="1800" smtClean="0"/>
              <a:t>Pegawai yang dipercaya memiliki masalah pribadi yang tidak dapat dipecahkan :</a:t>
            </a:r>
          </a:p>
          <a:p>
            <a:pPr lvl="3" eaLnBrk="1" hangingPunct="1">
              <a:lnSpc>
                <a:spcPct val="90000"/>
              </a:lnSpc>
              <a:buClr>
                <a:schemeClr val="tx1"/>
              </a:buClr>
              <a:buSzTx/>
            </a:pPr>
            <a:r>
              <a:rPr lang="en-US" sz="1600" smtClean="0"/>
              <a:t>Masalah keuangan</a:t>
            </a:r>
          </a:p>
          <a:p>
            <a:pPr lvl="3" eaLnBrk="1" hangingPunct="1">
              <a:lnSpc>
                <a:spcPct val="90000"/>
              </a:lnSpc>
              <a:buClr>
                <a:schemeClr val="tx1"/>
              </a:buClr>
              <a:buSzTx/>
            </a:pPr>
            <a:r>
              <a:rPr lang="en-US" sz="1600" smtClean="0"/>
              <a:t>Kebutuhan kesehatan keluarga</a:t>
            </a:r>
          </a:p>
          <a:p>
            <a:pPr lvl="3" eaLnBrk="1" hangingPunct="1">
              <a:lnSpc>
                <a:spcPct val="90000"/>
              </a:lnSpc>
              <a:buClr>
                <a:schemeClr val="tx1"/>
              </a:buClr>
              <a:buSzTx/>
            </a:pPr>
            <a:r>
              <a:rPr lang="en-US" sz="1600" smtClean="0"/>
              <a:t>Kecanduan alkohol, obat terlarang, judi, gaya hidup yang mahal</a:t>
            </a:r>
          </a:p>
          <a:p>
            <a:pPr lvl="2" eaLnBrk="1" hangingPunct="1">
              <a:lnSpc>
                <a:spcPct val="90000"/>
              </a:lnSpc>
              <a:buClr>
                <a:schemeClr val="tx1"/>
              </a:buClr>
              <a:buSzTx/>
            </a:pPr>
            <a:r>
              <a:rPr lang="en-US" sz="1800" smtClean="0"/>
              <a:t>Industri di mana perusahaan menjadi bagiannya memiliki sejarah atau tradisi korupsi</a:t>
            </a:r>
          </a:p>
          <a:p>
            <a:pPr lvl="2" eaLnBrk="1" hangingPunct="1">
              <a:lnSpc>
                <a:spcPct val="90000"/>
              </a:lnSpc>
              <a:buClr>
                <a:schemeClr val="tx1"/>
              </a:buClr>
              <a:buSzTx/>
            </a:pPr>
            <a:r>
              <a:rPr lang="en-US" sz="1800" smtClean="0"/>
              <a:t>Perusahaan jatuh pada saat yang tidak tepat :</a:t>
            </a:r>
          </a:p>
          <a:p>
            <a:pPr lvl="3" eaLnBrk="1" hangingPunct="1">
              <a:lnSpc>
                <a:spcPct val="90000"/>
              </a:lnSpc>
              <a:buClr>
                <a:schemeClr val="tx1"/>
              </a:buClr>
              <a:buSzTx/>
            </a:pPr>
            <a:r>
              <a:rPr lang="en-US" sz="1600" smtClean="0"/>
              <a:t>Kehilangan uang atau saham</a:t>
            </a:r>
          </a:p>
          <a:p>
            <a:pPr lvl="3" eaLnBrk="1" hangingPunct="1">
              <a:lnSpc>
                <a:spcPct val="90000"/>
              </a:lnSpc>
              <a:buClr>
                <a:schemeClr val="tx1"/>
              </a:buClr>
              <a:buSzTx/>
            </a:pPr>
            <a:r>
              <a:rPr lang="en-US" sz="1600" smtClean="0"/>
              <a:t>Produk atau pelayanannya sudah ketinggalan zaman</a:t>
            </a:r>
          </a:p>
          <a:p>
            <a:pPr lvl="3" eaLnBrk="1" hangingPunct="1">
              <a:lnSpc>
                <a:spcPct val="90000"/>
              </a:lnSpc>
              <a:buClr>
                <a:schemeClr val="tx1"/>
              </a:buClr>
              <a:buSzTx/>
            </a:pPr>
            <a:endParaRPr lang="en-US" sz="1600" smtClean="0"/>
          </a:p>
        </p:txBody>
      </p:sp>
      <p:pic>
        <p:nvPicPr>
          <p:cNvPr id="57348" name="Picture 4" descr="PE03513_"/>
          <p:cNvPicPr>
            <a:picLocks noChangeAspect="1" noChangeArrowheads="1"/>
          </p:cNvPicPr>
          <p:nvPr/>
        </p:nvPicPr>
        <p:blipFill>
          <a:blip r:embed="rId3"/>
          <a:srcRect/>
          <a:stretch>
            <a:fillRect/>
          </a:stretch>
        </p:blipFill>
        <p:spPr bwMode="auto">
          <a:xfrm>
            <a:off x="7772400" y="76200"/>
            <a:ext cx="2063750" cy="20574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8370" name="Picture 2" descr="g0106472"/>
          <p:cNvPicPr>
            <a:picLocks noChangeAspect="1" noChangeArrowheads="1"/>
          </p:cNvPicPr>
          <p:nvPr/>
        </p:nvPicPr>
        <p:blipFill>
          <a:blip r:embed="rId3"/>
          <a:srcRect/>
          <a:stretch>
            <a:fillRect/>
          </a:stretch>
        </p:blipFill>
        <p:spPr bwMode="auto">
          <a:xfrm>
            <a:off x="8212138" y="0"/>
            <a:ext cx="1693862" cy="2590800"/>
          </a:xfrm>
          <a:prstGeom prst="rect">
            <a:avLst/>
          </a:prstGeom>
          <a:noFill/>
          <a:ln w="9525">
            <a:noFill/>
            <a:miter lim="800000"/>
            <a:headEnd/>
            <a:tailEnd/>
          </a:ln>
        </p:spPr>
      </p:pic>
      <p:sp>
        <p:nvSpPr>
          <p:cNvPr id="58371" name="Rectangle 3"/>
          <p:cNvSpPr>
            <a:spLocks noGrp="1" noChangeArrowheads="1"/>
          </p:cNvSpPr>
          <p:nvPr>
            <p:ph type="title" idx="4294967295"/>
          </p:nvPr>
        </p:nvSpPr>
        <p:spPr/>
        <p:txBody>
          <a:bodyPr/>
          <a:lstStyle/>
          <a:p>
            <a:pPr eaLnBrk="1" hangingPunct="1"/>
            <a:r>
              <a:rPr lang="en-US" smtClean="0"/>
              <a:t>Fraud di Account Payable</a:t>
            </a:r>
          </a:p>
        </p:txBody>
      </p:sp>
      <p:sp>
        <p:nvSpPr>
          <p:cNvPr id="58372" name="Rectangle 4"/>
          <p:cNvSpPr>
            <a:spLocks noGrp="1" noChangeArrowheads="1"/>
          </p:cNvSpPr>
          <p:nvPr>
            <p:ph type="body" idx="4294967295"/>
          </p:nvPr>
        </p:nvSpPr>
        <p:spPr>
          <a:xfrm>
            <a:off x="495300" y="1524000"/>
            <a:ext cx="8915400" cy="4876800"/>
          </a:xfrm>
        </p:spPr>
        <p:txBody>
          <a:bodyPr/>
          <a:lstStyle/>
          <a:p>
            <a:pPr eaLnBrk="1" hangingPunct="1">
              <a:lnSpc>
                <a:spcPct val="80000"/>
              </a:lnSpc>
              <a:buClr>
                <a:schemeClr val="tx1"/>
              </a:buClr>
              <a:buSzTx/>
            </a:pPr>
            <a:r>
              <a:rPr lang="en-US" sz="2800" dirty="0" err="1" smtClean="0"/>
              <a:t>Pemalsuan</a:t>
            </a:r>
            <a:r>
              <a:rPr lang="en-US" sz="2800" dirty="0" smtClean="0"/>
              <a:t> </a:t>
            </a:r>
            <a:r>
              <a:rPr lang="en-US" sz="2800" dirty="0" err="1" smtClean="0"/>
              <a:t>penerimaan</a:t>
            </a:r>
            <a:r>
              <a:rPr lang="en-US" sz="2800" dirty="0" smtClean="0"/>
              <a:t> </a:t>
            </a:r>
            <a:r>
              <a:rPr lang="en-US" sz="2800" dirty="0" err="1" smtClean="0"/>
              <a:t>meterial</a:t>
            </a:r>
            <a:r>
              <a:rPr lang="en-US" sz="2800" dirty="0" smtClean="0"/>
              <a:t> </a:t>
            </a:r>
            <a:r>
              <a:rPr lang="en-US" sz="2800" dirty="0" err="1" smtClean="0"/>
              <a:t>atau</a:t>
            </a:r>
            <a:r>
              <a:rPr lang="en-US" sz="2800" dirty="0" smtClean="0"/>
              <a:t> </a:t>
            </a:r>
            <a:r>
              <a:rPr lang="en-US" sz="2800" dirty="0" err="1" smtClean="0"/>
              <a:t>jasa</a:t>
            </a:r>
            <a:endParaRPr lang="en-US" sz="2800" dirty="0" smtClean="0"/>
          </a:p>
          <a:p>
            <a:pPr lvl="2" eaLnBrk="1" hangingPunct="1">
              <a:lnSpc>
                <a:spcPct val="80000"/>
              </a:lnSpc>
              <a:buClr>
                <a:schemeClr val="tx1"/>
              </a:buClr>
              <a:buSzTx/>
            </a:pPr>
            <a:r>
              <a:rPr lang="en-US" sz="2000" dirty="0" err="1" smtClean="0"/>
              <a:t>Ke</a:t>
            </a:r>
            <a:r>
              <a:rPr lang="en-US" sz="2000" dirty="0" smtClean="0"/>
              <a:t> </a:t>
            </a:r>
            <a:r>
              <a:rPr lang="en-US" sz="2000" dirty="0" err="1" smtClean="0"/>
              <a:t>bagian</a:t>
            </a:r>
            <a:r>
              <a:rPr lang="en-US" sz="2000" dirty="0" smtClean="0"/>
              <a:t> A/p </a:t>
            </a:r>
            <a:r>
              <a:rPr lang="en-US" sz="2000" dirty="0" err="1" smtClean="0"/>
              <a:t>sesuai</a:t>
            </a:r>
            <a:r>
              <a:rPr lang="en-US" sz="2000" dirty="0" smtClean="0"/>
              <a:t> </a:t>
            </a:r>
            <a:r>
              <a:rPr lang="en-US" sz="2000" dirty="0" err="1" smtClean="0"/>
              <a:t>dengan</a:t>
            </a:r>
            <a:r>
              <a:rPr lang="en-US" sz="2000" dirty="0" smtClean="0"/>
              <a:t> </a:t>
            </a:r>
            <a:r>
              <a:rPr lang="en-US" sz="2000" dirty="0" err="1" smtClean="0"/>
              <a:t>jumlah</a:t>
            </a:r>
            <a:r>
              <a:rPr lang="en-US" sz="2000" dirty="0" smtClean="0"/>
              <a:t> </a:t>
            </a:r>
            <a:r>
              <a:rPr lang="en-US" sz="2000" dirty="0" err="1" smtClean="0"/>
              <a:t>pesanan</a:t>
            </a:r>
            <a:endParaRPr lang="en-US" sz="2000" dirty="0" smtClean="0"/>
          </a:p>
          <a:p>
            <a:pPr lvl="2" eaLnBrk="1" hangingPunct="1">
              <a:lnSpc>
                <a:spcPct val="80000"/>
              </a:lnSpc>
              <a:buClr>
                <a:schemeClr val="tx1"/>
              </a:buClr>
              <a:buSzTx/>
            </a:pPr>
            <a:r>
              <a:rPr lang="en-US" sz="2000" dirty="0" err="1" smtClean="0"/>
              <a:t>Pada</a:t>
            </a:r>
            <a:r>
              <a:rPr lang="en-US" sz="2000" dirty="0" smtClean="0"/>
              <a:t> </a:t>
            </a:r>
            <a:r>
              <a:rPr lang="en-US" sz="2000" dirty="0" err="1" smtClean="0"/>
              <a:t>saat</a:t>
            </a:r>
            <a:r>
              <a:rPr lang="en-US" sz="2000" dirty="0" smtClean="0"/>
              <a:t> </a:t>
            </a:r>
            <a:r>
              <a:rPr lang="en-US" sz="2000" dirty="0" err="1" smtClean="0"/>
              <a:t>penerimaan</a:t>
            </a:r>
            <a:endParaRPr lang="en-US" sz="2000" dirty="0" smtClean="0"/>
          </a:p>
          <a:p>
            <a:pPr lvl="3" eaLnBrk="1" hangingPunct="1">
              <a:lnSpc>
                <a:spcPct val="80000"/>
              </a:lnSpc>
              <a:buClr>
                <a:schemeClr val="tx1"/>
              </a:buClr>
              <a:buSzTx/>
            </a:pPr>
            <a:r>
              <a:rPr lang="en-US" sz="1800" dirty="0" err="1" smtClean="0"/>
              <a:t>Tetap</a:t>
            </a:r>
            <a:r>
              <a:rPr lang="en-US" sz="1800" dirty="0" smtClean="0"/>
              <a:t> </a:t>
            </a:r>
            <a:r>
              <a:rPr lang="en-US" sz="1800" dirty="0" err="1" smtClean="0"/>
              <a:t>mencatat</a:t>
            </a:r>
            <a:r>
              <a:rPr lang="en-US" sz="1800" dirty="0" smtClean="0"/>
              <a:t> </a:t>
            </a:r>
            <a:r>
              <a:rPr lang="en-US" sz="1800" dirty="0" err="1" smtClean="0"/>
              <a:t>dengan</a:t>
            </a:r>
            <a:r>
              <a:rPr lang="en-US" sz="1800" dirty="0" smtClean="0"/>
              <a:t> </a:t>
            </a:r>
            <a:r>
              <a:rPr lang="en-US" sz="1800" dirty="0" err="1" smtClean="0"/>
              <a:t>harapan</a:t>
            </a:r>
            <a:r>
              <a:rPr lang="en-US" sz="1800" dirty="0" smtClean="0"/>
              <a:t> </a:t>
            </a:r>
            <a:r>
              <a:rPr lang="en-US" sz="1800" dirty="0" err="1" smtClean="0"/>
              <a:t>ada</a:t>
            </a:r>
            <a:r>
              <a:rPr lang="en-US" sz="1800" dirty="0" smtClean="0"/>
              <a:t> </a:t>
            </a:r>
            <a:r>
              <a:rPr lang="en-US" sz="1800" dirty="0" err="1" smtClean="0"/>
              <a:t>laporan</a:t>
            </a:r>
            <a:r>
              <a:rPr lang="en-US" sz="1800" dirty="0" smtClean="0"/>
              <a:t> </a:t>
            </a:r>
            <a:r>
              <a:rPr lang="en-US" sz="1800" dirty="0" err="1" smtClean="0"/>
              <a:t>kehilangan</a:t>
            </a:r>
            <a:r>
              <a:rPr lang="en-US" sz="1800" dirty="0" smtClean="0"/>
              <a:t> </a:t>
            </a:r>
            <a:r>
              <a:rPr lang="en-US" sz="1800" dirty="0" err="1" smtClean="0"/>
              <a:t>atau</a:t>
            </a:r>
            <a:r>
              <a:rPr lang="en-US" sz="1800" dirty="0" smtClean="0"/>
              <a:t> adjustment </a:t>
            </a:r>
            <a:r>
              <a:rPr lang="en-US" sz="1800" dirty="0" err="1" smtClean="0"/>
              <a:t>biaya</a:t>
            </a:r>
            <a:endParaRPr lang="en-US" sz="1800" dirty="0" smtClean="0"/>
          </a:p>
          <a:p>
            <a:pPr lvl="3" eaLnBrk="1" hangingPunct="1">
              <a:lnSpc>
                <a:spcPct val="80000"/>
              </a:lnSpc>
              <a:buClr>
                <a:schemeClr val="tx1"/>
              </a:buClr>
              <a:buSzTx/>
            </a:pPr>
            <a:r>
              <a:rPr lang="en-US" sz="1800" dirty="0" smtClean="0"/>
              <a:t>Physical Padding, </a:t>
            </a:r>
            <a:r>
              <a:rPr lang="en-US" sz="1800" dirty="0" err="1" smtClean="0"/>
              <a:t>membuat</a:t>
            </a:r>
            <a:r>
              <a:rPr lang="en-US" sz="1800" dirty="0" smtClean="0"/>
              <a:t> </a:t>
            </a:r>
            <a:r>
              <a:rPr lang="en-US" sz="1800" dirty="0" err="1" smtClean="0"/>
              <a:t>penampilan</a:t>
            </a:r>
            <a:r>
              <a:rPr lang="en-US" sz="1800" dirty="0" smtClean="0"/>
              <a:t> </a:t>
            </a:r>
            <a:r>
              <a:rPr lang="en-US" sz="1800" dirty="0" err="1" smtClean="0"/>
              <a:t>fisik</a:t>
            </a:r>
            <a:r>
              <a:rPr lang="en-US" sz="1800" dirty="0" smtClean="0"/>
              <a:t> agar </a:t>
            </a:r>
            <a:r>
              <a:rPr lang="en-US" sz="1800" dirty="0" err="1" smtClean="0"/>
              <a:t>jumlah</a:t>
            </a:r>
            <a:r>
              <a:rPr lang="en-US" sz="1800" dirty="0" smtClean="0"/>
              <a:t> </a:t>
            </a:r>
            <a:r>
              <a:rPr lang="en-US" sz="1800" dirty="0" err="1" smtClean="0"/>
              <a:t>terlihat</a:t>
            </a:r>
            <a:r>
              <a:rPr lang="en-US" sz="1800" dirty="0" smtClean="0"/>
              <a:t> </a:t>
            </a:r>
            <a:r>
              <a:rPr lang="en-US" sz="1800" dirty="0" err="1" smtClean="0"/>
              <a:t>lebih</a:t>
            </a:r>
            <a:r>
              <a:rPr lang="en-US" sz="1800" dirty="0" smtClean="0"/>
              <a:t> </a:t>
            </a:r>
            <a:r>
              <a:rPr lang="en-US" sz="1800" dirty="0" err="1" smtClean="0"/>
              <a:t>banyak</a:t>
            </a:r>
            <a:endParaRPr lang="en-US" sz="1800" dirty="0" smtClean="0"/>
          </a:p>
          <a:p>
            <a:pPr lvl="2" eaLnBrk="1" hangingPunct="1">
              <a:lnSpc>
                <a:spcPct val="80000"/>
              </a:lnSpc>
              <a:buClr>
                <a:schemeClr val="tx1"/>
              </a:buClr>
              <a:buSzTx/>
            </a:pPr>
            <a:r>
              <a:rPr lang="en-US" sz="2000" dirty="0" err="1" smtClean="0"/>
              <a:t>Terutama</a:t>
            </a:r>
            <a:r>
              <a:rPr lang="en-US" sz="2000" dirty="0" smtClean="0"/>
              <a:t> </a:t>
            </a:r>
            <a:r>
              <a:rPr lang="en-US" sz="2000" dirty="0" err="1" smtClean="0"/>
              <a:t>Jasa</a:t>
            </a:r>
            <a:r>
              <a:rPr lang="en-US" sz="2000" dirty="0" smtClean="0"/>
              <a:t> marketing</a:t>
            </a:r>
          </a:p>
          <a:p>
            <a:pPr lvl="3" eaLnBrk="1" hangingPunct="1">
              <a:lnSpc>
                <a:spcPct val="80000"/>
              </a:lnSpc>
              <a:buClr>
                <a:schemeClr val="tx1"/>
              </a:buClr>
              <a:buSzTx/>
            </a:pPr>
            <a:r>
              <a:rPr lang="en-US" sz="1800" dirty="0" err="1" smtClean="0"/>
              <a:t>Untuk</a:t>
            </a:r>
            <a:r>
              <a:rPr lang="en-US" sz="1800" dirty="0" smtClean="0"/>
              <a:t> </a:t>
            </a:r>
            <a:r>
              <a:rPr lang="en-US" sz="1800" dirty="0" err="1" smtClean="0"/>
              <a:t>jasa</a:t>
            </a:r>
            <a:r>
              <a:rPr lang="en-US" sz="1800" dirty="0" smtClean="0"/>
              <a:t> yang </a:t>
            </a:r>
            <a:r>
              <a:rPr lang="en-US" sz="1800" dirty="0" err="1" smtClean="0"/>
              <a:t>sulit</a:t>
            </a:r>
            <a:r>
              <a:rPr lang="en-US" sz="1800" dirty="0" smtClean="0"/>
              <a:t> </a:t>
            </a:r>
            <a:r>
              <a:rPr lang="en-US" sz="1800" dirty="0" err="1" smtClean="0"/>
              <a:t>diukur</a:t>
            </a:r>
            <a:r>
              <a:rPr lang="en-US" sz="1800" dirty="0" smtClean="0"/>
              <a:t>, design, survey </a:t>
            </a:r>
          </a:p>
          <a:p>
            <a:pPr eaLnBrk="1" hangingPunct="1">
              <a:lnSpc>
                <a:spcPct val="80000"/>
              </a:lnSpc>
              <a:buClr>
                <a:schemeClr val="tx1"/>
              </a:buClr>
              <a:buSzTx/>
            </a:pPr>
            <a:r>
              <a:rPr lang="en-US" sz="2800" dirty="0" err="1" smtClean="0"/>
              <a:t>Kecurangan</a:t>
            </a:r>
            <a:r>
              <a:rPr lang="en-US" sz="2800" dirty="0" smtClean="0"/>
              <a:t> </a:t>
            </a:r>
            <a:r>
              <a:rPr lang="en-US" sz="2800" dirty="0" err="1" smtClean="0"/>
              <a:t>Pengeluaran</a:t>
            </a:r>
            <a:r>
              <a:rPr lang="en-US" sz="2800" dirty="0" smtClean="0"/>
              <a:t> /</a:t>
            </a:r>
            <a:r>
              <a:rPr lang="en-US" sz="2800" dirty="0" err="1" smtClean="0"/>
              <a:t>penagihan</a:t>
            </a:r>
            <a:endParaRPr lang="en-US" sz="2800" dirty="0" smtClean="0"/>
          </a:p>
          <a:p>
            <a:pPr lvl="2" eaLnBrk="1" hangingPunct="1">
              <a:lnSpc>
                <a:spcPct val="80000"/>
              </a:lnSpc>
              <a:buClr>
                <a:schemeClr val="tx1"/>
              </a:buClr>
              <a:buSzTx/>
            </a:pPr>
            <a:r>
              <a:rPr lang="en-US" sz="2000" dirty="0" smtClean="0"/>
              <a:t>Shell Company (</a:t>
            </a:r>
            <a:r>
              <a:rPr lang="en-US" sz="2000" dirty="0" err="1" smtClean="0"/>
              <a:t>perusahaan</a:t>
            </a:r>
            <a:r>
              <a:rPr lang="en-US" sz="2000" dirty="0" smtClean="0"/>
              <a:t> </a:t>
            </a:r>
            <a:r>
              <a:rPr lang="en-US" sz="2000" dirty="0" err="1" smtClean="0"/>
              <a:t>fiktif</a:t>
            </a:r>
            <a:r>
              <a:rPr lang="en-US" sz="2000" dirty="0" smtClean="0"/>
              <a:t>)</a:t>
            </a:r>
          </a:p>
          <a:p>
            <a:pPr lvl="3" eaLnBrk="1" hangingPunct="1">
              <a:lnSpc>
                <a:spcPct val="80000"/>
              </a:lnSpc>
              <a:buClr>
                <a:schemeClr val="tx1"/>
              </a:buClr>
              <a:buSzTx/>
            </a:pPr>
            <a:r>
              <a:rPr lang="en-US" sz="1800" dirty="0" err="1" smtClean="0"/>
              <a:t>Melakukan</a:t>
            </a:r>
            <a:r>
              <a:rPr lang="en-US" sz="1800" dirty="0" smtClean="0"/>
              <a:t> </a:t>
            </a:r>
            <a:r>
              <a:rPr lang="en-US" sz="1800" dirty="0" err="1" smtClean="0"/>
              <a:t>penagihan</a:t>
            </a:r>
            <a:r>
              <a:rPr lang="en-US" sz="1800" dirty="0" smtClean="0"/>
              <a:t> </a:t>
            </a:r>
            <a:r>
              <a:rPr lang="en-US" sz="1800" dirty="0" err="1" smtClean="0"/>
              <a:t>melalui</a:t>
            </a:r>
            <a:r>
              <a:rPr lang="en-US" sz="1800" dirty="0" smtClean="0"/>
              <a:t> </a:t>
            </a:r>
            <a:r>
              <a:rPr lang="en-US" sz="1800" dirty="0" err="1" smtClean="0"/>
              <a:t>perusahaan</a:t>
            </a:r>
            <a:r>
              <a:rPr lang="en-US" sz="1800" dirty="0" smtClean="0"/>
              <a:t> </a:t>
            </a:r>
            <a:r>
              <a:rPr lang="en-US" sz="1800" dirty="0" err="1" smtClean="0"/>
              <a:t>fiktif</a:t>
            </a:r>
            <a:endParaRPr lang="en-US" sz="1800" dirty="0" smtClean="0"/>
          </a:p>
          <a:p>
            <a:pPr lvl="2" eaLnBrk="1" hangingPunct="1">
              <a:lnSpc>
                <a:spcPct val="80000"/>
              </a:lnSpc>
              <a:buClr>
                <a:schemeClr val="tx1"/>
              </a:buClr>
              <a:buSzTx/>
            </a:pPr>
            <a:r>
              <a:rPr lang="en-US" sz="2000" dirty="0" err="1" smtClean="0"/>
              <a:t>Membuat</a:t>
            </a:r>
            <a:r>
              <a:rPr lang="en-US" sz="2000" dirty="0" smtClean="0"/>
              <a:t> </a:t>
            </a:r>
            <a:r>
              <a:rPr lang="en-US" sz="2000" dirty="0" err="1" smtClean="0"/>
              <a:t>tagihan</a:t>
            </a:r>
            <a:r>
              <a:rPr lang="en-US" sz="2000" dirty="0" smtClean="0"/>
              <a:t> </a:t>
            </a:r>
            <a:r>
              <a:rPr lang="en-US" sz="2000" dirty="0" err="1" smtClean="0"/>
              <a:t>melalui</a:t>
            </a:r>
            <a:r>
              <a:rPr lang="en-US" sz="2000" dirty="0" smtClean="0"/>
              <a:t> </a:t>
            </a:r>
            <a:r>
              <a:rPr lang="en-US" sz="2000" dirty="0" err="1" smtClean="0"/>
              <a:t>perusahaan</a:t>
            </a:r>
            <a:r>
              <a:rPr lang="en-US" sz="2000" dirty="0" smtClean="0"/>
              <a:t> </a:t>
            </a:r>
            <a:r>
              <a:rPr lang="en-US" sz="2000" dirty="0" err="1" smtClean="0"/>
              <a:t>bukan</a:t>
            </a:r>
            <a:r>
              <a:rPr lang="en-US" sz="2000" dirty="0" smtClean="0"/>
              <a:t> </a:t>
            </a:r>
            <a:r>
              <a:rPr lang="en-US" sz="2000" dirty="0" err="1" smtClean="0"/>
              <a:t>rekan</a:t>
            </a:r>
            <a:endParaRPr lang="en-US" sz="2000" dirty="0" smtClean="0"/>
          </a:p>
          <a:p>
            <a:pPr lvl="3" eaLnBrk="1" hangingPunct="1">
              <a:lnSpc>
                <a:spcPct val="80000"/>
              </a:lnSpc>
              <a:buClr>
                <a:schemeClr val="tx1"/>
              </a:buClr>
              <a:buSzTx/>
            </a:pPr>
            <a:r>
              <a:rPr lang="en-US" sz="1800" dirty="0" smtClean="0"/>
              <a:t>Overbilling </a:t>
            </a:r>
            <a:r>
              <a:rPr lang="en-US" sz="1800" dirty="0" smtClean="0">
                <a:sym typeface="Wingdings" pitchFamily="2" charset="2"/>
              </a:rPr>
              <a:t> </a:t>
            </a:r>
            <a:r>
              <a:rPr lang="en-US" sz="1800" dirty="0" err="1" smtClean="0">
                <a:sym typeface="Wingdings" pitchFamily="2" charset="2"/>
              </a:rPr>
              <a:t>meninggikan</a:t>
            </a:r>
            <a:r>
              <a:rPr lang="en-US" sz="1800" dirty="0" smtClean="0">
                <a:sym typeface="Wingdings" pitchFamily="2" charset="2"/>
              </a:rPr>
              <a:t> </a:t>
            </a:r>
            <a:r>
              <a:rPr lang="en-US" sz="1800" dirty="0" err="1" smtClean="0">
                <a:sym typeface="Wingdings" pitchFamily="2" charset="2"/>
              </a:rPr>
              <a:t>tagihan</a:t>
            </a:r>
            <a:r>
              <a:rPr lang="en-US" sz="1800" dirty="0" smtClean="0">
                <a:sym typeface="Wingdings" pitchFamily="2" charset="2"/>
              </a:rPr>
              <a:t> </a:t>
            </a:r>
          </a:p>
          <a:p>
            <a:pPr lvl="3" eaLnBrk="1" hangingPunct="1">
              <a:lnSpc>
                <a:spcPct val="80000"/>
              </a:lnSpc>
              <a:buClr>
                <a:schemeClr val="tx1"/>
              </a:buClr>
              <a:buSzTx/>
            </a:pPr>
            <a:r>
              <a:rPr lang="en-US" sz="1800" dirty="0" smtClean="0"/>
              <a:t>Pay and return </a:t>
            </a:r>
            <a:r>
              <a:rPr lang="en-US" sz="1800" dirty="0" smtClean="0">
                <a:sym typeface="Wingdings" pitchFamily="2" charset="2"/>
              </a:rPr>
              <a:t> </a:t>
            </a:r>
            <a:r>
              <a:rPr lang="en-US" sz="1800" dirty="0" err="1" smtClean="0">
                <a:sym typeface="Wingdings" pitchFamily="2" charset="2"/>
              </a:rPr>
              <a:t>bayar</a:t>
            </a:r>
            <a:r>
              <a:rPr lang="en-US" sz="1800" dirty="0" smtClean="0">
                <a:sym typeface="Wingdings" pitchFamily="2" charset="2"/>
              </a:rPr>
              <a:t> </a:t>
            </a:r>
            <a:r>
              <a:rPr lang="en-US" sz="1800" dirty="0" err="1" smtClean="0">
                <a:sym typeface="Wingdings" pitchFamily="2" charset="2"/>
              </a:rPr>
              <a:t>kelebihan</a:t>
            </a:r>
            <a:r>
              <a:rPr lang="en-US" sz="1800" dirty="0" smtClean="0">
                <a:sym typeface="Wingdings" pitchFamily="2" charset="2"/>
              </a:rPr>
              <a:t> </a:t>
            </a:r>
            <a:r>
              <a:rPr lang="en-US" sz="1800" dirty="0" err="1" smtClean="0">
                <a:sym typeface="Wingdings" pitchFamily="2" charset="2"/>
              </a:rPr>
              <a:t>atau</a:t>
            </a:r>
            <a:r>
              <a:rPr lang="en-US" sz="1800" dirty="0" smtClean="0">
                <a:sym typeface="Wingdings" pitchFamily="2" charset="2"/>
              </a:rPr>
              <a:t> </a:t>
            </a:r>
            <a:r>
              <a:rPr lang="en-US" sz="1800" dirty="0" err="1" smtClean="0">
                <a:sym typeface="Wingdings" pitchFamily="2" charset="2"/>
              </a:rPr>
              <a:t>ganda</a:t>
            </a:r>
            <a:r>
              <a:rPr lang="en-US" sz="1800" dirty="0" smtClean="0">
                <a:sym typeface="Wingdings" pitchFamily="2" charset="2"/>
              </a:rPr>
              <a:t>, </a:t>
            </a:r>
            <a:r>
              <a:rPr lang="en-US" sz="1800" dirty="0" err="1" smtClean="0">
                <a:sym typeface="Wingdings" pitchFamily="2" charset="2"/>
              </a:rPr>
              <a:t>pengembalian</a:t>
            </a:r>
            <a:r>
              <a:rPr lang="en-US" sz="1800" dirty="0" smtClean="0">
                <a:sym typeface="Wingdings" pitchFamily="2" charset="2"/>
              </a:rPr>
              <a:t> </a:t>
            </a:r>
            <a:r>
              <a:rPr lang="en-US" sz="1800" dirty="0" err="1" smtClean="0">
                <a:sym typeface="Wingdings" pitchFamily="2" charset="2"/>
              </a:rPr>
              <a:t>tidak</a:t>
            </a:r>
            <a:r>
              <a:rPr lang="en-US" sz="1800" dirty="0" smtClean="0">
                <a:sym typeface="Wingdings" pitchFamily="2" charset="2"/>
              </a:rPr>
              <a:t> </a:t>
            </a:r>
            <a:r>
              <a:rPr lang="en-US" sz="1800" dirty="0" err="1" smtClean="0">
                <a:sym typeface="Wingdings" pitchFamily="2" charset="2"/>
              </a:rPr>
              <a:t>ke</a:t>
            </a:r>
            <a:r>
              <a:rPr lang="en-US" sz="1800" dirty="0" smtClean="0">
                <a:sym typeface="Wingdings" pitchFamily="2" charset="2"/>
              </a:rPr>
              <a:t> </a:t>
            </a:r>
            <a:r>
              <a:rPr lang="en-US" sz="1800" dirty="0" err="1" smtClean="0">
                <a:sym typeface="Wingdings" pitchFamily="2" charset="2"/>
              </a:rPr>
              <a:t>perusahaan</a:t>
            </a:r>
            <a:endParaRPr lang="en-US" sz="1800" dirty="0" smtClean="0"/>
          </a:p>
        </p:txBody>
      </p:sp>
    </p:spTree>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idx="4294967295"/>
          </p:nvPr>
        </p:nvSpPr>
        <p:spPr>
          <a:xfrm>
            <a:off x="495300" y="609600"/>
            <a:ext cx="8915400" cy="914400"/>
          </a:xfrm>
        </p:spPr>
        <p:txBody>
          <a:bodyPr/>
          <a:lstStyle/>
          <a:p>
            <a:pPr eaLnBrk="1" hangingPunct="1"/>
            <a:r>
              <a:rPr lang="en-US" smtClean="0"/>
              <a:t>Fraud di Account Payable</a:t>
            </a:r>
          </a:p>
        </p:txBody>
      </p:sp>
      <p:sp>
        <p:nvSpPr>
          <p:cNvPr id="59395" name="Rectangle 3"/>
          <p:cNvSpPr>
            <a:spLocks noGrp="1" noChangeArrowheads="1"/>
          </p:cNvSpPr>
          <p:nvPr>
            <p:ph type="body" idx="4294967295"/>
          </p:nvPr>
        </p:nvSpPr>
        <p:spPr>
          <a:xfrm>
            <a:off x="495300" y="1447800"/>
            <a:ext cx="8915400" cy="5029200"/>
          </a:xfrm>
        </p:spPr>
        <p:txBody>
          <a:bodyPr/>
          <a:lstStyle/>
          <a:p>
            <a:pPr lvl="2" eaLnBrk="1" hangingPunct="1">
              <a:buClr>
                <a:schemeClr val="tx1"/>
              </a:buClr>
              <a:buSzTx/>
            </a:pPr>
            <a:r>
              <a:rPr lang="en-US" sz="2000" smtClean="0"/>
              <a:t>Mempercepat pembayaran yang belum jatuh tempo karena imbalan dari supplier</a:t>
            </a:r>
          </a:p>
          <a:p>
            <a:pPr eaLnBrk="1" hangingPunct="1">
              <a:buClr>
                <a:schemeClr val="tx1"/>
              </a:buClr>
              <a:buSzTx/>
            </a:pPr>
            <a:r>
              <a:rPr lang="en-US" sz="2800" smtClean="0"/>
              <a:t>Kecurangan dalam permintaan pergantian biaya (expense reimbursement)</a:t>
            </a:r>
          </a:p>
          <a:p>
            <a:pPr lvl="2" eaLnBrk="1" hangingPunct="1">
              <a:buClr>
                <a:schemeClr val="tx1"/>
              </a:buClr>
              <a:buSzTx/>
            </a:pPr>
            <a:r>
              <a:rPr lang="en-US" sz="2000" smtClean="0"/>
              <a:t>Pembelian pribadi</a:t>
            </a:r>
          </a:p>
          <a:p>
            <a:pPr lvl="3" eaLnBrk="1" hangingPunct="1">
              <a:buClr>
                <a:schemeClr val="tx1"/>
              </a:buClr>
              <a:buSzTx/>
            </a:pPr>
            <a:r>
              <a:rPr lang="en-US" sz="1800" smtClean="0"/>
              <a:t>Tagihan DItujukan ke prusahaan, tapi barang dimiliki pribadi</a:t>
            </a:r>
          </a:p>
          <a:p>
            <a:pPr lvl="2" eaLnBrk="1" hangingPunct="1">
              <a:buClr>
                <a:schemeClr val="tx1"/>
              </a:buClr>
              <a:buSzTx/>
            </a:pPr>
            <a:r>
              <a:rPr lang="en-US" sz="2000" smtClean="0"/>
              <a:t>Mischaracterized expenses</a:t>
            </a:r>
          </a:p>
          <a:p>
            <a:pPr lvl="3" eaLnBrk="1" hangingPunct="1">
              <a:buClr>
                <a:schemeClr val="tx1"/>
              </a:buClr>
              <a:buSzTx/>
            </a:pPr>
            <a:r>
              <a:rPr lang="en-US" sz="1800" smtClean="0"/>
              <a:t>Biaya yang tidak ada hubungan dengan perusahaan (contoh makan siang dengan rekan dimasukan sebagai entertainment)</a:t>
            </a:r>
          </a:p>
          <a:p>
            <a:pPr lvl="2" eaLnBrk="1" hangingPunct="1">
              <a:buClr>
                <a:schemeClr val="tx1"/>
              </a:buClr>
              <a:buSzTx/>
            </a:pPr>
            <a:r>
              <a:rPr lang="en-US" sz="2000" smtClean="0"/>
              <a:t>Overstated expense reports</a:t>
            </a:r>
          </a:p>
          <a:p>
            <a:pPr lvl="3" eaLnBrk="1" hangingPunct="1">
              <a:buClr>
                <a:schemeClr val="tx1"/>
              </a:buClr>
              <a:buSzTx/>
            </a:pPr>
            <a:r>
              <a:rPr lang="en-US" sz="1600" smtClean="0"/>
              <a:t>Untuk menutup pengeluaran pribadi, menaikan biaya dengan memalsukan tanda terima/kwitansi, meninggikan biaya-biaya bisnis yang dikeluarkan</a:t>
            </a:r>
          </a:p>
        </p:txBody>
      </p:sp>
      <p:pic>
        <p:nvPicPr>
          <p:cNvPr id="59396" name="Picture 4" descr="g0106029"/>
          <p:cNvPicPr>
            <a:picLocks noChangeAspect="1" noChangeArrowheads="1"/>
          </p:cNvPicPr>
          <p:nvPr/>
        </p:nvPicPr>
        <p:blipFill>
          <a:blip r:embed="rId3">
            <a:lum bright="70000" contrast="-70000"/>
          </a:blip>
          <a:srcRect/>
          <a:stretch>
            <a:fillRect/>
          </a:stretch>
        </p:blipFill>
        <p:spPr bwMode="auto">
          <a:xfrm>
            <a:off x="8308975" y="0"/>
            <a:ext cx="1597025" cy="1524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0418" name="Picture 2" descr="g0106029"/>
          <p:cNvPicPr>
            <a:picLocks noChangeAspect="1" noChangeArrowheads="1"/>
          </p:cNvPicPr>
          <p:nvPr/>
        </p:nvPicPr>
        <p:blipFill>
          <a:blip r:embed="rId3">
            <a:lum bright="70000" contrast="-70000"/>
          </a:blip>
          <a:srcRect/>
          <a:stretch>
            <a:fillRect/>
          </a:stretch>
        </p:blipFill>
        <p:spPr bwMode="auto">
          <a:xfrm>
            <a:off x="7924800" y="4968875"/>
            <a:ext cx="1981200" cy="1889125"/>
          </a:xfrm>
          <a:prstGeom prst="rect">
            <a:avLst/>
          </a:prstGeom>
          <a:noFill/>
          <a:ln w="9525">
            <a:noFill/>
            <a:miter lim="800000"/>
            <a:headEnd/>
            <a:tailEnd/>
          </a:ln>
        </p:spPr>
      </p:pic>
      <p:sp>
        <p:nvSpPr>
          <p:cNvPr id="60419" name="Rectangle 3"/>
          <p:cNvSpPr>
            <a:spLocks noGrp="1" noChangeArrowheads="1"/>
          </p:cNvSpPr>
          <p:nvPr>
            <p:ph type="title" idx="4294967295"/>
          </p:nvPr>
        </p:nvSpPr>
        <p:spPr/>
        <p:txBody>
          <a:bodyPr/>
          <a:lstStyle/>
          <a:p>
            <a:pPr eaLnBrk="1" hangingPunct="1"/>
            <a:r>
              <a:rPr lang="en-US" smtClean="0"/>
              <a:t>Fraud di Account Payable</a:t>
            </a:r>
          </a:p>
        </p:txBody>
      </p:sp>
      <p:sp>
        <p:nvSpPr>
          <p:cNvPr id="60420" name="Rectangle 4"/>
          <p:cNvSpPr>
            <a:spLocks noGrp="1" noChangeArrowheads="1"/>
          </p:cNvSpPr>
          <p:nvPr>
            <p:ph type="body" idx="4294967295"/>
          </p:nvPr>
        </p:nvSpPr>
        <p:spPr>
          <a:xfrm>
            <a:off x="495300" y="1524000"/>
            <a:ext cx="8915400" cy="4953000"/>
          </a:xfrm>
        </p:spPr>
        <p:txBody>
          <a:bodyPr/>
          <a:lstStyle/>
          <a:p>
            <a:pPr lvl="1" eaLnBrk="1" hangingPunct="1">
              <a:lnSpc>
                <a:spcPct val="90000"/>
              </a:lnSpc>
              <a:buClr>
                <a:schemeClr val="tx1"/>
              </a:buClr>
              <a:buSzTx/>
            </a:pPr>
            <a:r>
              <a:rPr lang="en-US" sz="2000" smtClean="0">
                <a:solidFill>
                  <a:srgbClr val="000000"/>
                </a:solidFill>
              </a:rPr>
              <a:t>Biaya fiktif</a:t>
            </a:r>
          </a:p>
          <a:p>
            <a:pPr lvl="2" eaLnBrk="1" hangingPunct="1">
              <a:lnSpc>
                <a:spcPct val="90000"/>
              </a:lnSpc>
              <a:buClr>
                <a:schemeClr val="tx1"/>
              </a:buClr>
              <a:buSzTx/>
            </a:pPr>
            <a:r>
              <a:rPr lang="en-US" sz="1800" smtClean="0">
                <a:solidFill>
                  <a:srgbClr val="000000"/>
                </a:solidFill>
              </a:rPr>
              <a:t>Membuat tanda terima palsu, memperoleh tanda terima/kwitansi kosong</a:t>
            </a:r>
          </a:p>
          <a:p>
            <a:pPr lvl="2" eaLnBrk="1" hangingPunct="1">
              <a:lnSpc>
                <a:spcPct val="90000"/>
              </a:lnSpc>
              <a:buClr>
                <a:schemeClr val="tx1"/>
              </a:buClr>
              <a:buSzTx/>
            </a:pPr>
            <a:r>
              <a:rPr lang="en-US" sz="1800" smtClean="0">
                <a:solidFill>
                  <a:srgbClr val="000000"/>
                </a:solidFill>
              </a:rPr>
              <a:t>Proyek yang tidak pernah terjadi dibuatkan tagihan</a:t>
            </a:r>
          </a:p>
          <a:p>
            <a:pPr eaLnBrk="1" hangingPunct="1">
              <a:lnSpc>
                <a:spcPct val="90000"/>
              </a:lnSpc>
              <a:buClr>
                <a:schemeClr val="tx1"/>
              </a:buClr>
              <a:buSzTx/>
            </a:pPr>
            <a:r>
              <a:rPr lang="en-US" sz="2400" smtClean="0">
                <a:solidFill>
                  <a:srgbClr val="000000"/>
                </a:solidFill>
              </a:rPr>
              <a:t>Membuat tagihan bagi supplier yang tidak menagih</a:t>
            </a:r>
          </a:p>
          <a:p>
            <a:pPr lvl="2" eaLnBrk="1" hangingPunct="1">
              <a:lnSpc>
                <a:spcPct val="90000"/>
              </a:lnSpc>
              <a:buClr>
                <a:schemeClr val="tx1"/>
              </a:buClr>
              <a:buSzTx/>
            </a:pPr>
            <a:r>
              <a:rPr lang="en-US" sz="1800" smtClean="0">
                <a:solidFill>
                  <a:srgbClr val="000000"/>
                </a:solidFill>
              </a:rPr>
              <a:t>Ada kelemahan sistem di supplier, tidak mengetahui adanya piutang</a:t>
            </a:r>
          </a:p>
          <a:p>
            <a:pPr lvl="2" eaLnBrk="1" hangingPunct="1">
              <a:lnSpc>
                <a:spcPct val="90000"/>
              </a:lnSpc>
              <a:buClr>
                <a:schemeClr val="tx1"/>
              </a:buClr>
              <a:buSzTx/>
            </a:pPr>
            <a:r>
              <a:rPr lang="en-US" sz="1800" smtClean="0">
                <a:solidFill>
                  <a:srgbClr val="000000"/>
                </a:solidFill>
              </a:rPr>
              <a:t>Karyawan membuat tagihan untuk dimiliki sendiri</a:t>
            </a:r>
          </a:p>
          <a:p>
            <a:pPr eaLnBrk="1" hangingPunct="1">
              <a:lnSpc>
                <a:spcPct val="90000"/>
              </a:lnSpc>
              <a:buClr>
                <a:schemeClr val="tx1"/>
              </a:buClr>
              <a:buSzTx/>
            </a:pPr>
            <a:r>
              <a:rPr lang="en-US" sz="2400" smtClean="0">
                <a:solidFill>
                  <a:srgbClr val="000000"/>
                </a:solidFill>
              </a:rPr>
              <a:t>Korupsi</a:t>
            </a:r>
          </a:p>
          <a:p>
            <a:pPr lvl="1" eaLnBrk="1" hangingPunct="1">
              <a:lnSpc>
                <a:spcPct val="90000"/>
              </a:lnSpc>
              <a:buClr>
                <a:schemeClr val="tx1"/>
              </a:buClr>
              <a:buSzTx/>
            </a:pPr>
            <a:r>
              <a:rPr lang="en-US" sz="2000" smtClean="0">
                <a:solidFill>
                  <a:srgbClr val="000000"/>
                </a:solidFill>
              </a:rPr>
              <a:t>Conflict of interest </a:t>
            </a:r>
            <a:r>
              <a:rPr lang="en-US" sz="2000" smtClean="0">
                <a:solidFill>
                  <a:srgbClr val="000000"/>
                </a:solidFill>
                <a:sym typeface="Wingdings" pitchFamily="2" charset="2"/>
              </a:rPr>
              <a:t> keterlibatan karyawan, menjemen yang mempengaruhi keputusan </a:t>
            </a:r>
            <a:endParaRPr lang="en-US" sz="2000" smtClean="0">
              <a:solidFill>
                <a:srgbClr val="000000"/>
              </a:solidFill>
            </a:endParaRPr>
          </a:p>
          <a:p>
            <a:pPr lvl="1" eaLnBrk="1" hangingPunct="1">
              <a:lnSpc>
                <a:spcPct val="90000"/>
              </a:lnSpc>
              <a:buClr>
                <a:schemeClr val="tx1"/>
              </a:buClr>
              <a:buSzTx/>
            </a:pPr>
            <a:r>
              <a:rPr lang="en-US" sz="2000" smtClean="0">
                <a:solidFill>
                  <a:srgbClr val="000000"/>
                </a:solidFill>
              </a:rPr>
              <a:t>Illegal gratuity </a:t>
            </a:r>
            <a:r>
              <a:rPr lang="en-US" sz="2000" smtClean="0">
                <a:solidFill>
                  <a:srgbClr val="000000"/>
                </a:solidFill>
                <a:sym typeface="Wingdings" pitchFamily="2" charset="2"/>
              </a:rPr>
              <a:t> hadiah </a:t>
            </a:r>
            <a:endParaRPr lang="en-US" sz="2000" smtClean="0">
              <a:solidFill>
                <a:srgbClr val="000000"/>
              </a:solidFill>
            </a:endParaRPr>
          </a:p>
          <a:p>
            <a:pPr lvl="1" eaLnBrk="1" hangingPunct="1">
              <a:lnSpc>
                <a:spcPct val="90000"/>
              </a:lnSpc>
              <a:buClr>
                <a:schemeClr val="tx1"/>
              </a:buClr>
              <a:buSzTx/>
            </a:pPr>
            <a:r>
              <a:rPr lang="en-US" sz="2000" smtClean="0">
                <a:solidFill>
                  <a:srgbClr val="000000"/>
                </a:solidFill>
              </a:rPr>
              <a:t>Bribery (suap) </a:t>
            </a:r>
            <a:r>
              <a:rPr lang="en-US" sz="2000" smtClean="0">
                <a:solidFill>
                  <a:srgbClr val="000000"/>
                </a:solidFill>
                <a:sym typeface="Wingdings" pitchFamily="2" charset="2"/>
              </a:rPr>
              <a:t> pemberian yang mempengaruhi keputusan</a:t>
            </a:r>
            <a:endParaRPr lang="en-US" sz="2000" smtClean="0">
              <a:solidFill>
                <a:srgbClr val="000000"/>
              </a:solidFill>
            </a:endParaRPr>
          </a:p>
          <a:p>
            <a:pPr lvl="1" eaLnBrk="1" hangingPunct="1">
              <a:lnSpc>
                <a:spcPct val="90000"/>
              </a:lnSpc>
              <a:buClr>
                <a:schemeClr val="tx1"/>
              </a:buClr>
              <a:buSzTx/>
            </a:pPr>
            <a:r>
              <a:rPr lang="en-US" sz="2000" smtClean="0">
                <a:solidFill>
                  <a:srgbClr val="000000"/>
                </a:solidFill>
              </a:rPr>
              <a:t>Pemerasan </a:t>
            </a:r>
            <a:r>
              <a:rPr lang="en-US" sz="2000" smtClean="0">
                <a:solidFill>
                  <a:srgbClr val="000000"/>
                </a:solidFill>
                <a:sym typeface="Wingdings" pitchFamily="2" charset="2"/>
              </a:rPr>
              <a:t> permintaan dari “oknum’ di perusahaan</a:t>
            </a:r>
          </a:p>
        </p:txBody>
      </p:sp>
    </p:spTree>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95300" y="1143000"/>
            <a:ext cx="8915400" cy="4724400"/>
          </a:xfrm>
        </p:spPr>
        <p:txBody>
          <a:bodyPr>
            <a:normAutofit fontScale="92500" lnSpcReduction="20000"/>
          </a:bodyPr>
          <a:lstStyle/>
          <a:p>
            <a:r>
              <a:rPr lang="fi-FI" i="1" dirty="0" smtClean="0"/>
              <a:t>Billing Scheme</a:t>
            </a:r>
            <a:r>
              <a:rPr lang="fi-FI" dirty="0" smtClean="0"/>
              <a:t> (Kecurangan dalam penagihan) </a:t>
            </a:r>
          </a:p>
          <a:p>
            <a:pPr lvl="1"/>
            <a:r>
              <a:rPr lang="en-US" i="1" dirty="0" smtClean="0"/>
              <a:t>Payroll Fraud</a:t>
            </a:r>
          </a:p>
          <a:p>
            <a:pPr lvl="2"/>
            <a:r>
              <a:rPr lang="en-US" dirty="0" err="1" smtClean="0"/>
              <a:t>Pegawai</a:t>
            </a:r>
            <a:r>
              <a:rPr lang="en-US" dirty="0" smtClean="0"/>
              <a:t> </a:t>
            </a:r>
            <a:r>
              <a:rPr lang="en-US" dirty="0" err="1" smtClean="0"/>
              <a:t>fiktif</a:t>
            </a:r>
            <a:r>
              <a:rPr lang="en-US" dirty="0" smtClean="0"/>
              <a:t> (Ghost Employees) </a:t>
            </a:r>
          </a:p>
          <a:p>
            <a:pPr lvl="2"/>
            <a:r>
              <a:rPr lang="en-US" dirty="0" err="1" smtClean="0"/>
              <a:t>Memalsukan</a:t>
            </a:r>
            <a:r>
              <a:rPr lang="en-US" dirty="0" smtClean="0"/>
              <a:t> </a:t>
            </a:r>
            <a:r>
              <a:rPr lang="en-US" dirty="0" err="1" smtClean="0"/>
              <a:t>informasi</a:t>
            </a:r>
            <a:r>
              <a:rPr lang="en-US" dirty="0" smtClean="0"/>
              <a:t> </a:t>
            </a:r>
            <a:r>
              <a:rPr lang="en-US" dirty="0" err="1" smtClean="0"/>
              <a:t>waktu</a:t>
            </a:r>
            <a:r>
              <a:rPr lang="en-US" dirty="0" smtClean="0"/>
              <a:t> </a:t>
            </a:r>
            <a:r>
              <a:rPr lang="en-US" dirty="0" err="1" smtClean="0"/>
              <a:t>kerja</a:t>
            </a:r>
            <a:r>
              <a:rPr lang="en-US" dirty="0" smtClean="0"/>
              <a:t> </a:t>
            </a:r>
            <a:r>
              <a:rPr lang="en-US" dirty="0" err="1" smtClean="0"/>
              <a:t>dan</a:t>
            </a:r>
            <a:r>
              <a:rPr lang="en-US" dirty="0" smtClean="0"/>
              <a:t> </a:t>
            </a:r>
            <a:r>
              <a:rPr lang="en-US" dirty="0" err="1" smtClean="0"/>
              <a:t>tarif</a:t>
            </a:r>
            <a:r>
              <a:rPr lang="en-US" dirty="0" smtClean="0"/>
              <a:t> </a:t>
            </a:r>
            <a:r>
              <a:rPr lang="en-US" dirty="0" err="1" smtClean="0"/>
              <a:t>gaji</a:t>
            </a:r>
            <a:r>
              <a:rPr lang="en-US" dirty="0" smtClean="0"/>
              <a:t>.</a:t>
            </a:r>
          </a:p>
          <a:p>
            <a:pPr lvl="2"/>
            <a:r>
              <a:rPr lang="en-US" dirty="0" err="1" smtClean="0"/>
              <a:t>Kecurangan</a:t>
            </a:r>
            <a:r>
              <a:rPr lang="en-US" dirty="0" smtClean="0"/>
              <a:t> </a:t>
            </a:r>
            <a:r>
              <a:rPr lang="en-US" dirty="0" err="1" smtClean="0"/>
              <a:t>Komisi</a:t>
            </a:r>
            <a:endParaRPr lang="en-US" dirty="0" smtClean="0"/>
          </a:p>
          <a:p>
            <a:pPr lvl="1"/>
            <a:r>
              <a:rPr lang="en-US" dirty="0" smtClean="0"/>
              <a:t>Expense Reimbursement scheme</a:t>
            </a:r>
          </a:p>
          <a:p>
            <a:pPr lvl="2"/>
            <a:r>
              <a:rPr lang="en-US" dirty="0" smtClean="0"/>
              <a:t>Mischaracterized expenses</a:t>
            </a:r>
          </a:p>
          <a:p>
            <a:pPr lvl="2"/>
            <a:r>
              <a:rPr lang="en-US" dirty="0" smtClean="0"/>
              <a:t>Overstated expense reports </a:t>
            </a:r>
          </a:p>
          <a:p>
            <a:pPr lvl="2"/>
            <a:r>
              <a:rPr lang="en-US" dirty="0" smtClean="0"/>
              <a:t>Fictitious expense schemes &amp; Multiple reimbursement</a:t>
            </a:r>
          </a:p>
          <a:p>
            <a:pPr lvl="1"/>
            <a:r>
              <a:rPr lang="da-DK" i="1" dirty="0" smtClean="0"/>
              <a:t>Personal purchases with company funds</a:t>
            </a:r>
          </a:p>
          <a:p>
            <a:pPr lvl="1"/>
            <a:r>
              <a:rPr lang="en-US" dirty="0" smtClean="0"/>
              <a:t>Pay-and-return</a:t>
            </a:r>
          </a:p>
          <a:p>
            <a:pPr lvl="1"/>
            <a:r>
              <a:rPr lang="en-US" dirty="0" smtClean="0"/>
              <a:t>Overbilling, </a:t>
            </a:r>
            <a:r>
              <a:rPr lang="en-US" dirty="0" err="1" smtClean="0"/>
              <a:t>atau</a:t>
            </a:r>
            <a:r>
              <a:rPr lang="en-US" dirty="0" smtClean="0"/>
              <a:t> </a:t>
            </a:r>
            <a:r>
              <a:rPr lang="en-US" dirty="0" err="1" smtClean="0"/>
              <a:t>meninggikan</a:t>
            </a:r>
            <a:r>
              <a:rPr lang="en-US" dirty="0" smtClean="0"/>
              <a:t> </a:t>
            </a:r>
            <a:r>
              <a:rPr lang="en-US" dirty="0" err="1" smtClean="0"/>
              <a:t>tagihan</a:t>
            </a:r>
            <a:r>
              <a:rPr lang="en-US" dirty="0" smtClean="0"/>
              <a:t> </a:t>
            </a:r>
            <a:r>
              <a:rPr lang="en-US" dirty="0" err="1" smtClean="0"/>
              <a:t>pemasok</a:t>
            </a:r>
            <a:endParaRPr lang="en-US" dirty="0"/>
          </a:p>
        </p:txBody>
      </p:sp>
    </p:spTree>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b="0" dirty="0" smtClean="0"/>
              <a:t>Fraud Detection</a:t>
            </a:r>
            <a:endParaRPr lang="en-US" dirty="0"/>
          </a:p>
        </p:txBody>
      </p:sp>
      <p:sp>
        <p:nvSpPr>
          <p:cNvPr id="3" name="Content Placeholder 2"/>
          <p:cNvSpPr>
            <a:spLocks noGrp="1"/>
          </p:cNvSpPr>
          <p:nvPr>
            <p:ph idx="1"/>
          </p:nvPr>
        </p:nvSpPr>
        <p:spPr/>
        <p:txBody>
          <a:bodyPr/>
          <a:lstStyle/>
          <a:p>
            <a:r>
              <a:rPr lang="en-US" dirty="0" smtClean="0"/>
              <a:t>Corruption</a:t>
            </a:r>
          </a:p>
          <a:p>
            <a:pPr lvl="1"/>
            <a:r>
              <a:rPr lang="en-US" dirty="0" smtClean="0"/>
              <a:t>Individual Red Flags</a:t>
            </a:r>
          </a:p>
          <a:p>
            <a:pPr lvl="2"/>
            <a:r>
              <a:rPr lang="en-US" dirty="0" smtClean="0"/>
              <a:t>Lifestyle Issues</a:t>
            </a:r>
          </a:p>
          <a:p>
            <a:pPr lvl="2"/>
            <a:r>
              <a:rPr lang="en-US" dirty="0" smtClean="0"/>
              <a:t>Personal Problems</a:t>
            </a:r>
          </a:p>
          <a:p>
            <a:pPr lvl="2"/>
            <a:r>
              <a:rPr lang="en-US" dirty="0" smtClean="0"/>
              <a:t>Authority (job and responsibility analysis) </a:t>
            </a:r>
          </a:p>
          <a:p>
            <a:pPr lvl="2"/>
            <a:r>
              <a:rPr lang="en-US" dirty="0" smtClean="0"/>
              <a:t>Attitudes on the Job</a:t>
            </a:r>
          </a:p>
          <a:p>
            <a:pPr lvl="2"/>
            <a:r>
              <a:rPr lang="en-US" dirty="0" smtClean="0"/>
              <a:t>Work habits</a:t>
            </a:r>
          </a:p>
          <a:p>
            <a:pPr lvl="2"/>
            <a:endParaRPr lang="en-US" dirty="0" smtClean="0"/>
          </a:p>
          <a:p>
            <a:endParaRPr lang="en-US" dirty="0"/>
          </a:p>
        </p:txBody>
      </p:sp>
    </p:spTree>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2466" name="Picture 2" descr="g0106029"/>
          <p:cNvPicPr>
            <a:picLocks noChangeAspect="1" noChangeArrowheads="1"/>
          </p:cNvPicPr>
          <p:nvPr/>
        </p:nvPicPr>
        <p:blipFill>
          <a:blip r:embed="rId3">
            <a:lum bright="70000" contrast="-70000"/>
          </a:blip>
          <a:srcRect/>
          <a:stretch>
            <a:fillRect/>
          </a:stretch>
        </p:blipFill>
        <p:spPr bwMode="auto">
          <a:xfrm>
            <a:off x="7110413" y="0"/>
            <a:ext cx="2795587" cy="2667000"/>
          </a:xfrm>
          <a:prstGeom prst="rect">
            <a:avLst/>
          </a:prstGeom>
          <a:noFill/>
          <a:ln w="9525">
            <a:noFill/>
            <a:miter lim="800000"/>
            <a:headEnd/>
            <a:tailEnd/>
          </a:ln>
        </p:spPr>
      </p:pic>
      <p:sp>
        <p:nvSpPr>
          <p:cNvPr id="62467" name="Rectangle 3"/>
          <p:cNvSpPr>
            <a:spLocks noGrp="1" noChangeArrowheads="1"/>
          </p:cNvSpPr>
          <p:nvPr>
            <p:ph type="title" idx="4294967295"/>
          </p:nvPr>
        </p:nvSpPr>
        <p:spPr>
          <a:xfrm>
            <a:off x="495300" y="457200"/>
            <a:ext cx="8915400" cy="914400"/>
          </a:xfrm>
        </p:spPr>
        <p:txBody>
          <a:bodyPr/>
          <a:lstStyle/>
          <a:p>
            <a:pPr eaLnBrk="1" hangingPunct="1"/>
            <a:r>
              <a:rPr lang="en-US" smtClean="0"/>
              <a:t>Fraud di Account Payable</a:t>
            </a:r>
          </a:p>
        </p:txBody>
      </p:sp>
      <p:sp>
        <p:nvSpPr>
          <p:cNvPr id="62468" name="Rectangle 4"/>
          <p:cNvSpPr>
            <a:spLocks noGrp="1" noChangeArrowheads="1"/>
          </p:cNvSpPr>
          <p:nvPr>
            <p:ph type="body" idx="4294967295"/>
          </p:nvPr>
        </p:nvSpPr>
        <p:spPr>
          <a:xfrm>
            <a:off x="247650" y="1524000"/>
            <a:ext cx="9410700" cy="4876800"/>
          </a:xfrm>
        </p:spPr>
        <p:txBody>
          <a:bodyPr/>
          <a:lstStyle/>
          <a:p>
            <a:pPr eaLnBrk="1" hangingPunct="1">
              <a:lnSpc>
                <a:spcPct val="90000"/>
              </a:lnSpc>
              <a:buClr>
                <a:schemeClr val="tx1"/>
              </a:buClr>
              <a:buSzTx/>
            </a:pPr>
            <a:r>
              <a:rPr lang="en-US" sz="2400" smtClean="0"/>
              <a:t>Pencegahan</a:t>
            </a:r>
          </a:p>
          <a:p>
            <a:pPr lvl="1" eaLnBrk="1" hangingPunct="1">
              <a:lnSpc>
                <a:spcPct val="90000"/>
              </a:lnSpc>
              <a:buClr>
                <a:schemeClr val="tx1"/>
              </a:buClr>
              <a:buSzTx/>
            </a:pPr>
            <a:r>
              <a:rPr lang="en-US" sz="2000" smtClean="0"/>
              <a:t>S.O.P yang jelas</a:t>
            </a:r>
          </a:p>
          <a:p>
            <a:pPr lvl="2" eaLnBrk="1" hangingPunct="1">
              <a:lnSpc>
                <a:spcPct val="90000"/>
              </a:lnSpc>
              <a:buClr>
                <a:schemeClr val="tx1"/>
              </a:buClr>
              <a:buSzTx/>
            </a:pPr>
            <a:r>
              <a:rPr lang="en-US" sz="1800" smtClean="0"/>
              <a:t>Dokumentasi pendukung penagihan</a:t>
            </a:r>
          </a:p>
          <a:p>
            <a:pPr lvl="2" eaLnBrk="1" hangingPunct="1">
              <a:lnSpc>
                <a:spcPct val="90000"/>
              </a:lnSpc>
              <a:buClr>
                <a:schemeClr val="tx1"/>
              </a:buClr>
              <a:buSzTx/>
            </a:pPr>
            <a:r>
              <a:rPr lang="en-US" sz="1800" smtClean="0"/>
              <a:t>Approval limit</a:t>
            </a:r>
          </a:p>
          <a:p>
            <a:pPr lvl="2" eaLnBrk="1" hangingPunct="1">
              <a:lnSpc>
                <a:spcPct val="90000"/>
              </a:lnSpc>
              <a:buClr>
                <a:schemeClr val="tx1"/>
              </a:buClr>
              <a:buSzTx/>
            </a:pPr>
            <a:r>
              <a:rPr lang="en-US" sz="1800" smtClean="0"/>
              <a:t>Punishment</a:t>
            </a:r>
          </a:p>
          <a:p>
            <a:pPr lvl="2" eaLnBrk="1" hangingPunct="1">
              <a:lnSpc>
                <a:spcPct val="90000"/>
              </a:lnSpc>
              <a:buClr>
                <a:schemeClr val="tx1"/>
              </a:buClr>
              <a:buSzTx/>
            </a:pPr>
            <a:r>
              <a:rPr lang="en-US" sz="1800" smtClean="0"/>
              <a:t>Biaya perjalanan yang berdasarkan kwitansi dan yang tidak</a:t>
            </a:r>
          </a:p>
          <a:p>
            <a:pPr lvl="3" eaLnBrk="1" hangingPunct="1">
              <a:lnSpc>
                <a:spcPct val="90000"/>
              </a:lnSpc>
              <a:buClr>
                <a:schemeClr val="tx1"/>
              </a:buClr>
              <a:buSzTx/>
            </a:pPr>
            <a:r>
              <a:rPr lang="en-US" sz="1600" smtClean="0"/>
              <a:t>Yang tidak seperti Taxi, Tips dan Lunch dibuat standard per hari</a:t>
            </a:r>
          </a:p>
          <a:p>
            <a:pPr lvl="2" eaLnBrk="1" hangingPunct="1">
              <a:lnSpc>
                <a:spcPct val="90000"/>
              </a:lnSpc>
              <a:buClr>
                <a:schemeClr val="tx1"/>
              </a:buClr>
              <a:buSzTx/>
            </a:pPr>
            <a:r>
              <a:rPr lang="en-US" sz="1800" smtClean="0"/>
              <a:t>Tidak boleh di entertain, jika boleh</a:t>
            </a:r>
            <a:r>
              <a:rPr lang="en-US" sz="1800" smtClean="0">
                <a:sym typeface="Wingdings" pitchFamily="2" charset="2"/>
              </a:rPr>
              <a:t> tidak boleh sendiri</a:t>
            </a:r>
          </a:p>
          <a:p>
            <a:pPr lvl="2" eaLnBrk="1" hangingPunct="1">
              <a:lnSpc>
                <a:spcPct val="90000"/>
              </a:lnSpc>
              <a:buClr>
                <a:schemeClr val="tx1"/>
              </a:buClr>
              <a:buSzTx/>
            </a:pPr>
            <a:r>
              <a:rPr lang="en-US" sz="1800" smtClean="0">
                <a:sym typeface="Wingdings" pitchFamily="2" charset="2"/>
              </a:rPr>
              <a:t>Ada pembatasan nilai dan jumlah orang yang dientertain</a:t>
            </a:r>
          </a:p>
          <a:p>
            <a:pPr lvl="2" eaLnBrk="1" hangingPunct="1">
              <a:lnSpc>
                <a:spcPct val="90000"/>
              </a:lnSpc>
              <a:buClr>
                <a:schemeClr val="tx1"/>
              </a:buClr>
              <a:buSzTx/>
            </a:pPr>
            <a:r>
              <a:rPr lang="en-US" sz="1800" smtClean="0"/>
              <a:t>Prosedur pemberian persetujuan yang tepat harus ditetapkan dan dipatuhi</a:t>
            </a:r>
          </a:p>
          <a:p>
            <a:pPr lvl="2" eaLnBrk="1" hangingPunct="1">
              <a:lnSpc>
                <a:spcPct val="90000"/>
              </a:lnSpc>
              <a:buClr>
                <a:schemeClr val="tx1"/>
              </a:buClr>
              <a:buSzTx/>
            </a:pPr>
            <a:r>
              <a:rPr lang="en-US" sz="1800" smtClean="0"/>
              <a:t>Pemisahan antara penerimaan, pembelian dan pembayaran</a:t>
            </a:r>
          </a:p>
          <a:p>
            <a:pPr lvl="2" eaLnBrk="1" hangingPunct="1">
              <a:lnSpc>
                <a:spcPct val="90000"/>
              </a:lnSpc>
              <a:buClr>
                <a:schemeClr val="tx1"/>
              </a:buClr>
              <a:buSzTx/>
            </a:pPr>
            <a:r>
              <a:rPr lang="en-US" sz="1800" smtClean="0"/>
              <a:t>Proses penentuan atau evaluasi supplier bukan hanya di purchasing</a:t>
            </a:r>
          </a:p>
          <a:p>
            <a:pPr lvl="2" eaLnBrk="1" hangingPunct="1">
              <a:lnSpc>
                <a:spcPct val="90000"/>
              </a:lnSpc>
              <a:buClr>
                <a:schemeClr val="tx1"/>
              </a:buClr>
              <a:buSzTx/>
            </a:pPr>
            <a:r>
              <a:rPr lang="en-US" sz="1800" smtClean="0"/>
              <a:t>Saluran komunikasi yang menampung komplain dari pegawai dan supplier</a:t>
            </a:r>
          </a:p>
          <a:p>
            <a:pPr lvl="2" eaLnBrk="1" hangingPunct="1">
              <a:lnSpc>
                <a:spcPct val="90000"/>
              </a:lnSpc>
              <a:buClr>
                <a:schemeClr val="tx1"/>
              </a:buClr>
              <a:buSzTx/>
            </a:pPr>
            <a:r>
              <a:rPr lang="en-US" sz="1800" smtClean="0"/>
              <a:t>Code of conduct</a:t>
            </a:r>
          </a:p>
        </p:txBody>
      </p:sp>
    </p:spTree>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3490" name="Picture 2" descr="g0106029"/>
          <p:cNvPicPr>
            <a:picLocks noChangeAspect="1" noChangeArrowheads="1"/>
          </p:cNvPicPr>
          <p:nvPr/>
        </p:nvPicPr>
        <p:blipFill>
          <a:blip r:embed="rId3">
            <a:lum bright="70000" contrast="-70000"/>
          </a:blip>
          <a:srcRect/>
          <a:stretch>
            <a:fillRect/>
          </a:stretch>
        </p:blipFill>
        <p:spPr bwMode="auto">
          <a:xfrm>
            <a:off x="7750175" y="0"/>
            <a:ext cx="2155825" cy="2057400"/>
          </a:xfrm>
          <a:prstGeom prst="rect">
            <a:avLst/>
          </a:prstGeom>
          <a:noFill/>
          <a:ln w="9525">
            <a:noFill/>
            <a:miter lim="800000"/>
            <a:headEnd/>
            <a:tailEnd/>
          </a:ln>
        </p:spPr>
      </p:pic>
      <p:sp>
        <p:nvSpPr>
          <p:cNvPr id="63491" name="Rectangle 3"/>
          <p:cNvSpPr>
            <a:spLocks noGrp="1" noChangeArrowheads="1"/>
          </p:cNvSpPr>
          <p:nvPr>
            <p:ph type="title" idx="4294967295"/>
          </p:nvPr>
        </p:nvSpPr>
        <p:spPr>
          <a:xfrm>
            <a:off x="495300" y="457200"/>
            <a:ext cx="8915400" cy="990600"/>
          </a:xfrm>
        </p:spPr>
        <p:txBody>
          <a:bodyPr/>
          <a:lstStyle/>
          <a:p>
            <a:pPr eaLnBrk="1" hangingPunct="1"/>
            <a:r>
              <a:rPr lang="en-US" smtClean="0"/>
              <a:t>Fraud di Account Payable</a:t>
            </a:r>
          </a:p>
        </p:txBody>
      </p:sp>
      <p:sp>
        <p:nvSpPr>
          <p:cNvPr id="63492" name="Rectangle 4"/>
          <p:cNvSpPr>
            <a:spLocks noGrp="1" noChangeArrowheads="1"/>
          </p:cNvSpPr>
          <p:nvPr>
            <p:ph type="body" idx="4294967295"/>
          </p:nvPr>
        </p:nvSpPr>
        <p:spPr>
          <a:xfrm>
            <a:off x="495300" y="1524000"/>
            <a:ext cx="8915400" cy="4572000"/>
          </a:xfrm>
        </p:spPr>
        <p:txBody>
          <a:bodyPr/>
          <a:lstStyle/>
          <a:p>
            <a:pPr lvl="1" eaLnBrk="1" hangingPunct="1">
              <a:lnSpc>
                <a:spcPct val="80000"/>
              </a:lnSpc>
              <a:buClr>
                <a:schemeClr val="tx1"/>
              </a:buClr>
              <a:buSzTx/>
            </a:pPr>
            <a:r>
              <a:rPr lang="en-US" sz="2400" smtClean="0"/>
              <a:t>Sistem yang terintegrasi</a:t>
            </a:r>
          </a:p>
          <a:p>
            <a:pPr lvl="2" eaLnBrk="1" hangingPunct="1">
              <a:lnSpc>
                <a:spcPct val="80000"/>
              </a:lnSpc>
              <a:buClr>
                <a:schemeClr val="tx1"/>
              </a:buClr>
              <a:buSzTx/>
            </a:pPr>
            <a:r>
              <a:rPr lang="en-US" sz="2000" smtClean="0"/>
              <a:t>Memudahkan proses kontrol dan tracing transaksi</a:t>
            </a:r>
          </a:p>
          <a:p>
            <a:pPr lvl="2" eaLnBrk="1" hangingPunct="1">
              <a:lnSpc>
                <a:spcPct val="80000"/>
              </a:lnSpc>
              <a:buClr>
                <a:schemeClr val="tx1"/>
              </a:buClr>
              <a:buSzTx/>
            </a:pPr>
            <a:r>
              <a:rPr lang="en-US" sz="2000" smtClean="0"/>
              <a:t>“End to end” keseluruhan proses bisnis</a:t>
            </a:r>
          </a:p>
          <a:p>
            <a:pPr lvl="2" eaLnBrk="1" hangingPunct="1">
              <a:lnSpc>
                <a:spcPct val="80000"/>
              </a:lnSpc>
              <a:buClr>
                <a:schemeClr val="tx1"/>
              </a:buClr>
              <a:buSzTx/>
            </a:pPr>
            <a:r>
              <a:rPr lang="en-US" sz="2000" smtClean="0"/>
              <a:t>Penghematan waktu</a:t>
            </a:r>
          </a:p>
          <a:p>
            <a:pPr lvl="2" eaLnBrk="1" hangingPunct="1">
              <a:lnSpc>
                <a:spcPct val="80000"/>
              </a:lnSpc>
              <a:buClr>
                <a:schemeClr val="tx1"/>
              </a:buClr>
              <a:buSzTx/>
            </a:pPr>
            <a:r>
              <a:rPr lang="en-US" sz="2000" smtClean="0"/>
              <a:t>Pembatasan manual intervention</a:t>
            </a:r>
          </a:p>
          <a:p>
            <a:pPr lvl="2" eaLnBrk="1" hangingPunct="1">
              <a:lnSpc>
                <a:spcPct val="80000"/>
              </a:lnSpc>
              <a:buClr>
                <a:schemeClr val="tx1"/>
              </a:buClr>
              <a:buSzTx/>
            </a:pPr>
            <a:r>
              <a:rPr lang="en-US" sz="2000" smtClean="0"/>
              <a:t>Single entry</a:t>
            </a:r>
          </a:p>
          <a:p>
            <a:pPr lvl="2" eaLnBrk="1" hangingPunct="1">
              <a:lnSpc>
                <a:spcPct val="80000"/>
              </a:lnSpc>
              <a:buClr>
                <a:schemeClr val="tx1"/>
              </a:buClr>
              <a:buSzTx/>
            </a:pPr>
            <a:r>
              <a:rPr lang="en-US" sz="2000" smtClean="0"/>
              <a:t>Sistem dapat saling negasi/blok jika ada transaksi yang salah</a:t>
            </a:r>
          </a:p>
          <a:p>
            <a:pPr lvl="1" eaLnBrk="1" hangingPunct="1">
              <a:lnSpc>
                <a:spcPct val="80000"/>
              </a:lnSpc>
              <a:buClr>
                <a:schemeClr val="tx1"/>
              </a:buClr>
              <a:buSzTx/>
            </a:pPr>
            <a:r>
              <a:rPr lang="en-US" sz="2400" smtClean="0"/>
              <a:t>Etika bisnis/kerja perusahaan</a:t>
            </a:r>
          </a:p>
          <a:p>
            <a:pPr lvl="2" eaLnBrk="1" hangingPunct="1">
              <a:lnSpc>
                <a:spcPct val="80000"/>
              </a:lnSpc>
              <a:buClr>
                <a:schemeClr val="tx1"/>
              </a:buClr>
              <a:buSzTx/>
            </a:pPr>
            <a:r>
              <a:rPr lang="en-US" sz="2000" smtClean="0"/>
              <a:t>Menanamkan nilai etik yang berlaku universal</a:t>
            </a:r>
          </a:p>
          <a:p>
            <a:pPr lvl="2" eaLnBrk="1" hangingPunct="1">
              <a:lnSpc>
                <a:spcPct val="80000"/>
              </a:lnSpc>
              <a:buClr>
                <a:schemeClr val="tx1"/>
              </a:buClr>
              <a:buSzTx/>
            </a:pPr>
            <a:r>
              <a:rPr lang="en-US" sz="2000" smtClean="0"/>
              <a:t>Mengatur bagaimana perusahaan dan karyawan beretika</a:t>
            </a:r>
          </a:p>
          <a:p>
            <a:pPr lvl="2" eaLnBrk="1" hangingPunct="1">
              <a:lnSpc>
                <a:spcPct val="80000"/>
              </a:lnSpc>
              <a:buClr>
                <a:schemeClr val="tx1"/>
              </a:buClr>
              <a:buSzTx/>
            </a:pPr>
            <a:r>
              <a:rPr lang="en-US" sz="2000" smtClean="0"/>
              <a:t>Mengacu pada perundangan yang berlaku</a:t>
            </a:r>
          </a:p>
          <a:p>
            <a:pPr lvl="2" eaLnBrk="1" hangingPunct="1">
              <a:lnSpc>
                <a:spcPct val="80000"/>
              </a:lnSpc>
              <a:buClr>
                <a:schemeClr val="tx1"/>
              </a:buClr>
              <a:buSzTx/>
            </a:pPr>
            <a:r>
              <a:rPr lang="en-US" sz="2000" smtClean="0"/>
              <a:t>Menerapkan good corporate governance</a:t>
            </a:r>
          </a:p>
          <a:p>
            <a:pPr lvl="1" eaLnBrk="1" hangingPunct="1">
              <a:lnSpc>
                <a:spcPct val="80000"/>
              </a:lnSpc>
              <a:buClr>
                <a:schemeClr val="tx1"/>
              </a:buClr>
              <a:buSzTx/>
            </a:pPr>
            <a:r>
              <a:rPr lang="en-US" sz="2400" smtClean="0"/>
              <a:t>Analisa review</a:t>
            </a:r>
          </a:p>
          <a:p>
            <a:pPr lvl="2" eaLnBrk="1" hangingPunct="1">
              <a:lnSpc>
                <a:spcPct val="80000"/>
              </a:lnSpc>
              <a:buClr>
                <a:schemeClr val="tx1"/>
              </a:buClr>
              <a:buSzTx/>
            </a:pPr>
            <a:r>
              <a:rPr lang="en-US" sz="2000" smtClean="0"/>
              <a:t>Perubahan harga, perbandingan dengan budget atau plan</a:t>
            </a:r>
          </a:p>
          <a:p>
            <a:pPr lvl="2" eaLnBrk="1" hangingPunct="1">
              <a:lnSpc>
                <a:spcPct val="80000"/>
              </a:lnSpc>
              <a:buClr>
                <a:schemeClr val="tx1"/>
              </a:buClr>
              <a:buSzTx/>
            </a:pPr>
            <a:endParaRPr lang="en-US" sz="2000" smtClean="0"/>
          </a:p>
        </p:txBody>
      </p:sp>
    </p:spTree>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idx="4294967295"/>
          </p:nvPr>
        </p:nvSpPr>
        <p:spPr>
          <a:xfrm>
            <a:off x="495300" y="457200"/>
            <a:ext cx="8915400" cy="990600"/>
          </a:xfrm>
        </p:spPr>
        <p:txBody>
          <a:bodyPr/>
          <a:lstStyle/>
          <a:p>
            <a:pPr eaLnBrk="1" hangingPunct="1"/>
            <a:r>
              <a:rPr lang="en-US" smtClean="0"/>
              <a:t>Fraud di Account Payable</a:t>
            </a:r>
          </a:p>
        </p:txBody>
      </p:sp>
      <p:sp>
        <p:nvSpPr>
          <p:cNvPr id="64515" name="Rectangle 3"/>
          <p:cNvSpPr>
            <a:spLocks noGrp="1" noChangeArrowheads="1"/>
          </p:cNvSpPr>
          <p:nvPr>
            <p:ph type="body" idx="4294967295"/>
          </p:nvPr>
        </p:nvSpPr>
        <p:spPr>
          <a:xfrm>
            <a:off x="495300" y="1447800"/>
            <a:ext cx="9163050" cy="5029200"/>
          </a:xfrm>
        </p:spPr>
        <p:txBody>
          <a:bodyPr/>
          <a:lstStyle/>
          <a:p>
            <a:pPr lvl="1" eaLnBrk="1" hangingPunct="1">
              <a:lnSpc>
                <a:spcPct val="90000"/>
              </a:lnSpc>
              <a:buClr>
                <a:schemeClr val="tx1"/>
              </a:buClr>
              <a:buSzTx/>
            </a:pPr>
            <a:r>
              <a:rPr lang="en-US" sz="2400" smtClean="0"/>
              <a:t>Check document</a:t>
            </a:r>
          </a:p>
          <a:p>
            <a:pPr lvl="2" eaLnBrk="1" hangingPunct="1">
              <a:lnSpc>
                <a:spcPct val="90000"/>
              </a:lnSpc>
              <a:buClr>
                <a:schemeClr val="tx1"/>
              </a:buClr>
              <a:buSzTx/>
            </a:pPr>
            <a:r>
              <a:rPr lang="en-US" sz="2000" smtClean="0"/>
              <a:t>Urutan tanggal PO, Tanda terima dan invoice</a:t>
            </a:r>
          </a:p>
          <a:p>
            <a:pPr lvl="2" eaLnBrk="1" hangingPunct="1">
              <a:lnSpc>
                <a:spcPct val="90000"/>
              </a:lnSpc>
              <a:buClr>
                <a:schemeClr val="tx1"/>
              </a:buClr>
              <a:buSzTx/>
            </a:pPr>
            <a:r>
              <a:rPr lang="en-US" sz="2000" smtClean="0"/>
              <a:t>Format invoice, nama dan tanda tangan </a:t>
            </a:r>
          </a:p>
          <a:p>
            <a:pPr lvl="2" eaLnBrk="1" hangingPunct="1">
              <a:lnSpc>
                <a:spcPct val="90000"/>
              </a:lnSpc>
              <a:buClr>
                <a:schemeClr val="tx1"/>
              </a:buClr>
              <a:buSzTx/>
            </a:pPr>
            <a:r>
              <a:rPr lang="en-US" sz="2000" smtClean="0"/>
              <a:t>Kebiasaan struktur biaya (termasuk trasport dll)</a:t>
            </a:r>
          </a:p>
          <a:p>
            <a:pPr lvl="2" eaLnBrk="1" hangingPunct="1">
              <a:lnSpc>
                <a:spcPct val="90000"/>
              </a:lnSpc>
              <a:buClr>
                <a:schemeClr val="tx1"/>
              </a:buClr>
              <a:buSzTx/>
            </a:pPr>
            <a:r>
              <a:rPr lang="en-US" sz="2000" smtClean="0"/>
              <a:t>Check tanda tangan, fotocopy </a:t>
            </a:r>
          </a:p>
          <a:p>
            <a:pPr lvl="2" eaLnBrk="1" hangingPunct="1">
              <a:lnSpc>
                <a:spcPct val="90000"/>
              </a:lnSpc>
              <a:buClr>
                <a:schemeClr val="tx1"/>
              </a:buClr>
              <a:buSzTx/>
            </a:pPr>
            <a:r>
              <a:rPr lang="en-US" sz="2000" smtClean="0"/>
              <a:t>Check dengan supplier (no invoice)</a:t>
            </a:r>
          </a:p>
          <a:p>
            <a:pPr lvl="1" eaLnBrk="1" hangingPunct="1">
              <a:lnSpc>
                <a:spcPct val="90000"/>
              </a:lnSpc>
              <a:buClr>
                <a:schemeClr val="tx1"/>
              </a:buClr>
              <a:buSzTx/>
            </a:pPr>
            <a:r>
              <a:rPr lang="en-US" sz="2400" smtClean="0"/>
              <a:t>Check Physic </a:t>
            </a:r>
          </a:p>
          <a:p>
            <a:pPr lvl="1" eaLnBrk="1" hangingPunct="1">
              <a:lnSpc>
                <a:spcPct val="90000"/>
              </a:lnSpc>
              <a:buClr>
                <a:schemeClr val="tx1"/>
              </a:buClr>
              <a:buSzTx/>
            </a:pPr>
            <a:r>
              <a:rPr lang="en-US" sz="2400" smtClean="0"/>
              <a:t>Visit</a:t>
            </a:r>
          </a:p>
          <a:p>
            <a:pPr lvl="2" eaLnBrk="1" hangingPunct="1">
              <a:lnSpc>
                <a:spcPct val="90000"/>
              </a:lnSpc>
              <a:buClr>
                <a:schemeClr val="tx1"/>
              </a:buClr>
              <a:buSzTx/>
            </a:pPr>
            <a:r>
              <a:rPr lang="en-US" sz="2000" smtClean="0"/>
              <a:t>Interview dan menganalisa supplier</a:t>
            </a:r>
          </a:p>
          <a:p>
            <a:pPr lvl="1" eaLnBrk="1" hangingPunct="1">
              <a:lnSpc>
                <a:spcPct val="90000"/>
              </a:lnSpc>
              <a:buClr>
                <a:schemeClr val="tx1"/>
              </a:buClr>
              <a:buSzTx/>
            </a:pPr>
            <a:r>
              <a:rPr lang="en-US" sz="2400" smtClean="0"/>
              <a:t>Conflict of interest letter</a:t>
            </a:r>
          </a:p>
          <a:p>
            <a:pPr lvl="2" eaLnBrk="1" hangingPunct="1">
              <a:lnSpc>
                <a:spcPct val="90000"/>
              </a:lnSpc>
              <a:buClr>
                <a:schemeClr val="tx1"/>
              </a:buClr>
              <a:buSzTx/>
            </a:pPr>
            <a:r>
              <a:rPr lang="en-US" sz="2000" smtClean="0"/>
              <a:t>Karyawan sebagai supplier atau punya hubungan istimewa</a:t>
            </a:r>
          </a:p>
          <a:p>
            <a:pPr lvl="2" eaLnBrk="1" hangingPunct="1">
              <a:lnSpc>
                <a:spcPct val="90000"/>
              </a:lnSpc>
              <a:buClr>
                <a:schemeClr val="tx1"/>
              </a:buClr>
              <a:buSzTx/>
            </a:pPr>
            <a:r>
              <a:rPr lang="en-US" sz="2000" smtClean="0"/>
              <a:t>Karyawan berjanji tidak menyalahgunakan wewenang</a:t>
            </a:r>
          </a:p>
          <a:p>
            <a:pPr lvl="2" eaLnBrk="1" hangingPunct="1">
              <a:lnSpc>
                <a:spcPct val="90000"/>
              </a:lnSpc>
              <a:buClr>
                <a:schemeClr val="tx1"/>
              </a:buClr>
              <a:buSzTx/>
            </a:pPr>
            <a:r>
              <a:rPr lang="en-US" sz="2000" smtClean="0"/>
              <a:t>Larangan menggunakan fasilitas perusahaan</a:t>
            </a:r>
          </a:p>
          <a:p>
            <a:pPr lvl="2" eaLnBrk="1" hangingPunct="1">
              <a:lnSpc>
                <a:spcPct val="90000"/>
              </a:lnSpc>
              <a:buClr>
                <a:schemeClr val="tx1"/>
              </a:buClr>
              <a:buSzTx/>
            </a:pPr>
            <a:r>
              <a:rPr lang="en-US" sz="2000" smtClean="0"/>
              <a:t>Mutasi ke bagian yang tidak terkait</a:t>
            </a:r>
          </a:p>
        </p:txBody>
      </p:sp>
      <p:pic>
        <p:nvPicPr>
          <p:cNvPr id="64516" name="Picture 4" descr="g0106029"/>
          <p:cNvPicPr>
            <a:picLocks noChangeAspect="1" noChangeArrowheads="1"/>
          </p:cNvPicPr>
          <p:nvPr/>
        </p:nvPicPr>
        <p:blipFill>
          <a:blip r:embed="rId3">
            <a:lum bright="70000" contrast="-70000"/>
          </a:blip>
          <a:srcRect/>
          <a:stretch>
            <a:fillRect/>
          </a:stretch>
        </p:blipFill>
        <p:spPr bwMode="auto">
          <a:xfrm>
            <a:off x="7750175" y="0"/>
            <a:ext cx="2155825" cy="20574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idx="4294967295"/>
          </p:nvPr>
        </p:nvSpPr>
        <p:spPr>
          <a:xfrm>
            <a:off x="495300" y="457200"/>
            <a:ext cx="8915400" cy="1066800"/>
          </a:xfrm>
        </p:spPr>
        <p:txBody>
          <a:bodyPr/>
          <a:lstStyle/>
          <a:p>
            <a:pPr eaLnBrk="1" hangingPunct="1"/>
            <a:r>
              <a:rPr lang="en-US" smtClean="0"/>
              <a:t>Fraud di Account Payable</a:t>
            </a:r>
          </a:p>
        </p:txBody>
      </p:sp>
      <p:sp>
        <p:nvSpPr>
          <p:cNvPr id="65539" name="Rectangle 3"/>
          <p:cNvSpPr>
            <a:spLocks noGrp="1" noChangeArrowheads="1"/>
          </p:cNvSpPr>
          <p:nvPr>
            <p:ph type="body" idx="4294967295"/>
          </p:nvPr>
        </p:nvSpPr>
        <p:spPr>
          <a:xfrm>
            <a:off x="495300" y="1524000"/>
            <a:ext cx="8915400" cy="4876800"/>
          </a:xfrm>
        </p:spPr>
        <p:txBody>
          <a:bodyPr/>
          <a:lstStyle/>
          <a:p>
            <a:pPr lvl="1" eaLnBrk="1" hangingPunct="1">
              <a:lnSpc>
                <a:spcPct val="90000"/>
              </a:lnSpc>
              <a:buClr>
                <a:schemeClr val="tx1"/>
              </a:buClr>
              <a:buSzTx/>
            </a:pPr>
            <a:r>
              <a:rPr lang="en-US" smtClean="0"/>
              <a:t>Mutasi atau rolling berkala</a:t>
            </a:r>
          </a:p>
          <a:p>
            <a:pPr lvl="2" eaLnBrk="1" hangingPunct="1">
              <a:lnSpc>
                <a:spcPct val="90000"/>
              </a:lnSpc>
              <a:buClr>
                <a:schemeClr val="tx1"/>
              </a:buClr>
              <a:buSzTx/>
            </a:pPr>
            <a:r>
              <a:rPr lang="en-US" smtClean="0"/>
              <a:t>Tidak tergantung dengan satu personil</a:t>
            </a:r>
          </a:p>
          <a:p>
            <a:pPr lvl="2" eaLnBrk="1" hangingPunct="1">
              <a:lnSpc>
                <a:spcPct val="90000"/>
              </a:lnSpc>
              <a:buClr>
                <a:schemeClr val="tx1"/>
              </a:buClr>
              <a:buSzTx/>
            </a:pPr>
            <a:r>
              <a:rPr lang="en-US" smtClean="0"/>
              <a:t>Diketahui kesalahan masa silam</a:t>
            </a:r>
          </a:p>
          <a:p>
            <a:pPr lvl="2" eaLnBrk="1" hangingPunct="1">
              <a:lnSpc>
                <a:spcPct val="90000"/>
              </a:lnSpc>
              <a:buClr>
                <a:schemeClr val="tx1"/>
              </a:buClr>
              <a:buSzTx/>
            </a:pPr>
            <a:r>
              <a:rPr lang="en-US" smtClean="0"/>
              <a:t>Menghindari penyembunyian informasi</a:t>
            </a:r>
          </a:p>
          <a:p>
            <a:pPr lvl="2" eaLnBrk="1" hangingPunct="1">
              <a:lnSpc>
                <a:spcPct val="90000"/>
              </a:lnSpc>
              <a:buClr>
                <a:schemeClr val="tx1"/>
              </a:buClr>
              <a:buSzTx/>
            </a:pPr>
            <a:r>
              <a:rPr lang="en-US" smtClean="0"/>
              <a:t>Meningkatkan kompetensi karyawan</a:t>
            </a:r>
          </a:p>
          <a:p>
            <a:pPr lvl="1" eaLnBrk="1" hangingPunct="1">
              <a:lnSpc>
                <a:spcPct val="90000"/>
              </a:lnSpc>
              <a:buClr>
                <a:schemeClr val="tx1"/>
              </a:buClr>
              <a:buSzTx/>
            </a:pPr>
            <a:r>
              <a:rPr lang="en-US" smtClean="0"/>
              <a:t>Reward &amp; Punishment</a:t>
            </a:r>
          </a:p>
          <a:p>
            <a:pPr lvl="2" eaLnBrk="1" hangingPunct="1">
              <a:lnSpc>
                <a:spcPct val="90000"/>
              </a:lnSpc>
              <a:buClr>
                <a:schemeClr val="tx1"/>
              </a:buClr>
              <a:buSzTx/>
            </a:pPr>
            <a:r>
              <a:rPr lang="en-US" smtClean="0"/>
              <a:t>Penghargaan terhadap karyawan yang menemukan kecurangan</a:t>
            </a:r>
          </a:p>
          <a:p>
            <a:pPr lvl="2" eaLnBrk="1" hangingPunct="1">
              <a:lnSpc>
                <a:spcPct val="90000"/>
              </a:lnSpc>
              <a:buClr>
                <a:schemeClr val="tx1"/>
              </a:buClr>
              <a:buSzTx/>
            </a:pPr>
            <a:r>
              <a:rPr lang="en-US" smtClean="0"/>
              <a:t>Punishment langsung terhadap karyawan yang curang</a:t>
            </a:r>
          </a:p>
          <a:p>
            <a:pPr lvl="3" eaLnBrk="1" hangingPunct="1">
              <a:lnSpc>
                <a:spcPct val="90000"/>
              </a:lnSpc>
              <a:buClr>
                <a:schemeClr val="tx1"/>
              </a:buClr>
              <a:buSzTx/>
            </a:pPr>
            <a:r>
              <a:rPr lang="en-US" smtClean="0"/>
              <a:t>Dari surat peringtan s/d pemecatan dan proses pidana</a:t>
            </a:r>
          </a:p>
          <a:p>
            <a:pPr lvl="3" eaLnBrk="1" hangingPunct="1">
              <a:lnSpc>
                <a:spcPct val="90000"/>
              </a:lnSpc>
              <a:buClr>
                <a:schemeClr val="tx1"/>
              </a:buClr>
              <a:buSzTx/>
            </a:pPr>
            <a:r>
              <a:rPr lang="en-US" smtClean="0"/>
              <a:t>Menimbulkan efek jera</a:t>
            </a:r>
          </a:p>
        </p:txBody>
      </p:sp>
      <p:pic>
        <p:nvPicPr>
          <p:cNvPr id="65540" name="Picture 4" descr="g0106029"/>
          <p:cNvPicPr>
            <a:picLocks noChangeAspect="1" noChangeArrowheads="1"/>
          </p:cNvPicPr>
          <p:nvPr/>
        </p:nvPicPr>
        <p:blipFill>
          <a:blip r:embed="rId3">
            <a:lum bright="70000" contrast="-70000"/>
          </a:blip>
          <a:srcRect/>
          <a:stretch>
            <a:fillRect/>
          </a:stretch>
        </p:blipFill>
        <p:spPr bwMode="auto">
          <a:xfrm>
            <a:off x="7750175" y="0"/>
            <a:ext cx="2155825" cy="20574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Pixel">
  <a:themeElements>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Pixel">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Pixel</Template>
  <TotalTime>3849</TotalTime>
  <Words>6075</Words>
  <Application>Microsoft Office PowerPoint</Application>
  <PresentationFormat>A4 Paper (210x297 mm)</PresentationFormat>
  <Paragraphs>1204</Paragraphs>
  <Slides>120</Slides>
  <Notes>93</Notes>
  <HiddenSlides>0</HiddenSlides>
  <MMClips>0</MMClips>
  <ScaleCrop>false</ScaleCrop>
  <HeadingPairs>
    <vt:vector size="8" baseType="variant">
      <vt:variant>
        <vt:lpstr>Theme</vt:lpstr>
      </vt:variant>
      <vt:variant>
        <vt:i4>1</vt:i4>
      </vt:variant>
      <vt:variant>
        <vt:lpstr>Links</vt:lpstr>
      </vt:variant>
      <vt:variant>
        <vt:i4>5</vt:i4>
      </vt:variant>
      <vt:variant>
        <vt:lpstr>Embedded OLE Servers</vt:lpstr>
      </vt:variant>
      <vt:variant>
        <vt:i4>3</vt:i4>
      </vt:variant>
      <vt:variant>
        <vt:lpstr>Slide Titles</vt:lpstr>
      </vt:variant>
      <vt:variant>
        <vt:i4>120</vt:i4>
      </vt:variant>
    </vt:vector>
  </HeadingPairs>
  <TitlesOfParts>
    <vt:vector size="129" baseType="lpstr">
      <vt:lpstr>Pixel</vt:lpstr>
      <vt:lpstr>D:\HAST-KPS (E)\AKUNTANSI SEKTOR PUBLIK (ASP)\APBD-Novotel Okt 09\LUTF-NOVOTEL\Credit.xls!Sheet1!R1C1:R24C5</vt:lpstr>
      <vt:lpstr>D:\HAST-KPS (E)\AKUNTANSI SEKTOR PUBLIK (ASP)\APBD-Novotel Okt 09\LUTF-NOVOTEL\Best Practice Payable.xls!Sheet2!R3C1:R18C11</vt:lpstr>
      <vt:lpstr>D:\HAST-KPS (E)\AKUNTANSI SEKTOR PUBLIK (ASP)\APBD-Novotel Okt 09\LUTF-NOVOTEL\Analisa Arus Kas.xls!Indirect Method!R1C1:R41C9</vt:lpstr>
      <vt:lpstr>D:\HAST-KPS (E)\AKUNTANSI SEKTOR PUBLIK (ASP)\APBD-Novotel Okt 09\LUTF-NOVOTEL\Analisa Arus Kas.xls!Indirect Method!R44C1:R74C5</vt:lpstr>
      <vt:lpstr>D:\HAST-KPS (E)\AKUNTANSI SEKTOR PUBLIK (ASP)\APBD-Novotel Okt 09\LUTF-NOVOTEL\Analisa Arus Kas.xls!Sheet11!R1C1:R41C9</vt:lpstr>
      <vt:lpstr>Clip</vt:lpstr>
      <vt:lpstr>Document</vt:lpstr>
      <vt:lpstr>Chart</vt:lpstr>
      <vt:lpstr>Managing Account Payable in Practices</vt:lpstr>
      <vt:lpstr>Slide 2</vt:lpstr>
      <vt:lpstr>Wahyu Isnindiarto, Ak</vt:lpstr>
      <vt:lpstr>Nature of Account Payable</vt:lpstr>
      <vt:lpstr>Nature of Account Payable</vt:lpstr>
      <vt:lpstr>Lingkup Account Payable,  Kebijakan, dan Penyajiannya</vt:lpstr>
      <vt:lpstr>Definisi Account Payable</vt:lpstr>
      <vt:lpstr>Definisi Account Payable</vt:lpstr>
      <vt:lpstr>Slide 9</vt:lpstr>
      <vt:lpstr>Prinsip Akuntansi yang lazim</vt:lpstr>
      <vt:lpstr>Jenis-jenis Account Payable</vt:lpstr>
      <vt:lpstr>Payment Policy (1)</vt:lpstr>
      <vt:lpstr>Payment Policy (2)</vt:lpstr>
      <vt:lpstr>Account Payable dalam Strategi Purchasing</vt:lpstr>
      <vt:lpstr>Account Payable dalam Strategi Purchasing</vt:lpstr>
      <vt:lpstr>Slide 16</vt:lpstr>
      <vt:lpstr>Slide 17</vt:lpstr>
      <vt:lpstr>Klasifikasi Supplier</vt:lpstr>
      <vt:lpstr>Klasifikasi Supplier</vt:lpstr>
      <vt:lpstr>Klasifikasi Supplier</vt:lpstr>
      <vt:lpstr>Prepaid/Down Payment</vt:lpstr>
      <vt:lpstr>Retur Pembelian</vt:lpstr>
      <vt:lpstr>Penentuan Utang Jangka Pendek</vt:lpstr>
      <vt:lpstr>Pembagian Utang Jangka Pendek</vt:lpstr>
      <vt:lpstr>Utang Jangka Pendek yang Sudah Pasti</vt:lpstr>
      <vt:lpstr>Hutang dagang</vt:lpstr>
      <vt:lpstr>Utang Jangka Panjang yang Jatuh Tempo dalam Periode Itu</vt:lpstr>
      <vt:lpstr>Utang Dividen</vt:lpstr>
      <vt:lpstr>Uang Muka dan Pendapatan diterima dimuka</vt:lpstr>
      <vt:lpstr>Dana yang dikumpulkan Untuk Pihak Ketiga</vt:lpstr>
      <vt:lpstr>Utang Beban (Biaya yang masih harus dibayar)</vt:lpstr>
      <vt:lpstr>Taksiran Utang</vt:lpstr>
      <vt:lpstr>Utang-Utang Bersyarat (Contigent Liabilities)</vt:lpstr>
      <vt:lpstr>PENGARUH ACCOUNTS PAYABLE  TERHADAP CASH FLOW</vt:lpstr>
      <vt:lpstr>Pengaruh Terhadap Cash</vt:lpstr>
      <vt:lpstr>Pengaruh Terhadap Cash</vt:lpstr>
      <vt:lpstr>Pengaruh Terhadap Cash</vt:lpstr>
      <vt:lpstr>Penentuan Biaya Modal</vt:lpstr>
      <vt:lpstr>Slide 39</vt:lpstr>
      <vt:lpstr>Report-report yang Terkait dengan A/P</vt:lpstr>
      <vt:lpstr>Aging Report</vt:lpstr>
      <vt:lpstr>Slide 42</vt:lpstr>
      <vt:lpstr>Report Accounts Payable</vt:lpstr>
      <vt:lpstr>Slide 44</vt:lpstr>
      <vt:lpstr>Master Vendors File</vt:lpstr>
      <vt:lpstr>Handling Invoice</vt:lpstr>
      <vt:lpstr>Document</vt:lpstr>
      <vt:lpstr>Slide 48</vt:lpstr>
      <vt:lpstr>Document Flows</vt:lpstr>
      <vt:lpstr>Slide 50</vt:lpstr>
      <vt:lpstr>Slide 51</vt:lpstr>
      <vt:lpstr>Slide 52</vt:lpstr>
      <vt:lpstr>Slide 53</vt:lpstr>
      <vt:lpstr>Slide 54</vt:lpstr>
      <vt:lpstr>Slide 55</vt:lpstr>
      <vt:lpstr>Indirect Method Cash Flow</vt:lpstr>
      <vt:lpstr>Indirect Method</vt:lpstr>
      <vt:lpstr>Indirect Method</vt:lpstr>
      <vt:lpstr>Indirect Method</vt:lpstr>
      <vt:lpstr>Direct Method Cash Flow</vt:lpstr>
      <vt:lpstr>Direct Method</vt:lpstr>
      <vt:lpstr>Statement of account</vt:lpstr>
      <vt:lpstr>Slide 63</vt:lpstr>
      <vt:lpstr>Simalakama</vt:lpstr>
      <vt:lpstr>Discusion</vt:lpstr>
      <vt:lpstr>Slide 66</vt:lpstr>
      <vt:lpstr>HASTONI, Ak., MM</vt:lpstr>
      <vt:lpstr>Balance sheet</vt:lpstr>
      <vt:lpstr>Income Statement</vt:lpstr>
      <vt:lpstr>KEWAJIBAN JANGKA PENDEK  (CURRENT LIABILITIES)</vt:lpstr>
      <vt:lpstr>SOP, Internal Control  dan Management Tagihan</vt:lpstr>
      <vt:lpstr>Slide 72</vt:lpstr>
      <vt:lpstr>Internal Control</vt:lpstr>
      <vt:lpstr>Internal Control</vt:lpstr>
      <vt:lpstr>PRAKTEK YANG SEHAT</vt:lpstr>
      <vt:lpstr>Real Condition</vt:lpstr>
      <vt:lpstr>Real Condition</vt:lpstr>
      <vt:lpstr>Slide 78</vt:lpstr>
      <vt:lpstr>Jurnal-jurnal</vt:lpstr>
      <vt:lpstr>Jurnal-jurnal</vt:lpstr>
      <vt:lpstr>Jurnal-jurnal</vt:lpstr>
      <vt:lpstr>Slide 82</vt:lpstr>
      <vt:lpstr>Jurnal-jurnal Transaksi Valas</vt:lpstr>
      <vt:lpstr>Slide 84</vt:lpstr>
      <vt:lpstr>Slide 85</vt:lpstr>
      <vt:lpstr>Slide 86</vt:lpstr>
      <vt:lpstr>Slide 87</vt:lpstr>
      <vt:lpstr>Audit terhadap  Proses Account Payable</vt:lpstr>
      <vt:lpstr>Audit terhadap A/P</vt:lpstr>
      <vt:lpstr>Audit terhadap A/P</vt:lpstr>
      <vt:lpstr>Audit terhadap A/P</vt:lpstr>
      <vt:lpstr>Audit terhadap A/P</vt:lpstr>
      <vt:lpstr>Audit terhadap A/P</vt:lpstr>
      <vt:lpstr>Audit terhadap A/P</vt:lpstr>
      <vt:lpstr>Slide 95</vt:lpstr>
      <vt:lpstr>Fraud (kecurangan) di Account Payable</vt:lpstr>
      <vt:lpstr>NOT EVERYONE IS HONEST</vt:lpstr>
      <vt:lpstr>Slide 98</vt:lpstr>
      <vt:lpstr>Dasar terjadinya Fraud</vt:lpstr>
      <vt:lpstr>Dasar terjadinya Fraud</vt:lpstr>
      <vt:lpstr>FRAUD</vt:lpstr>
      <vt:lpstr>Jenis-jenis kecurangan </vt:lpstr>
      <vt:lpstr>GONE Theory…???</vt:lpstr>
      <vt:lpstr>Distribusi Kerugian</vt:lpstr>
      <vt:lpstr>Kerugian Akibat Penipuan Berdasarkan Posisi</vt:lpstr>
      <vt:lpstr>Kerugian Akibat Penipuan Berdasarkan Kolusi</vt:lpstr>
      <vt:lpstr>Kerugian Akibat Penipuan Berdasarkan Gender</vt:lpstr>
      <vt:lpstr>Kerugian Akibat Penipuan Berdasarkan Umur</vt:lpstr>
      <vt:lpstr>Kerugian Akibat Penipuan Berdasarkan Tingkat Pendidikan</vt:lpstr>
      <vt:lpstr>Kerugian Akibat dari Penipuan Berdasarkan Jenisnya</vt:lpstr>
      <vt:lpstr>KAPAN DAN DIMANA FRAUD TERJADI</vt:lpstr>
      <vt:lpstr>Fraud di Account Payable</vt:lpstr>
      <vt:lpstr>Fraud di Account Payable</vt:lpstr>
      <vt:lpstr>Fraud di Account Payable</vt:lpstr>
      <vt:lpstr>Slide 115</vt:lpstr>
      <vt:lpstr>Fraud Detection</vt:lpstr>
      <vt:lpstr>Fraud di Account Payable</vt:lpstr>
      <vt:lpstr>Fraud di Account Payable</vt:lpstr>
      <vt:lpstr>Fraud di Account Payable</vt:lpstr>
      <vt:lpstr>Fraud di Account Payable</vt:lpstr>
    </vt:vector>
  </TitlesOfParts>
  <Company>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Objectives and the uses of Financial Statement Analysis (FSA)</dc:title>
  <dc:creator>.</dc:creator>
  <cp:lastModifiedBy>user</cp:lastModifiedBy>
  <cp:revision>88</cp:revision>
  <dcterms:created xsi:type="dcterms:W3CDTF">2005-05-26T07:24:01Z</dcterms:created>
  <dcterms:modified xsi:type="dcterms:W3CDTF">2010-08-15T16:08:33Z</dcterms:modified>
</cp:coreProperties>
</file>